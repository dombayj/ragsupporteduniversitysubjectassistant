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49.xml" ContentType="application/vnd.openxmlformats-officedocument.presentationml.notesSlide+xml"/>
  <Override PartName="/ppt/notesSlides/notesSlide2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1"/>
  </p:sldMasterIdLst>
  <p:notesMasterIdLst>
    <p:notesMasterId r:id="rId60"/>
  </p:notesMasterIdLst>
  <p:sldIdLst>
    <p:sldId id="256" r:id="rId2"/>
    <p:sldId id="316" r:id="rId3"/>
    <p:sldId id="258" r:id="rId4"/>
    <p:sldId id="260" r:id="rId5"/>
    <p:sldId id="259" r:id="rId6"/>
    <p:sldId id="273" r:id="rId7"/>
    <p:sldId id="315" r:id="rId8"/>
    <p:sldId id="297" r:id="rId9"/>
    <p:sldId id="305" r:id="rId10"/>
    <p:sldId id="330" r:id="rId11"/>
    <p:sldId id="331" r:id="rId12"/>
    <p:sldId id="332" r:id="rId13"/>
    <p:sldId id="334" r:id="rId14"/>
    <p:sldId id="333" r:id="rId15"/>
    <p:sldId id="335" r:id="rId16"/>
    <p:sldId id="336" r:id="rId17"/>
    <p:sldId id="312" r:id="rId18"/>
    <p:sldId id="317" r:id="rId19"/>
    <p:sldId id="261" r:id="rId20"/>
    <p:sldId id="269" r:id="rId21"/>
    <p:sldId id="262" r:id="rId22"/>
    <p:sldId id="264" r:id="rId23"/>
    <p:sldId id="265" r:id="rId24"/>
    <p:sldId id="268" r:id="rId25"/>
    <p:sldId id="270" r:id="rId26"/>
    <p:sldId id="313" r:id="rId27"/>
    <p:sldId id="266" r:id="rId28"/>
    <p:sldId id="322" r:id="rId29"/>
    <p:sldId id="323" r:id="rId30"/>
    <p:sldId id="350" r:id="rId31"/>
    <p:sldId id="324" r:id="rId32"/>
    <p:sldId id="325" r:id="rId33"/>
    <p:sldId id="337" r:id="rId34"/>
    <p:sldId id="338" r:id="rId35"/>
    <p:sldId id="329" r:id="rId36"/>
    <p:sldId id="339" r:id="rId37"/>
    <p:sldId id="340" r:id="rId38"/>
    <p:sldId id="328" r:id="rId39"/>
    <p:sldId id="341" r:id="rId40"/>
    <p:sldId id="342" r:id="rId41"/>
    <p:sldId id="347" r:id="rId42"/>
    <p:sldId id="326" r:id="rId43"/>
    <p:sldId id="271" r:id="rId44"/>
    <p:sldId id="348" r:id="rId45"/>
    <p:sldId id="349" r:id="rId46"/>
    <p:sldId id="343" r:id="rId47"/>
    <p:sldId id="345" r:id="rId48"/>
    <p:sldId id="290" r:id="rId49"/>
    <p:sldId id="321" r:id="rId50"/>
    <p:sldId id="291" r:id="rId51"/>
    <p:sldId id="292" r:id="rId52"/>
    <p:sldId id="293" r:id="rId53"/>
    <p:sldId id="294" r:id="rId54"/>
    <p:sldId id="295" r:id="rId55"/>
    <p:sldId id="296" r:id="rId56"/>
    <p:sldId id="314" r:id="rId57"/>
    <p:sldId id="319" r:id="rId58"/>
    <p:sldId id="320" r:id="rId59"/>
  </p:sldIdLst>
  <p:sldSz cx="9144000" cy="6858000" type="screen4x3"/>
  <p:notesSz cx="6858000" cy="9144000"/>
  <p:defaultTextStyle>
    <a:defPPr>
      <a:defRPr lang="pl-PL"/>
    </a:defPPr>
    <a:lvl1pPr algn="l" rtl="0" fontAlgn="base">
      <a:spcBef>
        <a:spcPct val="0"/>
      </a:spcBef>
      <a:spcAft>
        <a:spcPct val="0"/>
      </a:spcAft>
      <a:defRPr sz="3200" kern="1200">
        <a:solidFill>
          <a:srgbClr val="003399"/>
        </a:solidFill>
        <a:latin typeface="Arial" charset="0"/>
        <a:ea typeface="+mn-ea"/>
        <a:cs typeface="+mn-cs"/>
      </a:defRPr>
    </a:lvl1pPr>
    <a:lvl2pPr marL="457200" algn="l" rtl="0" fontAlgn="base">
      <a:spcBef>
        <a:spcPct val="0"/>
      </a:spcBef>
      <a:spcAft>
        <a:spcPct val="0"/>
      </a:spcAft>
      <a:defRPr sz="3200" kern="1200">
        <a:solidFill>
          <a:srgbClr val="003399"/>
        </a:solidFill>
        <a:latin typeface="Arial" charset="0"/>
        <a:ea typeface="+mn-ea"/>
        <a:cs typeface="+mn-cs"/>
      </a:defRPr>
    </a:lvl2pPr>
    <a:lvl3pPr marL="914400" algn="l" rtl="0" fontAlgn="base">
      <a:spcBef>
        <a:spcPct val="0"/>
      </a:spcBef>
      <a:spcAft>
        <a:spcPct val="0"/>
      </a:spcAft>
      <a:defRPr sz="3200" kern="1200">
        <a:solidFill>
          <a:srgbClr val="003399"/>
        </a:solidFill>
        <a:latin typeface="Arial" charset="0"/>
        <a:ea typeface="+mn-ea"/>
        <a:cs typeface="+mn-cs"/>
      </a:defRPr>
    </a:lvl3pPr>
    <a:lvl4pPr marL="1371600" algn="l" rtl="0" fontAlgn="base">
      <a:spcBef>
        <a:spcPct val="0"/>
      </a:spcBef>
      <a:spcAft>
        <a:spcPct val="0"/>
      </a:spcAft>
      <a:defRPr sz="3200" kern="1200">
        <a:solidFill>
          <a:srgbClr val="003399"/>
        </a:solidFill>
        <a:latin typeface="Arial" charset="0"/>
        <a:ea typeface="+mn-ea"/>
        <a:cs typeface="+mn-cs"/>
      </a:defRPr>
    </a:lvl4pPr>
    <a:lvl5pPr marL="1828800" algn="l" rtl="0" fontAlgn="base">
      <a:spcBef>
        <a:spcPct val="0"/>
      </a:spcBef>
      <a:spcAft>
        <a:spcPct val="0"/>
      </a:spcAft>
      <a:defRPr sz="3200" kern="1200">
        <a:solidFill>
          <a:srgbClr val="003399"/>
        </a:solidFill>
        <a:latin typeface="Arial" charset="0"/>
        <a:ea typeface="+mn-ea"/>
        <a:cs typeface="+mn-cs"/>
      </a:defRPr>
    </a:lvl5pPr>
    <a:lvl6pPr marL="2286000" algn="l" defTabSz="914400" rtl="0" eaLnBrk="1" latinLnBrk="0" hangingPunct="1">
      <a:defRPr sz="3200" kern="1200">
        <a:solidFill>
          <a:srgbClr val="003399"/>
        </a:solidFill>
        <a:latin typeface="Arial" charset="0"/>
        <a:ea typeface="+mn-ea"/>
        <a:cs typeface="+mn-cs"/>
      </a:defRPr>
    </a:lvl6pPr>
    <a:lvl7pPr marL="2743200" algn="l" defTabSz="914400" rtl="0" eaLnBrk="1" latinLnBrk="0" hangingPunct="1">
      <a:defRPr sz="3200" kern="1200">
        <a:solidFill>
          <a:srgbClr val="003399"/>
        </a:solidFill>
        <a:latin typeface="Arial" charset="0"/>
        <a:ea typeface="+mn-ea"/>
        <a:cs typeface="+mn-cs"/>
      </a:defRPr>
    </a:lvl7pPr>
    <a:lvl8pPr marL="3200400" algn="l" defTabSz="914400" rtl="0" eaLnBrk="1" latinLnBrk="0" hangingPunct="1">
      <a:defRPr sz="3200" kern="1200">
        <a:solidFill>
          <a:srgbClr val="003399"/>
        </a:solidFill>
        <a:latin typeface="Arial" charset="0"/>
        <a:ea typeface="+mn-ea"/>
        <a:cs typeface="+mn-cs"/>
      </a:defRPr>
    </a:lvl8pPr>
    <a:lvl9pPr marL="3657600" algn="l" defTabSz="914400" rtl="0" eaLnBrk="1" latinLnBrk="0" hangingPunct="1">
      <a:defRPr sz="3200" kern="1200">
        <a:solidFill>
          <a:srgbClr val="003399"/>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0066CC"/>
    <a:srgbClr val="339933"/>
    <a:srgbClr val="3333CC"/>
    <a:srgbClr val="3333FF"/>
    <a:srgbClr val="0000FF"/>
    <a:srgbClr val="00FF00"/>
    <a:srgbClr val="5CDE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6737" autoAdjust="0"/>
  </p:normalViewPr>
  <p:slideViewPr>
    <p:cSldViewPr>
      <p:cViewPr varScale="1">
        <p:scale>
          <a:sx n="81" d="100"/>
          <a:sy n="81" d="100"/>
        </p:scale>
        <p:origin x="4026" y="78"/>
      </p:cViewPr>
      <p:guideLst>
        <p:guide orient="horz" pos="2160"/>
        <p:guide pos="2880"/>
      </p:guideLst>
    </p:cSldViewPr>
  </p:slideViewPr>
  <p:notesTextViewPr>
    <p:cViewPr>
      <p:scale>
        <a:sx n="100" d="100"/>
        <a:sy n="100" d="100"/>
      </p:scale>
      <p:origin x="0" y="0"/>
    </p:cViewPr>
  </p:notesTextViewPr>
  <p:notesViewPr>
    <p:cSldViewPr>
      <p:cViewPr>
        <p:scale>
          <a:sx n="100" d="100"/>
          <a:sy n="100" d="100"/>
        </p:scale>
        <p:origin x="1628" y="-193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ustomXml" Target="../customXml/item2.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solidFill>
                  <a:schemeClr val="tx1"/>
                </a:solidFill>
              </a:defRPr>
            </a:lvl1pPr>
          </a:lstStyle>
          <a:p>
            <a:pPr>
              <a:defRPr/>
            </a:pPr>
            <a:endParaRPr lang="pl-PL"/>
          </a:p>
        </p:txBody>
      </p:sp>
      <p:sp>
        <p:nvSpPr>
          <p:cNvPr id="901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solidFill>
                  <a:schemeClr val="tx1"/>
                </a:solidFill>
              </a:defRPr>
            </a:lvl1pPr>
          </a:lstStyle>
          <a:p>
            <a:pPr>
              <a:defRPr/>
            </a:pPr>
            <a:endParaRPr lang="pl-PL"/>
          </a:p>
        </p:txBody>
      </p:sp>
      <p:sp>
        <p:nvSpPr>
          <p:cNvPr id="440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901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l-PL" noProof="0"/>
              <a:t>Kliknij, aby edytować style wzorca tekstu</a:t>
            </a:r>
          </a:p>
          <a:p>
            <a:pPr lvl="1"/>
            <a:r>
              <a:rPr lang="pl-PL" noProof="0"/>
              <a:t>Drugi poziom</a:t>
            </a:r>
          </a:p>
          <a:p>
            <a:pPr lvl="2"/>
            <a:r>
              <a:rPr lang="pl-PL" noProof="0"/>
              <a:t>Trzeci poziom</a:t>
            </a:r>
          </a:p>
          <a:p>
            <a:pPr lvl="3"/>
            <a:r>
              <a:rPr lang="pl-PL" noProof="0"/>
              <a:t>Czwarty poziom</a:t>
            </a:r>
          </a:p>
          <a:p>
            <a:pPr lvl="4"/>
            <a:r>
              <a:rPr lang="pl-PL" noProof="0"/>
              <a:t>Piąty poziom</a:t>
            </a:r>
          </a:p>
        </p:txBody>
      </p:sp>
      <p:sp>
        <p:nvSpPr>
          <p:cNvPr id="901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solidFill>
                  <a:schemeClr val="tx1"/>
                </a:solidFill>
              </a:defRPr>
            </a:lvl1pPr>
          </a:lstStyle>
          <a:p>
            <a:pPr>
              <a:defRPr/>
            </a:pPr>
            <a:endParaRPr lang="pl-PL"/>
          </a:p>
        </p:txBody>
      </p:sp>
      <p:sp>
        <p:nvSpPr>
          <p:cNvPr id="901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solidFill>
                  <a:schemeClr val="tx1"/>
                </a:solidFill>
              </a:defRPr>
            </a:lvl1pPr>
          </a:lstStyle>
          <a:p>
            <a:pPr>
              <a:defRPr/>
            </a:pPr>
            <a:fld id="{7168F6DD-F70C-4803-A81F-A3ABCFA3F5E1}" type="slidenum">
              <a:rPr lang="pl-PL"/>
              <a:pPr>
                <a:defRPr/>
              </a:pPr>
              <a:t>‹#›</a:t>
            </a:fld>
            <a:endParaRPr lang="pl-PL"/>
          </a:p>
        </p:txBody>
      </p:sp>
    </p:spTree>
    <p:extLst>
      <p:ext uri="{BB962C8B-B14F-4D97-AF65-F5344CB8AC3E}">
        <p14:creationId xmlns:p14="http://schemas.microsoft.com/office/powerpoint/2010/main" val="198603133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p>
            <a:fld id="{D4A95A63-17DB-4649-830A-2B07C5889BF1}" type="slidenum">
              <a:rPr lang="pl-PL"/>
              <a:pPr/>
              <a:t>1</a:t>
            </a:fld>
            <a:endParaRPr lang="pl-PL"/>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686515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p>
            <a:fld id="{DAAAF5D8-CF23-4F95-A973-CD80EAFF6F91}" type="slidenum">
              <a:rPr lang="pl-PL"/>
              <a:pPr/>
              <a:t>2</a:t>
            </a:fld>
            <a:endParaRPr lang="pl-PL"/>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p:spPr>
        <p:txBody>
          <a:bodyPr/>
          <a:lstStyle/>
          <a:p>
            <a:pPr eaLnBrk="1" hangingPunct="1"/>
            <a:r>
              <a:rPr lang="pl-PL" dirty="0"/>
              <a:t>Plato: </a:t>
            </a:r>
            <a:r>
              <a:rPr lang="en-US" dirty="0"/>
              <a:t>Quality is a judgmental court that marks the degree of perfection in relation to ideas.</a:t>
            </a:r>
            <a:endParaRPr lang="pl-PL" dirty="0"/>
          </a:p>
        </p:txBody>
      </p:sp>
    </p:spTree>
    <p:extLst>
      <p:ext uri="{BB962C8B-B14F-4D97-AF65-F5344CB8AC3E}">
        <p14:creationId xmlns:p14="http://schemas.microsoft.com/office/powerpoint/2010/main" val="2218690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p>
            <a:fld id="{A019E8B5-8C3C-4A6C-AFFD-792CF9EE4477}" type="slidenum">
              <a:rPr lang="pl-PL"/>
              <a:pPr/>
              <a:t>3</a:t>
            </a:fld>
            <a:endParaRPr lang="pl-PL"/>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p:spPr>
        <p:txBody>
          <a:bodyPr/>
          <a:lstStyle/>
          <a:p>
            <a:pPr eaLnBrk="1" hangingPunct="1"/>
            <a:r>
              <a:rPr lang="pl-PL" dirty="0"/>
              <a:t>Many </a:t>
            </a:r>
            <a:r>
              <a:rPr lang="pl-PL" dirty="0" err="1"/>
              <a:t>definitions</a:t>
            </a:r>
            <a:r>
              <a:rPr lang="pl-PL" dirty="0"/>
              <a:t> of „</a:t>
            </a:r>
            <a:r>
              <a:rPr lang="pl-PL" dirty="0" err="1"/>
              <a:t>quality</a:t>
            </a:r>
            <a:r>
              <a:rPr lang="pl-PL" dirty="0"/>
              <a:t>” </a:t>
            </a:r>
            <a:r>
              <a:rPr lang="pl-PL" dirty="0">
                <a:sym typeface="Wingdings" pitchFamily="2" charset="2"/>
              </a:rPr>
              <a:t></a:t>
            </a:r>
          </a:p>
          <a:p>
            <a:pPr eaLnBrk="1" hangingPunct="1"/>
            <a:r>
              <a:rPr lang="pl-PL" dirty="0">
                <a:sym typeface="Wingdings" pitchFamily="2" charset="2"/>
              </a:rPr>
              <a:t>The </a:t>
            </a:r>
            <a:r>
              <a:rPr lang="pl-PL" dirty="0" err="1">
                <a:sym typeface="Wingdings" pitchFamily="2" charset="2"/>
              </a:rPr>
              <a:t>definition</a:t>
            </a:r>
            <a:r>
              <a:rPr lang="pl-PL" dirty="0">
                <a:sym typeface="Wingdings" pitchFamily="2" charset="2"/>
              </a:rPr>
              <a:t> on the </a:t>
            </a:r>
            <a:r>
              <a:rPr lang="pl-PL" dirty="0" err="1">
                <a:sym typeface="Wingdings" pitchFamily="2" charset="2"/>
              </a:rPr>
              <a:t>slide</a:t>
            </a:r>
            <a:r>
              <a:rPr lang="pl-PL" dirty="0">
                <a:sym typeface="Wingdings" pitchFamily="2" charset="2"/>
              </a:rPr>
              <a:t>: ISO 9000. </a:t>
            </a:r>
            <a:endParaRPr lang="pl-PL" dirty="0"/>
          </a:p>
        </p:txBody>
      </p:sp>
    </p:spTree>
    <p:extLst>
      <p:ext uri="{BB962C8B-B14F-4D97-AF65-F5344CB8AC3E}">
        <p14:creationId xmlns:p14="http://schemas.microsoft.com/office/powerpoint/2010/main" val="2080421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p>
            <a:fld id="{A52B64C3-C756-4414-ADC4-EFDC91B494C5}" type="slidenum">
              <a:rPr lang="pl-PL"/>
              <a:pPr/>
              <a:t>4</a:t>
            </a:fld>
            <a:endParaRPr lang="pl-PL"/>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p:spPr>
        <p:txBody>
          <a:bodyPr/>
          <a:lstStyle/>
          <a:p>
            <a:pPr eaLnBrk="1" hangingPunct="1"/>
            <a:r>
              <a:rPr lang="en-US" dirty="0"/>
              <a:t>Philip B. Crosby (</a:t>
            </a:r>
            <a:r>
              <a:rPr lang="pl-PL" dirty="0" err="1"/>
              <a:t>author</a:t>
            </a:r>
            <a:r>
              <a:rPr lang="en-US" dirty="0"/>
              <a:t> of the "zero defects</a:t>
            </a:r>
            <a:r>
              <a:rPr lang="pl-PL" dirty="0"/>
              <a:t>” </a:t>
            </a:r>
            <a:r>
              <a:rPr lang="pl-PL" dirty="0" err="1"/>
              <a:t>theory</a:t>
            </a:r>
            <a:r>
              <a:rPr lang="en-US" dirty="0"/>
              <a:t>). Quality = compliance with customer</a:t>
            </a:r>
            <a:r>
              <a:rPr lang="pl-PL" dirty="0"/>
              <a:t>’s</a:t>
            </a:r>
            <a:r>
              <a:rPr lang="en-US" dirty="0"/>
              <a:t> requirements (not </a:t>
            </a:r>
            <a:r>
              <a:rPr lang="pl-PL" dirty="0"/>
              <a:t>„</a:t>
            </a:r>
            <a:r>
              <a:rPr lang="en-US" dirty="0"/>
              <a:t>abstract perfection</a:t>
            </a:r>
            <a:r>
              <a:rPr lang="pl-PL" dirty="0"/>
              <a:t>”</a:t>
            </a:r>
            <a:r>
              <a:rPr lang="en-US" dirty="0"/>
              <a:t> requirements).</a:t>
            </a:r>
            <a:endParaRPr lang="pl-PL" dirty="0"/>
          </a:p>
        </p:txBody>
      </p:sp>
    </p:spTree>
    <p:extLst>
      <p:ext uri="{BB962C8B-B14F-4D97-AF65-F5344CB8AC3E}">
        <p14:creationId xmlns:p14="http://schemas.microsoft.com/office/powerpoint/2010/main" val="3183917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p>
            <a:fld id="{6C2EE3EF-7394-4E98-A02F-343A15843926}" type="slidenum">
              <a:rPr lang="pl-PL"/>
              <a:pPr/>
              <a:t>5</a:t>
            </a:fld>
            <a:endParaRPr lang="pl-PL"/>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38856994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p>
            <a:fld id="{CFF298E5-71ED-47E6-9742-0F2EA2A9BED4}" type="slidenum">
              <a:rPr lang="pl-PL"/>
              <a:pPr/>
              <a:t>6</a:t>
            </a:fld>
            <a:endParaRPr lang="pl-PL"/>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p:spPr>
        <p:txBody>
          <a:bodyPr/>
          <a:lstStyle/>
          <a:p>
            <a:pPr eaLnBrk="1" hangingPunct="1"/>
            <a:br>
              <a:rPr lang="en-US" dirty="0"/>
            </a:br>
            <a:r>
              <a:rPr lang="en-US" sz="1200" b="0" i="0" kern="1200" dirty="0">
                <a:solidFill>
                  <a:schemeClr val="tx1"/>
                </a:solidFill>
                <a:effectLst/>
                <a:latin typeface="Arial" charset="0"/>
                <a:ea typeface="+mn-ea"/>
                <a:cs typeface="+mn-cs"/>
              </a:rPr>
              <a:t>The importance of quality increased along with changes in the management of manufacturing organizations.</a:t>
            </a:r>
            <a:endParaRPr lang="pl-PL" dirty="0"/>
          </a:p>
        </p:txBody>
      </p:sp>
    </p:spTree>
    <p:extLst>
      <p:ext uri="{BB962C8B-B14F-4D97-AF65-F5344CB8AC3E}">
        <p14:creationId xmlns:p14="http://schemas.microsoft.com/office/powerpoint/2010/main" val="1001376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79FEF9FD-3075-408F-8E7C-CE4BBA470800}" type="slidenum">
              <a:rPr lang="pl-PL"/>
              <a:pPr/>
              <a:t>7</a:t>
            </a:fld>
            <a:endParaRPr lang="pl-PL"/>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algn="just" eaLnBrk="1" hangingPunct="1">
              <a:lnSpc>
                <a:spcPct val="80000"/>
              </a:lnSpc>
            </a:pPr>
            <a:r>
              <a:rPr lang="en-US" dirty="0">
                <a:latin typeface="Arial" panose="020B0604020202020204" pitchFamily="34" charset="0"/>
                <a:cs typeface="Arial" panose="020B0604020202020204" pitchFamily="34" charset="0"/>
              </a:rPr>
              <a:t>The origin of the issue of quality dates to the beginning of the world. In the Bible (in the Book of Genesis) in the description of the creation of the world one can find certain elements of it (God knew that everything he did was very good), i.e. distinguishing things better (good) and worse (bad ones). Other records on this issue can be found in the Hammurabi Code (If a builder built a house and his work was not done permanently and the house he built collapsed and killed the owner, the builder will be punished with death), Chinese Chronicles of Ethics (Tools below standards cannot be marketed, cotton and silk whose quality and size do not have the required parameters, cannot be marketed) or Phoenician legislation (In case of re-identification of poor quality handicraft products, its makers must cut their hands) (</a:t>
            </a:r>
            <a:r>
              <a:rPr lang="en-US" dirty="0" err="1">
                <a:latin typeface="Arial" panose="020B0604020202020204" pitchFamily="34" charset="0"/>
                <a:cs typeface="Arial" panose="020B0604020202020204" pitchFamily="34" charset="0"/>
              </a:rPr>
              <a:t>Ostasiewicz</a:t>
            </a:r>
            <a:r>
              <a:rPr lang="en-US" dirty="0">
                <a:latin typeface="Arial" panose="020B0604020202020204" pitchFamily="34" charset="0"/>
                <a:cs typeface="Arial" panose="020B0604020202020204" pitchFamily="34" charset="0"/>
              </a:rPr>
              <a:t> [ed.], 2004, p. 110). Thus, the sources of quality of goods and services should be seen in times of great civilizations such as Egyptians, Mesopotamians, Israelites, Romans, Greeks, Chinese, or even Hindus. Literature of the subject indicates that in the era of classical Greek philosophy (5th–4th c. BC), i.e. in the second decade of the development of ancient philosophy (Plato’s work), the term ‘quality’ first appeared. In his work Symposium Plato recognized that the real world was an imperfect reflection of realistically perfect ideas. According to this conviction, the author has defined ‘quality’ as a certain degree of perfection (objective idealism), stating that quality as beauty is a judgment expressed by the user. If there is no user, then there is no such court </a:t>
            </a:r>
            <a:endParaRPr lang="pl-P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77449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C72986A8-F570-4D7C-9FD1-88925B02FF7A}" type="slidenum">
              <a:rPr lang="pl-PL"/>
              <a:pPr/>
              <a:t>8</a:t>
            </a:fld>
            <a:endParaRPr lang="pl-PL"/>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p:spPr>
        <p:txBody>
          <a:bodyPr/>
          <a:lstStyle/>
          <a:p>
            <a:pPr eaLnBrk="1" hangingPunct="1"/>
            <a:r>
              <a:rPr lang="en-US" dirty="0"/>
              <a:t>A turning point in the history of quality occurred in Japan shortly after the end of WWII. Japanese industry was destroyed and had to be rebuilt from scratch. A number of Americans went to help. They</a:t>
            </a:r>
            <a:r>
              <a:rPr lang="pl-PL" dirty="0"/>
              <a:t> </a:t>
            </a:r>
            <a:r>
              <a:rPr lang="pl-PL" dirty="0" err="1"/>
              <a:t>taught</a:t>
            </a:r>
            <a:r>
              <a:rPr lang="pl-PL" dirty="0"/>
              <a:t>, </a:t>
            </a:r>
            <a:r>
              <a:rPr lang="pl-PL" dirty="0" err="1"/>
              <a:t>among</a:t>
            </a:r>
            <a:r>
              <a:rPr lang="pl-PL" dirty="0"/>
              <a:t> </a:t>
            </a:r>
            <a:r>
              <a:rPr lang="pl-PL" dirty="0" err="1"/>
              <a:t>others</a:t>
            </a:r>
            <a:r>
              <a:rPr lang="pl-PL" dirty="0"/>
              <a:t>, </a:t>
            </a:r>
            <a:r>
              <a:rPr lang="en-US" dirty="0"/>
              <a:t>using statistics to control the production </a:t>
            </a:r>
            <a:r>
              <a:rPr lang="en-US" dirty="0" err="1"/>
              <a:t>proces</a:t>
            </a:r>
            <a:r>
              <a:rPr lang="pl-PL" dirty="0"/>
              <a:t>s.</a:t>
            </a:r>
          </a:p>
        </p:txBody>
      </p:sp>
    </p:spTree>
    <p:extLst>
      <p:ext uri="{BB962C8B-B14F-4D97-AF65-F5344CB8AC3E}">
        <p14:creationId xmlns:p14="http://schemas.microsoft.com/office/powerpoint/2010/main" val="3664978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D327FE7A-E874-44A2-9B61-31A76FE8835D}" type="slidenum">
              <a:rPr lang="pl-PL"/>
              <a:pPr/>
              <a:t>9</a:t>
            </a:fld>
            <a:endParaRPr lang="pl-PL"/>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algn="just" eaLnBrk="1" hangingPunct="1">
              <a:lnSpc>
                <a:spcPct val="90000"/>
              </a:lnSpc>
            </a:pPr>
            <a:r>
              <a:rPr lang="en-US" sz="1000" dirty="0"/>
              <a:t>One of them was W. Edwards Deming (he went to Japan in 1950). First photo on the left. Appreciating what Deming did to rebuild its production system after the war, Japan named its highest quality award after him. The prestigious Deming Award, established in 1951, is regarded as a symbol of Japanese concern for high quality. Statistical process control - controlled variations (regarding the process itself) and uncontrolled variations (changes in raw material, external interference) affect the quality. First, uncontrolled variations should be eliminated, and controlled variations removed by designing and modifying the system. Joseph </a:t>
            </a:r>
            <a:r>
              <a:rPr lang="en-US" sz="1000" dirty="0" err="1"/>
              <a:t>Juran</a:t>
            </a:r>
            <a:r>
              <a:rPr lang="en-US" sz="1000" dirty="0"/>
              <a:t> - came to Japan around the same time as Deming. He also participated in the development of statistical process control. </a:t>
            </a:r>
            <a:r>
              <a:rPr lang="en-US" sz="1000" dirty="0" err="1"/>
              <a:t>Juran</a:t>
            </a:r>
            <a:r>
              <a:rPr lang="en-US" sz="1000" dirty="0"/>
              <a:t> and Deming's ideas are similar, but while Deming thought that focusing on quality requires revolutionary changes and preached the philosophy of implementing great changes, </a:t>
            </a:r>
            <a:r>
              <a:rPr lang="en-US" sz="1000" dirty="0" err="1"/>
              <a:t>Juran</a:t>
            </a:r>
            <a:r>
              <a:rPr lang="en-US" sz="1000" dirty="0"/>
              <a:t> thought that high quality could be introduced like </a:t>
            </a:r>
            <a:r>
              <a:rPr lang="pl-PL" sz="1000" dirty="0" err="1"/>
              <a:t>any</a:t>
            </a:r>
            <a:r>
              <a:rPr lang="pl-PL" sz="1000" dirty="0"/>
              <a:t> </a:t>
            </a:r>
            <a:r>
              <a:rPr lang="en-US" sz="1000" dirty="0"/>
              <a:t>other </a:t>
            </a:r>
            <a:r>
              <a:rPr lang="pl-PL" sz="1000" dirty="0" err="1"/>
              <a:t>changes</a:t>
            </a:r>
            <a:r>
              <a:rPr lang="en-US" sz="1000" dirty="0"/>
              <a:t> in the company, using the company's decision and action planning system (its "trilogy" - plan quality, control quality, improve quality, is similar to</a:t>
            </a:r>
            <a:r>
              <a:rPr lang="pl-PL" sz="1000" dirty="0"/>
              <a:t>, </a:t>
            </a:r>
            <a:r>
              <a:rPr lang="pl-PL" sz="1000" dirty="0" err="1"/>
              <a:t>e.g</a:t>
            </a:r>
            <a:r>
              <a:rPr lang="pl-PL" sz="1000" dirty="0"/>
              <a:t>.:</a:t>
            </a:r>
            <a:r>
              <a:rPr lang="en-US" sz="1000" dirty="0"/>
              <a:t> financial planning, financial control and increasing profits). </a:t>
            </a:r>
            <a:endParaRPr lang="pl-PL" sz="1000" dirty="0"/>
          </a:p>
          <a:p>
            <a:pPr algn="just" eaLnBrk="1" hangingPunct="1">
              <a:lnSpc>
                <a:spcPct val="90000"/>
              </a:lnSpc>
            </a:pPr>
            <a:r>
              <a:rPr lang="en-US" sz="1000" dirty="0"/>
              <a:t>Kaoru Ishikawa - Japanese specialist. Co-creator of quality circles - working groups in which workers meet to discuss suggestions for improvement. The Americans tried to copy them, but they did not understand that the Japanese really took the workers' proposals seriously and implemented them (and before that they acquainted both workers and managers with the tools and philosophy of achieving quality). Ishikawa also emphasized focusing all efforts on clients in the pursuit of comprehensive quality. He even went so far that he proposed to treat the next department, to which the production of his department is transferred as a customer.</a:t>
            </a:r>
            <a:endParaRPr lang="pl-PL" sz="1000" dirty="0"/>
          </a:p>
        </p:txBody>
      </p:sp>
    </p:spTree>
    <p:extLst>
      <p:ext uri="{BB962C8B-B14F-4D97-AF65-F5344CB8AC3E}">
        <p14:creationId xmlns:p14="http://schemas.microsoft.com/office/powerpoint/2010/main" val="886962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10</a:t>
            </a:fld>
            <a:endParaRPr lang="pl-PL"/>
          </a:p>
        </p:txBody>
      </p:sp>
    </p:spTree>
    <p:extLst>
      <p:ext uri="{BB962C8B-B14F-4D97-AF65-F5344CB8AC3E}">
        <p14:creationId xmlns:p14="http://schemas.microsoft.com/office/powerpoint/2010/main" val="58458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11</a:t>
            </a:fld>
            <a:endParaRPr lang="pl-PL"/>
          </a:p>
        </p:txBody>
      </p:sp>
    </p:spTree>
    <p:extLst>
      <p:ext uri="{BB962C8B-B14F-4D97-AF65-F5344CB8AC3E}">
        <p14:creationId xmlns:p14="http://schemas.microsoft.com/office/powerpoint/2010/main" val="16050300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12</a:t>
            </a:fld>
            <a:endParaRPr lang="pl-PL"/>
          </a:p>
        </p:txBody>
      </p:sp>
    </p:spTree>
    <p:extLst>
      <p:ext uri="{BB962C8B-B14F-4D97-AF65-F5344CB8AC3E}">
        <p14:creationId xmlns:p14="http://schemas.microsoft.com/office/powerpoint/2010/main" val="3109347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13</a:t>
            </a:fld>
            <a:endParaRPr lang="pl-PL"/>
          </a:p>
        </p:txBody>
      </p:sp>
    </p:spTree>
    <p:extLst>
      <p:ext uri="{BB962C8B-B14F-4D97-AF65-F5344CB8AC3E}">
        <p14:creationId xmlns:p14="http://schemas.microsoft.com/office/powerpoint/2010/main" val="4161965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14</a:t>
            </a:fld>
            <a:endParaRPr lang="pl-PL"/>
          </a:p>
        </p:txBody>
      </p:sp>
    </p:spTree>
    <p:extLst>
      <p:ext uri="{BB962C8B-B14F-4D97-AF65-F5344CB8AC3E}">
        <p14:creationId xmlns:p14="http://schemas.microsoft.com/office/powerpoint/2010/main" val="34719861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15</a:t>
            </a:fld>
            <a:endParaRPr lang="pl-PL"/>
          </a:p>
        </p:txBody>
      </p:sp>
    </p:spTree>
    <p:extLst>
      <p:ext uri="{BB962C8B-B14F-4D97-AF65-F5344CB8AC3E}">
        <p14:creationId xmlns:p14="http://schemas.microsoft.com/office/powerpoint/2010/main" val="29704738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16</a:t>
            </a:fld>
            <a:endParaRPr lang="pl-PL"/>
          </a:p>
        </p:txBody>
      </p:sp>
    </p:spTree>
    <p:extLst>
      <p:ext uri="{BB962C8B-B14F-4D97-AF65-F5344CB8AC3E}">
        <p14:creationId xmlns:p14="http://schemas.microsoft.com/office/powerpoint/2010/main" val="21644851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fld id="{9AEF28FE-3D1A-446C-9E20-4AD5D9C85B87}" type="slidenum">
              <a:rPr lang="pl-PL"/>
              <a:pPr/>
              <a:t>17</a:t>
            </a:fld>
            <a:endParaRPr lang="pl-PL"/>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41911642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3197E755-41B2-4B47-B02E-AAA899E07CD1}" type="slidenum">
              <a:rPr lang="pl-PL"/>
              <a:pPr/>
              <a:t>18</a:t>
            </a:fld>
            <a:endParaRPr lang="pl-PL"/>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p:spPr>
        <p:txBody>
          <a:bodyPr/>
          <a:lstStyle/>
          <a:p>
            <a:pPr fontAlgn="base"/>
            <a:r>
              <a:rPr lang="en-US" b="1" dirty="0">
                <a:effectLst/>
              </a:rPr>
              <a:t>Deming’s seven deadly diseases</a:t>
            </a:r>
          </a:p>
          <a:p>
            <a:pPr fontAlgn="base" latinLnBrk="0"/>
            <a:r>
              <a:rPr lang="en-US" dirty="0">
                <a:effectLst/>
              </a:rPr>
              <a:t>(From Deming 1982 ‘Out of the Crisis’ Chapter 3)</a:t>
            </a:r>
          </a:p>
          <a:p>
            <a:pPr fontAlgn="base" latinLnBrk="0"/>
            <a:r>
              <a:rPr lang="en-US" b="1" dirty="0">
                <a:effectLst/>
              </a:rPr>
              <a:t>1. Lack of constancy of purpose</a:t>
            </a:r>
            <a:endParaRPr lang="en-US" dirty="0">
              <a:effectLst/>
            </a:endParaRPr>
          </a:p>
          <a:p>
            <a:pPr algn="just" fontAlgn="base" latinLnBrk="0"/>
            <a:r>
              <a:rPr lang="en-US" dirty="0">
                <a:effectLst/>
              </a:rPr>
              <a:t>Constancy of purpose – the first of the Fourteen Points – is essential to stay in business. Its absence spells doom for a company. Without constancy of purpose, management does not think beyond the next quarter and has no long-range plans for staying in business.</a:t>
            </a:r>
          </a:p>
          <a:p>
            <a:pPr algn="just" fontAlgn="base" latinLnBrk="0"/>
            <a:r>
              <a:rPr lang="en-US" dirty="0">
                <a:effectLst/>
              </a:rPr>
              <a:t>Dedication to the new philosophy must be widespread throughout the company. It is not sufficient to announce intentions to improve quality, even repeatedly. Employees in many companies have been exposed to a succession of plans for improvement. They have seen </a:t>
            </a:r>
            <a:r>
              <a:rPr lang="en-US" dirty="0" err="1">
                <a:effectLst/>
              </a:rPr>
              <a:t>programmes</a:t>
            </a:r>
            <a:r>
              <a:rPr lang="en-US" dirty="0">
                <a:effectLst/>
              </a:rPr>
              <a:t> come and go, often coinciding with the term of the chief executive; a new boss, a new </a:t>
            </a:r>
            <a:r>
              <a:rPr lang="en-US" dirty="0" err="1">
                <a:effectLst/>
              </a:rPr>
              <a:t>programme</a:t>
            </a:r>
            <a:r>
              <a:rPr lang="en-US" dirty="0">
                <a:effectLst/>
              </a:rPr>
              <a:t>. Disenchanted and disillusioned, they require proof that the company is serious.</a:t>
            </a:r>
          </a:p>
          <a:p>
            <a:pPr fontAlgn="base" latinLnBrk="0"/>
            <a:r>
              <a:rPr lang="en-US" b="1" dirty="0">
                <a:effectLst/>
              </a:rPr>
              <a:t>2. Emphasis on short-term profits</a:t>
            </a:r>
            <a:endParaRPr lang="en-US" dirty="0">
              <a:effectLst/>
            </a:endParaRPr>
          </a:p>
          <a:p>
            <a:pPr algn="just" fontAlgn="base" latinLnBrk="0"/>
            <a:r>
              <a:rPr lang="en-US" dirty="0">
                <a:effectLst/>
              </a:rPr>
              <a:t>Todays </a:t>
            </a:r>
            <a:r>
              <a:rPr lang="en-US" dirty="0" err="1">
                <a:effectLst/>
              </a:rPr>
              <a:t>organisations</a:t>
            </a:r>
            <a:r>
              <a:rPr lang="en-US" dirty="0">
                <a:effectLst/>
              </a:rPr>
              <a:t> are often controlled by financial people who manipulate figures but do not make substantial changes to production and quality. They are driven by what they argue are the needs of the shareholders. Shareholders who depend on dividends for income need to be assured that their company will still be in existence, and still be producing dividends, some years hence. It is common for companies to ship products (or take other actions) on the last day of the month, without regard to quality, merely to inflate the figures.</a:t>
            </a:r>
          </a:p>
          <a:p>
            <a:pPr fontAlgn="base" latinLnBrk="0"/>
            <a:r>
              <a:rPr lang="en-US" dirty="0">
                <a:effectLst/>
              </a:rPr>
              <a:t>Paper profits do not make the pie bigger, </a:t>
            </a:r>
            <a:r>
              <a:rPr lang="en-US" dirty="0" err="1">
                <a:effectLst/>
              </a:rPr>
              <a:t>Dr</a:t>
            </a:r>
            <a:r>
              <a:rPr lang="en-US" dirty="0">
                <a:effectLst/>
              </a:rPr>
              <a:t> Deming was fond of saying. They give you a bigger price. You take it from somebody else. It </a:t>
            </a:r>
            <a:r>
              <a:rPr lang="en-US" dirty="0" err="1">
                <a:effectLst/>
              </a:rPr>
              <a:t>doesn</a:t>
            </a:r>
            <a:r>
              <a:rPr lang="pl-PL" dirty="0">
                <a:effectLst/>
              </a:rPr>
              <a:t>’</a:t>
            </a:r>
            <a:r>
              <a:rPr lang="en-US" dirty="0">
                <a:effectLst/>
              </a:rPr>
              <a:t>t help the society.</a:t>
            </a:r>
          </a:p>
          <a:p>
            <a:pPr fontAlgn="base" latinLnBrk="0"/>
            <a:r>
              <a:rPr lang="en-US" b="1" dirty="0">
                <a:effectLst/>
              </a:rPr>
              <a:t>3. Evaluation of performance, merit rating, or annual review</a:t>
            </a:r>
            <a:endParaRPr lang="en-US" dirty="0">
              <a:effectLst/>
            </a:endParaRPr>
          </a:p>
          <a:p>
            <a:pPr algn="just" fontAlgn="base" latinLnBrk="0"/>
            <a:r>
              <a:rPr lang="en-US" dirty="0">
                <a:effectLst/>
              </a:rPr>
              <a:t>Management by objective (MBO) </a:t>
            </a:r>
            <a:r>
              <a:rPr lang="en-US" dirty="0" err="1">
                <a:effectLst/>
              </a:rPr>
              <a:t>programmes</a:t>
            </a:r>
            <a:r>
              <a:rPr lang="en-US" dirty="0">
                <a:effectLst/>
              </a:rPr>
              <a:t> and management by the numbers fall in this category. Management by fear would be a better name, suggests </a:t>
            </a:r>
            <a:r>
              <a:rPr lang="en-US" dirty="0" err="1">
                <a:effectLst/>
              </a:rPr>
              <a:t>Dr</a:t>
            </a:r>
            <a:r>
              <a:rPr lang="en-US" dirty="0">
                <a:effectLst/>
              </a:rPr>
              <a:t> Deming. The effects are devastating.</a:t>
            </a:r>
          </a:p>
          <a:p>
            <a:pPr algn="just" fontAlgn="base" latinLnBrk="0"/>
            <a:r>
              <a:rPr lang="en-US" dirty="0">
                <a:effectLst/>
              </a:rPr>
              <a:t>First, performance evaluation encourages short-term performance at the expense of long-term planning. It discourages risk-taking, builds fear, undermines teamwork, and pits people against each other for the same rewards. On a team, it is difficult to tell who did what. The result is a company composed of prima donnas or sparring fiefdoms. People work for themselves, not the company.</a:t>
            </a:r>
          </a:p>
          <a:p>
            <a:pPr algn="just" fontAlgn="base" latinLnBrk="0"/>
            <a:r>
              <a:rPr lang="en-US" dirty="0">
                <a:effectLst/>
              </a:rPr>
              <a:t>Such evaluations, </a:t>
            </a:r>
            <a:r>
              <a:rPr lang="en-US" dirty="0" err="1">
                <a:effectLst/>
              </a:rPr>
              <a:t>Dr</a:t>
            </a:r>
            <a:r>
              <a:rPr lang="en-US" dirty="0">
                <a:effectLst/>
              </a:rPr>
              <a:t> Deming says, leave people bitter, despondent, dejected, some even depressed. They are unfit for work for weeks after receipt of rating, unable to comprehend why they are inferior. It is unfair, as it ascribes to the people in a group differences that may be caused totally by the system that they work in.</a:t>
            </a:r>
          </a:p>
          <a:p>
            <a:pPr algn="just" fontAlgn="base" latinLnBrk="0"/>
            <a:r>
              <a:rPr lang="en-US" dirty="0">
                <a:effectLst/>
              </a:rPr>
              <a:t>He notes that merit ratings tend to increase variability of performance, as people with lower ratings attempt to emulate those with higher ones.</a:t>
            </a:r>
          </a:p>
          <a:p>
            <a:pPr algn="just" fontAlgn="base" latinLnBrk="0"/>
            <a:r>
              <a:rPr lang="en-US" dirty="0">
                <a:effectLst/>
              </a:rPr>
              <a:t>An insidious effect if that they also increase reliance on numbers. Because they measure short-term results, there is a tendency to consider only evidence that can be counted. The number of designs an engineer turns out, for example, with no consideration of their quality. Merit ratings also depend on the subjective </a:t>
            </a:r>
            <a:r>
              <a:rPr lang="en-US" dirty="0" err="1">
                <a:effectLst/>
              </a:rPr>
              <a:t>judgement</a:t>
            </a:r>
            <a:r>
              <a:rPr lang="en-US" dirty="0">
                <a:effectLst/>
              </a:rPr>
              <a:t> of supervisors. One’s rating may vary wildly, depending on the boss.</a:t>
            </a:r>
          </a:p>
          <a:p>
            <a:pPr algn="just" fontAlgn="base" latinLnBrk="0"/>
            <a:r>
              <a:rPr lang="en-US" dirty="0">
                <a:effectLst/>
              </a:rPr>
              <a:t>Some supervisors dread making the </a:t>
            </a:r>
            <a:r>
              <a:rPr lang="en-US" dirty="0" err="1">
                <a:effectLst/>
              </a:rPr>
              <a:t>judgements</a:t>
            </a:r>
            <a:r>
              <a:rPr lang="en-US" dirty="0">
                <a:effectLst/>
              </a:rPr>
              <a:t>. One popular system requires them to assign ratings from one to five, with a certain number of people at each level. Even when there are only five workers, one must be rated at the top and one at the bottom.</a:t>
            </a:r>
          </a:p>
          <a:p>
            <a:pPr algn="just" fontAlgn="base" latinLnBrk="0"/>
            <a:r>
              <a:rPr lang="en-US" dirty="0">
                <a:effectLst/>
              </a:rPr>
              <a:t>The great accomplishments of man, </a:t>
            </a:r>
            <a:r>
              <a:rPr lang="en-US" dirty="0" err="1">
                <a:effectLst/>
              </a:rPr>
              <a:t>Dr</a:t>
            </a:r>
            <a:r>
              <a:rPr lang="en-US" dirty="0">
                <a:effectLst/>
              </a:rPr>
              <a:t> Deming says, have been achieved without competition.</a:t>
            </a:r>
          </a:p>
          <a:p>
            <a:pPr algn="just" fontAlgn="base" latinLnBrk="0"/>
            <a:r>
              <a:rPr lang="en-US" dirty="0">
                <a:effectLst/>
              </a:rPr>
              <a:t>Look at Moses. He had no competition. Two hundred years ago Sebastian Bach was writing the rules of harmony for all time. Why did he do it? Pride of workmanship.</a:t>
            </a:r>
          </a:p>
          <a:p>
            <a:pPr algn="just" fontAlgn="base" latinLnBrk="0"/>
            <a:r>
              <a:rPr lang="en-US" dirty="0" err="1">
                <a:effectLst/>
              </a:rPr>
              <a:t>Dr</a:t>
            </a:r>
            <a:r>
              <a:rPr lang="en-US" dirty="0">
                <a:effectLst/>
              </a:rPr>
              <a:t> Deming feels very strongly about the damage done by performance ratings. In his speech at the 11 December 1985 Deming Prize awards ceremony in Japan, </a:t>
            </a:r>
            <a:r>
              <a:rPr lang="en-US" dirty="0" err="1">
                <a:effectLst/>
              </a:rPr>
              <a:t>Dr</a:t>
            </a:r>
            <a:r>
              <a:rPr lang="en-US" dirty="0">
                <a:effectLst/>
              </a:rPr>
              <a:t> Deming cautioned his listeners against infection with American diseases. He talked at length about performance ratings. His audience, of course, was familiar with the use of control charts to determine statistical limits.</a:t>
            </a:r>
          </a:p>
          <a:p>
            <a:pPr algn="just" fontAlgn="base" latinLnBrk="0"/>
            <a:r>
              <a:rPr lang="en-US" dirty="0">
                <a:effectLst/>
              </a:rPr>
              <a:t>The ratings of people in a group based on any numerical system whatever, whether it be a single measure of whether it be a composite or weighted index, whether it makes sense or not, will divide the people into three groups. A) People outside the control limits on the bad side; B) People outside limits on the good side; C) the people between limits.</a:t>
            </a:r>
          </a:p>
          <a:p>
            <a:pPr algn="just" fontAlgn="base" latinLnBrk="0"/>
            <a:r>
              <a:rPr lang="en-US" dirty="0">
                <a:effectLst/>
              </a:rPr>
              <a:t>Group A requires individual help. Group B, if there’s anybody there – there may not be anybody in A or B – but if there is, they require individual attention. Now, people in between the control limits must not be ranked. That is wrong, for the same reason that it is costly, devastating to try to discover the reasons why a point within control limits is higher than another one, or lower than another one. Differences within levels between the limits come from the system itself, not from the people there. Everybody in group C should receive the same increase in pay or the same bonus. There is no rightful distinction between them. The differences come from the system. They must be ascribed to the system, not to the people.</a:t>
            </a:r>
          </a:p>
          <a:p>
            <a:pPr algn="just" fontAlgn="base" latinLnBrk="0"/>
            <a:r>
              <a:rPr lang="en-US" dirty="0">
                <a:effectLst/>
              </a:rPr>
              <a:t>The job of the leader is to shrink the control limits, to get less and less variation in a process, or less and less difference between people.</a:t>
            </a:r>
          </a:p>
          <a:p>
            <a:pPr algn="just" fontAlgn="base" latinLnBrk="0"/>
            <a:r>
              <a:rPr lang="en-US" b="1" dirty="0">
                <a:effectLst/>
              </a:rPr>
              <a:t>4. Mobility of top management</a:t>
            </a:r>
            <a:endParaRPr lang="en-US" dirty="0">
              <a:effectLst/>
            </a:endParaRPr>
          </a:p>
          <a:p>
            <a:pPr algn="just" fontAlgn="base" latinLnBrk="0"/>
            <a:r>
              <a:rPr lang="en-US" dirty="0">
                <a:effectLst/>
              </a:rPr>
              <a:t>Business schools are dedicated to the idea that you can train a good manager in university applicable techniques. But how can a manager be committed to long-term change when he is constantly building up his curriculum vitae? How can a manager really know a company when he is there for only two or three years? In Japan, executives move through the ranks in a progression that takes decades to push them to the top.</a:t>
            </a:r>
          </a:p>
          <a:p>
            <a:pPr algn="just" fontAlgn="base" latinLnBrk="0"/>
            <a:r>
              <a:rPr lang="en-US" dirty="0" err="1">
                <a:effectLst/>
              </a:rPr>
              <a:t>Dr</a:t>
            </a:r>
            <a:r>
              <a:rPr lang="en-US" dirty="0">
                <a:effectLst/>
              </a:rPr>
              <a:t> Deming quotes J. Noguchi, managing director of the Union of Japanese Scientists and Engineers, as saying, America cannot make it because of mobility of American management. Says </a:t>
            </a:r>
            <a:r>
              <a:rPr lang="en-US" dirty="0" err="1">
                <a:effectLst/>
              </a:rPr>
              <a:t>Dr</a:t>
            </a:r>
            <a:r>
              <a:rPr lang="en-US" dirty="0">
                <a:effectLst/>
              </a:rPr>
              <a:t> Deming, Mobility from one company to another creates prima donnas for quick results. People require time to learn to work together.</a:t>
            </a:r>
          </a:p>
          <a:p>
            <a:pPr algn="just" fontAlgn="base" latinLnBrk="0"/>
            <a:r>
              <a:rPr lang="en-US" dirty="0">
                <a:effectLst/>
              </a:rPr>
              <a:t>Mobility of </a:t>
            </a:r>
            <a:r>
              <a:rPr lang="en-US" dirty="0" err="1">
                <a:effectLst/>
              </a:rPr>
              <a:t>labour</a:t>
            </a:r>
            <a:r>
              <a:rPr lang="en-US" dirty="0">
                <a:effectLst/>
              </a:rPr>
              <a:t> in America, he adds, is almost as serious a problem. The principal cause is dissatisfaction with the job.</a:t>
            </a:r>
          </a:p>
          <a:p>
            <a:pPr fontAlgn="base" latinLnBrk="0"/>
            <a:r>
              <a:rPr lang="en-US" b="1" dirty="0">
                <a:effectLst/>
              </a:rPr>
              <a:t>5. Running a company on visible figures alone (counting the money)</a:t>
            </a:r>
            <a:endParaRPr lang="en-US" dirty="0">
              <a:effectLst/>
            </a:endParaRPr>
          </a:p>
          <a:p>
            <a:pPr algn="just" fontAlgn="base" latinLnBrk="0"/>
            <a:r>
              <a:rPr lang="en-US" dirty="0">
                <a:effectLst/>
              </a:rPr>
              <a:t>Visible figures are important, of course. There is a payroll to meet, suppliers to pay, taxes to pay, and so on. But, says </a:t>
            </a:r>
            <a:r>
              <a:rPr lang="en-US" dirty="0" err="1">
                <a:effectLst/>
              </a:rPr>
              <a:t>Dr</a:t>
            </a:r>
            <a:r>
              <a:rPr lang="en-US" dirty="0">
                <a:effectLst/>
              </a:rPr>
              <a:t> Deming, in a formulation for which he credits Lloyd S. Nelson of Nashua Corporation, the figures that are unknown and unknowable are even more important.</a:t>
            </a:r>
          </a:p>
          <a:p>
            <a:pPr algn="just" fontAlgn="base" latinLnBrk="0"/>
            <a:r>
              <a:rPr lang="en-US" dirty="0">
                <a:effectLst/>
              </a:rPr>
              <a:t>It is impossible, for example, to measure the effect on sales of a happy customer or the gains in quality that result from ridding a company of the Deadly Diseases. Only in time will these results become apparent.</a:t>
            </a:r>
          </a:p>
          <a:p>
            <a:pPr algn="just" fontAlgn="base" latinLnBrk="0"/>
            <a:r>
              <a:rPr lang="en-US" b="1" dirty="0">
                <a:effectLst/>
              </a:rPr>
              <a:t>6 &amp; 7</a:t>
            </a:r>
            <a:endParaRPr lang="en-US" dirty="0">
              <a:effectLst/>
            </a:endParaRPr>
          </a:p>
          <a:p>
            <a:pPr algn="just" fontAlgn="base" latinLnBrk="0"/>
            <a:r>
              <a:rPr lang="en-US" dirty="0">
                <a:effectLst/>
              </a:rPr>
              <a:t>These are not reproduced here. They relate to excessive medical and warranty costs and were considered by Deming to be essentially American phenomena.</a:t>
            </a:r>
          </a:p>
          <a:p>
            <a:pPr fontAlgn="base" latinLnBrk="0"/>
            <a:r>
              <a:rPr lang="en-US" b="1" dirty="0">
                <a:effectLst/>
              </a:rPr>
              <a:t>6. Excessive medical costs</a:t>
            </a:r>
            <a:endParaRPr lang="en-US" dirty="0">
              <a:effectLst/>
            </a:endParaRPr>
          </a:p>
          <a:p>
            <a:pPr algn="just" fontAlgn="base" latinLnBrk="0"/>
            <a:r>
              <a:rPr lang="en-US" dirty="0">
                <a:effectLst/>
              </a:rPr>
              <a:t>As William E. </a:t>
            </a:r>
            <a:r>
              <a:rPr lang="en-US" dirty="0" err="1">
                <a:effectLst/>
              </a:rPr>
              <a:t>Hoglund</a:t>
            </a:r>
            <a:r>
              <a:rPr lang="en-US" dirty="0">
                <a:effectLst/>
              </a:rPr>
              <a:t>, manager of the Pontiac Motor Division, put it to me one day, “Blue Cross is our second largest supplier.” The direct cost of medical care is $400 per automobile (“Sick call,” Forbes, 24 October 1983, p116). Six months later he told me that Blue Cross had overtaken steel. This is not all. Additional medical costs are embedded in the steel that goes into an automobile. There are also direct costs of health and care, as from beneficial days (payment of wages and salaries to people under treatment for injury on the job); also for counselling of people depressed from low rating on annual performance, plus counsel and treatment of employees whose performance is impaired by alcohol or drugs.</a:t>
            </a:r>
          </a:p>
          <a:p>
            <a:pPr fontAlgn="base" latinLnBrk="0"/>
            <a:r>
              <a:rPr lang="en-US" b="1" dirty="0">
                <a:effectLst/>
              </a:rPr>
              <a:t>7. Excessive costs of liability, swelled by lawyers that work on contingency fees</a:t>
            </a:r>
            <a:r>
              <a:rPr lang="en-US" dirty="0">
                <a:effectLst/>
              </a:rPr>
              <a:t>(Eugene L Grant, interview in the journal Quality (Chicago), March 1984).</a:t>
            </a:r>
          </a:p>
          <a:p>
            <a:pPr fontAlgn="base" latinLnBrk="0"/>
            <a:r>
              <a:rPr lang="en-US" b="1" dirty="0">
                <a:effectLst/>
              </a:rPr>
              <a:t>Conclusion</a:t>
            </a:r>
            <a:r>
              <a:rPr lang="en-US" dirty="0">
                <a:effectLst/>
              </a:rPr>
              <a:t>:</a:t>
            </a:r>
          </a:p>
          <a:p>
            <a:pPr algn="just" fontAlgn="base" latinLnBrk="0"/>
            <a:r>
              <a:rPr lang="en-US" dirty="0">
                <a:effectLst/>
              </a:rPr>
              <a:t>Throughout his long working life, Deming held and expressed forthright views on what he saw as the ills of Western management. Here are some direct quotations.</a:t>
            </a:r>
          </a:p>
          <a:p>
            <a:pPr algn="just" fontAlgn="base" latinLnBrk="0"/>
            <a:r>
              <a:rPr lang="en-US" sz="1200" kern="1200" dirty="0">
                <a:solidFill>
                  <a:schemeClr val="tx1"/>
                </a:solidFill>
                <a:effectLst/>
                <a:latin typeface="Arial" charset="0"/>
                <a:ea typeface="+mn-ea"/>
                <a:cs typeface="+mn-cs"/>
              </a:rPr>
              <a:t>If management were to spend as much existing time to improve processes as they do in ranking, rating, reward and punishment for people (teams, departments, divisions) at the top and at the bottom the results would be stupendous improvement of our economic position.”</a:t>
            </a:r>
          </a:p>
          <a:p>
            <a:pPr eaLnBrk="1" hangingPunct="1"/>
            <a:r>
              <a:rPr lang="en-US" sz="1200" b="0" i="1" kern="1200" dirty="0">
                <a:solidFill>
                  <a:schemeClr val="tx1"/>
                </a:solidFill>
                <a:effectLst/>
                <a:latin typeface="Arial" charset="0"/>
                <a:ea typeface="+mn-ea"/>
                <a:cs typeface="+mn-cs"/>
              </a:rPr>
              <a:t>The biggest problem that almost any company in the Western world faces is not its competitors, nor the Japanese. The biggest problems are self inflicted, created right at home by management that is off course …”</a:t>
            </a:r>
            <a:endParaRPr lang="pl-PL" dirty="0"/>
          </a:p>
        </p:txBody>
      </p:sp>
    </p:spTree>
    <p:extLst>
      <p:ext uri="{BB962C8B-B14F-4D97-AF65-F5344CB8AC3E}">
        <p14:creationId xmlns:p14="http://schemas.microsoft.com/office/powerpoint/2010/main" val="20292939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p>
            <a:fld id="{0C6755DA-F2AD-4558-9DD7-905D964EC2AA}" type="slidenum">
              <a:rPr lang="pl-PL"/>
              <a:pPr/>
              <a:t>19</a:t>
            </a:fld>
            <a:endParaRPr lang="pl-PL"/>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75922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p>
            <a:fld id="{193F68FE-B4B7-4998-A1FF-D3FDC623D59B}" type="slidenum">
              <a:rPr lang="pl-PL"/>
              <a:pPr/>
              <a:t>20</a:t>
            </a:fld>
            <a:endParaRPr lang="pl-PL"/>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3713398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02636364-0FD0-4131-8A91-A958FB1CA838}" type="slidenum">
              <a:rPr lang="pl-PL"/>
              <a:pPr/>
              <a:t>21</a:t>
            </a:fld>
            <a:endParaRPr lang="pl-PL"/>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r>
              <a:rPr lang="en-US" dirty="0"/>
              <a:t>The basis of TQM's activities is the customer-supplier chain, supplemented by: Hard elements (assemblies, systems and tools) Soft elements (culture, communication, commitment)</a:t>
            </a:r>
            <a:r>
              <a:rPr lang="pl-PL" dirty="0"/>
              <a:t>.</a:t>
            </a:r>
          </a:p>
        </p:txBody>
      </p:sp>
    </p:spTree>
    <p:extLst>
      <p:ext uri="{BB962C8B-B14F-4D97-AF65-F5344CB8AC3E}">
        <p14:creationId xmlns:p14="http://schemas.microsoft.com/office/powerpoint/2010/main" val="11969860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9210030D-3149-499E-9360-D203EA9746E5}" type="slidenum">
              <a:rPr lang="pl-PL"/>
              <a:pPr/>
              <a:t>22</a:t>
            </a:fld>
            <a:endParaRPr lang="pl-PL"/>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529846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B9351C89-9732-4D62-8721-702526FE7B2D}" type="slidenum">
              <a:rPr lang="pl-PL"/>
              <a:pPr/>
              <a:t>23</a:t>
            </a:fld>
            <a:endParaRPr lang="pl-PL"/>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fontAlgn="base"/>
            <a:r>
              <a:rPr lang="en-US" sz="1200" b="1" i="0" kern="1200" dirty="0">
                <a:solidFill>
                  <a:schemeClr val="tx1"/>
                </a:solidFill>
                <a:effectLst/>
                <a:latin typeface="Arial" charset="0"/>
                <a:ea typeface="+mn-ea"/>
                <a:cs typeface="+mn-cs"/>
              </a:rPr>
              <a:t>The Cost of Good Quality (</a:t>
            </a:r>
            <a:r>
              <a:rPr lang="en-US" sz="1200" b="1" i="0" kern="1200" dirty="0" err="1">
                <a:solidFill>
                  <a:schemeClr val="tx1"/>
                </a:solidFill>
                <a:effectLst/>
                <a:latin typeface="Arial" charset="0"/>
                <a:ea typeface="+mn-ea"/>
                <a:cs typeface="+mn-cs"/>
              </a:rPr>
              <a:t>CoGQ</a:t>
            </a:r>
            <a:r>
              <a:rPr lang="en-US" sz="1200" b="1" i="0" kern="1200" dirty="0">
                <a:solidFill>
                  <a:schemeClr val="tx1"/>
                </a:solidFill>
                <a:effectLst/>
                <a:latin typeface="Arial" charset="0"/>
                <a:ea typeface="+mn-ea"/>
                <a:cs typeface="+mn-cs"/>
              </a:rPr>
              <a:t>)</a:t>
            </a:r>
          </a:p>
          <a:p>
            <a:pPr fontAlgn="base"/>
            <a:r>
              <a:rPr lang="en-US" sz="1200" b="0" i="0" kern="1200" dirty="0">
                <a:solidFill>
                  <a:schemeClr val="tx1"/>
                </a:solidFill>
                <a:effectLst/>
                <a:latin typeface="Arial" charset="0"/>
                <a:ea typeface="+mn-ea"/>
                <a:cs typeface="+mn-cs"/>
              </a:rPr>
              <a:t>Prevention Costs – costs incurred from activities intended to keep failures to a minimum. These can include, but are not limited to, the following:</a:t>
            </a:r>
          </a:p>
          <a:p>
            <a:pPr lvl="1" fontAlgn="base"/>
            <a:r>
              <a:rPr lang="en-US" sz="1200" b="0" i="0" kern="1200" dirty="0">
                <a:solidFill>
                  <a:schemeClr val="tx1"/>
                </a:solidFill>
                <a:effectLst/>
                <a:latin typeface="Arial" charset="0"/>
                <a:ea typeface="+mn-ea"/>
                <a:cs typeface="+mn-cs"/>
              </a:rPr>
              <a:t>Establishing Product Specifications</a:t>
            </a:r>
          </a:p>
          <a:p>
            <a:pPr lvl="1" fontAlgn="base"/>
            <a:r>
              <a:rPr lang="en-US" sz="1200" b="0" i="0" kern="1200" dirty="0">
                <a:solidFill>
                  <a:schemeClr val="tx1"/>
                </a:solidFill>
                <a:effectLst/>
                <a:latin typeface="Arial" charset="0"/>
                <a:ea typeface="+mn-ea"/>
                <a:cs typeface="+mn-cs"/>
              </a:rPr>
              <a:t>Quality Planning</a:t>
            </a:r>
          </a:p>
          <a:p>
            <a:pPr lvl="1" fontAlgn="base"/>
            <a:r>
              <a:rPr lang="en-US" sz="1200" b="0" i="0" kern="1200" dirty="0">
                <a:solidFill>
                  <a:schemeClr val="tx1"/>
                </a:solidFill>
                <a:effectLst/>
                <a:latin typeface="Arial" charset="0"/>
                <a:ea typeface="+mn-ea"/>
                <a:cs typeface="+mn-cs"/>
              </a:rPr>
              <a:t>New Product Development and Testing</a:t>
            </a:r>
          </a:p>
          <a:p>
            <a:pPr lvl="1" fontAlgn="base"/>
            <a:r>
              <a:rPr lang="en-US" sz="1200" b="0" i="0" kern="1200" dirty="0">
                <a:solidFill>
                  <a:schemeClr val="tx1"/>
                </a:solidFill>
                <a:effectLst/>
                <a:latin typeface="Arial" charset="0"/>
                <a:ea typeface="+mn-ea"/>
                <a:cs typeface="+mn-cs"/>
              </a:rPr>
              <a:t>Development of a Quality Management System (QMS)</a:t>
            </a:r>
          </a:p>
          <a:p>
            <a:pPr lvl="1" fontAlgn="base"/>
            <a:r>
              <a:rPr lang="en-US" sz="1200" b="0" i="0" kern="1200" dirty="0">
                <a:solidFill>
                  <a:schemeClr val="tx1"/>
                </a:solidFill>
                <a:effectLst/>
                <a:latin typeface="Arial" charset="0"/>
                <a:ea typeface="+mn-ea"/>
                <a:cs typeface="+mn-cs"/>
              </a:rPr>
              <a:t>Proper Employee Training</a:t>
            </a:r>
          </a:p>
          <a:p>
            <a:pPr fontAlgn="base"/>
            <a:r>
              <a:rPr lang="en-US" sz="1200" b="0" i="0" kern="1200" dirty="0">
                <a:solidFill>
                  <a:schemeClr val="tx1"/>
                </a:solidFill>
                <a:effectLst/>
                <a:latin typeface="Arial" charset="0"/>
                <a:ea typeface="+mn-ea"/>
                <a:cs typeface="+mn-cs"/>
              </a:rPr>
              <a:t>Appraisal Costs – costs incurred to maintain acceptable product quality levels. Appraisal costs can include, but are not limited to, the following:</a:t>
            </a:r>
          </a:p>
          <a:p>
            <a:pPr lvl="1" fontAlgn="base"/>
            <a:r>
              <a:rPr lang="en-US" sz="1200" b="0" i="0" kern="1200" dirty="0">
                <a:solidFill>
                  <a:schemeClr val="tx1"/>
                </a:solidFill>
                <a:effectLst/>
                <a:latin typeface="Arial" charset="0"/>
                <a:ea typeface="+mn-ea"/>
                <a:cs typeface="+mn-cs"/>
              </a:rPr>
              <a:t>Incoming Material Inspections</a:t>
            </a:r>
          </a:p>
          <a:p>
            <a:pPr lvl="1" fontAlgn="base"/>
            <a:r>
              <a:rPr lang="en-US" sz="1200" b="0" i="0" kern="1200" dirty="0">
                <a:solidFill>
                  <a:schemeClr val="tx1"/>
                </a:solidFill>
                <a:effectLst/>
                <a:latin typeface="Arial" charset="0"/>
                <a:ea typeface="+mn-ea"/>
                <a:cs typeface="+mn-cs"/>
              </a:rPr>
              <a:t>Process Controls</a:t>
            </a:r>
          </a:p>
          <a:p>
            <a:pPr lvl="1" fontAlgn="base"/>
            <a:r>
              <a:rPr lang="en-US" sz="1200" b="0" i="0" kern="1200" dirty="0">
                <a:solidFill>
                  <a:schemeClr val="tx1"/>
                </a:solidFill>
                <a:effectLst/>
                <a:latin typeface="Arial" charset="0"/>
                <a:ea typeface="+mn-ea"/>
                <a:cs typeface="+mn-cs"/>
              </a:rPr>
              <a:t>Check Fixtures</a:t>
            </a:r>
          </a:p>
          <a:p>
            <a:pPr lvl="1" fontAlgn="base"/>
            <a:r>
              <a:rPr lang="en-US" sz="1200" b="0" i="0" kern="1200" dirty="0">
                <a:solidFill>
                  <a:schemeClr val="tx1"/>
                </a:solidFill>
                <a:effectLst/>
                <a:latin typeface="Arial" charset="0"/>
                <a:ea typeface="+mn-ea"/>
                <a:cs typeface="+mn-cs"/>
              </a:rPr>
              <a:t>Quality Audits</a:t>
            </a:r>
          </a:p>
          <a:p>
            <a:pPr lvl="1" fontAlgn="base"/>
            <a:r>
              <a:rPr lang="en-US" sz="1200" b="0" i="0" kern="1200" dirty="0">
                <a:solidFill>
                  <a:schemeClr val="tx1"/>
                </a:solidFill>
                <a:effectLst/>
                <a:latin typeface="Arial" charset="0"/>
                <a:ea typeface="+mn-ea"/>
                <a:cs typeface="+mn-cs"/>
              </a:rPr>
              <a:t>Supplier Assessments</a:t>
            </a:r>
          </a:p>
          <a:p>
            <a:pPr fontAlgn="base"/>
            <a:r>
              <a:rPr lang="en-US" sz="1200" b="1" i="0" kern="1200" dirty="0">
                <a:solidFill>
                  <a:schemeClr val="tx1"/>
                </a:solidFill>
                <a:effectLst/>
                <a:latin typeface="Arial" charset="0"/>
                <a:ea typeface="+mn-ea"/>
                <a:cs typeface="+mn-cs"/>
              </a:rPr>
              <a:t>The Cost of Poor Quality (</a:t>
            </a:r>
            <a:r>
              <a:rPr lang="en-US" sz="1200" b="1" i="0" kern="1200" dirty="0" err="1">
                <a:solidFill>
                  <a:schemeClr val="tx1"/>
                </a:solidFill>
                <a:effectLst/>
                <a:latin typeface="Arial" charset="0"/>
                <a:ea typeface="+mn-ea"/>
                <a:cs typeface="+mn-cs"/>
              </a:rPr>
              <a:t>CoPQ</a:t>
            </a:r>
            <a:r>
              <a:rPr lang="en-US" sz="1200" b="1" i="0" kern="1200" dirty="0">
                <a:solidFill>
                  <a:schemeClr val="tx1"/>
                </a:solidFill>
                <a:effectLst/>
                <a:latin typeface="Arial" charset="0"/>
                <a:ea typeface="+mn-ea"/>
                <a:cs typeface="+mn-cs"/>
              </a:rPr>
              <a:t>)</a:t>
            </a:r>
          </a:p>
          <a:p>
            <a:pPr fontAlgn="base"/>
            <a:r>
              <a:rPr lang="en-US" sz="1200" b="0" i="0" kern="1200" dirty="0">
                <a:solidFill>
                  <a:schemeClr val="tx1"/>
                </a:solidFill>
                <a:effectLst/>
                <a:latin typeface="Arial" charset="0"/>
                <a:ea typeface="+mn-ea"/>
                <a:cs typeface="+mn-cs"/>
              </a:rPr>
              <a:t>Internal Failures – costs associated with defects found before the product or service reaches the customer. Internal Failures may include, but are not limited to, the following examples:</a:t>
            </a:r>
          </a:p>
          <a:p>
            <a:pPr lvl="1" fontAlgn="base"/>
            <a:r>
              <a:rPr lang="en-US" sz="1200" b="0" i="0" kern="1200" dirty="0">
                <a:solidFill>
                  <a:schemeClr val="tx1"/>
                </a:solidFill>
                <a:effectLst/>
                <a:latin typeface="Arial" charset="0"/>
                <a:ea typeface="+mn-ea"/>
                <a:cs typeface="+mn-cs"/>
              </a:rPr>
              <a:t>Excessive Scrap</a:t>
            </a:r>
          </a:p>
          <a:p>
            <a:pPr lvl="1" fontAlgn="base"/>
            <a:r>
              <a:rPr lang="en-US" sz="1200" b="0" i="0" kern="1200" dirty="0">
                <a:solidFill>
                  <a:schemeClr val="tx1"/>
                </a:solidFill>
                <a:effectLst/>
                <a:latin typeface="Arial" charset="0"/>
                <a:ea typeface="+mn-ea"/>
                <a:cs typeface="+mn-cs"/>
              </a:rPr>
              <a:t>Product Re-work</a:t>
            </a:r>
          </a:p>
          <a:p>
            <a:pPr lvl="1" fontAlgn="base"/>
            <a:r>
              <a:rPr lang="en-US" sz="1200" b="0" i="0" kern="1200" dirty="0">
                <a:solidFill>
                  <a:schemeClr val="tx1"/>
                </a:solidFill>
                <a:effectLst/>
                <a:latin typeface="Arial" charset="0"/>
                <a:ea typeface="+mn-ea"/>
                <a:cs typeface="+mn-cs"/>
              </a:rPr>
              <a:t>Waste due to poorly designed processes</a:t>
            </a:r>
          </a:p>
          <a:p>
            <a:pPr lvl="1" fontAlgn="base"/>
            <a:r>
              <a:rPr lang="en-US" sz="1200" b="0" i="0" kern="1200" dirty="0">
                <a:solidFill>
                  <a:schemeClr val="tx1"/>
                </a:solidFill>
                <a:effectLst/>
                <a:latin typeface="Arial" charset="0"/>
                <a:ea typeface="+mn-ea"/>
                <a:cs typeface="+mn-cs"/>
              </a:rPr>
              <a:t>Machine breakdown due to improper maintenance</a:t>
            </a:r>
          </a:p>
          <a:p>
            <a:pPr lvl="1" fontAlgn="base"/>
            <a:r>
              <a:rPr lang="en-US" sz="1200" b="0" i="0" kern="1200" dirty="0">
                <a:solidFill>
                  <a:schemeClr val="tx1"/>
                </a:solidFill>
                <a:effectLst/>
                <a:latin typeface="Arial" charset="0"/>
                <a:ea typeface="+mn-ea"/>
                <a:cs typeface="+mn-cs"/>
              </a:rPr>
              <a:t>Costs associated with failure analysis</a:t>
            </a:r>
          </a:p>
          <a:p>
            <a:pPr fontAlgn="base"/>
            <a:r>
              <a:rPr lang="en-US" sz="1200" b="0" i="0" kern="1200" dirty="0">
                <a:solidFill>
                  <a:schemeClr val="tx1"/>
                </a:solidFill>
                <a:effectLst/>
                <a:latin typeface="Arial" charset="0"/>
                <a:ea typeface="+mn-ea"/>
                <a:cs typeface="+mn-cs"/>
              </a:rPr>
              <a:t>External Failures – costs associated with defects found after the customer receives the product or service. External Failures may include, but are not limited to, the following examples:</a:t>
            </a:r>
          </a:p>
          <a:p>
            <a:pPr lvl="1" fontAlgn="base"/>
            <a:r>
              <a:rPr lang="en-US" sz="1200" b="0" i="0" kern="1200" dirty="0">
                <a:solidFill>
                  <a:schemeClr val="tx1"/>
                </a:solidFill>
                <a:effectLst/>
                <a:latin typeface="Arial" charset="0"/>
                <a:ea typeface="+mn-ea"/>
                <a:cs typeface="+mn-cs"/>
              </a:rPr>
              <a:t>Service and Repair Costs</a:t>
            </a:r>
          </a:p>
          <a:p>
            <a:pPr lvl="1" fontAlgn="base"/>
            <a:r>
              <a:rPr lang="en-US" sz="1200" b="0" i="0" kern="1200" dirty="0">
                <a:solidFill>
                  <a:schemeClr val="tx1"/>
                </a:solidFill>
                <a:effectLst/>
                <a:latin typeface="Arial" charset="0"/>
                <a:ea typeface="+mn-ea"/>
                <a:cs typeface="+mn-cs"/>
              </a:rPr>
              <a:t>Warranty Claims</a:t>
            </a:r>
          </a:p>
          <a:p>
            <a:pPr lvl="1" fontAlgn="base"/>
            <a:r>
              <a:rPr lang="en-US" sz="1200" b="0" i="0" kern="1200" dirty="0">
                <a:solidFill>
                  <a:schemeClr val="tx1"/>
                </a:solidFill>
                <a:effectLst/>
                <a:latin typeface="Arial" charset="0"/>
                <a:ea typeface="+mn-ea"/>
                <a:cs typeface="+mn-cs"/>
              </a:rPr>
              <a:t>Customer Complaints</a:t>
            </a:r>
          </a:p>
          <a:p>
            <a:pPr lvl="1" fontAlgn="base"/>
            <a:r>
              <a:rPr lang="en-US" sz="1200" b="0" i="0" kern="1200" dirty="0">
                <a:solidFill>
                  <a:schemeClr val="tx1"/>
                </a:solidFill>
                <a:effectLst/>
                <a:latin typeface="Arial" charset="0"/>
                <a:ea typeface="+mn-ea"/>
                <a:cs typeface="+mn-cs"/>
              </a:rPr>
              <a:t>Product or Material Returns</a:t>
            </a:r>
          </a:p>
          <a:p>
            <a:pPr lvl="1" fontAlgn="base"/>
            <a:r>
              <a:rPr lang="en-US" sz="1200" b="0" i="0" kern="1200" dirty="0">
                <a:solidFill>
                  <a:schemeClr val="tx1"/>
                </a:solidFill>
                <a:effectLst/>
                <a:latin typeface="Arial" charset="0"/>
                <a:ea typeface="+mn-ea"/>
                <a:cs typeface="+mn-cs"/>
              </a:rPr>
              <a:t>Incorrect Sales Orders</a:t>
            </a:r>
          </a:p>
          <a:p>
            <a:pPr lvl="1" fontAlgn="base"/>
            <a:r>
              <a:rPr lang="en-US" sz="1200" b="0" i="0" kern="1200" dirty="0">
                <a:solidFill>
                  <a:schemeClr val="tx1"/>
                </a:solidFill>
                <a:effectLst/>
                <a:latin typeface="Arial" charset="0"/>
                <a:ea typeface="+mn-ea"/>
                <a:cs typeface="+mn-cs"/>
              </a:rPr>
              <a:t>Incomplete BOMs</a:t>
            </a:r>
          </a:p>
          <a:p>
            <a:pPr lvl="1" fontAlgn="base"/>
            <a:r>
              <a:rPr lang="en-US" sz="1200" b="0" i="0" kern="1200" dirty="0">
                <a:solidFill>
                  <a:schemeClr val="tx1"/>
                </a:solidFill>
                <a:effectLst/>
                <a:latin typeface="Arial" charset="0"/>
                <a:ea typeface="+mn-ea"/>
                <a:cs typeface="+mn-cs"/>
              </a:rPr>
              <a:t>Shipping Damage due to Inadequate Packaging</a:t>
            </a:r>
          </a:p>
          <a:p>
            <a:pPr eaLnBrk="1" hangingPunct="1"/>
            <a:endParaRPr lang="pl-PL" dirty="0"/>
          </a:p>
        </p:txBody>
      </p:sp>
    </p:spTree>
    <p:extLst>
      <p:ext uri="{BB962C8B-B14F-4D97-AF65-F5344CB8AC3E}">
        <p14:creationId xmlns:p14="http://schemas.microsoft.com/office/powerpoint/2010/main" val="23656438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p>
            <a:fld id="{C660E395-AEA1-470C-93E9-773B4611F6C0}" type="slidenum">
              <a:rPr lang="pl-PL"/>
              <a:pPr/>
              <a:t>24</a:t>
            </a:fld>
            <a:endParaRPr lang="pl-PL"/>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algn="just" eaLnBrk="1" hangingPunct="1"/>
            <a:r>
              <a:rPr lang="en-US" dirty="0"/>
              <a:t>Philip B. Crosby </a:t>
            </a:r>
            <a:r>
              <a:rPr lang="pl-PL" dirty="0"/>
              <a:t>-</a:t>
            </a:r>
            <a:r>
              <a:rPr lang="en-US" dirty="0"/>
              <a:t> a businessman and author who influenced quality improvement through his writings and lectures. He started the Crosby Associates, which provides consulting and training in quality management. In his book </a:t>
            </a:r>
            <a:r>
              <a:rPr lang="en-US" i="1" dirty="0"/>
              <a:t>Quality Is Free</a:t>
            </a:r>
            <a:r>
              <a:rPr lang="en-US" dirty="0"/>
              <a:t>, Crosby provides a detailed quality management grid which provides various stages of management understanding and attitude, quality organization status, problem handling, cost of quality in relation to sales, quality improvement actions, and company quality posture. Crosby’s response to the quality crisis was the principle of “doing it right the first time.” The concept of zero defects was ahead of its time. More recently the concept of zero defects has led to the creation and development of Six Sigma, pioneered by Motorola, which has since been adopted worldwide by many other organizations.</a:t>
            </a:r>
            <a:endParaRPr lang="pl-PL" dirty="0">
              <a:sym typeface="Wingdings" pitchFamily="2" charset="2"/>
            </a:endParaRPr>
          </a:p>
          <a:p>
            <a:pPr eaLnBrk="1" hangingPunct="1"/>
            <a:endParaRPr lang="pl-PL" dirty="0"/>
          </a:p>
        </p:txBody>
      </p:sp>
    </p:spTree>
    <p:extLst>
      <p:ext uri="{BB962C8B-B14F-4D97-AF65-F5344CB8AC3E}">
        <p14:creationId xmlns:p14="http://schemas.microsoft.com/office/powerpoint/2010/main" val="23583638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p>
            <a:fld id="{731CF058-47AD-4B7C-B0D3-6D3E0749F0D7}" type="slidenum">
              <a:rPr lang="pl-PL"/>
              <a:pPr/>
              <a:t>25</a:t>
            </a:fld>
            <a:endParaRPr lang="pl-PL"/>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12430818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884298B3-3E8C-46D1-A2C4-255843CBA18E}" type="slidenum">
              <a:rPr lang="pl-PL"/>
              <a:pPr/>
              <a:t>26</a:t>
            </a:fld>
            <a:endParaRPr lang="pl-PL"/>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r>
              <a:rPr lang="en-US" dirty="0"/>
              <a:t>Also called </a:t>
            </a:r>
            <a:r>
              <a:rPr lang="pl-PL" dirty="0"/>
              <a:t>„</a:t>
            </a:r>
            <a:r>
              <a:rPr lang="pl-PL" dirty="0" err="1"/>
              <a:t>fishbone</a:t>
            </a:r>
            <a:r>
              <a:rPr lang="pl-PL" dirty="0"/>
              <a:t>” </a:t>
            </a:r>
            <a:r>
              <a:rPr lang="pl-PL" dirty="0" err="1"/>
              <a:t>or</a:t>
            </a:r>
            <a:r>
              <a:rPr lang="pl-PL" dirty="0"/>
              <a:t> „</a:t>
            </a:r>
            <a:r>
              <a:rPr lang="en-US" dirty="0"/>
              <a:t>the cause and effect</a:t>
            </a:r>
            <a:r>
              <a:rPr lang="pl-PL"/>
              <a:t>”</a:t>
            </a:r>
            <a:r>
              <a:rPr lang="en-US"/>
              <a:t> </a:t>
            </a:r>
            <a:r>
              <a:rPr lang="pl-PL" dirty="0"/>
              <a:t>diagram</a:t>
            </a:r>
            <a:r>
              <a:rPr lang="en-US" dirty="0"/>
              <a:t>. It helps systematize the possible causes of the problem.</a:t>
            </a:r>
            <a:endParaRPr lang="pl-PL" dirty="0"/>
          </a:p>
        </p:txBody>
      </p:sp>
    </p:spTree>
    <p:extLst>
      <p:ext uri="{BB962C8B-B14F-4D97-AF65-F5344CB8AC3E}">
        <p14:creationId xmlns:p14="http://schemas.microsoft.com/office/powerpoint/2010/main" val="35628110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0FAE101-7C09-4DB5-AA3F-7B76E9E5950D}" type="slidenum">
              <a:rPr lang="pl-PL"/>
              <a:pPr/>
              <a:t>27</a:t>
            </a:fld>
            <a:endParaRPr lang="pl-PL"/>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algn="just"/>
            <a:r>
              <a:rPr lang="en-US" sz="1200" kern="1200" dirty="0">
                <a:solidFill>
                  <a:schemeClr val="tx1"/>
                </a:solidFill>
                <a:effectLst/>
                <a:latin typeface="Arial" charset="0"/>
                <a:ea typeface="+mn-ea"/>
                <a:cs typeface="+mn-cs"/>
              </a:rPr>
              <a:t>The </a:t>
            </a:r>
            <a:r>
              <a:rPr lang="en-US" sz="1200" i="1" kern="1200" dirty="0">
                <a:solidFill>
                  <a:schemeClr val="tx1"/>
                </a:solidFill>
                <a:effectLst/>
                <a:latin typeface="Arial" charset="0"/>
                <a:ea typeface="+mn-ea"/>
                <a:cs typeface="+mn-cs"/>
              </a:rPr>
              <a:t>kaizen</a:t>
            </a:r>
            <a:r>
              <a:rPr lang="en-US" sz="1200" kern="1200" dirty="0">
                <a:solidFill>
                  <a:schemeClr val="tx1"/>
                </a:solidFill>
                <a:effectLst/>
                <a:latin typeface="Arial" charset="0"/>
                <a:ea typeface="+mn-ea"/>
                <a:cs typeface="+mn-cs"/>
              </a:rPr>
              <a:t> philosophy, mentioned above is one of the most widely spread change management theories, based on the assumption that one can improve the functioning of an organization in an evolutionary way, in small steps, thanks to the involvement of all the workers who should be trying to spot the so-called </a:t>
            </a:r>
            <a:r>
              <a:rPr lang="en-US" sz="1200" i="1" kern="1200" dirty="0" err="1">
                <a:solidFill>
                  <a:schemeClr val="tx1"/>
                </a:solidFill>
                <a:effectLst/>
                <a:latin typeface="Arial" charset="0"/>
                <a:ea typeface="+mn-ea"/>
                <a:cs typeface="+mn-cs"/>
              </a:rPr>
              <a:t>muda</a:t>
            </a:r>
            <a:r>
              <a:rPr lang="en-US" sz="1200" kern="1200" dirty="0">
                <a:solidFill>
                  <a:schemeClr val="tx1"/>
                </a:solidFill>
                <a:effectLst/>
                <a:latin typeface="Arial" charset="0"/>
                <a:ea typeface="+mn-ea"/>
                <a:cs typeface="+mn-cs"/>
              </a:rPr>
              <a:t> (waste) and come up with suggestions of rationalization, never ending their efforts to seek perfection. The very word is derived from two Japanese words: </a:t>
            </a:r>
            <a:r>
              <a:rPr lang="en-US" sz="1200" i="1" kern="1200" dirty="0" err="1">
                <a:solidFill>
                  <a:schemeClr val="tx1"/>
                </a:solidFill>
                <a:effectLst/>
                <a:latin typeface="Arial" charset="0"/>
                <a:ea typeface="+mn-ea"/>
                <a:cs typeface="+mn-cs"/>
              </a:rPr>
              <a:t>kai</a:t>
            </a:r>
            <a:r>
              <a:rPr lang="en-US" sz="1200" i="1" kern="1200" dirty="0">
                <a:solidFill>
                  <a:schemeClr val="tx1"/>
                </a:solidFill>
                <a:effectLst/>
                <a:latin typeface="Arial" charset="0"/>
                <a:ea typeface="+mn-ea"/>
                <a:cs typeface="+mn-cs"/>
              </a:rPr>
              <a:t> </a:t>
            </a:r>
            <a:r>
              <a:rPr lang="en-US" sz="1200" kern="1200" dirty="0">
                <a:solidFill>
                  <a:schemeClr val="tx1"/>
                </a:solidFill>
                <a:effectLst/>
                <a:latin typeface="Arial" charset="0"/>
                <a:ea typeface="+mn-ea"/>
                <a:cs typeface="+mn-cs"/>
              </a:rPr>
              <a:t>(change) and </a:t>
            </a:r>
            <a:r>
              <a:rPr lang="en-US" sz="1200" i="1" kern="1200" dirty="0" err="1">
                <a:solidFill>
                  <a:schemeClr val="tx1"/>
                </a:solidFill>
                <a:effectLst/>
                <a:latin typeface="Arial" charset="0"/>
                <a:ea typeface="+mn-ea"/>
                <a:cs typeface="+mn-cs"/>
              </a:rPr>
              <a:t>zen</a:t>
            </a:r>
            <a:r>
              <a:rPr lang="en-US" sz="1200" kern="1200" dirty="0">
                <a:solidFill>
                  <a:schemeClr val="tx1"/>
                </a:solidFill>
                <a:effectLst/>
                <a:latin typeface="Arial" charset="0"/>
                <a:ea typeface="+mn-ea"/>
                <a:cs typeface="+mn-cs"/>
              </a:rPr>
              <a:t> (good), thus </a:t>
            </a:r>
            <a:r>
              <a:rPr lang="en-US" sz="1200" i="1" kern="1200" dirty="0">
                <a:solidFill>
                  <a:schemeClr val="tx1"/>
                </a:solidFill>
                <a:effectLst/>
                <a:latin typeface="Arial" charset="0"/>
                <a:ea typeface="+mn-ea"/>
                <a:cs typeface="+mn-cs"/>
              </a:rPr>
              <a:t>kaizen</a:t>
            </a:r>
            <a:r>
              <a:rPr lang="en-US" sz="1200" kern="1200" dirty="0">
                <a:solidFill>
                  <a:schemeClr val="tx1"/>
                </a:solidFill>
                <a:effectLst/>
                <a:latin typeface="Arial" charset="0"/>
                <a:ea typeface="+mn-ea"/>
                <a:cs typeface="+mn-cs"/>
              </a:rPr>
              <a:t> can be translated as “change for better”. The concept was popularized by Masaaki Imai, a Japanese management writer, author of worldwide bestsellers, the best known being: </a:t>
            </a:r>
            <a:r>
              <a:rPr lang="en-US" sz="1200" i="1" kern="1200" dirty="0">
                <a:solidFill>
                  <a:schemeClr val="tx1"/>
                </a:solidFill>
                <a:effectLst/>
                <a:latin typeface="Arial" charset="0"/>
                <a:ea typeface="+mn-ea"/>
                <a:cs typeface="+mn-cs"/>
              </a:rPr>
              <a:t>Kaizen: The key to Japan's competitive success</a:t>
            </a:r>
            <a:r>
              <a:rPr lang="en-US" sz="1200" kern="1200" dirty="0">
                <a:solidFill>
                  <a:schemeClr val="tx1"/>
                </a:solidFill>
                <a:effectLst/>
                <a:latin typeface="Arial" charset="0"/>
                <a:ea typeface="+mn-ea"/>
                <a:cs typeface="+mn-cs"/>
              </a:rPr>
              <a:t> (Imai, 1986) and </a:t>
            </a:r>
            <a:r>
              <a:rPr lang="en-US" sz="1200" i="1" kern="1200" dirty="0" err="1">
                <a:solidFill>
                  <a:schemeClr val="tx1"/>
                </a:solidFill>
                <a:effectLst/>
                <a:latin typeface="Arial" charset="0"/>
                <a:ea typeface="+mn-ea"/>
                <a:cs typeface="+mn-cs"/>
              </a:rPr>
              <a:t>Gemba</a:t>
            </a:r>
            <a:r>
              <a:rPr lang="en-US" sz="1200" i="1" kern="1200" dirty="0">
                <a:solidFill>
                  <a:schemeClr val="tx1"/>
                </a:solidFill>
                <a:effectLst/>
                <a:latin typeface="Arial" charset="0"/>
                <a:ea typeface="+mn-ea"/>
                <a:cs typeface="+mn-cs"/>
              </a:rPr>
              <a:t> Kaizen: A Commonsense, Low-Cost Approach to Management</a:t>
            </a:r>
            <a:r>
              <a:rPr lang="en-US" sz="1200" kern="1200" dirty="0">
                <a:solidFill>
                  <a:schemeClr val="tx1"/>
                </a:solidFill>
                <a:effectLst/>
                <a:latin typeface="Arial" charset="0"/>
                <a:ea typeface="+mn-ea"/>
                <a:cs typeface="+mn-cs"/>
              </a:rPr>
              <a:t> (Imai, 1997). The company that is a world-famous symbol of the success of the </a:t>
            </a:r>
            <a:r>
              <a:rPr lang="en-US" sz="1200" i="1" kern="1200" dirty="0">
                <a:solidFill>
                  <a:schemeClr val="tx1"/>
                </a:solidFill>
                <a:effectLst/>
                <a:latin typeface="Arial" charset="0"/>
                <a:ea typeface="+mn-ea"/>
                <a:cs typeface="+mn-cs"/>
              </a:rPr>
              <a:t>kaizen</a:t>
            </a:r>
            <a:r>
              <a:rPr lang="en-US" sz="1200" kern="1200" dirty="0">
                <a:solidFill>
                  <a:schemeClr val="tx1"/>
                </a:solidFill>
                <a:effectLst/>
                <a:latin typeface="Arial" charset="0"/>
                <a:ea typeface="+mn-ea"/>
                <a:cs typeface="+mn-cs"/>
              </a:rPr>
              <a:t> approach is Toyota, a Japanese car manufacturer. It has even worked out a unique quality assurance instrument – TPS (Toyota Production System) (</a:t>
            </a:r>
            <a:r>
              <a:rPr lang="en-US" sz="1200" kern="1200" dirty="0" err="1">
                <a:solidFill>
                  <a:schemeClr val="tx1"/>
                </a:solidFill>
                <a:effectLst/>
                <a:latin typeface="Arial" charset="0"/>
                <a:ea typeface="+mn-ea"/>
                <a:cs typeface="+mn-cs"/>
              </a:rPr>
              <a:t>Krasiński</a:t>
            </a:r>
            <a:r>
              <a:rPr lang="en-US" sz="1200" kern="1200" dirty="0">
                <a:solidFill>
                  <a:schemeClr val="tx1"/>
                </a:solidFill>
                <a:effectLst/>
                <a:latin typeface="Arial" charset="0"/>
                <a:ea typeface="+mn-ea"/>
                <a:cs typeface="+mn-cs"/>
              </a:rPr>
              <a:t>, 2014, p. 19). The </a:t>
            </a:r>
            <a:r>
              <a:rPr lang="en-US" sz="1200" i="1" kern="1200" dirty="0">
                <a:solidFill>
                  <a:schemeClr val="tx1"/>
                </a:solidFill>
                <a:effectLst/>
                <a:latin typeface="Arial" charset="0"/>
                <a:ea typeface="+mn-ea"/>
                <a:cs typeface="+mn-cs"/>
              </a:rPr>
              <a:t>kaizen </a:t>
            </a:r>
            <a:r>
              <a:rPr lang="en-US" sz="1200" kern="1200" dirty="0">
                <a:solidFill>
                  <a:schemeClr val="tx1"/>
                </a:solidFill>
                <a:effectLst/>
                <a:latin typeface="Arial" charset="0"/>
                <a:ea typeface="+mn-ea"/>
                <a:cs typeface="+mn-cs"/>
              </a:rPr>
              <a:t>approach, however, has been successfully implemented in thousands of companies, not only in Japan but throughout the world, in various branches of industry. Examples include not only manufacturing or logistics, but also healthcare, retail and services (Kaizen Institute, 2015b).</a:t>
            </a:r>
            <a:endParaRPr lang="pl-PL" sz="1200" kern="1200" dirty="0">
              <a:solidFill>
                <a:schemeClr val="tx1"/>
              </a:solidFill>
              <a:effectLst/>
              <a:latin typeface="Arial" charset="0"/>
              <a:ea typeface="+mn-ea"/>
              <a:cs typeface="+mn-cs"/>
            </a:endParaRPr>
          </a:p>
          <a:p>
            <a:pPr algn="just"/>
            <a:r>
              <a:rPr lang="en-US" sz="1200" kern="1200" dirty="0">
                <a:solidFill>
                  <a:schemeClr val="tx1"/>
                </a:solidFill>
                <a:effectLst/>
                <a:latin typeface="Arial" charset="0"/>
                <a:ea typeface="+mn-ea"/>
                <a:cs typeface="+mn-cs"/>
              </a:rPr>
              <a:t>It is important to stress here that the very notion </a:t>
            </a:r>
            <a:r>
              <a:rPr lang="en-US" sz="1200" i="1" kern="1200" dirty="0">
                <a:solidFill>
                  <a:schemeClr val="tx1"/>
                </a:solidFill>
                <a:effectLst/>
                <a:latin typeface="Arial" charset="0"/>
                <a:ea typeface="+mn-ea"/>
                <a:cs typeface="+mn-cs"/>
              </a:rPr>
              <a:t>kaizen</a:t>
            </a:r>
            <a:r>
              <a:rPr lang="en-US" sz="1200" kern="1200" dirty="0">
                <a:solidFill>
                  <a:schemeClr val="tx1"/>
                </a:solidFill>
                <a:effectLst/>
                <a:latin typeface="Arial" charset="0"/>
                <a:ea typeface="+mn-ea"/>
                <a:cs typeface="+mn-cs"/>
              </a:rPr>
              <a:t> can be understood in a number of ways. Above all, it is a philosophy, or a way of life, so very much Far-Eastern one, based on Confucianism  and Zen Buddhism (</a:t>
            </a:r>
            <a:r>
              <a:rPr lang="en-US" sz="1200" kern="1200" dirty="0" err="1">
                <a:solidFill>
                  <a:schemeClr val="tx1"/>
                </a:solidFill>
                <a:effectLst/>
                <a:latin typeface="Arial" charset="0"/>
                <a:ea typeface="+mn-ea"/>
                <a:cs typeface="+mn-cs"/>
              </a:rPr>
              <a:t>Krasiński</a:t>
            </a:r>
            <a:r>
              <a:rPr lang="en-US" sz="1200" kern="1200" dirty="0">
                <a:solidFill>
                  <a:schemeClr val="tx1"/>
                </a:solidFill>
                <a:effectLst/>
                <a:latin typeface="Arial" charset="0"/>
                <a:ea typeface="+mn-ea"/>
                <a:cs typeface="+mn-cs"/>
              </a:rPr>
              <a:t>, 2014, p. 16). As Imai has it, “In Japanese, </a:t>
            </a:r>
            <a:r>
              <a:rPr lang="en-US" sz="1200" i="1" kern="1200" dirty="0">
                <a:solidFill>
                  <a:schemeClr val="tx1"/>
                </a:solidFill>
                <a:effectLst/>
                <a:latin typeface="Arial" charset="0"/>
                <a:ea typeface="+mn-ea"/>
                <a:cs typeface="+mn-cs"/>
              </a:rPr>
              <a:t>kaizen</a:t>
            </a:r>
            <a:r>
              <a:rPr lang="en-US" sz="1200" kern="1200" dirty="0">
                <a:solidFill>
                  <a:schemeClr val="tx1"/>
                </a:solidFill>
                <a:effectLst/>
                <a:latin typeface="Arial" charset="0"/>
                <a:ea typeface="+mn-ea"/>
                <a:cs typeface="+mn-cs"/>
              </a:rPr>
              <a:t> means continuous improvement. The word implies improvement that involves everyone - both managers and workers - and entails relatively little expenses. The </a:t>
            </a:r>
            <a:r>
              <a:rPr lang="en-US" sz="1200" i="1" kern="1200" dirty="0">
                <a:solidFill>
                  <a:schemeClr val="tx1"/>
                </a:solidFill>
                <a:effectLst/>
                <a:latin typeface="Arial" charset="0"/>
                <a:ea typeface="+mn-ea"/>
                <a:cs typeface="+mn-cs"/>
              </a:rPr>
              <a:t>kaizen </a:t>
            </a:r>
            <a:r>
              <a:rPr lang="en-US" sz="1200" kern="1200" dirty="0">
                <a:solidFill>
                  <a:schemeClr val="tx1"/>
                </a:solidFill>
                <a:effectLst/>
                <a:latin typeface="Arial" charset="0"/>
                <a:ea typeface="+mn-ea"/>
                <a:cs typeface="+mn-cs"/>
              </a:rPr>
              <a:t>philosophy assumes that our way of life - be it our working life, our social life, or our home life - should focus on constant improvement efforts. This concept is so natural and obvious to many Japanese that they don't even realize they possess it! In my opinion, </a:t>
            </a:r>
            <a:r>
              <a:rPr lang="en-US" sz="1200" i="1" kern="1200" dirty="0">
                <a:solidFill>
                  <a:schemeClr val="tx1"/>
                </a:solidFill>
                <a:effectLst/>
                <a:latin typeface="Arial" charset="0"/>
                <a:ea typeface="+mn-ea"/>
                <a:cs typeface="+mn-cs"/>
              </a:rPr>
              <a:t>kaizen</a:t>
            </a:r>
            <a:r>
              <a:rPr lang="en-US" sz="1200" kern="1200" dirty="0">
                <a:solidFill>
                  <a:schemeClr val="tx1"/>
                </a:solidFill>
                <a:effectLst/>
                <a:latin typeface="Arial" charset="0"/>
                <a:ea typeface="+mn-ea"/>
                <a:cs typeface="+mn-cs"/>
              </a:rPr>
              <a:t> has contributed greatly to Japan's competitive success.” (Imai, 1997, p. 3).</a:t>
            </a:r>
            <a:endParaRPr lang="pl-PL" sz="1200" kern="1200" dirty="0">
              <a:solidFill>
                <a:schemeClr val="tx1"/>
              </a:solidFill>
              <a:effectLst/>
              <a:latin typeface="Arial" charset="0"/>
              <a:ea typeface="+mn-ea"/>
              <a:cs typeface="+mn-cs"/>
            </a:endParaRPr>
          </a:p>
          <a:p>
            <a:pPr algn="just"/>
            <a:r>
              <a:rPr lang="en-US" sz="1200" kern="1200" dirty="0">
                <a:solidFill>
                  <a:schemeClr val="tx1"/>
                </a:solidFill>
                <a:effectLst/>
                <a:latin typeface="Arial" charset="0"/>
                <a:ea typeface="+mn-ea"/>
                <a:cs typeface="+mn-cs"/>
              </a:rPr>
              <a:t>However, </a:t>
            </a:r>
            <a:r>
              <a:rPr lang="en-US" sz="1200" i="1" kern="1200" dirty="0">
                <a:solidFill>
                  <a:schemeClr val="tx1"/>
                </a:solidFill>
                <a:effectLst/>
                <a:latin typeface="Arial" charset="0"/>
                <a:ea typeface="+mn-ea"/>
                <a:cs typeface="+mn-cs"/>
              </a:rPr>
              <a:t>kaizen </a:t>
            </a:r>
            <a:r>
              <a:rPr lang="en-US" sz="1200" kern="1200" dirty="0">
                <a:solidFill>
                  <a:schemeClr val="tx1"/>
                </a:solidFill>
                <a:effectLst/>
                <a:latin typeface="Arial" charset="0"/>
                <a:ea typeface="+mn-ea"/>
                <a:cs typeface="+mn-cs"/>
              </a:rPr>
              <a:t>can also serve as an “umbrella concept” for a set of “uniquely Japanese” quality management tools, which include, among others, total quality control (TQC), quality circles, the Japanese style of labor relations, just-in-time (JIT) or the suggestion system (</a:t>
            </a:r>
            <a:r>
              <a:rPr lang="en-US" sz="1200" i="1" kern="1200" dirty="0" err="1">
                <a:solidFill>
                  <a:schemeClr val="tx1"/>
                </a:solidFill>
                <a:effectLst/>
                <a:latin typeface="Arial" charset="0"/>
                <a:ea typeface="+mn-ea"/>
                <a:cs typeface="+mn-cs"/>
              </a:rPr>
              <a:t>ibidem</a:t>
            </a:r>
            <a:r>
              <a:rPr lang="en-US" sz="1200" i="1" kern="1200" dirty="0">
                <a:solidFill>
                  <a:schemeClr val="tx1"/>
                </a:solidFill>
                <a:effectLst/>
                <a:latin typeface="Arial" charset="0"/>
                <a:ea typeface="+mn-ea"/>
                <a:cs typeface="+mn-cs"/>
              </a:rPr>
              <a:t>)</a:t>
            </a:r>
            <a:r>
              <a:rPr lang="en-US" sz="1200" kern="1200" dirty="0">
                <a:solidFill>
                  <a:schemeClr val="tx1"/>
                </a:solidFill>
                <a:effectLst/>
                <a:latin typeface="Arial" charset="0"/>
                <a:ea typeface="+mn-ea"/>
                <a:cs typeface="+mn-cs"/>
              </a:rPr>
              <a:t>. </a:t>
            </a:r>
            <a:endParaRPr lang="pl-PL" sz="1200" kern="1200" dirty="0">
              <a:solidFill>
                <a:schemeClr val="tx1"/>
              </a:solidFill>
              <a:effectLst/>
              <a:latin typeface="Arial" charset="0"/>
              <a:ea typeface="+mn-ea"/>
              <a:cs typeface="+mn-cs"/>
            </a:endParaRPr>
          </a:p>
          <a:p>
            <a:pPr algn="just"/>
            <a:r>
              <a:rPr lang="en-US" sz="1200" kern="1200" dirty="0">
                <a:solidFill>
                  <a:schemeClr val="tx1"/>
                </a:solidFill>
                <a:effectLst/>
                <a:latin typeface="Arial" charset="0"/>
                <a:ea typeface="+mn-ea"/>
                <a:cs typeface="+mn-cs"/>
              </a:rPr>
              <a:t>In a nutshell, Confucianism is a system of values created by a Chinese scholar, Kong </a:t>
            </a:r>
            <a:r>
              <a:rPr lang="en-US" sz="1200" kern="1200" dirty="0" err="1">
                <a:solidFill>
                  <a:schemeClr val="tx1"/>
                </a:solidFill>
                <a:effectLst/>
                <a:latin typeface="Arial" charset="0"/>
                <a:ea typeface="+mn-ea"/>
                <a:cs typeface="+mn-cs"/>
              </a:rPr>
              <a:t>Qiu</a:t>
            </a:r>
            <a:r>
              <a:rPr lang="en-US" sz="1200" kern="1200" dirty="0">
                <a:solidFill>
                  <a:schemeClr val="tx1"/>
                </a:solidFill>
                <a:effectLst/>
                <a:latin typeface="Arial" charset="0"/>
                <a:ea typeface="+mn-ea"/>
                <a:cs typeface="+mn-cs"/>
              </a:rPr>
              <a:t> (551 – 479 B.C.). It became known in Japan in V-VI c. A.D. The five basic ethical rules of Confucianism are: </a:t>
            </a:r>
            <a:r>
              <a:rPr lang="en-US" sz="1200" i="1" kern="1200" dirty="0" err="1">
                <a:solidFill>
                  <a:schemeClr val="tx1"/>
                </a:solidFill>
                <a:effectLst/>
                <a:latin typeface="Arial" charset="0"/>
                <a:ea typeface="+mn-ea"/>
                <a:cs typeface="+mn-cs"/>
              </a:rPr>
              <a:t>ren</a:t>
            </a:r>
            <a:r>
              <a:rPr lang="en-US" sz="1200" kern="1200" dirty="0">
                <a:solidFill>
                  <a:schemeClr val="tx1"/>
                </a:solidFill>
                <a:effectLst/>
                <a:latin typeface="Arial" charset="0"/>
                <a:ea typeface="+mn-ea"/>
                <a:cs typeface="+mn-cs"/>
              </a:rPr>
              <a:t> (humanity, goodness, benevolence), </a:t>
            </a:r>
            <a:r>
              <a:rPr lang="en-US" sz="1200" i="1" kern="1200" dirty="0" err="1">
                <a:solidFill>
                  <a:schemeClr val="tx1"/>
                </a:solidFill>
                <a:effectLst/>
                <a:latin typeface="Arial" charset="0"/>
                <a:ea typeface="+mn-ea"/>
                <a:cs typeface="+mn-cs"/>
              </a:rPr>
              <a:t>yi</a:t>
            </a:r>
            <a:r>
              <a:rPr lang="en-US" sz="1200" kern="1200" dirty="0">
                <a:solidFill>
                  <a:schemeClr val="tx1"/>
                </a:solidFill>
                <a:effectLst/>
                <a:latin typeface="Arial" charset="0"/>
                <a:ea typeface="+mn-ea"/>
                <a:cs typeface="+mn-cs"/>
              </a:rPr>
              <a:t> (righteousness), </a:t>
            </a:r>
            <a:r>
              <a:rPr lang="en-US" sz="1200" i="1" kern="1200" dirty="0">
                <a:solidFill>
                  <a:schemeClr val="tx1"/>
                </a:solidFill>
                <a:effectLst/>
                <a:latin typeface="Arial" charset="0"/>
                <a:ea typeface="+mn-ea"/>
                <a:cs typeface="+mn-cs"/>
              </a:rPr>
              <a:t>li</a:t>
            </a:r>
            <a:r>
              <a:rPr lang="en-US" sz="1200" kern="1200" dirty="0">
                <a:solidFill>
                  <a:schemeClr val="tx1"/>
                </a:solidFill>
                <a:effectLst/>
                <a:latin typeface="Arial" charset="0"/>
                <a:ea typeface="+mn-ea"/>
                <a:cs typeface="+mn-cs"/>
              </a:rPr>
              <a:t> (proper conduct), </a:t>
            </a:r>
            <a:r>
              <a:rPr lang="en-US" sz="1200" i="1" kern="1200" dirty="0" err="1">
                <a:solidFill>
                  <a:schemeClr val="tx1"/>
                </a:solidFill>
                <a:effectLst/>
                <a:latin typeface="Arial" charset="0"/>
                <a:ea typeface="+mn-ea"/>
                <a:cs typeface="+mn-cs"/>
              </a:rPr>
              <a:t>zhi</a:t>
            </a:r>
            <a:r>
              <a:rPr lang="en-US" sz="1200" kern="1200" dirty="0">
                <a:solidFill>
                  <a:schemeClr val="tx1"/>
                </a:solidFill>
                <a:effectLst/>
                <a:latin typeface="Arial" charset="0"/>
                <a:ea typeface="+mn-ea"/>
                <a:cs typeface="+mn-cs"/>
              </a:rPr>
              <a:t> (wisdom) and </a:t>
            </a:r>
            <a:r>
              <a:rPr lang="en-US" sz="1200" i="1" kern="1200" dirty="0" err="1">
                <a:solidFill>
                  <a:schemeClr val="tx1"/>
                </a:solidFill>
                <a:effectLst/>
                <a:latin typeface="Arial" charset="0"/>
                <a:ea typeface="+mn-ea"/>
                <a:cs typeface="+mn-cs"/>
              </a:rPr>
              <a:t>xin</a:t>
            </a:r>
            <a:r>
              <a:rPr lang="en-US" sz="1200" kern="1200" dirty="0">
                <a:solidFill>
                  <a:schemeClr val="tx1"/>
                </a:solidFill>
                <a:effectLst/>
                <a:latin typeface="Arial" charset="0"/>
                <a:ea typeface="+mn-ea"/>
                <a:cs typeface="+mn-cs"/>
              </a:rPr>
              <a:t> (faithfulness). (</a:t>
            </a:r>
            <a:r>
              <a:rPr lang="en-US" sz="1200" kern="1200" dirty="0" err="1">
                <a:solidFill>
                  <a:schemeClr val="tx1"/>
                </a:solidFill>
                <a:effectLst/>
                <a:latin typeface="Arial" charset="0"/>
                <a:ea typeface="+mn-ea"/>
                <a:cs typeface="+mn-cs"/>
              </a:rPr>
              <a:t>Charkiewicz</a:t>
            </a:r>
            <a:r>
              <a:rPr lang="en-US" sz="1200" kern="1200" dirty="0">
                <a:solidFill>
                  <a:schemeClr val="tx1"/>
                </a:solidFill>
                <a:effectLst/>
                <a:latin typeface="Arial" charset="0"/>
                <a:ea typeface="+mn-ea"/>
                <a:cs typeface="+mn-cs"/>
              </a:rPr>
              <a:t>, 2008, pp. 63, 64).  </a:t>
            </a:r>
            <a:endParaRPr lang="pl-PL" sz="1200" kern="1200" dirty="0">
              <a:solidFill>
                <a:schemeClr val="tx1"/>
              </a:solidFill>
              <a:effectLst/>
              <a:latin typeface="Arial" charset="0"/>
              <a:ea typeface="+mn-ea"/>
              <a:cs typeface="+mn-cs"/>
            </a:endParaRPr>
          </a:p>
          <a:p>
            <a:pPr algn="just" eaLnBrk="1" hangingPunct="1"/>
            <a:endParaRPr lang="pl-PL" dirty="0"/>
          </a:p>
        </p:txBody>
      </p:sp>
    </p:spTree>
    <p:extLst>
      <p:ext uri="{BB962C8B-B14F-4D97-AF65-F5344CB8AC3E}">
        <p14:creationId xmlns:p14="http://schemas.microsoft.com/office/powerpoint/2010/main" val="41767061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28</a:t>
            </a:fld>
            <a:endParaRPr lang="pl-PL"/>
          </a:p>
        </p:txBody>
      </p:sp>
    </p:spTree>
    <p:extLst>
      <p:ext uri="{BB962C8B-B14F-4D97-AF65-F5344CB8AC3E}">
        <p14:creationId xmlns:p14="http://schemas.microsoft.com/office/powerpoint/2010/main" val="376945271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29</a:t>
            </a:fld>
            <a:endParaRPr lang="pl-PL"/>
          </a:p>
        </p:txBody>
      </p:sp>
    </p:spTree>
    <p:extLst>
      <p:ext uri="{BB962C8B-B14F-4D97-AF65-F5344CB8AC3E}">
        <p14:creationId xmlns:p14="http://schemas.microsoft.com/office/powerpoint/2010/main" val="31843782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30</a:t>
            </a:fld>
            <a:endParaRPr lang="pl-PL"/>
          </a:p>
        </p:txBody>
      </p:sp>
    </p:spTree>
    <p:extLst>
      <p:ext uri="{BB962C8B-B14F-4D97-AF65-F5344CB8AC3E}">
        <p14:creationId xmlns:p14="http://schemas.microsoft.com/office/powerpoint/2010/main" val="19908367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31</a:t>
            </a:fld>
            <a:endParaRPr lang="pl-PL"/>
          </a:p>
        </p:txBody>
      </p:sp>
    </p:spTree>
    <p:extLst>
      <p:ext uri="{BB962C8B-B14F-4D97-AF65-F5344CB8AC3E}">
        <p14:creationId xmlns:p14="http://schemas.microsoft.com/office/powerpoint/2010/main" val="24790318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200" b="0" i="0" kern="1200" dirty="0">
                <a:solidFill>
                  <a:schemeClr val="tx1"/>
                </a:solidFill>
                <a:effectLst/>
                <a:latin typeface="Arial" charset="0"/>
                <a:ea typeface="+mn-ea"/>
                <a:cs typeface="+mn-cs"/>
              </a:rPr>
              <a:t>Contrasted to the traditional tendency to ask "Who?" and to blame people for problems and mistakes, this approach looks at the problem with others to seek a solution. Also implicit in this principle is an approach of childlike curiosity about how things work and how they can be improved, instead of judging whether people did a good or bad job; if they are right or wrong. The principle does not imply that managers must never exercise judgment, since good judgment is always required in decision-making.</a:t>
            </a:r>
            <a:endParaRPr lang="pl-PL" sz="1200" b="0" i="0" kern="1200" dirty="0">
              <a:solidFill>
                <a:schemeClr val="tx1"/>
              </a:solidFill>
              <a:effectLst/>
              <a:latin typeface="Arial" charset="0"/>
              <a:ea typeface="+mn-ea"/>
              <a:cs typeface="+mn-cs"/>
            </a:endParaRPr>
          </a:p>
          <a:p>
            <a:pPr algn="just"/>
            <a:r>
              <a:rPr lang="en-US" sz="1200" b="0" i="0" kern="1200" dirty="0">
                <a:solidFill>
                  <a:schemeClr val="tx1"/>
                </a:solidFill>
                <a:effectLst/>
                <a:latin typeface="Arial" charset="0"/>
                <a:ea typeface="+mn-ea"/>
                <a:cs typeface="+mn-cs"/>
              </a:rPr>
              <a:t>Toyota has developed its production system around eliminating three enemies of Lean: </a:t>
            </a:r>
            <a:r>
              <a:rPr lang="en-US" sz="1200" b="1" i="0" kern="1200" dirty="0" err="1">
                <a:solidFill>
                  <a:schemeClr val="tx1"/>
                </a:solidFill>
                <a:effectLst/>
                <a:latin typeface="Arial" charset="0"/>
                <a:ea typeface="+mn-ea"/>
                <a:cs typeface="+mn-cs"/>
              </a:rPr>
              <a:t>Muda</a:t>
            </a:r>
            <a:r>
              <a:rPr lang="en-US" sz="1200" b="0" i="0" kern="1200" dirty="0">
                <a:solidFill>
                  <a:schemeClr val="tx1"/>
                </a:solidFill>
                <a:effectLst/>
                <a:latin typeface="Arial" charset="0"/>
                <a:ea typeface="+mn-ea"/>
                <a:cs typeface="+mn-cs"/>
              </a:rPr>
              <a:t> (waste), </a:t>
            </a:r>
            <a:r>
              <a:rPr lang="en-US" sz="1200" b="1" i="0" kern="1200" dirty="0" err="1">
                <a:solidFill>
                  <a:schemeClr val="tx1"/>
                </a:solidFill>
                <a:effectLst/>
                <a:latin typeface="Arial" charset="0"/>
                <a:ea typeface="+mn-ea"/>
                <a:cs typeface="+mn-cs"/>
              </a:rPr>
              <a:t>Muri</a:t>
            </a:r>
            <a:r>
              <a:rPr lang="en-US" sz="1200" b="0" i="0" kern="1200" dirty="0">
                <a:solidFill>
                  <a:schemeClr val="tx1"/>
                </a:solidFill>
                <a:effectLst/>
                <a:latin typeface="Arial" charset="0"/>
                <a:ea typeface="+mn-ea"/>
                <a:cs typeface="+mn-cs"/>
              </a:rPr>
              <a:t> (overburden) and </a:t>
            </a:r>
            <a:r>
              <a:rPr lang="en-US" sz="1200" b="1" i="0" kern="1200" dirty="0">
                <a:solidFill>
                  <a:schemeClr val="tx1"/>
                </a:solidFill>
                <a:effectLst/>
                <a:latin typeface="Arial" charset="0"/>
                <a:ea typeface="+mn-ea"/>
                <a:cs typeface="+mn-cs"/>
              </a:rPr>
              <a:t>Mura</a:t>
            </a:r>
            <a:r>
              <a:rPr lang="en-US" sz="1200" b="0" i="0" kern="1200" dirty="0">
                <a:solidFill>
                  <a:schemeClr val="tx1"/>
                </a:solidFill>
                <a:effectLst/>
                <a:latin typeface="Arial" charset="0"/>
                <a:ea typeface="+mn-ea"/>
                <a:cs typeface="+mn-cs"/>
              </a:rPr>
              <a:t> (unevenness) (Liker, 2004).</a:t>
            </a:r>
            <a:br>
              <a:rPr lang="en-US" dirty="0"/>
            </a:br>
            <a:r>
              <a:rPr lang="en-US" sz="1200" b="0" i="0" kern="1200" dirty="0" err="1">
                <a:solidFill>
                  <a:schemeClr val="tx1"/>
                </a:solidFill>
                <a:effectLst/>
                <a:latin typeface="Arial" charset="0"/>
                <a:ea typeface="+mn-ea"/>
                <a:cs typeface="+mn-cs"/>
              </a:rPr>
              <a:t>Muda</a:t>
            </a:r>
            <a:r>
              <a:rPr lang="en-US" sz="1200" b="0" i="0" kern="1200" dirty="0">
                <a:solidFill>
                  <a:schemeClr val="tx1"/>
                </a:solidFill>
                <a:effectLst/>
                <a:latin typeface="Arial" charset="0"/>
                <a:ea typeface="+mn-ea"/>
                <a:cs typeface="+mn-cs"/>
              </a:rPr>
              <a:t> is the direct obstacle of flow. As written below, there are 8 distinctive types of </a:t>
            </a:r>
            <a:r>
              <a:rPr lang="en-US" sz="1200" b="0" i="0" kern="1200" dirty="0" err="1">
                <a:solidFill>
                  <a:schemeClr val="tx1"/>
                </a:solidFill>
                <a:effectLst/>
                <a:latin typeface="Arial" charset="0"/>
                <a:ea typeface="+mn-ea"/>
                <a:cs typeface="+mn-cs"/>
              </a:rPr>
              <a:t>muda</a:t>
            </a:r>
            <a:r>
              <a:rPr lang="en-US" sz="1200" b="0" i="0" kern="1200" dirty="0">
                <a:solidFill>
                  <a:schemeClr val="tx1"/>
                </a:solidFill>
                <a:effectLst/>
                <a:latin typeface="Arial" charset="0"/>
                <a:ea typeface="+mn-ea"/>
                <a:cs typeface="+mn-cs"/>
              </a:rPr>
              <a:t> which all lead to waiting times, and therefore longer lead times in a process. Simply taking out the </a:t>
            </a:r>
            <a:r>
              <a:rPr lang="en-US" sz="1200" b="0" i="0" kern="1200" dirty="0" err="1">
                <a:solidFill>
                  <a:schemeClr val="tx1"/>
                </a:solidFill>
                <a:effectLst/>
                <a:latin typeface="Arial" charset="0"/>
                <a:ea typeface="+mn-ea"/>
                <a:cs typeface="+mn-cs"/>
              </a:rPr>
              <a:t>muda</a:t>
            </a:r>
            <a:r>
              <a:rPr lang="en-US" sz="1200" b="0" i="0" kern="1200" dirty="0">
                <a:solidFill>
                  <a:schemeClr val="tx1"/>
                </a:solidFill>
                <a:effectLst/>
                <a:latin typeface="Arial" charset="0"/>
                <a:ea typeface="+mn-ea"/>
                <a:cs typeface="+mn-cs"/>
              </a:rPr>
              <a:t> does not work. Usually, there is a reason why the </a:t>
            </a:r>
            <a:r>
              <a:rPr lang="en-US" sz="1200" b="0" i="0" kern="1200" dirty="0" err="1">
                <a:solidFill>
                  <a:schemeClr val="tx1"/>
                </a:solidFill>
                <a:effectLst/>
                <a:latin typeface="Arial" charset="0"/>
                <a:ea typeface="+mn-ea"/>
                <a:cs typeface="+mn-cs"/>
              </a:rPr>
              <a:t>muda</a:t>
            </a:r>
            <a:r>
              <a:rPr lang="en-US" sz="1200" b="0" i="0" kern="1200" dirty="0">
                <a:solidFill>
                  <a:schemeClr val="tx1"/>
                </a:solidFill>
                <a:effectLst/>
                <a:latin typeface="Arial" charset="0"/>
                <a:ea typeface="+mn-ea"/>
                <a:cs typeface="+mn-cs"/>
              </a:rPr>
              <a:t> is there and this reason often has to do with the other two enemies: </a:t>
            </a:r>
            <a:r>
              <a:rPr lang="en-US" sz="1200" b="0" i="0" kern="1200" dirty="0" err="1">
                <a:solidFill>
                  <a:schemeClr val="tx1"/>
                </a:solidFill>
                <a:effectLst/>
                <a:latin typeface="Arial" charset="0"/>
                <a:ea typeface="+mn-ea"/>
                <a:cs typeface="+mn-cs"/>
              </a:rPr>
              <a:t>muri</a:t>
            </a:r>
            <a:r>
              <a:rPr lang="en-US" sz="1200" b="0" i="0" kern="1200" dirty="0">
                <a:solidFill>
                  <a:schemeClr val="tx1"/>
                </a:solidFill>
                <a:effectLst/>
                <a:latin typeface="Arial" charset="0"/>
                <a:ea typeface="+mn-ea"/>
                <a:cs typeface="+mn-cs"/>
              </a:rPr>
              <a:t> and </a:t>
            </a:r>
            <a:r>
              <a:rPr lang="en-US" sz="1200" b="0" i="0" kern="1200" dirty="0" err="1">
                <a:solidFill>
                  <a:schemeClr val="tx1"/>
                </a:solidFill>
                <a:effectLst/>
                <a:latin typeface="Arial" charset="0"/>
                <a:ea typeface="+mn-ea"/>
                <a:cs typeface="+mn-cs"/>
              </a:rPr>
              <a:t>mura</a:t>
            </a:r>
            <a:r>
              <a:rPr lang="en-US" sz="1200" b="0" i="0" kern="1200" dirty="0">
                <a:solidFill>
                  <a:schemeClr val="tx1"/>
                </a:solidFill>
                <a:effectLst/>
                <a:latin typeface="Arial" charset="0"/>
                <a:ea typeface="+mn-ea"/>
                <a:cs typeface="+mn-cs"/>
              </a:rPr>
              <a:t>.  </a:t>
            </a:r>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32</a:t>
            </a:fld>
            <a:endParaRPr lang="pl-PL"/>
          </a:p>
        </p:txBody>
      </p:sp>
    </p:spTree>
    <p:extLst>
      <p:ext uri="{BB962C8B-B14F-4D97-AF65-F5344CB8AC3E}">
        <p14:creationId xmlns:p14="http://schemas.microsoft.com/office/powerpoint/2010/main" val="14877747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200" b="0" i="0" kern="1200" dirty="0">
                <a:solidFill>
                  <a:schemeClr val="tx1"/>
                </a:solidFill>
                <a:effectLst/>
                <a:latin typeface="Arial" charset="0"/>
                <a:ea typeface="+mn-ea"/>
                <a:cs typeface="+mn-cs"/>
              </a:rPr>
              <a:t>There are three countermeasures for overproduction. Firstly, using a ‘</a:t>
            </a:r>
            <a:r>
              <a:rPr lang="en-US" sz="1200" b="0" i="0" kern="1200" dirty="0" err="1">
                <a:solidFill>
                  <a:schemeClr val="tx1"/>
                </a:solidFill>
                <a:effectLst/>
                <a:latin typeface="Arial" charset="0"/>
                <a:ea typeface="+mn-ea"/>
                <a:cs typeface="+mn-cs"/>
              </a:rPr>
              <a:t>Takt</a:t>
            </a:r>
            <a:r>
              <a:rPr lang="en-US" sz="1200" b="0" i="0" kern="1200" dirty="0">
                <a:solidFill>
                  <a:schemeClr val="tx1"/>
                </a:solidFill>
                <a:effectLst/>
                <a:latin typeface="Arial" charset="0"/>
                <a:ea typeface="+mn-ea"/>
                <a:cs typeface="+mn-cs"/>
              </a:rPr>
              <a:t> Time’ ensures that the rate of manufacturing between stations are even. Secondly, reducing setup times enables manufacturing small batches or single-piece flow. Thirdly, using a pull or ‘</a:t>
            </a:r>
            <a:r>
              <a:rPr lang="en-US" sz="1200" b="0" i="0" kern="1200" dirty="0" err="1">
                <a:solidFill>
                  <a:schemeClr val="tx1"/>
                </a:solidFill>
                <a:effectLst/>
                <a:latin typeface="Arial" charset="0"/>
                <a:ea typeface="+mn-ea"/>
                <a:cs typeface="+mn-cs"/>
              </a:rPr>
              <a:t>Kanban</a:t>
            </a:r>
            <a:r>
              <a:rPr lang="en-US" sz="1200" b="0" i="0" kern="1200" dirty="0">
                <a:solidFill>
                  <a:schemeClr val="tx1"/>
                </a:solidFill>
                <a:effectLst/>
                <a:latin typeface="Arial" charset="0"/>
                <a:ea typeface="+mn-ea"/>
                <a:cs typeface="+mn-cs"/>
              </a:rPr>
              <a:t>’ system can control the amount of WIP</a:t>
            </a:r>
            <a:r>
              <a:rPr lang="pl-PL" sz="1200" b="0" i="0" kern="1200" dirty="0">
                <a:solidFill>
                  <a:schemeClr val="tx1"/>
                </a:solidFill>
                <a:effectLst/>
                <a:latin typeface="Arial" charset="0"/>
                <a:ea typeface="+mn-ea"/>
                <a:cs typeface="+mn-cs"/>
              </a:rPr>
              <a:t> (</a:t>
            </a:r>
            <a:r>
              <a:rPr lang="pl-PL" sz="1200" b="0" i="0" kern="1200" dirty="0" err="1">
                <a:solidFill>
                  <a:schemeClr val="tx1"/>
                </a:solidFill>
                <a:effectLst/>
                <a:latin typeface="Arial" charset="0"/>
                <a:ea typeface="+mn-ea"/>
                <a:cs typeface="+mn-cs"/>
              </a:rPr>
              <a:t>Work</a:t>
            </a:r>
            <a:r>
              <a:rPr lang="pl-PL" sz="1200" b="0" i="0" kern="1200" dirty="0">
                <a:solidFill>
                  <a:schemeClr val="tx1"/>
                </a:solidFill>
                <a:effectLst/>
                <a:latin typeface="Arial" charset="0"/>
                <a:ea typeface="+mn-ea"/>
                <a:cs typeface="+mn-cs"/>
              </a:rPr>
              <a:t> In Progress)</a:t>
            </a:r>
            <a:r>
              <a:rPr lang="en-US" sz="1200" b="0" i="0" kern="1200" dirty="0">
                <a:solidFill>
                  <a:schemeClr val="tx1"/>
                </a:solidFill>
                <a:effectLst/>
                <a:latin typeface="Arial" charset="0"/>
                <a:ea typeface="+mn-ea"/>
                <a:cs typeface="+mn-cs"/>
              </a:rPr>
              <a:t>.</a:t>
            </a:r>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33</a:t>
            </a:fld>
            <a:endParaRPr lang="pl-PL"/>
          </a:p>
        </p:txBody>
      </p:sp>
    </p:spTree>
    <p:extLst>
      <p:ext uri="{BB962C8B-B14F-4D97-AF65-F5344CB8AC3E}">
        <p14:creationId xmlns:p14="http://schemas.microsoft.com/office/powerpoint/2010/main" val="36267825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200" b="0" i="0" kern="1200" dirty="0">
                <a:solidFill>
                  <a:schemeClr val="tx1"/>
                </a:solidFill>
                <a:effectLst/>
                <a:latin typeface="Arial" charset="0"/>
                <a:ea typeface="+mn-ea"/>
                <a:cs typeface="+mn-cs"/>
              </a:rPr>
              <a:t>Some countermeasures for waiting include: designing processes to ensure continuous flow or single piece flow, leveling out the workload by using standardized work instructions, and developing flexible multi-skilled workers who can quickly adjust in the work demands.</a:t>
            </a:r>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34</a:t>
            </a:fld>
            <a:endParaRPr lang="pl-PL"/>
          </a:p>
        </p:txBody>
      </p:sp>
    </p:spTree>
    <p:extLst>
      <p:ext uri="{BB962C8B-B14F-4D97-AF65-F5344CB8AC3E}">
        <p14:creationId xmlns:p14="http://schemas.microsoft.com/office/powerpoint/2010/main" val="36971371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200" b="0" i="0" kern="1200" dirty="0">
                <a:solidFill>
                  <a:schemeClr val="tx1"/>
                </a:solidFill>
                <a:effectLst/>
                <a:latin typeface="Arial" charset="0"/>
                <a:ea typeface="+mn-ea"/>
                <a:cs typeface="+mn-cs"/>
              </a:rPr>
              <a:t>Some countermeasures for inventory include: purchasing raw materials only when needed and in the quantity needed, reducing buffers between production steps, and creating a queue system to prevent </a:t>
            </a:r>
            <a:r>
              <a:rPr lang="en-US" sz="1200" b="0" i="0" kern="1200" dirty="0" err="1">
                <a:solidFill>
                  <a:schemeClr val="tx1"/>
                </a:solidFill>
                <a:effectLst/>
                <a:latin typeface="Arial" charset="0"/>
                <a:ea typeface="+mn-ea"/>
                <a:cs typeface="+mn-cs"/>
              </a:rPr>
              <a:t>overproductio</a:t>
            </a:r>
            <a:r>
              <a:rPr lang="pl-PL" sz="1200" b="0" i="0" kern="1200" dirty="0">
                <a:solidFill>
                  <a:schemeClr val="tx1"/>
                </a:solidFill>
                <a:effectLst/>
                <a:latin typeface="Arial" charset="0"/>
                <a:ea typeface="+mn-ea"/>
                <a:cs typeface="+mn-cs"/>
              </a:rPr>
              <a:t>n.</a:t>
            </a:r>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35</a:t>
            </a:fld>
            <a:endParaRPr lang="pl-PL"/>
          </a:p>
        </p:txBody>
      </p:sp>
    </p:spTree>
    <p:extLst>
      <p:ext uri="{BB962C8B-B14F-4D97-AF65-F5344CB8AC3E}">
        <p14:creationId xmlns:p14="http://schemas.microsoft.com/office/powerpoint/2010/main" val="18318567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200" b="0" i="0" kern="1200" dirty="0">
                <a:solidFill>
                  <a:schemeClr val="tx1"/>
                </a:solidFill>
                <a:effectLst/>
                <a:latin typeface="Arial" charset="0"/>
                <a:ea typeface="+mn-ea"/>
                <a:cs typeface="+mn-cs"/>
              </a:rPr>
              <a:t>Some countermeasures for motion include making sure the workspace is well organized, placing equipment near the production location, and putting materials at an ergonomic position to reduce stretching and straining.</a:t>
            </a:r>
            <a:br>
              <a:rPr lang="en-US" dirty="0"/>
            </a:br>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36</a:t>
            </a:fld>
            <a:endParaRPr lang="pl-PL"/>
          </a:p>
        </p:txBody>
      </p:sp>
    </p:spTree>
    <p:extLst>
      <p:ext uri="{BB962C8B-B14F-4D97-AF65-F5344CB8AC3E}">
        <p14:creationId xmlns:p14="http://schemas.microsoft.com/office/powerpoint/2010/main" val="17558066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37</a:t>
            </a:fld>
            <a:endParaRPr lang="pl-PL"/>
          </a:p>
        </p:txBody>
      </p:sp>
    </p:spTree>
    <p:extLst>
      <p:ext uri="{BB962C8B-B14F-4D97-AF65-F5344CB8AC3E}">
        <p14:creationId xmlns:p14="http://schemas.microsoft.com/office/powerpoint/2010/main" val="10636882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200" b="0" i="0" kern="1200" dirty="0">
                <a:solidFill>
                  <a:schemeClr val="tx1"/>
                </a:solidFill>
                <a:effectLst/>
                <a:latin typeface="Arial" charset="0"/>
                <a:ea typeface="+mn-ea"/>
                <a:cs typeface="+mn-cs"/>
              </a:rPr>
              <a:t>One simple way to counter over-processing is to understand the work requirements from the standpoint of the customer. Always have a customer in mind before starting work, produce to the level of quality and expectation that the customer desires, and make only the quantities needed.</a:t>
            </a:r>
            <a:br>
              <a:rPr lang="en-US" dirty="0"/>
            </a:br>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38</a:t>
            </a:fld>
            <a:endParaRPr lang="pl-PL"/>
          </a:p>
        </p:txBody>
      </p:sp>
    </p:spTree>
    <p:extLst>
      <p:ext uri="{BB962C8B-B14F-4D97-AF65-F5344CB8AC3E}">
        <p14:creationId xmlns:p14="http://schemas.microsoft.com/office/powerpoint/2010/main" val="30055465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200" b="0" i="0" kern="1200" dirty="0">
                <a:solidFill>
                  <a:schemeClr val="tx1"/>
                </a:solidFill>
                <a:effectLst/>
                <a:latin typeface="Arial" charset="0"/>
                <a:ea typeface="+mn-ea"/>
                <a:cs typeface="+mn-cs"/>
              </a:rPr>
              <a:t>Some of the countermeasures to transportation waste includes developing a U-shape production line, creating flow between processes, and not over-producing work in process (WIP) items.</a:t>
            </a:r>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39</a:t>
            </a:fld>
            <a:endParaRPr lang="pl-PL"/>
          </a:p>
        </p:txBody>
      </p:sp>
    </p:spTree>
    <p:extLst>
      <p:ext uri="{BB962C8B-B14F-4D97-AF65-F5344CB8AC3E}">
        <p14:creationId xmlns:p14="http://schemas.microsoft.com/office/powerpoint/2010/main" val="16064340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200" b="0" i="0" kern="1200" dirty="0">
                <a:solidFill>
                  <a:schemeClr val="tx1"/>
                </a:solidFill>
                <a:effectLst/>
                <a:latin typeface="Arial" charset="0"/>
                <a:ea typeface="+mn-ea"/>
                <a:cs typeface="+mn-cs"/>
              </a:rPr>
              <a:t>Some countermeasures for waiting include: designing processes to ensure continuous flow or single piece flow, leveling out the workload by using standardized work instructions, and developing flexible multi-skilled workers who can quickly adjust in the work demands.</a:t>
            </a:r>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40</a:t>
            </a:fld>
            <a:endParaRPr lang="pl-PL"/>
          </a:p>
        </p:txBody>
      </p:sp>
    </p:spTree>
    <p:extLst>
      <p:ext uri="{BB962C8B-B14F-4D97-AF65-F5344CB8AC3E}">
        <p14:creationId xmlns:p14="http://schemas.microsoft.com/office/powerpoint/2010/main" val="33523261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41</a:t>
            </a:fld>
            <a:endParaRPr lang="pl-PL"/>
          </a:p>
        </p:txBody>
      </p:sp>
    </p:spTree>
    <p:extLst>
      <p:ext uri="{BB962C8B-B14F-4D97-AF65-F5344CB8AC3E}">
        <p14:creationId xmlns:p14="http://schemas.microsoft.com/office/powerpoint/2010/main" val="1777619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42</a:t>
            </a:fld>
            <a:endParaRPr lang="pl-PL"/>
          </a:p>
        </p:txBody>
      </p:sp>
    </p:spTree>
    <p:extLst>
      <p:ext uri="{BB962C8B-B14F-4D97-AF65-F5344CB8AC3E}">
        <p14:creationId xmlns:p14="http://schemas.microsoft.com/office/powerpoint/2010/main" val="24338003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1FED8CFE-2E9E-4E5A-B358-33155C067534}" type="slidenum">
              <a:rPr lang="pl-PL"/>
              <a:pPr/>
              <a:t>43</a:t>
            </a:fld>
            <a:endParaRPr lang="pl-PL"/>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algn="just" fontAlgn="base"/>
            <a:r>
              <a:rPr lang="en-US" sz="1200" b="0" i="0" kern="1200" dirty="0">
                <a:solidFill>
                  <a:schemeClr val="tx1"/>
                </a:solidFill>
                <a:effectLst/>
                <a:latin typeface="Arial" charset="0"/>
                <a:ea typeface="+mn-ea"/>
                <a:cs typeface="+mn-cs"/>
              </a:rPr>
              <a:t>5S is a simple but powerful tool for organizing a workplace in a clean, efficient and safe manner to enhance productivity, visual management and to ensure the introduction of standardized working. The main purpose of 5S is to support the efficient flow of materials, information and people; not to beautify the workplace.</a:t>
            </a:r>
          </a:p>
          <a:p>
            <a:pPr fontAlgn="base"/>
            <a:r>
              <a:rPr lang="en-US" sz="1200" b="0" i="0" kern="1200" dirty="0">
                <a:solidFill>
                  <a:schemeClr val="tx1"/>
                </a:solidFill>
                <a:effectLst/>
                <a:latin typeface="Arial" charset="0"/>
                <a:ea typeface="+mn-ea"/>
                <a:cs typeface="+mn-cs"/>
              </a:rPr>
              <a:t>5S </a:t>
            </a:r>
            <a:r>
              <a:rPr lang="en-US" sz="1200" b="0" i="0" kern="1200" dirty="0" err="1">
                <a:solidFill>
                  <a:schemeClr val="tx1"/>
                </a:solidFill>
                <a:effectLst/>
                <a:latin typeface="Arial" charset="0"/>
                <a:ea typeface="+mn-ea"/>
                <a:cs typeface="+mn-cs"/>
              </a:rPr>
              <a:t>Seiri</a:t>
            </a:r>
            <a:r>
              <a:rPr lang="en-US" sz="1200" b="0" i="0" kern="1200" dirty="0">
                <a:solidFill>
                  <a:schemeClr val="tx1"/>
                </a:solidFill>
                <a:effectLst/>
                <a:latin typeface="Arial" charset="0"/>
                <a:ea typeface="+mn-ea"/>
                <a:cs typeface="+mn-cs"/>
              </a:rPr>
              <a:t>; Sort, Clearing, Classify</a:t>
            </a:r>
          </a:p>
          <a:p>
            <a:pPr fontAlgn="base"/>
            <a:r>
              <a:rPr lang="en-US" sz="1200" b="0" i="0" kern="1200" dirty="0">
                <a:solidFill>
                  <a:schemeClr val="tx1"/>
                </a:solidFill>
                <a:effectLst/>
                <a:latin typeface="Arial" charset="0"/>
                <a:ea typeface="+mn-ea"/>
                <a:cs typeface="+mn-cs"/>
              </a:rPr>
              <a:t>5S </a:t>
            </a:r>
            <a:r>
              <a:rPr lang="en-US" sz="1200" b="0" i="0" kern="1200" dirty="0" err="1">
                <a:solidFill>
                  <a:schemeClr val="tx1"/>
                </a:solidFill>
                <a:effectLst/>
                <a:latin typeface="Arial" charset="0"/>
                <a:ea typeface="+mn-ea"/>
                <a:cs typeface="+mn-cs"/>
              </a:rPr>
              <a:t>Seiton</a:t>
            </a:r>
            <a:r>
              <a:rPr lang="en-US" sz="1200" b="0" i="0" kern="1200" dirty="0">
                <a:solidFill>
                  <a:schemeClr val="tx1"/>
                </a:solidFill>
                <a:effectLst/>
                <a:latin typeface="Arial" charset="0"/>
                <a:ea typeface="+mn-ea"/>
                <a:cs typeface="+mn-cs"/>
              </a:rPr>
              <a:t>; Straighten, Simplify, Set in Order</a:t>
            </a:r>
          </a:p>
          <a:p>
            <a:pPr fontAlgn="base"/>
            <a:r>
              <a:rPr lang="en-US" sz="1200" b="0" i="0" kern="1200" dirty="0">
                <a:solidFill>
                  <a:schemeClr val="tx1"/>
                </a:solidFill>
                <a:effectLst/>
                <a:latin typeface="Arial" charset="0"/>
                <a:ea typeface="+mn-ea"/>
                <a:cs typeface="+mn-cs"/>
              </a:rPr>
              <a:t>5S </a:t>
            </a:r>
            <a:r>
              <a:rPr lang="en-US" sz="1200" b="0" i="0" kern="1200" dirty="0" err="1">
                <a:solidFill>
                  <a:schemeClr val="tx1"/>
                </a:solidFill>
                <a:effectLst/>
                <a:latin typeface="Arial" charset="0"/>
                <a:ea typeface="+mn-ea"/>
                <a:cs typeface="+mn-cs"/>
              </a:rPr>
              <a:t>Seiso</a:t>
            </a:r>
            <a:r>
              <a:rPr lang="en-US" sz="1200" b="0" i="0" kern="1200" dirty="0">
                <a:solidFill>
                  <a:schemeClr val="tx1"/>
                </a:solidFill>
                <a:effectLst/>
                <a:latin typeface="Arial" charset="0"/>
                <a:ea typeface="+mn-ea"/>
                <a:cs typeface="+mn-cs"/>
              </a:rPr>
              <a:t>; Sweep, Shine, Scrub, Clean and Check</a:t>
            </a:r>
          </a:p>
          <a:p>
            <a:pPr fontAlgn="base"/>
            <a:r>
              <a:rPr lang="en-US" sz="1200" b="0" i="0" kern="1200" dirty="0">
                <a:solidFill>
                  <a:schemeClr val="tx1"/>
                </a:solidFill>
                <a:effectLst/>
                <a:latin typeface="Arial" charset="0"/>
                <a:ea typeface="+mn-ea"/>
                <a:cs typeface="+mn-cs"/>
              </a:rPr>
              <a:t>5S </a:t>
            </a:r>
            <a:r>
              <a:rPr lang="en-US" sz="1200" b="0" i="0" kern="1200" dirty="0" err="1">
                <a:solidFill>
                  <a:schemeClr val="tx1"/>
                </a:solidFill>
                <a:effectLst/>
                <a:latin typeface="Arial" charset="0"/>
                <a:ea typeface="+mn-ea"/>
                <a:cs typeface="+mn-cs"/>
              </a:rPr>
              <a:t>Seiketsu</a:t>
            </a:r>
            <a:r>
              <a:rPr lang="en-US" sz="1200" b="0" i="0" kern="1200" dirty="0">
                <a:solidFill>
                  <a:schemeClr val="tx1"/>
                </a:solidFill>
                <a:effectLst/>
                <a:latin typeface="Arial" charset="0"/>
                <a:ea typeface="+mn-ea"/>
                <a:cs typeface="+mn-cs"/>
              </a:rPr>
              <a:t>; Standardize, Stabilize, Conformity</a:t>
            </a:r>
          </a:p>
          <a:p>
            <a:pPr fontAlgn="base"/>
            <a:r>
              <a:rPr lang="en-US" sz="1200" b="0" i="0" kern="1200" dirty="0">
                <a:solidFill>
                  <a:schemeClr val="tx1"/>
                </a:solidFill>
                <a:effectLst/>
                <a:latin typeface="Arial" charset="0"/>
                <a:ea typeface="+mn-ea"/>
                <a:cs typeface="+mn-cs"/>
              </a:rPr>
              <a:t>5S </a:t>
            </a:r>
            <a:r>
              <a:rPr lang="en-US" sz="1200" b="0" i="0" kern="1200" dirty="0" err="1">
                <a:solidFill>
                  <a:schemeClr val="tx1"/>
                </a:solidFill>
                <a:effectLst/>
                <a:latin typeface="Arial" charset="0"/>
                <a:ea typeface="+mn-ea"/>
                <a:cs typeface="+mn-cs"/>
              </a:rPr>
              <a:t>Shitsuke</a:t>
            </a:r>
            <a:r>
              <a:rPr lang="en-US" sz="1200" b="0" i="0" kern="1200" dirty="0">
                <a:solidFill>
                  <a:schemeClr val="tx1"/>
                </a:solidFill>
                <a:effectLst/>
                <a:latin typeface="Arial" charset="0"/>
                <a:ea typeface="+mn-ea"/>
                <a:cs typeface="+mn-cs"/>
              </a:rPr>
              <a:t>; Sustain, Self Discipline, Standardization</a:t>
            </a:r>
          </a:p>
          <a:p>
            <a:pPr marL="228600" indent="-228600" eaLnBrk="1" hangingPunct="1"/>
            <a:endParaRPr lang="pl-PL" dirty="0"/>
          </a:p>
        </p:txBody>
      </p:sp>
    </p:spTree>
    <p:extLst>
      <p:ext uri="{BB962C8B-B14F-4D97-AF65-F5344CB8AC3E}">
        <p14:creationId xmlns:p14="http://schemas.microsoft.com/office/powerpoint/2010/main" val="464355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44</a:t>
            </a:fld>
            <a:endParaRPr lang="pl-PL"/>
          </a:p>
        </p:txBody>
      </p:sp>
    </p:spTree>
    <p:extLst>
      <p:ext uri="{BB962C8B-B14F-4D97-AF65-F5344CB8AC3E}">
        <p14:creationId xmlns:p14="http://schemas.microsoft.com/office/powerpoint/2010/main" val="153492644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45</a:t>
            </a:fld>
            <a:endParaRPr lang="pl-PL"/>
          </a:p>
        </p:txBody>
      </p:sp>
    </p:spTree>
    <p:extLst>
      <p:ext uri="{BB962C8B-B14F-4D97-AF65-F5344CB8AC3E}">
        <p14:creationId xmlns:p14="http://schemas.microsoft.com/office/powerpoint/2010/main" val="19867636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000" kern="1200" dirty="0">
                <a:solidFill>
                  <a:schemeClr val="tx1"/>
                </a:solidFill>
                <a:effectLst/>
                <a:latin typeface="Arial" charset="0"/>
                <a:ea typeface="+mn-ea"/>
                <a:cs typeface="+mn-cs"/>
              </a:rPr>
              <a:t>There were undertaken efforts to implement the Japanese management concepts, methods and instruments in subsidiaries of Japanese companies that were set up in Poland or in Polish companies that were accepted as suppliers or subcontractors for the Japanese partners. They included, e.g. the above mentioned tools from the “kaizen-umbrella” (such as </a:t>
            </a:r>
            <a:r>
              <a:rPr lang="en-US" sz="1000" i="1" kern="1200" dirty="0">
                <a:solidFill>
                  <a:schemeClr val="tx1"/>
                </a:solidFill>
                <a:effectLst/>
                <a:latin typeface="Arial" charset="0"/>
                <a:ea typeface="+mn-ea"/>
                <a:cs typeface="+mn-cs"/>
              </a:rPr>
              <a:t>kaizen</a:t>
            </a:r>
            <a:r>
              <a:rPr lang="en-US" sz="1000" kern="1200" dirty="0">
                <a:solidFill>
                  <a:schemeClr val="tx1"/>
                </a:solidFill>
                <a:effectLst/>
                <a:latin typeface="Arial" charset="0"/>
                <a:ea typeface="+mn-ea"/>
                <a:cs typeface="+mn-cs"/>
              </a:rPr>
              <a:t>, </a:t>
            </a:r>
            <a:r>
              <a:rPr lang="en-US" sz="1000" i="1" kern="1200" dirty="0" err="1">
                <a:solidFill>
                  <a:schemeClr val="tx1"/>
                </a:solidFill>
                <a:effectLst/>
                <a:latin typeface="Arial" charset="0"/>
                <a:ea typeface="+mn-ea"/>
                <a:cs typeface="+mn-cs"/>
              </a:rPr>
              <a:t>kanban</a:t>
            </a:r>
            <a:r>
              <a:rPr lang="en-US" sz="1000" kern="1200" dirty="0">
                <a:solidFill>
                  <a:schemeClr val="tx1"/>
                </a:solidFill>
                <a:effectLst/>
                <a:latin typeface="Arial" charset="0"/>
                <a:ea typeface="+mn-ea"/>
                <a:cs typeface="+mn-cs"/>
              </a:rPr>
              <a:t> or </a:t>
            </a:r>
            <a:r>
              <a:rPr lang="en-US" sz="1000" i="1" kern="1200" dirty="0">
                <a:solidFill>
                  <a:schemeClr val="tx1"/>
                </a:solidFill>
                <a:effectLst/>
                <a:latin typeface="Arial" charset="0"/>
                <a:ea typeface="+mn-ea"/>
                <a:cs typeface="+mn-cs"/>
              </a:rPr>
              <a:t>quality circles</a:t>
            </a:r>
            <a:r>
              <a:rPr lang="en-US" sz="1000" kern="1200" dirty="0">
                <a:solidFill>
                  <a:schemeClr val="tx1"/>
                </a:solidFill>
                <a:effectLst/>
                <a:latin typeface="Arial" charset="0"/>
                <a:ea typeface="+mn-ea"/>
                <a:cs typeface="+mn-cs"/>
              </a:rPr>
              <a:t>) as well as some others, e.g. </a:t>
            </a:r>
            <a:r>
              <a:rPr lang="en-US" sz="1000" i="1" kern="1200" dirty="0" err="1">
                <a:solidFill>
                  <a:schemeClr val="tx1"/>
                </a:solidFill>
                <a:effectLst/>
                <a:latin typeface="Arial" charset="0"/>
                <a:ea typeface="+mn-ea"/>
                <a:cs typeface="+mn-cs"/>
              </a:rPr>
              <a:t>hoshin</a:t>
            </a:r>
            <a:r>
              <a:rPr lang="en-US" sz="1000" i="1" kern="1200" dirty="0">
                <a:solidFill>
                  <a:schemeClr val="tx1"/>
                </a:solidFill>
                <a:effectLst/>
                <a:latin typeface="Arial" charset="0"/>
                <a:ea typeface="+mn-ea"/>
                <a:cs typeface="+mn-cs"/>
              </a:rPr>
              <a:t> </a:t>
            </a:r>
            <a:r>
              <a:rPr lang="en-US" sz="1000" i="1" kern="1200" dirty="0" err="1">
                <a:solidFill>
                  <a:schemeClr val="tx1"/>
                </a:solidFill>
                <a:effectLst/>
                <a:latin typeface="Arial" charset="0"/>
                <a:ea typeface="+mn-ea"/>
                <a:cs typeface="+mn-cs"/>
              </a:rPr>
              <a:t>kanri</a:t>
            </a:r>
            <a:r>
              <a:rPr lang="en-US" sz="1000" kern="1200" dirty="0">
                <a:solidFill>
                  <a:schemeClr val="tx1"/>
                </a:solidFill>
                <a:effectLst/>
                <a:latin typeface="Arial" charset="0"/>
                <a:ea typeface="+mn-ea"/>
                <a:cs typeface="+mn-cs"/>
              </a:rPr>
              <a:t>, a Japanese strategic management method which involves all the company members and processes (</a:t>
            </a:r>
            <a:r>
              <a:rPr lang="en-US" sz="1000" kern="1200" dirty="0" err="1">
                <a:solidFill>
                  <a:schemeClr val="tx1"/>
                </a:solidFill>
                <a:effectLst/>
                <a:latin typeface="Arial" charset="0"/>
                <a:ea typeface="+mn-ea"/>
                <a:cs typeface="+mn-cs"/>
              </a:rPr>
              <a:t>Ćwiklicki</a:t>
            </a:r>
            <a:r>
              <a:rPr lang="en-US" sz="1000" kern="1200" dirty="0">
                <a:solidFill>
                  <a:schemeClr val="tx1"/>
                </a:solidFill>
                <a:effectLst/>
                <a:latin typeface="Arial" charset="0"/>
                <a:ea typeface="+mn-ea"/>
                <a:cs typeface="+mn-cs"/>
              </a:rPr>
              <a:t>, </a:t>
            </a:r>
            <a:r>
              <a:rPr lang="en-US" sz="1000" kern="1200" dirty="0" err="1">
                <a:solidFill>
                  <a:schemeClr val="tx1"/>
                </a:solidFill>
                <a:effectLst/>
                <a:latin typeface="Arial" charset="0"/>
                <a:ea typeface="+mn-ea"/>
                <a:cs typeface="+mn-cs"/>
              </a:rPr>
              <a:t>Obora</a:t>
            </a:r>
            <a:r>
              <a:rPr lang="en-US" sz="1000" kern="1200" dirty="0">
                <a:solidFill>
                  <a:schemeClr val="tx1"/>
                </a:solidFill>
                <a:effectLst/>
                <a:latin typeface="Arial" charset="0"/>
                <a:ea typeface="+mn-ea"/>
                <a:cs typeface="+mn-cs"/>
              </a:rPr>
              <a:t>, 2011). </a:t>
            </a:r>
            <a:endParaRPr lang="pl-PL" sz="1000" kern="1200" dirty="0">
              <a:solidFill>
                <a:schemeClr val="tx1"/>
              </a:solidFill>
              <a:effectLst/>
              <a:latin typeface="Arial" charset="0"/>
              <a:ea typeface="+mn-ea"/>
              <a:cs typeface="+mn-cs"/>
            </a:endParaRPr>
          </a:p>
          <a:p>
            <a:pPr algn="just"/>
            <a:r>
              <a:rPr lang="en-US" sz="1000" kern="1200" dirty="0">
                <a:solidFill>
                  <a:schemeClr val="tx1"/>
                </a:solidFill>
                <a:effectLst/>
                <a:latin typeface="Arial" charset="0"/>
                <a:ea typeface="+mn-ea"/>
                <a:cs typeface="+mn-cs"/>
              </a:rPr>
              <a:t>As one might expect, the introduction of Japanese working culture and methods, shaped by a Far-Eastern, Confucian society in Polish subsidiaries evoked some difficulties. For example, according to studies conducted by </a:t>
            </a:r>
            <a:r>
              <a:rPr lang="en-US" sz="1000" kern="1200" dirty="0" err="1">
                <a:solidFill>
                  <a:schemeClr val="tx1"/>
                </a:solidFill>
                <a:effectLst/>
                <a:latin typeface="Arial" charset="0"/>
                <a:ea typeface="+mn-ea"/>
                <a:cs typeface="+mn-cs"/>
              </a:rPr>
              <a:t>Dr</a:t>
            </a:r>
            <a:r>
              <a:rPr lang="en-US" sz="1000" kern="1200" dirty="0">
                <a:solidFill>
                  <a:schemeClr val="tx1"/>
                </a:solidFill>
                <a:effectLst/>
                <a:latin typeface="Arial" charset="0"/>
                <a:ea typeface="+mn-ea"/>
                <a:cs typeface="+mn-cs"/>
              </a:rPr>
              <a:t> </a:t>
            </a:r>
            <a:r>
              <a:rPr lang="en-US" sz="1000" kern="1200" dirty="0" err="1">
                <a:solidFill>
                  <a:schemeClr val="tx1"/>
                </a:solidFill>
                <a:effectLst/>
                <a:latin typeface="Arial" charset="0"/>
                <a:ea typeface="+mn-ea"/>
                <a:cs typeface="+mn-cs"/>
              </a:rPr>
              <a:t>Marek</a:t>
            </a:r>
            <a:r>
              <a:rPr lang="en-US" sz="1000" kern="1200" dirty="0">
                <a:solidFill>
                  <a:schemeClr val="tx1"/>
                </a:solidFill>
                <a:effectLst/>
                <a:latin typeface="Arial" charset="0"/>
                <a:ea typeface="+mn-ea"/>
                <a:cs typeface="+mn-cs"/>
              </a:rPr>
              <a:t> </a:t>
            </a:r>
            <a:r>
              <a:rPr lang="en-US" sz="1000" kern="1200" dirty="0" err="1">
                <a:solidFill>
                  <a:schemeClr val="tx1"/>
                </a:solidFill>
                <a:effectLst/>
                <a:latin typeface="Arial" charset="0"/>
                <a:ea typeface="+mn-ea"/>
                <a:cs typeface="+mn-cs"/>
              </a:rPr>
              <a:t>Krasiński</a:t>
            </a:r>
            <a:r>
              <a:rPr lang="en-US" sz="1000" kern="1200" dirty="0">
                <a:solidFill>
                  <a:schemeClr val="tx1"/>
                </a:solidFill>
                <a:effectLst/>
                <a:latin typeface="Arial" charset="0"/>
                <a:ea typeface="+mn-ea"/>
                <a:cs typeface="+mn-cs"/>
              </a:rPr>
              <a:t> from Wroclaw University of Economics (</a:t>
            </a:r>
            <a:r>
              <a:rPr lang="en-US" sz="1000" kern="1200" dirty="0" err="1">
                <a:solidFill>
                  <a:schemeClr val="tx1"/>
                </a:solidFill>
                <a:effectLst/>
                <a:latin typeface="Arial" charset="0"/>
                <a:ea typeface="+mn-ea"/>
                <a:cs typeface="+mn-cs"/>
              </a:rPr>
              <a:t>Krasiński</a:t>
            </a:r>
            <a:r>
              <a:rPr lang="en-US" sz="1000" kern="1200" dirty="0">
                <a:solidFill>
                  <a:schemeClr val="tx1"/>
                </a:solidFill>
                <a:effectLst/>
                <a:latin typeface="Arial" charset="0"/>
                <a:ea typeface="+mn-ea"/>
                <a:cs typeface="+mn-cs"/>
              </a:rPr>
              <a:t>, 2014) there were observed a number of cultural differences that had a significant impact on the quality of work and working relations of Polish workers and their Japanese superiors. It is worth mentioning here that, as one might expect, the introduction of Japanese working culture in companies operating abroad is a challenge not only in Poland. A Japanese scientist, Professor </a:t>
            </a:r>
            <a:r>
              <a:rPr lang="en-US" sz="1000" kern="1200" dirty="0" err="1">
                <a:solidFill>
                  <a:schemeClr val="tx1"/>
                </a:solidFill>
                <a:effectLst/>
                <a:latin typeface="Arial" charset="0"/>
                <a:ea typeface="+mn-ea"/>
                <a:cs typeface="+mn-cs"/>
              </a:rPr>
              <a:t>Katsuo</a:t>
            </a:r>
            <a:r>
              <a:rPr lang="en-US" sz="1000" kern="1200" dirty="0">
                <a:solidFill>
                  <a:schemeClr val="tx1"/>
                </a:solidFill>
                <a:effectLst/>
                <a:latin typeface="Arial" charset="0"/>
                <a:ea typeface="+mn-ea"/>
                <a:cs typeface="+mn-cs"/>
              </a:rPr>
              <a:t> Yamazaki made research in 114 foreign firm, located in 25 countries (e.g. Russia, Malaysia, Argentina, Vietnam, USA, Hungary and Sweden), operating in 13 industries (ranging from automotive components, transportation machines, electronic components to oil and gas, chemical and rubber products). He made an attempt to examine factors that determine the success or failure in overseas Japanese subsidiaries. He studied, among others, the adoption of an instrument that can be considered as </a:t>
            </a:r>
            <a:r>
              <a:rPr lang="en-US" sz="1000" i="1" kern="1200" dirty="0">
                <a:solidFill>
                  <a:schemeClr val="tx1"/>
                </a:solidFill>
                <a:effectLst/>
                <a:latin typeface="Arial" charset="0"/>
                <a:ea typeface="+mn-ea"/>
                <a:cs typeface="+mn-cs"/>
              </a:rPr>
              <a:t>kaizen</a:t>
            </a:r>
            <a:r>
              <a:rPr lang="en-US" sz="1000" kern="1200" dirty="0">
                <a:solidFill>
                  <a:schemeClr val="tx1"/>
                </a:solidFill>
                <a:effectLst/>
                <a:latin typeface="Arial" charset="0"/>
                <a:ea typeface="+mn-ea"/>
                <a:cs typeface="+mn-cs"/>
              </a:rPr>
              <a:t> - 5S (a workplace organization method which uses five Japanese words: </a:t>
            </a:r>
            <a:r>
              <a:rPr lang="en-US" sz="1000" i="1" kern="1200" dirty="0" err="1">
                <a:solidFill>
                  <a:schemeClr val="tx1"/>
                </a:solidFill>
                <a:effectLst/>
                <a:latin typeface="Arial" charset="0"/>
                <a:ea typeface="+mn-ea"/>
                <a:cs typeface="+mn-cs"/>
              </a:rPr>
              <a:t>Seiri</a:t>
            </a:r>
            <a:r>
              <a:rPr lang="en-US" sz="1000" kern="1200" dirty="0">
                <a:solidFill>
                  <a:schemeClr val="tx1"/>
                </a:solidFill>
                <a:effectLst/>
                <a:latin typeface="Arial" charset="0"/>
                <a:ea typeface="+mn-ea"/>
                <a:cs typeface="+mn-cs"/>
              </a:rPr>
              <a:t>, </a:t>
            </a:r>
            <a:r>
              <a:rPr lang="en-US" sz="1000" i="1" kern="1200" dirty="0" err="1">
                <a:solidFill>
                  <a:schemeClr val="tx1"/>
                </a:solidFill>
                <a:effectLst/>
                <a:latin typeface="Arial" charset="0"/>
                <a:ea typeface="+mn-ea"/>
                <a:cs typeface="+mn-cs"/>
              </a:rPr>
              <a:t>Seiton</a:t>
            </a:r>
            <a:r>
              <a:rPr lang="en-US" sz="1000" kern="1200" dirty="0">
                <a:solidFill>
                  <a:schemeClr val="tx1"/>
                </a:solidFill>
                <a:effectLst/>
                <a:latin typeface="Arial" charset="0"/>
                <a:ea typeface="+mn-ea"/>
                <a:cs typeface="+mn-cs"/>
              </a:rPr>
              <a:t>, </a:t>
            </a:r>
            <a:r>
              <a:rPr lang="en-US" sz="1000" i="1" kern="1200" dirty="0" err="1">
                <a:solidFill>
                  <a:schemeClr val="tx1"/>
                </a:solidFill>
                <a:effectLst/>
                <a:latin typeface="Arial" charset="0"/>
                <a:ea typeface="+mn-ea"/>
                <a:cs typeface="+mn-cs"/>
              </a:rPr>
              <a:t>Seiketsu</a:t>
            </a:r>
            <a:r>
              <a:rPr lang="en-US" sz="1000" kern="1200" dirty="0">
                <a:solidFill>
                  <a:schemeClr val="tx1"/>
                </a:solidFill>
                <a:effectLst/>
                <a:latin typeface="Arial" charset="0"/>
                <a:ea typeface="+mn-ea"/>
                <a:cs typeface="+mn-cs"/>
              </a:rPr>
              <a:t>, </a:t>
            </a:r>
            <a:r>
              <a:rPr lang="en-US" sz="1000" i="1" kern="1200" dirty="0" err="1">
                <a:solidFill>
                  <a:schemeClr val="tx1"/>
                </a:solidFill>
                <a:effectLst/>
                <a:latin typeface="Arial" charset="0"/>
                <a:ea typeface="+mn-ea"/>
                <a:cs typeface="+mn-cs"/>
              </a:rPr>
              <a:t>Seiso</a:t>
            </a:r>
            <a:r>
              <a:rPr lang="en-US" sz="1000" kern="1200" dirty="0">
                <a:solidFill>
                  <a:schemeClr val="tx1"/>
                </a:solidFill>
                <a:effectLst/>
                <a:latin typeface="Arial" charset="0"/>
                <a:ea typeface="+mn-ea"/>
                <a:cs typeface="+mn-cs"/>
              </a:rPr>
              <a:t> and </a:t>
            </a:r>
            <a:r>
              <a:rPr lang="en-US" sz="1000" i="1" kern="1200" dirty="0" err="1">
                <a:solidFill>
                  <a:schemeClr val="tx1"/>
                </a:solidFill>
                <a:effectLst/>
                <a:latin typeface="Arial" charset="0"/>
                <a:ea typeface="+mn-ea"/>
                <a:cs typeface="+mn-cs"/>
              </a:rPr>
              <a:t>Shitsuke</a:t>
            </a:r>
            <a:r>
              <a:rPr lang="en-US" sz="1000" kern="1200" dirty="0">
                <a:solidFill>
                  <a:schemeClr val="tx1"/>
                </a:solidFill>
                <a:effectLst/>
                <a:latin typeface="Arial" charset="0"/>
                <a:ea typeface="+mn-ea"/>
                <a:cs typeface="+mn-cs"/>
              </a:rPr>
              <a:t>, which can be translated in English as: arrangement, order, cleanliness, cleanup and discipline). Yamazaki noticed that “It is by no means an easy task to spread values deeply rooted in Japanese culture in foreigners’ behavior. This is especially true in Europe and the USA, where the division of labor is advanced and </a:t>
            </a:r>
            <a:r>
              <a:rPr lang="en-US" sz="1000" i="1" kern="1200" dirty="0" err="1">
                <a:solidFill>
                  <a:schemeClr val="tx1"/>
                </a:solidFill>
                <a:effectLst/>
                <a:latin typeface="Arial" charset="0"/>
                <a:ea typeface="+mn-ea"/>
                <a:cs typeface="+mn-cs"/>
              </a:rPr>
              <a:t>Seiso</a:t>
            </a:r>
            <a:r>
              <a:rPr lang="en-US" sz="1000" kern="1200" dirty="0">
                <a:solidFill>
                  <a:schemeClr val="tx1"/>
                </a:solidFill>
                <a:effectLst/>
                <a:latin typeface="Arial" charset="0"/>
                <a:ea typeface="+mn-ea"/>
                <a:cs typeface="+mn-cs"/>
              </a:rPr>
              <a:t>, or</a:t>
            </a:r>
            <a:r>
              <a:rPr lang="en-US" sz="1000" i="1" kern="1200" dirty="0">
                <a:solidFill>
                  <a:schemeClr val="tx1"/>
                </a:solidFill>
                <a:effectLst/>
                <a:latin typeface="Arial" charset="0"/>
                <a:ea typeface="+mn-ea"/>
                <a:cs typeface="+mn-cs"/>
              </a:rPr>
              <a:t> </a:t>
            </a:r>
            <a:r>
              <a:rPr lang="en-US" sz="1000" kern="1200" dirty="0">
                <a:solidFill>
                  <a:schemeClr val="tx1"/>
                </a:solidFill>
                <a:effectLst/>
                <a:latin typeface="Arial" charset="0"/>
                <a:ea typeface="+mn-ea"/>
                <a:cs typeface="+mn-cs"/>
              </a:rPr>
              <a:t>cleanup, is taken as a job of those who are professionally employed to do such work. It is believed to have nothing to do with site operators.” (Yamazaki, 2012, pp. 173, 174). Another example of a problematic issue can be the Japanese time-consuming group decision-making process. An international management expert, Tim Keeley, who studied the practices of human resource management in a number of Japanese subsidiaries, observed that, as far as decision- making was concerned “the two main issues were frustration in relation to how long it takes to make some decisions and the lack of individual decision making authority” (Keeley, 2001, p. 204).</a:t>
            </a:r>
            <a:endParaRPr lang="pl-PL" sz="1000" kern="1200" dirty="0">
              <a:solidFill>
                <a:schemeClr val="tx1"/>
              </a:solidFill>
              <a:effectLst/>
              <a:latin typeface="Arial" charset="0"/>
              <a:ea typeface="+mn-ea"/>
              <a:cs typeface="+mn-cs"/>
            </a:endParaRPr>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46</a:t>
            </a:fld>
            <a:endParaRPr lang="pl-PL" dirty="0"/>
          </a:p>
        </p:txBody>
      </p:sp>
    </p:spTree>
    <p:extLst>
      <p:ext uri="{BB962C8B-B14F-4D97-AF65-F5344CB8AC3E}">
        <p14:creationId xmlns:p14="http://schemas.microsoft.com/office/powerpoint/2010/main" val="88154642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algn="just"/>
            <a:r>
              <a:rPr lang="en-US" sz="1000" kern="1200" dirty="0">
                <a:solidFill>
                  <a:schemeClr val="tx1"/>
                </a:solidFill>
                <a:effectLst/>
              </a:rPr>
              <a:t>Studies conducted in a number of companies operating in Poland that either are subsidiaries or subcontractors of Japanese organizations let their author to formulate the following conclusion: Japanese management concepts, methods and instruments are implemented in Polish companies, but in forms adapted to Polish cultural conditions. For example one can organize Quality Circles in Polish companies, but, unlike in Japan, workers will expect extra payment for participation in meetings of the Circles. They do not treat work in Quality Circles or coming up with suggestions of improvements as their duty, either. Polish workers also prefer a payment system related to the real results of their work to a system based on the seniority rule (</a:t>
            </a:r>
            <a:r>
              <a:rPr lang="en-US" sz="1000" kern="1200" dirty="0" err="1">
                <a:solidFill>
                  <a:schemeClr val="tx1"/>
                </a:solidFill>
                <a:effectLst/>
              </a:rPr>
              <a:t>Krasiński</a:t>
            </a:r>
            <a:r>
              <a:rPr lang="en-US" sz="1000" kern="1200" dirty="0">
                <a:solidFill>
                  <a:schemeClr val="tx1"/>
                </a:solidFill>
                <a:effectLst/>
              </a:rPr>
              <a:t>, 2014, p. 130).</a:t>
            </a:r>
            <a:endParaRPr lang="pl-PL" sz="1000" kern="1200" dirty="0">
              <a:solidFill>
                <a:schemeClr val="tx1"/>
              </a:solidFill>
              <a:effectLst/>
            </a:endParaRPr>
          </a:p>
          <a:p>
            <a:pPr algn="just"/>
            <a:r>
              <a:rPr lang="en-US" sz="1000" dirty="0"/>
              <a:t>One should remember, however, that – as in the case of all stereotypes – values and attitudes generally attributed to the Japanese do not necessarily characterize the whole nation and country. Japan is not a monolith and is also undergoing changes. As </a:t>
            </a:r>
            <a:r>
              <a:rPr lang="en-US" sz="1000" dirty="0" err="1"/>
              <a:t>Karpoluk</a:t>
            </a:r>
            <a:r>
              <a:rPr lang="en-US" sz="1000" dirty="0"/>
              <a:t> (2012, pp. 76-77) notices, the picture of a crowd of commuters in dark suits, flowing out of the subway and disappearing into the skyscrapers is typical of a few big cities only. Many young people dream of careers in the arts. The majority of workers are employed on part-time, not full-time basis (a large number of young people look for the so-called </a:t>
            </a:r>
            <a:r>
              <a:rPr lang="en-US" sz="1000" i="1" dirty="0" err="1"/>
              <a:t>baito</a:t>
            </a:r>
            <a:r>
              <a:rPr lang="en-US" sz="1000" dirty="0"/>
              <a:t> – temporary, though quite well-paid jobs), and it seems that the guarantees of lifelong employment are a thing of the past. </a:t>
            </a:r>
            <a:endParaRPr lang="pl-PL" sz="1000" dirty="0"/>
          </a:p>
          <a:p>
            <a:r>
              <a:rPr lang="pl-PL" sz="800" kern="1200" dirty="0" err="1">
                <a:solidFill>
                  <a:schemeClr val="tx1"/>
                </a:solidFill>
                <a:effectLst/>
                <a:latin typeface="Arial" charset="0"/>
                <a:ea typeface="+mn-ea"/>
                <a:cs typeface="+mn-cs"/>
              </a:rPr>
              <a:t>Karpoluk</a:t>
            </a:r>
            <a:r>
              <a:rPr lang="pl-PL" sz="800" kern="1200" dirty="0">
                <a:solidFill>
                  <a:schemeClr val="tx1"/>
                </a:solidFill>
                <a:effectLst/>
                <a:latin typeface="Arial" charset="0"/>
                <a:ea typeface="+mn-ea"/>
                <a:cs typeface="+mn-cs"/>
              </a:rPr>
              <a:t> J. (2012), </a:t>
            </a:r>
            <a:r>
              <a:rPr lang="pl-PL" sz="800" i="1" kern="1200" dirty="0">
                <a:solidFill>
                  <a:schemeClr val="tx1"/>
                </a:solidFill>
                <a:effectLst/>
                <a:latin typeface="Arial" charset="0"/>
                <a:ea typeface="+mn-ea"/>
                <a:cs typeface="+mn-cs"/>
              </a:rPr>
              <a:t>Kłopoty z Japonią</a:t>
            </a:r>
            <a:r>
              <a:rPr lang="pl-PL" sz="800" kern="1200" dirty="0">
                <a:solidFill>
                  <a:schemeClr val="tx1"/>
                </a:solidFill>
                <a:effectLst/>
                <a:latin typeface="Arial" charset="0"/>
                <a:ea typeface="+mn-ea"/>
                <a:cs typeface="+mn-cs"/>
              </a:rPr>
              <a:t>, „Dialog”, no. 2, January, pp.75-86</a:t>
            </a:r>
          </a:p>
          <a:p>
            <a:r>
              <a:rPr lang="en-US" sz="800" kern="1200" dirty="0">
                <a:solidFill>
                  <a:schemeClr val="tx1"/>
                </a:solidFill>
                <a:effectLst/>
                <a:latin typeface="Arial" charset="0"/>
                <a:ea typeface="+mn-ea"/>
                <a:cs typeface="+mn-cs"/>
              </a:rPr>
              <a:t>Keeley T. (2001), </a:t>
            </a:r>
            <a:r>
              <a:rPr lang="en-US" sz="800" i="1" kern="1200" dirty="0">
                <a:solidFill>
                  <a:schemeClr val="tx1"/>
                </a:solidFill>
                <a:effectLst/>
                <a:latin typeface="Arial" charset="0"/>
                <a:ea typeface="+mn-ea"/>
                <a:cs typeface="+mn-cs"/>
              </a:rPr>
              <a:t>International Human Resource Management in Japanese Firms. </a:t>
            </a:r>
            <a:r>
              <a:rPr lang="pl-PL" sz="800" i="1" kern="1200" dirty="0" err="1">
                <a:solidFill>
                  <a:schemeClr val="tx1"/>
                </a:solidFill>
                <a:effectLst/>
                <a:latin typeface="Arial" charset="0"/>
                <a:ea typeface="+mn-ea"/>
                <a:cs typeface="+mn-cs"/>
              </a:rPr>
              <a:t>Their</a:t>
            </a:r>
            <a:r>
              <a:rPr lang="pl-PL" sz="800" i="1" kern="1200" dirty="0">
                <a:solidFill>
                  <a:schemeClr val="tx1"/>
                </a:solidFill>
                <a:effectLst/>
                <a:latin typeface="Arial" charset="0"/>
                <a:ea typeface="+mn-ea"/>
                <a:cs typeface="+mn-cs"/>
              </a:rPr>
              <a:t> </a:t>
            </a:r>
            <a:r>
              <a:rPr lang="pl-PL" sz="800" i="1" kern="1200" dirty="0" err="1">
                <a:solidFill>
                  <a:schemeClr val="tx1"/>
                </a:solidFill>
                <a:effectLst/>
                <a:latin typeface="Arial" charset="0"/>
                <a:ea typeface="+mn-ea"/>
                <a:cs typeface="+mn-cs"/>
              </a:rPr>
              <a:t>Greatest</a:t>
            </a:r>
            <a:r>
              <a:rPr lang="pl-PL" sz="800" i="1" kern="1200" dirty="0">
                <a:solidFill>
                  <a:schemeClr val="tx1"/>
                </a:solidFill>
                <a:effectLst/>
                <a:latin typeface="Arial" charset="0"/>
                <a:ea typeface="+mn-ea"/>
                <a:cs typeface="+mn-cs"/>
              </a:rPr>
              <a:t> Challenge</a:t>
            </a:r>
            <a:r>
              <a:rPr lang="pl-PL" sz="800" b="1" kern="1200" dirty="0">
                <a:solidFill>
                  <a:schemeClr val="tx1"/>
                </a:solidFill>
                <a:effectLst/>
                <a:latin typeface="Arial" charset="0"/>
                <a:ea typeface="+mn-ea"/>
                <a:cs typeface="+mn-cs"/>
              </a:rPr>
              <a:t>, </a:t>
            </a:r>
            <a:r>
              <a:rPr lang="pl-PL" sz="800" kern="1200" dirty="0" err="1">
                <a:solidFill>
                  <a:schemeClr val="tx1"/>
                </a:solidFill>
                <a:effectLst/>
                <a:latin typeface="Arial" charset="0"/>
                <a:ea typeface="+mn-ea"/>
                <a:cs typeface="+mn-cs"/>
              </a:rPr>
              <a:t>Palgrave</a:t>
            </a:r>
            <a:r>
              <a:rPr lang="pl-PL" sz="800" kern="1200" dirty="0">
                <a:solidFill>
                  <a:schemeClr val="tx1"/>
                </a:solidFill>
                <a:effectLst/>
                <a:latin typeface="Arial" charset="0"/>
                <a:ea typeface="+mn-ea"/>
                <a:cs typeface="+mn-cs"/>
              </a:rPr>
              <a:t> Macmillan</a:t>
            </a:r>
          </a:p>
          <a:p>
            <a:r>
              <a:rPr lang="pl-PL" sz="800" kern="1200" dirty="0">
                <a:solidFill>
                  <a:schemeClr val="tx1"/>
                </a:solidFill>
                <a:effectLst/>
                <a:latin typeface="Arial" charset="0"/>
                <a:ea typeface="+mn-ea"/>
                <a:cs typeface="+mn-cs"/>
              </a:rPr>
              <a:t>Kisielnicki J. (2008), </a:t>
            </a:r>
            <a:r>
              <a:rPr lang="pl-PL" sz="800" i="1" kern="1200" dirty="0">
                <a:solidFill>
                  <a:schemeClr val="tx1"/>
                </a:solidFill>
                <a:effectLst/>
                <a:latin typeface="Arial" charset="0"/>
                <a:ea typeface="+mn-ea"/>
                <a:cs typeface="+mn-cs"/>
              </a:rPr>
              <a:t>Zarządzanie. Jak zarządzać i być zarządzanym</a:t>
            </a:r>
            <a:r>
              <a:rPr lang="pl-PL" sz="800" kern="1200" dirty="0">
                <a:solidFill>
                  <a:schemeClr val="tx1"/>
                </a:solidFill>
                <a:effectLst/>
                <a:latin typeface="Arial" charset="0"/>
                <a:ea typeface="+mn-ea"/>
                <a:cs typeface="+mn-cs"/>
              </a:rPr>
              <a:t>, PWE, </a:t>
            </a:r>
            <a:r>
              <a:rPr lang="pl-PL" sz="800" kern="1200" dirty="0" err="1">
                <a:solidFill>
                  <a:schemeClr val="tx1"/>
                </a:solidFill>
                <a:effectLst/>
                <a:latin typeface="Arial" charset="0"/>
                <a:ea typeface="+mn-ea"/>
                <a:cs typeface="+mn-cs"/>
              </a:rPr>
              <a:t>Warsaw</a:t>
            </a:r>
            <a:r>
              <a:rPr lang="pl-PL" sz="800" kern="1200" dirty="0">
                <a:solidFill>
                  <a:schemeClr val="tx1"/>
                </a:solidFill>
                <a:effectLst/>
                <a:latin typeface="Arial" charset="0"/>
                <a:ea typeface="+mn-ea"/>
                <a:cs typeface="+mn-cs"/>
              </a:rPr>
              <a:t> </a:t>
            </a:r>
          </a:p>
          <a:p>
            <a:r>
              <a:rPr lang="pl-PL" sz="800" kern="1200" dirty="0">
                <a:solidFill>
                  <a:schemeClr val="tx1"/>
                </a:solidFill>
                <a:effectLst/>
                <a:latin typeface="Arial" charset="0"/>
                <a:ea typeface="+mn-ea"/>
                <a:cs typeface="+mn-cs"/>
              </a:rPr>
              <a:t>Krasiński M.(2014), </a:t>
            </a:r>
            <a:r>
              <a:rPr lang="pl-PL" sz="800" i="1" kern="1200" dirty="0">
                <a:solidFill>
                  <a:schemeClr val="tx1"/>
                </a:solidFill>
                <a:effectLst/>
                <a:latin typeface="Arial" charset="0"/>
                <a:ea typeface="+mn-ea"/>
                <a:cs typeface="+mn-cs"/>
              </a:rPr>
              <a:t>Kulturowe uwarunkowania wykorzystania japońskich koncepcji, metod i technik zarządzania</a:t>
            </a:r>
            <a:r>
              <a:rPr lang="pl-PL" sz="800" kern="1200" dirty="0">
                <a:solidFill>
                  <a:schemeClr val="tx1"/>
                </a:solidFill>
                <a:effectLst/>
                <a:latin typeface="Arial" charset="0"/>
                <a:ea typeface="+mn-ea"/>
                <a:cs typeface="+mn-cs"/>
              </a:rPr>
              <a:t>, Wydawnictwo Uniwersytetu Ekonomicznego we Wrocławiu, Wrocław</a:t>
            </a:r>
          </a:p>
          <a:p>
            <a:endParaRPr lang="pl-PL" dirty="0"/>
          </a:p>
          <a:p>
            <a:endParaRPr lang="pl-PL" dirty="0"/>
          </a:p>
        </p:txBody>
      </p:sp>
      <p:sp>
        <p:nvSpPr>
          <p:cNvPr id="4" name="Symbol zastępczy numeru slajdu 3"/>
          <p:cNvSpPr>
            <a:spLocks noGrp="1"/>
          </p:cNvSpPr>
          <p:nvPr>
            <p:ph type="sldNum" sz="quarter" idx="10"/>
          </p:nvPr>
        </p:nvSpPr>
        <p:spPr/>
        <p:txBody>
          <a:bodyPr/>
          <a:lstStyle/>
          <a:p>
            <a:pPr>
              <a:defRPr/>
            </a:pPr>
            <a:fld id="{7168F6DD-F70C-4803-A81F-A3ABCFA3F5E1}" type="slidenum">
              <a:rPr lang="pl-PL" smtClean="0"/>
              <a:pPr>
                <a:defRPr/>
              </a:pPr>
              <a:t>47</a:t>
            </a:fld>
            <a:endParaRPr lang="pl-PL"/>
          </a:p>
        </p:txBody>
      </p:sp>
    </p:spTree>
    <p:extLst>
      <p:ext uri="{BB962C8B-B14F-4D97-AF65-F5344CB8AC3E}">
        <p14:creationId xmlns:p14="http://schemas.microsoft.com/office/powerpoint/2010/main" val="29983555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E8A42744-0460-4C0D-9003-EF594AE39F29}" type="slidenum">
              <a:rPr lang="pl-PL"/>
              <a:pPr/>
              <a:t>48</a:t>
            </a:fld>
            <a:endParaRPr lang="pl-PL"/>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algn="just"/>
            <a:r>
              <a:rPr lang="en-US" sz="1200" b="0" i="0" kern="1200" dirty="0">
                <a:solidFill>
                  <a:schemeClr val="tx1"/>
                </a:solidFill>
                <a:effectLst/>
                <a:latin typeface="Arial" charset="0"/>
                <a:ea typeface="+mn-ea"/>
                <a:cs typeface="+mn-cs"/>
              </a:rPr>
              <a:t>The just-in-time (JIT) inventory system is a management strategy that minimizes inventory and increases efficiency.</a:t>
            </a:r>
          </a:p>
          <a:p>
            <a:pPr algn="just"/>
            <a:r>
              <a:rPr lang="en-US" sz="1200" b="0" i="0" kern="1200" dirty="0">
                <a:solidFill>
                  <a:schemeClr val="tx1"/>
                </a:solidFill>
                <a:effectLst/>
                <a:latin typeface="Arial" charset="0"/>
                <a:ea typeface="+mn-ea"/>
                <a:cs typeface="+mn-cs"/>
              </a:rPr>
              <a:t>Just-in-time (JIT) manufacturing is also known as the Toyota Production System (TPS) because the car manufacturer Toyota adopted the system in the 1970s.</a:t>
            </a:r>
          </a:p>
          <a:p>
            <a:pPr algn="just"/>
            <a:r>
              <a:rPr lang="en-US" sz="1200" b="0" i="0" kern="1200" dirty="0" err="1">
                <a:solidFill>
                  <a:schemeClr val="tx1"/>
                </a:solidFill>
                <a:effectLst/>
                <a:latin typeface="Arial" charset="0"/>
                <a:ea typeface="+mn-ea"/>
                <a:cs typeface="+mn-cs"/>
              </a:rPr>
              <a:t>Kanban</a:t>
            </a:r>
            <a:r>
              <a:rPr lang="en-US" sz="1200" b="0" i="0" kern="1200" dirty="0">
                <a:solidFill>
                  <a:schemeClr val="tx1"/>
                </a:solidFill>
                <a:effectLst/>
                <a:latin typeface="Arial" charset="0"/>
                <a:ea typeface="+mn-ea"/>
                <a:cs typeface="+mn-cs"/>
              </a:rPr>
              <a:t> is a scheduling system often used in conjunction with JIT to avoid overcapacity of work in process.</a:t>
            </a:r>
          </a:p>
          <a:p>
            <a:pPr algn="just"/>
            <a:r>
              <a:rPr lang="en-US" sz="1200" b="0" i="0" kern="1200" dirty="0">
                <a:solidFill>
                  <a:schemeClr val="tx1"/>
                </a:solidFill>
                <a:effectLst/>
                <a:latin typeface="Arial" charset="0"/>
                <a:ea typeface="+mn-ea"/>
                <a:cs typeface="+mn-cs"/>
              </a:rPr>
              <a:t>The success of the JIT production process relies on steady production, high-quality workmanship, no machine breakdowns, and reliable suppliers.</a:t>
            </a:r>
          </a:p>
          <a:p>
            <a:pPr eaLnBrk="1" hangingPunct="1"/>
            <a:endParaRPr lang="pl-PL" dirty="0"/>
          </a:p>
        </p:txBody>
      </p:sp>
    </p:spTree>
    <p:extLst>
      <p:ext uri="{BB962C8B-B14F-4D97-AF65-F5344CB8AC3E}">
        <p14:creationId xmlns:p14="http://schemas.microsoft.com/office/powerpoint/2010/main" val="402531755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p>
            <a:fld id="{9A0EF4A3-BDED-4F0C-8119-8C14E939B3F2}" type="slidenum">
              <a:rPr lang="pl-PL"/>
              <a:pPr/>
              <a:t>49</a:t>
            </a:fld>
            <a:endParaRPr lang="pl-PL"/>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algn="just"/>
            <a:r>
              <a:rPr lang="en-US" sz="1200" b="0" i="0" kern="1200" dirty="0">
                <a:solidFill>
                  <a:schemeClr val="tx1"/>
                </a:solidFill>
                <a:effectLst/>
                <a:latin typeface="Arial" charset="0"/>
                <a:ea typeface="+mn-ea"/>
                <a:cs typeface="+mn-cs"/>
              </a:rPr>
              <a:t>Six Sigma is a disciplined, statistical-based, data-driven approach and continuous improvement methodology for eliminating defects in a product, process or service. It was developed by Motorola in the early 1980’s based on quality management fundamentals, then became a popular management approach at General Electric (GE)  in the early 1990’s. Sigma represents the population standard deviation, which is a measure of the </a:t>
            </a:r>
            <a:r>
              <a:rPr lang="pl-PL" sz="1200" b="0" i="0" kern="1200" dirty="0" err="1">
                <a:solidFill>
                  <a:schemeClr val="tx1"/>
                </a:solidFill>
                <a:effectLst/>
                <a:latin typeface="Arial" charset="0"/>
                <a:ea typeface="+mn-ea"/>
                <a:cs typeface="+mn-cs"/>
              </a:rPr>
              <a:t>variation</a:t>
            </a:r>
            <a:r>
              <a:rPr lang="pl-PL" sz="1200" b="0" i="0" kern="1200" dirty="0">
                <a:solidFill>
                  <a:schemeClr val="tx1"/>
                </a:solidFill>
                <a:effectLst/>
                <a:latin typeface="Arial" charset="0"/>
                <a:ea typeface="+mn-ea"/>
                <a:cs typeface="+mn-cs"/>
              </a:rPr>
              <a:t> </a:t>
            </a:r>
            <a:r>
              <a:rPr lang="en-US" sz="1200" b="0" i="0" kern="1200" dirty="0">
                <a:solidFill>
                  <a:schemeClr val="tx1"/>
                </a:solidFill>
                <a:effectLst/>
                <a:latin typeface="Arial" charset="0"/>
                <a:ea typeface="+mn-ea"/>
                <a:cs typeface="+mn-cs"/>
              </a:rPr>
              <a:t>in a data set collected about the process. If a defect is defined by specification limits separating good from bad outcomes of a process, then a six sigma process has a process mean (average) that is six standard deviations from the nearest specification limit. This provides enough buffer between the process natural </a:t>
            </a:r>
            <a:r>
              <a:rPr lang="pl-PL" sz="1200" b="0" i="0" kern="1200" dirty="0" err="1">
                <a:solidFill>
                  <a:schemeClr val="tx1"/>
                </a:solidFill>
                <a:effectLst/>
                <a:latin typeface="Arial" charset="0"/>
                <a:ea typeface="+mn-ea"/>
                <a:cs typeface="+mn-cs"/>
              </a:rPr>
              <a:t>variation</a:t>
            </a:r>
            <a:r>
              <a:rPr lang="pl-PL" sz="1200" b="0" i="0" kern="1200" dirty="0">
                <a:solidFill>
                  <a:schemeClr val="tx1"/>
                </a:solidFill>
                <a:effectLst/>
                <a:latin typeface="Arial" charset="0"/>
                <a:ea typeface="+mn-ea"/>
                <a:cs typeface="+mn-cs"/>
              </a:rPr>
              <a:t> </a:t>
            </a:r>
            <a:r>
              <a:rPr lang="en-US" sz="1200" b="0" i="0" kern="1200" dirty="0">
                <a:solidFill>
                  <a:schemeClr val="tx1"/>
                </a:solidFill>
                <a:effectLst/>
                <a:latin typeface="Arial" charset="0"/>
                <a:ea typeface="+mn-ea"/>
                <a:cs typeface="+mn-cs"/>
              </a:rPr>
              <a:t>and the specification limits.</a:t>
            </a:r>
          </a:p>
          <a:p>
            <a:pPr algn="just"/>
            <a:r>
              <a:rPr lang="en-US" sz="1200" b="0" i="0" kern="1200" dirty="0">
                <a:solidFill>
                  <a:schemeClr val="tx1"/>
                </a:solidFill>
                <a:effectLst/>
                <a:latin typeface="Arial" charset="0"/>
                <a:ea typeface="+mn-ea"/>
                <a:cs typeface="+mn-cs"/>
              </a:rPr>
              <a:t>For example, if a product must have a thickness between 10.32 and 10.38 inches to meet customer requirements, then the process mean should be around 10.35, with a standard deviation less than 0.005 (10.38 would be 6 standard deviations away from 10.35), assuming a normal distribution.</a:t>
            </a:r>
          </a:p>
          <a:p>
            <a:pPr algn="just"/>
            <a:r>
              <a:rPr lang="en-US" sz="1200" b="0" i="0" kern="1200" dirty="0">
                <a:solidFill>
                  <a:schemeClr val="tx1"/>
                </a:solidFill>
                <a:effectLst/>
                <a:latin typeface="Arial" charset="0"/>
                <a:ea typeface="+mn-ea"/>
                <a:cs typeface="+mn-cs"/>
              </a:rPr>
              <a:t>Six Sigma can also be thought of as a measure of process performance, with Six Sigma being the goal, based on the defects per million. Once the current performance of the process is measured, the goal is to continually improve the sigma level striving towards 6 sigma. Even if the improvements do not reach 6 sigma, the improvements made from 3 sigma to 4 sigma to 5 sigma will still reduce costs and increase customer satisfaction.</a:t>
            </a:r>
          </a:p>
          <a:p>
            <a:pPr marL="228600" indent="-228600" algn="just" eaLnBrk="1" hangingPunct="1">
              <a:lnSpc>
                <a:spcPct val="90000"/>
              </a:lnSpc>
            </a:pPr>
            <a:endParaRPr lang="pl-PL" sz="900" dirty="0"/>
          </a:p>
        </p:txBody>
      </p:sp>
    </p:spTree>
    <p:extLst>
      <p:ext uri="{BB962C8B-B14F-4D97-AF65-F5344CB8AC3E}">
        <p14:creationId xmlns:p14="http://schemas.microsoft.com/office/powerpoint/2010/main" val="16159645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E7ECD9D5-D912-4C4B-BE3A-C90BD0A166A5}" type="slidenum">
              <a:rPr lang="pl-PL"/>
              <a:pPr/>
              <a:t>50</a:t>
            </a:fld>
            <a:endParaRPr lang="pl-PL"/>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r>
              <a:rPr lang="en-US" sz="1200" b="0" i="0" kern="1200" dirty="0">
                <a:solidFill>
                  <a:schemeClr val="tx1"/>
                </a:solidFill>
                <a:effectLst/>
                <a:latin typeface="Arial" charset="0"/>
                <a:ea typeface="+mn-ea"/>
                <a:cs typeface="+mn-cs"/>
              </a:rPr>
              <a:t>The martial arts belt structure is used to recognize proficiency in training and application in Six Sigma, using the following colors:</a:t>
            </a:r>
            <a:endParaRPr lang="pl-PL" dirty="0"/>
          </a:p>
        </p:txBody>
      </p:sp>
    </p:spTree>
    <p:extLst>
      <p:ext uri="{BB962C8B-B14F-4D97-AF65-F5344CB8AC3E}">
        <p14:creationId xmlns:p14="http://schemas.microsoft.com/office/powerpoint/2010/main" val="2352171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7873B8C5-6084-4CE6-AEAA-3101BD32712E}" type="slidenum">
              <a:rPr lang="pl-PL"/>
              <a:pPr/>
              <a:t>51</a:t>
            </a:fld>
            <a:endParaRPr lang="pl-PL"/>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21114521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0AD1EFB2-0DC3-4D61-8468-DDA1FC9F1E19}" type="slidenum">
              <a:rPr lang="pl-PL"/>
              <a:pPr/>
              <a:t>52</a:t>
            </a:fld>
            <a:endParaRPr lang="pl-PL"/>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r>
              <a:rPr lang="en-US" dirty="0"/>
              <a:t>In order to obtain a quality certificate, it is necessary to </a:t>
            </a:r>
            <a:r>
              <a:rPr lang="pl-PL" dirty="0" err="1"/>
              <a:t>prepare</a:t>
            </a:r>
            <a:r>
              <a:rPr lang="en-US" dirty="0"/>
              <a:t> many documents.</a:t>
            </a:r>
            <a:endParaRPr lang="pl-PL" dirty="0"/>
          </a:p>
        </p:txBody>
      </p:sp>
    </p:spTree>
    <p:extLst>
      <p:ext uri="{BB962C8B-B14F-4D97-AF65-F5344CB8AC3E}">
        <p14:creationId xmlns:p14="http://schemas.microsoft.com/office/powerpoint/2010/main" val="34451408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9127B2F0-5514-4F3E-B927-F543F6E86A5B}" type="slidenum">
              <a:rPr lang="pl-PL"/>
              <a:pPr/>
              <a:t>53</a:t>
            </a:fld>
            <a:endParaRPr lang="pl-PL"/>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29211828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5B2DFAA3-5C71-43C7-B99A-0D7C8A482E91}" type="slidenum">
              <a:rPr lang="pl-PL"/>
              <a:pPr/>
              <a:t>54</a:t>
            </a:fld>
            <a:endParaRPr lang="pl-PL"/>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algn="just"/>
            <a:r>
              <a:rPr lang="en-US" sz="1200" kern="1200" dirty="0">
                <a:solidFill>
                  <a:schemeClr val="tx1"/>
                </a:solidFill>
                <a:effectLst/>
                <a:latin typeface="Arial" charset="0"/>
                <a:ea typeface="+mn-ea"/>
                <a:cs typeface="+mn-cs"/>
              </a:rPr>
              <a:t>There are 2 main types of such documents: for external users (general assumptions of the quality policy in the organization) and internal (data on cost analysis and anticipated effects of pro-quality activities, confidential information on marketing activities). A plan at level II can also be presented in the quality </a:t>
            </a:r>
            <a:r>
              <a:rPr lang="pl-PL" sz="1200" kern="1200" dirty="0" err="1">
                <a:solidFill>
                  <a:schemeClr val="tx1"/>
                </a:solidFill>
                <a:effectLst/>
                <a:latin typeface="Arial" charset="0"/>
                <a:ea typeface="+mn-ea"/>
                <a:cs typeface="+mn-cs"/>
              </a:rPr>
              <a:t>hand</a:t>
            </a:r>
            <a:r>
              <a:rPr lang="en-US" sz="1200" kern="1200" dirty="0">
                <a:solidFill>
                  <a:schemeClr val="tx1"/>
                </a:solidFill>
                <a:effectLst/>
                <a:latin typeface="Arial" charset="0"/>
                <a:ea typeface="+mn-ea"/>
                <a:cs typeface="+mn-cs"/>
              </a:rPr>
              <a:t>book. It contains procedures and principles regarding the quality and sequence of activities related to a given product, service or project. The plan also allows you to plan and design the implementation and use of products. Level III - directed to </a:t>
            </a:r>
            <a:r>
              <a:rPr lang="pl-PL" sz="1200" kern="1200" dirty="0" err="1">
                <a:solidFill>
                  <a:schemeClr val="tx1"/>
                </a:solidFill>
                <a:effectLst/>
                <a:latin typeface="Arial" charset="0"/>
                <a:ea typeface="+mn-ea"/>
                <a:cs typeface="+mn-cs"/>
              </a:rPr>
              <a:t>internal</a:t>
            </a:r>
            <a:r>
              <a:rPr lang="en-US" sz="1200" kern="1200" dirty="0">
                <a:solidFill>
                  <a:schemeClr val="tx1"/>
                </a:solidFill>
                <a:effectLst/>
                <a:latin typeface="Arial" charset="0"/>
                <a:ea typeface="+mn-ea"/>
                <a:cs typeface="+mn-cs"/>
              </a:rPr>
              <a:t> units. They are not an integral part of the quality book, but should be cited in it. </a:t>
            </a:r>
            <a:r>
              <a:rPr lang="pl-PL" sz="1200" kern="1200" dirty="0">
                <a:solidFill>
                  <a:schemeClr val="tx1"/>
                </a:solidFill>
                <a:effectLst/>
                <a:latin typeface="Arial" charset="0"/>
                <a:ea typeface="+mn-ea"/>
                <a:cs typeface="+mn-cs"/>
              </a:rPr>
              <a:t>Level</a:t>
            </a:r>
            <a:r>
              <a:rPr lang="en-US" sz="1200" kern="1200" dirty="0">
                <a:solidFill>
                  <a:schemeClr val="tx1"/>
                </a:solidFill>
                <a:effectLst/>
                <a:latin typeface="Arial" charset="0"/>
                <a:ea typeface="+mn-ea"/>
                <a:cs typeface="+mn-cs"/>
              </a:rPr>
              <a:t> IV: here, documents are often labeled "for internal use only". Supplementing procedures (report templates, control forms). Everyone is responsible for quality, but the highest responsibility lies with the highest levels of management.</a:t>
            </a:r>
          </a:p>
        </p:txBody>
      </p:sp>
    </p:spTree>
    <p:extLst>
      <p:ext uri="{BB962C8B-B14F-4D97-AF65-F5344CB8AC3E}">
        <p14:creationId xmlns:p14="http://schemas.microsoft.com/office/powerpoint/2010/main" val="338810220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AAD19724-7D22-4BDE-B6C7-CD56DF22C78A}" type="slidenum">
              <a:rPr lang="pl-PL"/>
              <a:pPr/>
              <a:t>55</a:t>
            </a:fld>
            <a:endParaRPr lang="pl-PL"/>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pl-PL" dirty="0"/>
          </a:p>
        </p:txBody>
      </p:sp>
    </p:spTree>
    <p:extLst>
      <p:ext uri="{BB962C8B-B14F-4D97-AF65-F5344CB8AC3E}">
        <p14:creationId xmlns:p14="http://schemas.microsoft.com/office/powerpoint/2010/main" val="7178298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3242815A-1AE8-4165-891E-C36D5E537CA7}" type="slidenum">
              <a:rPr lang="pl-PL"/>
              <a:pPr/>
              <a:t>56</a:t>
            </a:fld>
            <a:endParaRPr lang="pl-PL"/>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r>
              <a:rPr lang="en-US" sz="1200" b="1" i="0" kern="1200" dirty="0">
                <a:solidFill>
                  <a:schemeClr val="tx1"/>
                </a:solidFill>
                <a:effectLst/>
                <a:latin typeface="Arial" charset="0"/>
                <a:ea typeface="+mn-ea"/>
                <a:cs typeface="+mn-cs"/>
              </a:rPr>
              <a:t>Strawberries</a:t>
            </a:r>
            <a:endParaRPr lang="en-US" sz="1200" b="0" i="0" kern="1200" dirty="0">
              <a:solidFill>
                <a:schemeClr val="tx1"/>
              </a:solidFill>
              <a:effectLst/>
              <a:latin typeface="Arial" charset="0"/>
              <a:ea typeface="+mn-ea"/>
              <a:cs typeface="+mn-cs"/>
            </a:endParaRPr>
          </a:p>
          <a:p>
            <a:pPr algn="just"/>
            <a:r>
              <a:rPr lang="en-US" sz="1200" b="0" i="0" kern="1200" dirty="0">
                <a:solidFill>
                  <a:schemeClr val="tx1"/>
                </a:solidFill>
                <a:effectLst/>
                <a:latin typeface="Arial" charset="0"/>
                <a:ea typeface="+mn-ea"/>
                <a:cs typeface="+mn-cs"/>
              </a:rPr>
              <a:t>The size of strawberries for sale in shops is decided by the European Commission in a regulation</a:t>
            </a:r>
            <a:r>
              <a:rPr lang="pl-PL" sz="1200" b="0" i="0" kern="1200" dirty="0">
                <a:solidFill>
                  <a:schemeClr val="tx1"/>
                </a:solidFill>
                <a:effectLst/>
                <a:latin typeface="Arial" charset="0"/>
                <a:ea typeface="+mn-ea"/>
                <a:cs typeface="+mn-cs"/>
              </a:rPr>
              <a:t> </a:t>
            </a:r>
            <a:r>
              <a:rPr lang="en-US" sz="1200" b="0" i="0" kern="1200" dirty="0">
                <a:solidFill>
                  <a:schemeClr val="tx1"/>
                </a:solidFill>
                <a:effectLst/>
                <a:latin typeface="Arial" charset="0"/>
                <a:ea typeface="+mn-ea"/>
                <a:cs typeface="+mn-cs"/>
              </a:rPr>
              <a:t>”binding in its entirety and directly applicable in all Member states”. </a:t>
            </a:r>
          </a:p>
          <a:p>
            <a:pPr algn="just"/>
            <a:r>
              <a:rPr lang="en-US" sz="1200" b="0" i="0" kern="1200" dirty="0">
                <a:solidFill>
                  <a:schemeClr val="tx1"/>
                </a:solidFill>
                <a:effectLst/>
                <a:latin typeface="Arial" charset="0"/>
                <a:ea typeface="+mn-ea"/>
                <a:cs typeface="+mn-cs"/>
              </a:rPr>
              <a:t>According to an EU-regulation (EC No 843/2002 May 21 2002) it is illegal to sell strawberries measuring less than 18 mm in diameter. The detailed EU-rules applies to strawberries sold in shops and in local markets. It is possible to sell strawberries with a smaller diameter for industrial production of jam.</a:t>
            </a:r>
            <a:endParaRPr lang="pl-PL" sz="1200" b="0" i="0" kern="1200" dirty="0">
              <a:solidFill>
                <a:schemeClr val="tx1"/>
              </a:solidFill>
              <a:effectLst/>
              <a:latin typeface="Arial" charset="0"/>
              <a:ea typeface="+mn-ea"/>
              <a:cs typeface="+mn-cs"/>
            </a:endParaRPr>
          </a:p>
          <a:p>
            <a:pPr algn="just"/>
            <a:endParaRPr lang="pl-PL" sz="1200" b="0" i="0" kern="1200" dirty="0">
              <a:solidFill>
                <a:schemeClr val="tx1"/>
              </a:solidFill>
              <a:effectLst/>
              <a:latin typeface="Arial" charset="0"/>
              <a:ea typeface="+mn-ea"/>
              <a:cs typeface="+mn-cs"/>
            </a:endParaRPr>
          </a:p>
          <a:p>
            <a:pPr algn="just"/>
            <a:r>
              <a:rPr lang="pl-PL" sz="1200" b="0" i="0" kern="1200" dirty="0">
                <a:solidFill>
                  <a:schemeClr val="tx1"/>
                </a:solidFill>
                <a:effectLst/>
                <a:latin typeface="Arial" charset="0"/>
                <a:ea typeface="+mn-ea"/>
                <a:cs typeface="+mn-cs"/>
              </a:rPr>
              <a:t>And</a:t>
            </a:r>
            <a:r>
              <a:rPr lang="pl-PL" sz="1200" b="0" i="0" kern="1200" baseline="0" dirty="0">
                <a:solidFill>
                  <a:schemeClr val="tx1"/>
                </a:solidFill>
                <a:effectLst/>
                <a:latin typeface="Arial" charset="0"/>
                <a:ea typeface="+mn-ea"/>
                <a:cs typeface="+mn-cs"/>
              </a:rPr>
              <a:t> </a:t>
            </a:r>
            <a:r>
              <a:rPr lang="pl-PL" sz="1200" b="0" i="0" kern="1200" baseline="0" dirty="0" err="1">
                <a:solidFill>
                  <a:schemeClr val="tx1"/>
                </a:solidFill>
                <a:effectLst/>
                <a:latin typeface="Arial" charset="0"/>
                <a:ea typeface="+mn-ea"/>
                <a:cs typeface="+mn-cs"/>
              </a:rPr>
              <a:t>Swedish</a:t>
            </a:r>
            <a:r>
              <a:rPr lang="pl-PL" sz="1200" b="0" i="0" kern="1200" baseline="0" dirty="0">
                <a:solidFill>
                  <a:schemeClr val="tx1"/>
                </a:solidFill>
                <a:effectLst/>
                <a:latin typeface="Arial" charset="0"/>
                <a:ea typeface="+mn-ea"/>
                <a:cs typeface="+mn-cs"/>
              </a:rPr>
              <a:t> </a:t>
            </a:r>
            <a:r>
              <a:rPr lang="pl-PL" sz="1200" b="0" i="0" kern="1200" baseline="0" dirty="0" err="1">
                <a:solidFill>
                  <a:schemeClr val="tx1"/>
                </a:solidFill>
                <a:effectLst/>
                <a:latin typeface="Arial" charset="0"/>
                <a:ea typeface="+mn-ea"/>
                <a:cs typeface="+mn-cs"/>
              </a:rPr>
              <a:t>strawberries</a:t>
            </a:r>
            <a:r>
              <a:rPr lang="pl-PL" sz="1200" b="0" i="0" kern="1200" baseline="0" dirty="0">
                <a:solidFill>
                  <a:schemeClr val="tx1"/>
                </a:solidFill>
                <a:effectLst/>
                <a:latin typeface="Arial" charset="0"/>
                <a:ea typeface="+mn-ea"/>
                <a:cs typeface="+mn-cs"/>
              </a:rPr>
              <a:t> </a:t>
            </a:r>
            <a:r>
              <a:rPr lang="pl-PL" sz="1200" b="0" i="0" kern="1200" baseline="0" dirty="0" err="1">
                <a:solidFill>
                  <a:schemeClr val="tx1"/>
                </a:solidFill>
                <a:effectLst/>
                <a:latin typeface="Arial" charset="0"/>
                <a:ea typeface="+mn-ea"/>
                <a:cs typeface="+mn-cs"/>
              </a:rPr>
              <a:t>are</a:t>
            </a:r>
            <a:r>
              <a:rPr lang="pl-PL" sz="1200" b="0" i="0" kern="1200" baseline="0" dirty="0">
                <a:solidFill>
                  <a:schemeClr val="tx1"/>
                </a:solidFill>
                <a:effectLst/>
                <a:latin typeface="Arial" charset="0"/>
                <a:ea typeface="+mn-ea"/>
                <a:cs typeface="+mn-cs"/>
              </a:rPr>
              <a:t> </a:t>
            </a:r>
            <a:r>
              <a:rPr lang="pl-PL" sz="1200" b="0" i="0" kern="1200" baseline="0" dirty="0" err="1">
                <a:solidFill>
                  <a:schemeClr val="tx1"/>
                </a:solidFill>
                <a:effectLst/>
                <a:latin typeface="Arial" charset="0"/>
                <a:ea typeface="+mn-ea"/>
                <a:cs typeface="+mn-cs"/>
              </a:rPr>
              <a:t>sweet</a:t>
            </a:r>
            <a:r>
              <a:rPr lang="pl-PL" sz="1200" b="0" i="0" kern="1200" baseline="0" dirty="0">
                <a:solidFill>
                  <a:schemeClr val="tx1"/>
                </a:solidFill>
                <a:effectLst/>
                <a:latin typeface="Arial" charset="0"/>
                <a:ea typeface="+mn-ea"/>
                <a:cs typeface="+mn-cs"/>
              </a:rPr>
              <a:t> and </a:t>
            </a:r>
            <a:r>
              <a:rPr lang="pl-PL" sz="1200" b="0" i="0" kern="1200" baseline="0" dirty="0" err="1">
                <a:solidFill>
                  <a:schemeClr val="tx1"/>
                </a:solidFill>
                <a:effectLst/>
                <a:latin typeface="Arial" charset="0"/>
                <a:ea typeface="+mn-ea"/>
                <a:cs typeface="+mn-cs"/>
              </a:rPr>
              <a:t>tasty</a:t>
            </a:r>
            <a:r>
              <a:rPr lang="pl-PL" sz="1200" b="0" i="0" kern="1200" baseline="0" dirty="0">
                <a:solidFill>
                  <a:schemeClr val="tx1"/>
                </a:solidFill>
                <a:effectLst/>
                <a:latin typeface="Arial" charset="0"/>
                <a:ea typeface="+mn-ea"/>
                <a:cs typeface="+mn-cs"/>
              </a:rPr>
              <a:t>, but small…</a:t>
            </a:r>
            <a:endParaRPr lang="en-US" sz="1200" b="0" i="0" kern="1200" dirty="0">
              <a:solidFill>
                <a:schemeClr val="tx1"/>
              </a:solidFill>
              <a:effectLst/>
              <a:latin typeface="Arial" charset="0"/>
              <a:ea typeface="+mn-ea"/>
              <a:cs typeface="+mn-cs"/>
            </a:endParaRPr>
          </a:p>
          <a:p>
            <a:pPr algn="just" eaLnBrk="1" hangingPunct="1"/>
            <a:endParaRPr lang="pl-PL" dirty="0"/>
          </a:p>
        </p:txBody>
      </p:sp>
    </p:spTree>
    <p:extLst>
      <p:ext uri="{BB962C8B-B14F-4D97-AF65-F5344CB8AC3E}">
        <p14:creationId xmlns:p14="http://schemas.microsoft.com/office/powerpoint/2010/main" val="39517723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p>
            <a:fld id="{68E053B3-6F43-4302-9C76-83FA66AE27AA}" type="slidenum">
              <a:rPr lang="pl-PL"/>
              <a:pPr/>
              <a:t>57</a:t>
            </a:fld>
            <a:endParaRPr lang="pl-PL"/>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p:spPr>
        <p:txBody>
          <a:bodyPr/>
          <a:lstStyle/>
          <a:p>
            <a:pPr eaLnBrk="1" hangingPunct="1"/>
            <a:endParaRPr lang="pl-PL"/>
          </a:p>
        </p:txBody>
      </p:sp>
    </p:spTree>
    <p:extLst>
      <p:ext uri="{BB962C8B-B14F-4D97-AF65-F5344CB8AC3E}">
        <p14:creationId xmlns:p14="http://schemas.microsoft.com/office/powerpoint/2010/main" val="16004915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p>
            <a:fld id="{608025F2-007F-4A25-B87D-F830518FA545}" type="slidenum">
              <a:rPr lang="pl-PL"/>
              <a:pPr/>
              <a:t>58</a:t>
            </a:fld>
            <a:endParaRPr lang="pl-PL"/>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p:spPr>
        <p:txBody>
          <a:bodyPr/>
          <a:lstStyle/>
          <a:p>
            <a:pPr algn="just" eaLnBrk="1" hangingPunct="1"/>
            <a:r>
              <a:rPr lang="pl-PL" sz="1200" b="0" i="0" kern="1200" dirty="0" err="1">
                <a:solidFill>
                  <a:schemeClr val="tx1"/>
                </a:solidFill>
                <a:effectLst/>
                <a:latin typeface="Arial" charset="0"/>
                <a:ea typeface="+mn-ea"/>
                <a:cs typeface="+mn-cs"/>
              </a:rPr>
              <a:t>There</a:t>
            </a:r>
            <a:r>
              <a:rPr lang="pl-PL" sz="1200" b="0" i="0" kern="1200" dirty="0">
                <a:solidFill>
                  <a:schemeClr val="tx1"/>
                </a:solidFill>
                <a:effectLst/>
                <a:latin typeface="Arial" charset="0"/>
                <a:ea typeface="+mn-ea"/>
                <a:cs typeface="+mn-cs"/>
              </a:rPr>
              <a:t> was a rumor</a:t>
            </a:r>
            <a:r>
              <a:rPr lang="pl-PL" sz="1200" b="0" i="0" kern="1200" baseline="0" dirty="0">
                <a:solidFill>
                  <a:schemeClr val="tx1"/>
                </a:solidFill>
                <a:effectLst/>
                <a:latin typeface="Arial" charset="0"/>
                <a:ea typeface="+mn-ea"/>
                <a:cs typeface="+mn-cs"/>
              </a:rPr>
              <a:t> </a:t>
            </a:r>
            <a:r>
              <a:rPr lang="pl-PL" sz="1200" b="0" i="0" kern="1200" baseline="0" dirty="0" err="1">
                <a:solidFill>
                  <a:schemeClr val="tx1"/>
                </a:solidFill>
                <a:effectLst/>
                <a:latin typeface="Arial" charset="0"/>
                <a:ea typeface="+mn-ea"/>
                <a:cs typeface="+mn-cs"/>
              </a:rPr>
              <a:t>that</a:t>
            </a:r>
            <a:r>
              <a:rPr lang="pl-PL" sz="1200" b="0" i="0" kern="1200" baseline="0" dirty="0">
                <a:solidFill>
                  <a:schemeClr val="tx1"/>
                </a:solidFill>
                <a:effectLst/>
                <a:latin typeface="Arial" charset="0"/>
                <a:ea typeface="+mn-ea"/>
                <a:cs typeface="+mn-cs"/>
              </a:rPr>
              <a:t> t</a:t>
            </a:r>
            <a:r>
              <a:rPr lang="en-US" sz="1200" b="0" i="0" kern="1200" dirty="0">
                <a:solidFill>
                  <a:schemeClr val="tx1"/>
                </a:solidFill>
                <a:effectLst/>
                <a:latin typeface="Arial" charset="0"/>
                <a:ea typeface="+mn-ea"/>
                <a:cs typeface="+mn-cs"/>
              </a:rPr>
              <a:t>he European Commission officially categorized snails as "inland fish" in order to allow French snail farmers to receive subsidies.</a:t>
            </a:r>
            <a:endParaRPr lang="pl-PL" dirty="0"/>
          </a:p>
        </p:txBody>
      </p:sp>
    </p:spTree>
    <p:extLst>
      <p:ext uri="{BB962C8B-B14F-4D97-AF65-F5344CB8AC3E}">
        <p14:creationId xmlns:p14="http://schemas.microsoft.com/office/powerpoint/2010/main" val="1257742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pl-PL"/>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pl-PL"/>
          </a:p>
        </p:txBody>
      </p:sp>
      <p:sp>
        <p:nvSpPr>
          <p:cNvPr id="73730" name="Rectangle 2"/>
          <p:cNvSpPr>
            <a:spLocks noGrp="1" noChangeArrowheads="1"/>
          </p:cNvSpPr>
          <p:nvPr>
            <p:ph type="ctrTitle"/>
          </p:nvPr>
        </p:nvSpPr>
        <p:spPr>
          <a:xfrm>
            <a:off x="914400" y="1524000"/>
            <a:ext cx="7623175" cy="1752600"/>
          </a:xfrm>
        </p:spPr>
        <p:txBody>
          <a:bodyPr/>
          <a:lstStyle>
            <a:lvl1pPr>
              <a:defRPr sz="5000"/>
            </a:lvl1pPr>
          </a:lstStyle>
          <a:p>
            <a:r>
              <a:rPr lang="pl-PL" altLang="en-US"/>
              <a:t>Kliknij, aby edytować styl wzorca tytułu</a:t>
            </a:r>
          </a:p>
        </p:txBody>
      </p:sp>
      <p:sp>
        <p:nvSpPr>
          <p:cNvPr id="7373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pl-PL" altLang="en-US"/>
              <a:t>Kliknij, aby edytować styl wzorca podtytułu</a:t>
            </a:r>
          </a:p>
        </p:txBody>
      </p:sp>
      <p:sp>
        <p:nvSpPr>
          <p:cNvPr id="6" name="Rectangle 4"/>
          <p:cNvSpPr>
            <a:spLocks noGrp="1" noChangeArrowheads="1"/>
          </p:cNvSpPr>
          <p:nvPr>
            <p:ph type="dt" sz="half" idx="10"/>
          </p:nvPr>
        </p:nvSpPr>
        <p:spPr/>
        <p:txBody>
          <a:bodyPr/>
          <a:lstStyle>
            <a:lvl1pPr>
              <a:defRPr smtClean="0"/>
            </a:lvl1pPr>
          </a:lstStyle>
          <a:p>
            <a:pPr>
              <a:defRPr/>
            </a:pPr>
            <a:endParaRPr lang="pl-PL"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smtClean="0"/>
            </a:lvl1pPr>
          </a:lstStyle>
          <a:p>
            <a:pPr>
              <a:defRPr/>
            </a:pPr>
            <a:r>
              <a:rPr lang="pl-PL" altLang="en-US"/>
              <a:t>PJAIT</a:t>
            </a:r>
          </a:p>
        </p:txBody>
      </p:sp>
      <p:sp>
        <p:nvSpPr>
          <p:cNvPr id="8" name="Rectangle 6"/>
          <p:cNvSpPr>
            <a:spLocks noGrp="1" noChangeArrowheads="1"/>
          </p:cNvSpPr>
          <p:nvPr>
            <p:ph type="sldNum" sz="quarter" idx="12"/>
          </p:nvPr>
        </p:nvSpPr>
        <p:spPr/>
        <p:txBody>
          <a:bodyPr/>
          <a:lstStyle>
            <a:lvl1pPr>
              <a:defRPr smtClean="0"/>
            </a:lvl1pPr>
          </a:lstStyle>
          <a:p>
            <a:pPr>
              <a:defRPr/>
            </a:pPr>
            <a:fld id="{22F0A902-99DF-40F2-B659-0DEE9EDB2B9E}" type="slidenum">
              <a:rPr lang="pl-PL" altLang="en-US"/>
              <a:pPr>
                <a:defRPr/>
              </a:pPr>
              <a:t>‹#›</a:t>
            </a:fld>
            <a:endParaRPr lang="pl-PL"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6" name="Rectangle 6"/>
          <p:cNvSpPr>
            <a:spLocks noGrp="1" noChangeArrowheads="1"/>
          </p:cNvSpPr>
          <p:nvPr>
            <p:ph type="sldNum" sz="quarter" idx="12"/>
          </p:nvPr>
        </p:nvSpPr>
        <p:spPr>
          <a:ln/>
        </p:spPr>
        <p:txBody>
          <a:bodyPr/>
          <a:lstStyle>
            <a:lvl1pPr>
              <a:defRPr/>
            </a:lvl1pPr>
          </a:lstStyle>
          <a:p>
            <a:pPr>
              <a:defRPr/>
            </a:pPr>
            <a:fld id="{4277A10B-8CB1-4C07-BF6F-B626A22D23E7}" type="slidenum">
              <a:rPr lang="pl-PL" altLang="en-US"/>
              <a:pPr>
                <a:defRPr/>
              </a:pPr>
              <a:t>‹#›</a:t>
            </a:fld>
            <a:endParaRPr lang="pl-PL"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p:cNvSpPr>
            <a:spLocks noGrp="1"/>
          </p:cNvSpPr>
          <p:nvPr>
            <p:ph type="title"/>
          </p:nvPr>
        </p:nvSpPr>
        <p:spPr>
          <a:xfrm>
            <a:off x="722313" y="4406900"/>
            <a:ext cx="7772400" cy="1362075"/>
          </a:xfrm>
        </p:spPr>
        <p:txBody>
          <a:bodyPr/>
          <a:lstStyle>
            <a:lvl1pPr algn="l">
              <a:defRPr sz="4000" b="1" cap="all"/>
            </a:lvl1pPr>
          </a:lstStyle>
          <a:p>
            <a:r>
              <a:rPr lang="pl-PL"/>
              <a:t>Kliknij, aby edytować styl</a:t>
            </a:r>
          </a:p>
        </p:txBody>
      </p:sp>
      <p:sp>
        <p:nvSpPr>
          <p:cNvPr id="3" name="Symbol zastępczy tekstu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pl-PL"/>
              <a:t>Kliknij, aby edytować style wzorca tekstu</a:t>
            </a:r>
          </a:p>
        </p:txBody>
      </p:sp>
      <p:sp>
        <p:nvSpPr>
          <p:cNvPr id="4"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6" name="Rectangle 6"/>
          <p:cNvSpPr>
            <a:spLocks noGrp="1" noChangeArrowheads="1"/>
          </p:cNvSpPr>
          <p:nvPr>
            <p:ph type="sldNum" sz="quarter" idx="12"/>
          </p:nvPr>
        </p:nvSpPr>
        <p:spPr>
          <a:ln/>
        </p:spPr>
        <p:txBody>
          <a:bodyPr/>
          <a:lstStyle>
            <a:lvl1pPr>
              <a:defRPr/>
            </a:lvl1pPr>
          </a:lstStyle>
          <a:p>
            <a:pPr>
              <a:defRPr/>
            </a:pPr>
            <a:fld id="{547B2381-90B7-475B-9031-1DF98C387FD4}" type="slidenum">
              <a:rPr lang="pl-PL" altLang="en-US"/>
              <a:pPr>
                <a:defRPr/>
              </a:pPr>
              <a:t>‹#›</a:t>
            </a:fld>
            <a:endParaRPr lang="pl-PL"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7" name="Rectangle 6"/>
          <p:cNvSpPr>
            <a:spLocks noGrp="1" noChangeArrowheads="1"/>
          </p:cNvSpPr>
          <p:nvPr>
            <p:ph type="sldNum" sz="quarter" idx="12"/>
          </p:nvPr>
        </p:nvSpPr>
        <p:spPr>
          <a:ln/>
        </p:spPr>
        <p:txBody>
          <a:bodyPr/>
          <a:lstStyle>
            <a:lvl1pPr>
              <a:defRPr/>
            </a:lvl1pPr>
          </a:lstStyle>
          <a:p>
            <a:pPr>
              <a:defRPr/>
            </a:pPr>
            <a:fld id="{1568E104-E8AA-4E93-B98C-F777BD6921DA}" type="slidenum">
              <a:rPr lang="pl-PL" altLang="en-US"/>
              <a:pPr>
                <a:defRPr/>
              </a:pPr>
              <a:t>‹#›</a:t>
            </a:fld>
            <a:endParaRPr lang="pl-PL"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p:cNvSpPr>
            <a:spLocks noGrp="1"/>
          </p:cNvSpPr>
          <p:nvPr>
            <p:ph type="title"/>
          </p:nvPr>
        </p:nvSpPr>
        <p:spPr>
          <a:xfrm>
            <a:off x="457200" y="274638"/>
            <a:ext cx="8229600" cy="1143000"/>
          </a:xfrm>
        </p:spPr>
        <p:txBody>
          <a:bodyPr/>
          <a:lstStyle>
            <a:lvl1pPr>
              <a:defRPr/>
            </a:lvl1pPr>
          </a:lstStyle>
          <a:p>
            <a:r>
              <a:rPr lang="pl-PL"/>
              <a:t>Kliknij, aby edytować styl</a:t>
            </a:r>
          </a:p>
        </p:txBody>
      </p:sp>
      <p:sp>
        <p:nvSpPr>
          <p:cNvPr id="3" name="Symbol zastępczy tekst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9" name="Rectangle 6"/>
          <p:cNvSpPr>
            <a:spLocks noGrp="1" noChangeArrowheads="1"/>
          </p:cNvSpPr>
          <p:nvPr>
            <p:ph type="sldNum" sz="quarter" idx="12"/>
          </p:nvPr>
        </p:nvSpPr>
        <p:spPr>
          <a:ln/>
        </p:spPr>
        <p:txBody>
          <a:bodyPr/>
          <a:lstStyle>
            <a:lvl1pPr>
              <a:defRPr/>
            </a:lvl1pPr>
          </a:lstStyle>
          <a:p>
            <a:pPr>
              <a:defRPr/>
            </a:pPr>
            <a:fld id="{9DEFCCC1-65A1-46EE-AF33-B0382CFD5A4F}" type="slidenum">
              <a:rPr lang="pl-PL" altLang="en-US"/>
              <a:pPr>
                <a:defRPr/>
              </a:pPr>
              <a:t>‹#›</a:t>
            </a:fld>
            <a:endParaRPr lang="pl-PL"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4"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5" name="Rectangle 6"/>
          <p:cNvSpPr>
            <a:spLocks noGrp="1" noChangeArrowheads="1"/>
          </p:cNvSpPr>
          <p:nvPr>
            <p:ph type="sldNum" sz="quarter" idx="12"/>
          </p:nvPr>
        </p:nvSpPr>
        <p:spPr>
          <a:ln/>
        </p:spPr>
        <p:txBody>
          <a:bodyPr/>
          <a:lstStyle>
            <a:lvl1pPr>
              <a:defRPr/>
            </a:lvl1pPr>
          </a:lstStyle>
          <a:p>
            <a:pPr>
              <a:defRPr/>
            </a:pPr>
            <a:fld id="{C5A2FF4D-975E-4A49-9144-F5AF37E23E10}" type="slidenum">
              <a:rPr lang="pl-PL" altLang="en-US"/>
              <a:pPr>
                <a:defRPr/>
              </a:pPr>
              <a:t>‹#›</a:t>
            </a:fld>
            <a:endParaRPr lang="pl-PL"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4" name="Rectangle 6"/>
          <p:cNvSpPr>
            <a:spLocks noGrp="1" noChangeArrowheads="1"/>
          </p:cNvSpPr>
          <p:nvPr>
            <p:ph type="sldNum" sz="quarter" idx="12"/>
          </p:nvPr>
        </p:nvSpPr>
        <p:spPr>
          <a:ln/>
        </p:spPr>
        <p:txBody>
          <a:bodyPr/>
          <a:lstStyle>
            <a:lvl1pPr>
              <a:defRPr/>
            </a:lvl1pPr>
          </a:lstStyle>
          <a:p>
            <a:pPr>
              <a:defRPr/>
            </a:pPr>
            <a:fld id="{AE51BA7F-40D7-4F6A-BD9A-732731F82044}" type="slidenum">
              <a:rPr lang="pl-PL" altLang="en-US"/>
              <a:pPr>
                <a:defRPr/>
              </a:pPr>
              <a:t>‹#›</a:t>
            </a:fld>
            <a:endParaRPr lang="pl-PL"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457200" y="273050"/>
            <a:ext cx="3008313" cy="1162050"/>
          </a:xfrm>
        </p:spPr>
        <p:txBody>
          <a:bodyPr anchor="b"/>
          <a:lstStyle>
            <a:lvl1pPr algn="l">
              <a:defRPr sz="2000" b="1"/>
            </a:lvl1pPr>
          </a:lstStyle>
          <a:p>
            <a:r>
              <a:rPr lang="pl-PL"/>
              <a:t>Kliknij, aby edytować styl</a:t>
            </a:r>
          </a:p>
        </p:txBody>
      </p:sp>
      <p:sp>
        <p:nvSpPr>
          <p:cNvPr id="3" name="Symbol zastępczy zawartości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7" name="Rectangle 6"/>
          <p:cNvSpPr>
            <a:spLocks noGrp="1" noChangeArrowheads="1"/>
          </p:cNvSpPr>
          <p:nvPr>
            <p:ph type="sldNum" sz="quarter" idx="12"/>
          </p:nvPr>
        </p:nvSpPr>
        <p:spPr>
          <a:ln/>
        </p:spPr>
        <p:txBody>
          <a:bodyPr/>
          <a:lstStyle>
            <a:lvl1pPr>
              <a:defRPr/>
            </a:lvl1pPr>
          </a:lstStyle>
          <a:p>
            <a:pPr>
              <a:defRPr/>
            </a:pPr>
            <a:fld id="{3BDCB637-F9F6-4B99-8544-DCB726053734}" type="slidenum">
              <a:rPr lang="pl-PL" altLang="en-US"/>
              <a:pPr>
                <a:defRPr/>
              </a:pPr>
              <a:t>‹#›</a:t>
            </a:fld>
            <a:endParaRPr lang="pl-PL"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p:cNvSpPr>
            <a:spLocks noGrp="1"/>
          </p:cNvSpPr>
          <p:nvPr>
            <p:ph type="title"/>
          </p:nvPr>
        </p:nvSpPr>
        <p:spPr>
          <a:xfrm>
            <a:off x="1792288" y="4800600"/>
            <a:ext cx="5486400" cy="566738"/>
          </a:xfrm>
        </p:spPr>
        <p:txBody>
          <a:bodyPr anchor="b"/>
          <a:lstStyle>
            <a:lvl1pPr algn="l">
              <a:defRPr sz="2000" b="1"/>
            </a:lvl1pPr>
          </a:lstStyle>
          <a:p>
            <a:r>
              <a:rPr lang="pl-PL"/>
              <a:t>Kliknij, aby edytować styl</a:t>
            </a:r>
          </a:p>
        </p:txBody>
      </p:sp>
      <p:sp>
        <p:nvSpPr>
          <p:cNvPr id="3" name="Symbol zastępczy obraz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pl-PL" noProof="0"/>
          </a:p>
        </p:txBody>
      </p:sp>
      <p:sp>
        <p:nvSpPr>
          <p:cNvPr id="4" name="Symbol zastępczy tekst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a:t>Kliknij, aby edytować style wzorca tekstu</a:t>
            </a:r>
          </a:p>
        </p:txBody>
      </p:sp>
      <p:sp>
        <p:nvSpPr>
          <p:cNvPr id="5"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7" name="Rectangle 6"/>
          <p:cNvSpPr>
            <a:spLocks noGrp="1" noChangeArrowheads="1"/>
          </p:cNvSpPr>
          <p:nvPr>
            <p:ph type="sldNum" sz="quarter" idx="12"/>
          </p:nvPr>
        </p:nvSpPr>
        <p:spPr>
          <a:ln/>
        </p:spPr>
        <p:txBody>
          <a:bodyPr/>
          <a:lstStyle>
            <a:lvl1pPr>
              <a:defRPr/>
            </a:lvl1pPr>
          </a:lstStyle>
          <a:p>
            <a:pPr>
              <a:defRPr/>
            </a:pPr>
            <a:fld id="{0AB7FC26-4800-4FFE-BA71-025B0D44CA80}" type="slidenum">
              <a:rPr lang="pl-PL" altLang="en-US"/>
              <a:pPr>
                <a:defRPr/>
              </a:pPr>
              <a:t>‹#›</a:t>
            </a:fld>
            <a:endParaRPr lang="pl-PL"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a:t>Kliknij, aby edytować styl</a:t>
            </a:r>
          </a:p>
        </p:txBody>
      </p:sp>
      <p:sp>
        <p:nvSpPr>
          <p:cNvPr id="3" name="Symbol zastępczy tytułu pionowego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6" name="Rectangle 6"/>
          <p:cNvSpPr>
            <a:spLocks noGrp="1" noChangeArrowheads="1"/>
          </p:cNvSpPr>
          <p:nvPr>
            <p:ph type="sldNum" sz="quarter" idx="12"/>
          </p:nvPr>
        </p:nvSpPr>
        <p:spPr>
          <a:ln/>
        </p:spPr>
        <p:txBody>
          <a:bodyPr/>
          <a:lstStyle>
            <a:lvl1pPr>
              <a:defRPr/>
            </a:lvl1pPr>
          </a:lstStyle>
          <a:p>
            <a:pPr>
              <a:defRPr/>
            </a:pPr>
            <a:fld id="{E5DAF0CB-B061-4883-8F67-FFF2DCF20B2E}" type="slidenum">
              <a:rPr lang="pl-PL" altLang="en-US"/>
              <a:pPr>
                <a:defRPr/>
              </a:pPr>
              <a:t>‹#›</a:t>
            </a:fld>
            <a:endParaRPr lang="pl-PL"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p:cNvSpPr>
            <a:spLocks noGrp="1"/>
          </p:cNvSpPr>
          <p:nvPr>
            <p:ph type="title" orient="vert"/>
          </p:nvPr>
        </p:nvSpPr>
        <p:spPr>
          <a:xfrm>
            <a:off x="6629400" y="277813"/>
            <a:ext cx="2057400" cy="5853112"/>
          </a:xfrm>
        </p:spPr>
        <p:txBody>
          <a:bodyPr vert="eaVert"/>
          <a:lstStyle/>
          <a:p>
            <a:r>
              <a:rPr lang="pl-PL"/>
              <a:t>Kliknij, aby edytować styl</a:t>
            </a:r>
          </a:p>
        </p:txBody>
      </p:sp>
      <p:sp>
        <p:nvSpPr>
          <p:cNvPr id="3" name="Symbol zastępczy tytułu pionowego 2"/>
          <p:cNvSpPr>
            <a:spLocks noGrp="1"/>
          </p:cNvSpPr>
          <p:nvPr>
            <p:ph type="body" orient="vert" idx="1"/>
          </p:nvPr>
        </p:nvSpPr>
        <p:spPr>
          <a:xfrm>
            <a:off x="457200" y="277813"/>
            <a:ext cx="6019800" cy="5853112"/>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6" name="Rectangle 6"/>
          <p:cNvSpPr>
            <a:spLocks noGrp="1" noChangeArrowheads="1"/>
          </p:cNvSpPr>
          <p:nvPr>
            <p:ph type="sldNum" sz="quarter" idx="12"/>
          </p:nvPr>
        </p:nvSpPr>
        <p:spPr>
          <a:ln/>
        </p:spPr>
        <p:txBody>
          <a:bodyPr/>
          <a:lstStyle>
            <a:lvl1pPr>
              <a:defRPr/>
            </a:lvl1pPr>
          </a:lstStyle>
          <a:p>
            <a:pPr>
              <a:defRPr/>
            </a:pPr>
            <a:fld id="{F95B2E35-F592-43FC-923E-FB2315B6A911}" type="slidenum">
              <a:rPr lang="pl-PL" altLang="en-US"/>
              <a:pPr>
                <a:defRPr/>
              </a:pPr>
              <a:t>‹#›</a:t>
            </a:fld>
            <a:endParaRPr lang="pl-PL"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ytuł, zawartość i 2 elementy zawartości">
    <p:spTree>
      <p:nvGrpSpPr>
        <p:cNvPr id="1" name=""/>
        <p:cNvGrpSpPr/>
        <p:nvPr/>
      </p:nvGrpSpPr>
      <p:grpSpPr>
        <a:xfrm>
          <a:off x="0" y="0"/>
          <a:ext cx="0" cy="0"/>
          <a:chOff x="0" y="0"/>
          <a:chExt cx="0" cy="0"/>
        </a:xfrm>
      </p:grpSpPr>
      <p:sp>
        <p:nvSpPr>
          <p:cNvPr id="2" name="Tytuł 1"/>
          <p:cNvSpPr>
            <a:spLocks noGrp="1"/>
          </p:cNvSpPr>
          <p:nvPr>
            <p:ph type="title"/>
          </p:nvPr>
        </p:nvSpPr>
        <p:spPr>
          <a:xfrm>
            <a:off x="457200" y="277813"/>
            <a:ext cx="8229600" cy="1139825"/>
          </a:xfrm>
        </p:spPr>
        <p:txBody>
          <a:bodyPr/>
          <a:lstStyle/>
          <a:p>
            <a:r>
              <a:rPr lang="pl-PL"/>
              <a:t>Kliknij, aby edytować styl</a:t>
            </a:r>
          </a:p>
        </p:txBody>
      </p:sp>
      <p:sp>
        <p:nvSpPr>
          <p:cNvPr id="3" name="Symbol zastępczy zawartości 2"/>
          <p:cNvSpPr>
            <a:spLocks noGrp="1"/>
          </p:cNvSpPr>
          <p:nvPr>
            <p:ph sz="half" idx="1"/>
          </p:nvPr>
        </p:nvSpPr>
        <p:spPr>
          <a:xfrm>
            <a:off x="457200" y="1600200"/>
            <a:ext cx="4038600" cy="4530725"/>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p:cNvSpPr>
            <a:spLocks noGrp="1"/>
          </p:cNvSpPr>
          <p:nvPr>
            <p:ph sz="quarter" idx="2"/>
          </p:nvPr>
        </p:nvSpPr>
        <p:spPr>
          <a:xfrm>
            <a:off x="4648200" y="1600200"/>
            <a:ext cx="4038600" cy="2189163"/>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zawartości 4"/>
          <p:cNvSpPr>
            <a:spLocks noGrp="1"/>
          </p:cNvSpPr>
          <p:nvPr>
            <p:ph sz="quarter" idx="3"/>
          </p:nvPr>
        </p:nvSpPr>
        <p:spPr>
          <a:xfrm>
            <a:off x="4648200" y="3941763"/>
            <a:ext cx="4038600" cy="2189162"/>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Rectangle 4"/>
          <p:cNvSpPr>
            <a:spLocks noGrp="1" noChangeArrowheads="1"/>
          </p:cNvSpPr>
          <p:nvPr>
            <p:ph type="dt" sz="half" idx="10"/>
          </p:nvPr>
        </p:nvSpPr>
        <p:spPr>
          <a:ln/>
        </p:spPr>
        <p:txBody>
          <a:bodyPr/>
          <a:lstStyle>
            <a:lvl1pPr>
              <a:defRPr/>
            </a:lvl1pPr>
          </a:lstStyle>
          <a:p>
            <a:pPr>
              <a:defRPr/>
            </a:pPr>
            <a:endParaRPr lang="pl-PL" altLang="en-US"/>
          </a:p>
        </p:txBody>
      </p:sp>
      <p:sp>
        <p:nvSpPr>
          <p:cNvPr id="7" name="Rectangle 5"/>
          <p:cNvSpPr>
            <a:spLocks noGrp="1" noChangeArrowheads="1"/>
          </p:cNvSpPr>
          <p:nvPr>
            <p:ph type="ftr" sz="quarter" idx="11"/>
          </p:nvPr>
        </p:nvSpPr>
        <p:spPr>
          <a:ln/>
        </p:spPr>
        <p:txBody>
          <a:bodyPr/>
          <a:lstStyle>
            <a:lvl1pPr>
              <a:defRPr/>
            </a:lvl1pPr>
          </a:lstStyle>
          <a:p>
            <a:pPr>
              <a:defRPr/>
            </a:pPr>
            <a:r>
              <a:rPr lang="pl-PL" altLang="en-US"/>
              <a:t>PJAIT</a:t>
            </a:r>
          </a:p>
        </p:txBody>
      </p:sp>
      <p:sp>
        <p:nvSpPr>
          <p:cNvPr id="8" name="Rectangle 6"/>
          <p:cNvSpPr>
            <a:spLocks noGrp="1" noChangeArrowheads="1"/>
          </p:cNvSpPr>
          <p:nvPr>
            <p:ph type="sldNum" sz="quarter" idx="12"/>
          </p:nvPr>
        </p:nvSpPr>
        <p:spPr>
          <a:ln/>
        </p:spPr>
        <p:txBody>
          <a:bodyPr/>
          <a:lstStyle>
            <a:lvl1pPr>
              <a:defRPr/>
            </a:lvl1pPr>
          </a:lstStyle>
          <a:p>
            <a:pPr>
              <a:defRPr/>
            </a:pPr>
            <a:fld id="{2D492EB2-B51D-4600-A801-A1AF5A34A378}" type="slidenum">
              <a:rPr lang="pl-PL" altLang="en-US"/>
              <a:pPr>
                <a:defRPr/>
              </a:pPr>
              <a:t>‹#›</a:t>
            </a:fld>
            <a:endParaRPr lang="pl-PL"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7813"/>
            <a:ext cx="8229600" cy="11398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l-PL" altLang="en-US"/>
              <a:t>Kliknij, aby edytować styl wzorca tytułu</a:t>
            </a:r>
          </a:p>
        </p:txBody>
      </p:sp>
      <p:sp>
        <p:nvSpPr>
          <p:cNvPr id="2051" name="Rectangle 3"/>
          <p:cNvSpPr>
            <a:spLocks noGrp="1" noChangeArrowheads="1"/>
          </p:cNvSpPr>
          <p:nvPr>
            <p:ph type="body" idx="1"/>
          </p:nvPr>
        </p:nvSpPr>
        <p:spPr bwMode="auto">
          <a:xfrm>
            <a:off x="457200" y="1600200"/>
            <a:ext cx="82296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pl-PL" altLang="en-US"/>
              <a:t>Kliknij, aby edytować style wzorca tekstu</a:t>
            </a:r>
          </a:p>
          <a:p>
            <a:pPr lvl="1"/>
            <a:r>
              <a:rPr lang="pl-PL" altLang="en-US"/>
              <a:t>Drugi poziom</a:t>
            </a:r>
          </a:p>
          <a:p>
            <a:pPr lvl="2"/>
            <a:r>
              <a:rPr lang="pl-PL" altLang="en-US"/>
              <a:t>Trzeci poziom</a:t>
            </a:r>
          </a:p>
          <a:p>
            <a:pPr lvl="3"/>
            <a:r>
              <a:rPr lang="pl-PL" altLang="en-US"/>
              <a:t>Czwarty poziom</a:t>
            </a:r>
          </a:p>
          <a:p>
            <a:pPr lvl="4"/>
            <a:r>
              <a:rPr lang="pl-PL" altLang="en-US"/>
              <a:t>Piąty poziom</a:t>
            </a:r>
          </a:p>
        </p:txBody>
      </p:sp>
      <p:sp>
        <p:nvSpPr>
          <p:cNvPr id="7270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solidFill>
                  <a:schemeClr val="tx1"/>
                </a:solidFill>
                <a:latin typeface="+mj-lt"/>
              </a:defRPr>
            </a:lvl1pPr>
          </a:lstStyle>
          <a:p>
            <a:pPr>
              <a:defRPr/>
            </a:pPr>
            <a:endParaRPr lang="pl-PL" altLang="en-US"/>
          </a:p>
        </p:txBody>
      </p:sp>
      <p:sp>
        <p:nvSpPr>
          <p:cNvPr id="7270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200" smtClean="0">
                <a:solidFill>
                  <a:schemeClr val="tx1"/>
                </a:solidFill>
                <a:latin typeface="+mj-lt"/>
              </a:defRPr>
            </a:lvl1pPr>
          </a:lstStyle>
          <a:p>
            <a:pPr>
              <a:defRPr/>
            </a:pPr>
            <a:r>
              <a:rPr lang="pl-PL" altLang="en-US"/>
              <a:t>PJAIT</a:t>
            </a:r>
          </a:p>
        </p:txBody>
      </p:sp>
      <p:sp>
        <p:nvSpPr>
          <p:cNvPr id="7271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solidFill>
                  <a:schemeClr val="tx1"/>
                </a:solidFill>
                <a:latin typeface="+mj-lt"/>
              </a:defRPr>
            </a:lvl1pPr>
          </a:lstStyle>
          <a:p>
            <a:pPr>
              <a:defRPr/>
            </a:pPr>
            <a:fld id="{79EB0073-1254-40E7-8FC2-54CB2C65ED30}" type="slidenum">
              <a:rPr lang="pl-PL" altLang="en-US"/>
              <a:pPr>
                <a:defRPr/>
              </a:pPr>
              <a:t>‹#›</a:t>
            </a:fld>
            <a:endParaRPr lang="pl-PL" altLang="en-US"/>
          </a:p>
        </p:txBody>
      </p:sp>
      <p:sp>
        <p:nvSpPr>
          <p:cNvPr id="72711" name="Freeform 7"/>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defRPr/>
            </a:pPr>
            <a:endParaRPr lang="pl-PL"/>
          </a:p>
        </p:txBody>
      </p:sp>
      <p:sp>
        <p:nvSpPr>
          <p:cNvPr id="72712" name="Line 8"/>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defRPr/>
            </a:pPr>
            <a:endParaRPr lang="pl-PL"/>
          </a:p>
        </p:txBody>
      </p:sp>
    </p:spTree>
  </p:cSld>
  <p:clrMap bg1="lt1" tx1="dk1" bg2="lt2" tx2="dk2" accent1="accent1" accent2="accent2" accent3="accent3" accent4="accent4" accent5="accent5" accent6="accent6" hlink="hlink" folHlink="folHlink"/>
  <p:sldLayoutIdLst>
    <p:sldLayoutId id="2147483734"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hyperlink" Target="http://www.mmpoznan.pl/"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hx.systems/e/want-become-reseller-hx-systems/customer-k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hyperlink" Target="http://www.reghardware.co.uk/" TargetMode="External"/><Relationship Id="rId4" Type="http://schemas.openxmlformats.org/officeDocument/2006/relationships/hyperlink" Target="http://www.automotogaleria.p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hyperlink" Target="http://www.eszkola.p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1.jpeg"/><Relationship Id="rId5" Type="http://schemas.openxmlformats.org/officeDocument/2006/relationships/hyperlink" Target="http://www.timesonline.co.uk/" TargetMode="External"/><Relationship Id="rId4" Type="http://schemas.openxmlformats.org/officeDocument/2006/relationships/hyperlink" Target="http://www.balancedscorecard.org/"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massaroconsulting.com/2017/10/cost-of-quality/"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hyperlink" Target="https://www.knowledgetrain.co.uk/agile/kanban-principles"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theleanway.net/The-8-Wastes-of-Lean"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theleanway.net/The-8-Wastes-of-Lean"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theleanway.net/The-8-Wastes-of-Lean"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theleanway.net/The-8-Wastes-of-Lean"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theleanway.net/The-8-Wastes-of-Lean"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theleanway.net/The-8-Wastes-of-Lean"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theleanway.net/The-8-Wastes-of-Lean"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theleanway.net/The-8-Wastes-of-Lean"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hyperlink" Target="https://takuminotie.com/english/wp-content/uploads/sites/3/2015/02/kaizen11.png" TargetMode="Externa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hyperlink" Target="https://www.researchgate.net/publication/324202036_Case_study_concerning_5S_method_impact_in_an_automotive_company/figures?lo=1"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hyperlink" Target="https://www.sesa-systems.co.uk/method-5s-approach-for-an-organized-environment" TargetMode="External"/><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hyperlink" Target="https://www.123rf.com/photo_82522466_portrait-of-a-smiling-male-janitor-cleaning-desk-with-cloth-at-workplace.html"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hyperlink" Target="https://www.creativesafetysupply.com/articles/quality-circle/"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www.saihamielec.pl/" TargetMode="External"/><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www.leansixsigmadefinition.com/glossary/six-sigma/"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www.leansixsigmadefinition.com/glossary/six-sigma/"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hyperlink" Target="http://www.props.com.au/" TargetMode="Externa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p:txBody>
          <a:bodyPr/>
          <a:lstStyle/>
          <a:p>
            <a:pPr eaLnBrk="1" hangingPunct="1"/>
            <a:r>
              <a:rPr lang="pl-PL" sz="4800" b="1" dirty="0" err="1"/>
              <a:t>Quality</a:t>
            </a:r>
            <a:r>
              <a:rPr lang="pl-PL" sz="4800" b="1" dirty="0"/>
              <a:t> management</a:t>
            </a:r>
          </a:p>
        </p:txBody>
      </p:sp>
      <p:sp>
        <p:nvSpPr>
          <p:cNvPr id="4099" name="Rectangle 5"/>
          <p:cNvSpPr>
            <a:spLocks noGrp="1" noChangeArrowheads="1"/>
          </p:cNvSpPr>
          <p:nvPr>
            <p:ph type="subTitle" idx="1"/>
          </p:nvPr>
        </p:nvSpPr>
        <p:spPr>
          <a:xfrm>
            <a:off x="2051050" y="4005263"/>
            <a:ext cx="6400800" cy="1752600"/>
          </a:xfrm>
        </p:spPr>
        <p:txBody>
          <a:bodyPr/>
          <a:lstStyle/>
          <a:p>
            <a:pPr eaLnBrk="1" hangingPunct="1"/>
            <a:endParaRPr lang="pl-PL" b="1">
              <a:solidFill>
                <a:srgbClr val="0066CC"/>
              </a:solidFill>
            </a:endParaRPr>
          </a:p>
          <a:p>
            <a:pPr eaLnBrk="1" hangingPunct="1"/>
            <a:endParaRPr lang="pl-PL" b="1">
              <a:solidFill>
                <a:srgbClr val="0066CC"/>
              </a:solidFill>
            </a:endParaRPr>
          </a:p>
          <a:p>
            <a:pPr eaLnBrk="1" hangingPunct="1"/>
            <a:endParaRPr lang="pl-PL" b="1">
              <a:solidFill>
                <a:srgbClr val="0066CC"/>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5123" name="Rectangle 2"/>
          <p:cNvSpPr>
            <a:spLocks noGrp="1" noChangeArrowheads="1"/>
          </p:cNvSpPr>
          <p:nvPr>
            <p:ph type="title"/>
          </p:nvPr>
        </p:nvSpPr>
        <p:spPr/>
        <p:txBody>
          <a:bodyPr/>
          <a:lstStyle/>
          <a:p>
            <a:pPr eaLnBrk="1" hangingPunct="1"/>
            <a:r>
              <a:rPr lang="pl-PL" sz="4000" b="1" dirty="0" err="1"/>
              <a:t>Quality</a:t>
            </a:r>
            <a:r>
              <a:rPr lang="pl-PL" sz="4000" b="1" dirty="0"/>
              <a:t> - </a:t>
            </a:r>
            <a:r>
              <a:rPr lang="pl-PL" sz="4000" b="1" dirty="0" err="1"/>
              <a:t>definitions</a:t>
            </a:r>
            <a:endParaRPr lang="pl-PL" sz="4000" b="1" dirty="0"/>
          </a:p>
        </p:txBody>
      </p:sp>
      <p:sp>
        <p:nvSpPr>
          <p:cNvPr id="5124" name="Rectangle 3"/>
          <p:cNvSpPr>
            <a:spLocks noGrp="1" noChangeArrowheads="1"/>
          </p:cNvSpPr>
          <p:nvPr>
            <p:ph type="body" idx="1"/>
          </p:nvPr>
        </p:nvSpPr>
        <p:spPr/>
        <p:txBody>
          <a:bodyPr/>
          <a:lstStyle/>
          <a:p>
            <a:pPr eaLnBrk="1" hangingPunct="1">
              <a:lnSpc>
                <a:spcPct val="80000"/>
              </a:lnSpc>
            </a:pPr>
            <a:r>
              <a:rPr lang="pl-PL" sz="2600" dirty="0">
                <a:solidFill>
                  <a:srgbClr val="003399"/>
                </a:solidFill>
              </a:rPr>
              <a:t>"</a:t>
            </a:r>
            <a:r>
              <a:rPr lang="en-US" sz="2600" dirty="0">
                <a:solidFill>
                  <a:srgbClr val="003399"/>
                </a:solidFill>
              </a:rPr>
              <a:t>Quality refers to the degree to which a set of inherent properties meets requirements,</a:t>
            </a:r>
            <a:r>
              <a:rPr lang="pl-PL" sz="2600" dirty="0">
                <a:solidFill>
                  <a:srgbClr val="003399"/>
                </a:solidFill>
              </a:rPr>
              <a:t> </a:t>
            </a:r>
            <a:r>
              <a:rPr lang="en-US" sz="2600" dirty="0">
                <a:solidFill>
                  <a:srgbClr val="003399"/>
                </a:solidFill>
              </a:rPr>
              <a:t>where „inherent” is to be understood as „inherent in itself</a:t>
            </a:r>
            <a:r>
              <a:rPr lang="pl-PL" sz="2600" dirty="0">
                <a:solidFill>
                  <a:srgbClr val="003399"/>
                </a:solidFill>
              </a:rPr>
              <a:t>"</a:t>
            </a:r>
          </a:p>
          <a:p>
            <a:pPr eaLnBrk="1" hangingPunct="1">
              <a:lnSpc>
                <a:spcPct val="80000"/>
              </a:lnSpc>
            </a:pPr>
            <a:endParaRPr lang="pl-PL" sz="2600" dirty="0">
              <a:solidFill>
                <a:srgbClr val="003399"/>
              </a:solidFill>
            </a:endParaRPr>
          </a:p>
          <a:p>
            <a:pPr algn="r" eaLnBrk="1" hangingPunct="1">
              <a:lnSpc>
                <a:spcPct val="80000"/>
              </a:lnSpc>
              <a:buFont typeface="Wingdings" pitchFamily="2" charset="2"/>
              <a:buNone/>
            </a:pPr>
            <a:r>
              <a:rPr lang="pl-PL" sz="2600" dirty="0">
                <a:solidFill>
                  <a:srgbClr val="003399"/>
                </a:solidFill>
              </a:rPr>
              <a:t>      ISO 9000:2001</a:t>
            </a:r>
          </a:p>
          <a:p>
            <a:pPr eaLnBrk="1" hangingPunct="1">
              <a:lnSpc>
                <a:spcPct val="80000"/>
              </a:lnSpc>
              <a:buFont typeface="Wingdings" pitchFamily="2" charset="2"/>
              <a:buNone/>
            </a:pPr>
            <a:endParaRPr lang="pl-PL" sz="2600" dirty="0">
              <a:solidFill>
                <a:srgbClr val="003399"/>
              </a:solidFill>
            </a:endParaRPr>
          </a:p>
          <a:p>
            <a:pPr eaLnBrk="1" hangingPunct="1">
              <a:lnSpc>
                <a:spcPct val="80000"/>
              </a:lnSpc>
            </a:pPr>
            <a:r>
              <a:rPr lang="pl-PL" sz="2600" dirty="0">
                <a:solidFill>
                  <a:srgbClr val="003399"/>
                </a:solidFill>
              </a:rPr>
              <a:t>"A</a:t>
            </a:r>
            <a:r>
              <a:rPr lang="en-US" sz="2600" dirty="0">
                <a:solidFill>
                  <a:srgbClr val="003399"/>
                </a:solidFill>
              </a:rPr>
              <a:t> certain degree of perfection</a:t>
            </a:r>
            <a:r>
              <a:rPr lang="pl-PL" sz="2600" dirty="0">
                <a:solidFill>
                  <a:srgbClr val="003399"/>
                </a:solidFill>
              </a:rPr>
              <a:t>"</a:t>
            </a:r>
          </a:p>
          <a:p>
            <a:pPr algn="r" eaLnBrk="1" hangingPunct="1">
              <a:lnSpc>
                <a:spcPct val="80000"/>
              </a:lnSpc>
              <a:buFont typeface="Wingdings" pitchFamily="2" charset="2"/>
              <a:buNone/>
            </a:pPr>
            <a:r>
              <a:rPr lang="pl-PL" sz="2600" dirty="0">
                <a:solidFill>
                  <a:srgbClr val="003399"/>
                </a:solidFill>
              </a:rPr>
              <a:t>Plato</a:t>
            </a:r>
          </a:p>
          <a:p>
            <a:pPr eaLnBrk="1" hangingPunct="1">
              <a:lnSpc>
                <a:spcPct val="80000"/>
              </a:lnSpc>
            </a:pPr>
            <a:endParaRPr lang="pl-PL" sz="2600" dirty="0">
              <a:solidFill>
                <a:srgbClr val="003399"/>
              </a:solidFill>
            </a:endParaRPr>
          </a:p>
          <a:p>
            <a:pPr eaLnBrk="1" hangingPunct="1">
              <a:lnSpc>
                <a:spcPct val="80000"/>
              </a:lnSpc>
            </a:pPr>
            <a:r>
              <a:rPr lang="pl-PL" sz="2600" dirty="0">
                <a:solidFill>
                  <a:srgbClr val="003399"/>
                </a:solidFill>
              </a:rPr>
              <a:t>"</a:t>
            </a:r>
            <a:r>
              <a:rPr lang="en-US" sz="2800" dirty="0">
                <a:solidFill>
                  <a:srgbClr val="003399"/>
                </a:solidFill>
              </a:rPr>
              <a:t>Quality is the fulfilment of the requirements</a:t>
            </a:r>
            <a:r>
              <a:rPr lang="pl-PL" sz="2600" dirty="0">
                <a:solidFill>
                  <a:srgbClr val="003399"/>
                </a:solidFill>
              </a:rPr>
              <a:t> "</a:t>
            </a:r>
          </a:p>
          <a:p>
            <a:pPr eaLnBrk="1" hangingPunct="1">
              <a:lnSpc>
                <a:spcPct val="80000"/>
              </a:lnSpc>
            </a:pPr>
            <a:endParaRPr lang="pl-PL" sz="2600" dirty="0">
              <a:solidFill>
                <a:srgbClr val="003399"/>
              </a:solidFill>
            </a:endParaRPr>
          </a:p>
          <a:p>
            <a:pPr algn="r" eaLnBrk="1" hangingPunct="1">
              <a:lnSpc>
                <a:spcPct val="80000"/>
              </a:lnSpc>
              <a:buFont typeface="Wingdings" pitchFamily="2" charset="2"/>
              <a:buNone/>
            </a:pPr>
            <a:r>
              <a:rPr lang="pl-PL" sz="2600" dirty="0" err="1">
                <a:solidFill>
                  <a:srgbClr val="003399"/>
                </a:solidFill>
              </a:rPr>
              <a:t>Crosby</a:t>
            </a:r>
            <a:endParaRPr lang="pl-PL" sz="2600" dirty="0">
              <a:solidFill>
                <a:srgbClr val="00339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6147" name="Rectangle 2"/>
          <p:cNvSpPr>
            <a:spLocks noGrp="1" noChangeArrowheads="1"/>
          </p:cNvSpPr>
          <p:nvPr>
            <p:ph type="title"/>
          </p:nvPr>
        </p:nvSpPr>
        <p:spPr>
          <a:xfrm>
            <a:off x="395288" y="260350"/>
            <a:ext cx="8748712" cy="1139825"/>
          </a:xfrm>
        </p:spPr>
        <p:txBody>
          <a:bodyPr/>
          <a:lstStyle/>
          <a:p>
            <a:pPr eaLnBrk="1" hangingPunct="1"/>
            <a:r>
              <a:rPr lang="pl-PL" sz="4000" b="1" dirty="0" err="1"/>
              <a:t>Quality</a:t>
            </a:r>
            <a:r>
              <a:rPr lang="pl-PL" sz="4000" b="1" dirty="0"/>
              <a:t> - </a:t>
            </a:r>
            <a:r>
              <a:rPr lang="pl-PL" sz="4000" b="1" dirty="0" err="1"/>
              <a:t>definitions</a:t>
            </a:r>
            <a:endParaRPr lang="pl-PL" sz="4000" b="1" dirty="0"/>
          </a:p>
        </p:txBody>
      </p:sp>
      <p:sp>
        <p:nvSpPr>
          <p:cNvPr id="6148" name="Rectangle 3"/>
          <p:cNvSpPr>
            <a:spLocks noGrp="1" noChangeArrowheads="1"/>
          </p:cNvSpPr>
          <p:nvPr>
            <p:ph type="body" idx="1"/>
          </p:nvPr>
        </p:nvSpPr>
        <p:spPr/>
        <p:txBody>
          <a:bodyPr/>
          <a:lstStyle/>
          <a:p>
            <a:pPr eaLnBrk="1" hangingPunct="1">
              <a:buNone/>
            </a:pPr>
            <a:r>
              <a:rPr lang="pl-PL" sz="3200" dirty="0">
                <a:solidFill>
                  <a:srgbClr val="003399"/>
                </a:solidFill>
              </a:rPr>
              <a:t> </a:t>
            </a:r>
            <a:r>
              <a:rPr lang="pl-PL" sz="3200" b="1" dirty="0">
                <a:solidFill>
                  <a:srgbClr val="003399"/>
                </a:solidFill>
              </a:rPr>
              <a:t>  </a:t>
            </a:r>
            <a:r>
              <a:rPr lang="pl-PL" sz="3200" b="1" dirty="0" err="1">
                <a:solidFill>
                  <a:srgbClr val="003399"/>
                </a:solidFill>
              </a:rPr>
              <a:t>Quality</a:t>
            </a:r>
            <a:r>
              <a:rPr lang="pl-PL" sz="3200" b="1" dirty="0">
                <a:solidFill>
                  <a:srgbClr val="003399"/>
                </a:solidFill>
              </a:rPr>
              <a:t> </a:t>
            </a:r>
            <a:r>
              <a:rPr lang="pl-PL" sz="3200" dirty="0">
                <a:solidFill>
                  <a:srgbClr val="003399"/>
                </a:solidFill>
              </a:rPr>
              <a:t>= </a:t>
            </a:r>
            <a:r>
              <a:rPr lang="en-US" sz="3200" dirty="0">
                <a:solidFill>
                  <a:srgbClr val="003399"/>
                </a:solidFill>
              </a:rPr>
              <a:t>degree to which a set of inherent characteristics of an object fulfils requirements.</a:t>
            </a:r>
            <a:endParaRPr lang="pl-PL" sz="3200" dirty="0">
              <a:solidFill>
                <a:srgbClr val="003399"/>
              </a:solidFill>
            </a:endParaRPr>
          </a:p>
          <a:p>
            <a:pPr eaLnBrk="1" hangingPunct="1">
              <a:buNone/>
            </a:pPr>
            <a:r>
              <a:rPr lang="pl-PL" sz="3200" dirty="0" err="1">
                <a:solidFill>
                  <a:srgbClr val="003399"/>
                </a:solidFill>
              </a:rPr>
              <a:t>Can</a:t>
            </a:r>
            <a:r>
              <a:rPr lang="pl-PL" sz="3200" dirty="0">
                <a:solidFill>
                  <a:srgbClr val="003399"/>
                </a:solidFill>
              </a:rPr>
              <a:t> be: </a:t>
            </a:r>
            <a:r>
              <a:rPr lang="pl-PL" sz="3200" dirty="0" err="1">
                <a:solidFill>
                  <a:srgbClr val="003399"/>
                </a:solidFill>
              </a:rPr>
              <a:t>poor</a:t>
            </a:r>
            <a:r>
              <a:rPr lang="pl-PL" sz="3200" dirty="0">
                <a:solidFill>
                  <a:srgbClr val="003399"/>
                </a:solidFill>
              </a:rPr>
              <a:t>, </a:t>
            </a:r>
            <a:r>
              <a:rPr lang="pl-PL" sz="3200" dirty="0" err="1">
                <a:solidFill>
                  <a:srgbClr val="003399"/>
                </a:solidFill>
              </a:rPr>
              <a:t>good</a:t>
            </a:r>
            <a:r>
              <a:rPr lang="pl-PL" sz="3200" dirty="0">
                <a:solidFill>
                  <a:srgbClr val="003399"/>
                </a:solidFill>
              </a:rPr>
              <a:t>, </a:t>
            </a:r>
            <a:r>
              <a:rPr lang="pl-PL" sz="3200" dirty="0" err="1">
                <a:solidFill>
                  <a:srgbClr val="003399"/>
                </a:solidFill>
              </a:rPr>
              <a:t>excellent</a:t>
            </a:r>
            <a:r>
              <a:rPr lang="pl-PL" sz="3200" dirty="0">
                <a:solidFill>
                  <a:srgbClr val="003399"/>
                </a:solidFill>
              </a:rPr>
              <a:t>. </a:t>
            </a:r>
          </a:p>
        </p:txBody>
      </p:sp>
      <p:pic>
        <p:nvPicPr>
          <p:cNvPr id="6149" name="Picture 4"/>
          <p:cNvPicPr>
            <a:picLocks noChangeAspect="1" noChangeArrowheads="1"/>
          </p:cNvPicPr>
          <p:nvPr/>
        </p:nvPicPr>
        <p:blipFill>
          <a:blip r:embed="rId3" cstate="print"/>
          <a:srcRect/>
          <a:stretch>
            <a:fillRect/>
          </a:stretch>
        </p:blipFill>
        <p:spPr bwMode="auto">
          <a:xfrm>
            <a:off x="1979613" y="4365625"/>
            <a:ext cx="1928812" cy="1443038"/>
          </a:xfrm>
          <a:prstGeom prst="rect">
            <a:avLst/>
          </a:prstGeom>
          <a:noFill/>
          <a:ln w="9525">
            <a:noFill/>
            <a:miter lim="800000"/>
            <a:headEnd/>
            <a:tailEnd/>
          </a:ln>
        </p:spPr>
      </p:pic>
      <p:sp>
        <p:nvSpPr>
          <p:cNvPr id="6150" name="Text Box 5"/>
          <p:cNvSpPr txBox="1">
            <a:spLocks noChangeArrowheads="1"/>
          </p:cNvSpPr>
          <p:nvPr/>
        </p:nvSpPr>
        <p:spPr bwMode="auto">
          <a:xfrm>
            <a:off x="395288" y="6308725"/>
            <a:ext cx="3384550" cy="274638"/>
          </a:xfrm>
          <a:prstGeom prst="rect">
            <a:avLst/>
          </a:prstGeom>
          <a:noFill/>
          <a:ln w="9525">
            <a:noFill/>
            <a:miter lim="800000"/>
            <a:headEnd/>
            <a:tailEnd/>
          </a:ln>
        </p:spPr>
        <p:txBody>
          <a:bodyPr>
            <a:spAutoFit/>
          </a:bodyPr>
          <a:lstStyle/>
          <a:p>
            <a:pPr>
              <a:spcBef>
                <a:spcPct val="50000"/>
              </a:spcBef>
            </a:pPr>
            <a:r>
              <a:rPr lang="pl-PL" sz="1200" dirty="0" err="1"/>
              <a:t>Sources</a:t>
            </a:r>
            <a:r>
              <a:rPr lang="pl-PL" sz="1200" dirty="0"/>
              <a:t>: </a:t>
            </a:r>
            <a:r>
              <a:rPr lang="pl-PL" sz="1200" dirty="0">
                <a:hlinkClick r:id="rId4"/>
              </a:rPr>
              <a:t>www.mmpoznan.pl</a:t>
            </a:r>
            <a:r>
              <a:rPr lang="pl-PL" sz="1200" dirty="0"/>
              <a:t>, www.14tka.com</a:t>
            </a:r>
          </a:p>
        </p:txBody>
      </p:sp>
      <p:pic>
        <p:nvPicPr>
          <p:cNvPr id="6151" name="Picture 6"/>
          <p:cNvPicPr>
            <a:picLocks noChangeAspect="1" noChangeArrowheads="1"/>
          </p:cNvPicPr>
          <p:nvPr/>
        </p:nvPicPr>
        <p:blipFill>
          <a:blip r:embed="rId5" cstate="print"/>
          <a:srcRect/>
          <a:stretch>
            <a:fillRect/>
          </a:stretch>
        </p:blipFill>
        <p:spPr bwMode="auto">
          <a:xfrm>
            <a:off x="4716463" y="4292600"/>
            <a:ext cx="2143125" cy="1614488"/>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7171" name="Rectangle 2"/>
          <p:cNvSpPr>
            <a:spLocks noGrp="1" noChangeArrowheads="1"/>
          </p:cNvSpPr>
          <p:nvPr>
            <p:ph type="title"/>
          </p:nvPr>
        </p:nvSpPr>
        <p:spPr/>
        <p:txBody>
          <a:bodyPr/>
          <a:lstStyle/>
          <a:p>
            <a:pPr eaLnBrk="1" hangingPunct="1"/>
            <a:r>
              <a:rPr lang="pl-PL" sz="4000" b="1" dirty="0" err="1"/>
              <a:t>Quality</a:t>
            </a:r>
            <a:r>
              <a:rPr lang="pl-PL" sz="4000" b="1" dirty="0"/>
              <a:t> - </a:t>
            </a:r>
            <a:r>
              <a:rPr lang="pl-PL" sz="4000" b="1" dirty="0" err="1"/>
              <a:t>definitions</a:t>
            </a:r>
            <a:endParaRPr lang="pl-PL" sz="4000" b="1" dirty="0"/>
          </a:p>
        </p:txBody>
      </p:sp>
      <p:sp>
        <p:nvSpPr>
          <p:cNvPr id="7172" name="Rectangle 3"/>
          <p:cNvSpPr>
            <a:spLocks noGrp="1" noChangeArrowheads="1"/>
          </p:cNvSpPr>
          <p:nvPr>
            <p:ph type="body" idx="1"/>
          </p:nvPr>
        </p:nvSpPr>
        <p:spPr/>
        <p:txBody>
          <a:bodyPr/>
          <a:lstStyle/>
          <a:p>
            <a:pPr eaLnBrk="1" hangingPunct="1">
              <a:buFont typeface="Wingdings" pitchFamily="2" charset="2"/>
              <a:buNone/>
            </a:pPr>
            <a:r>
              <a:rPr lang="pl-PL" dirty="0" err="1">
                <a:solidFill>
                  <a:srgbClr val="003399"/>
                </a:solidFill>
              </a:rPr>
              <a:t>Quality</a:t>
            </a:r>
            <a:r>
              <a:rPr lang="pl-PL" dirty="0">
                <a:solidFill>
                  <a:srgbClr val="003399"/>
                </a:solidFill>
              </a:rPr>
              <a:t> = </a:t>
            </a:r>
            <a:r>
              <a:rPr lang="pl-PL" dirty="0" err="1">
                <a:solidFill>
                  <a:srgbClr val="003399"/>
                </a:solidFill>
              </a:rPr>
              <a:t>fulfillment</a:t>
            </a:r>
            <a:r>
              <a:rPr lang="pl-PL" dirty="0">
                <a:solidFill>
                  <a:srgbClr val="003399"/>
                </a:solidFill>
              </a:rPr>
              <a:t> of the </a:t>
            </a:r>
            <a:r>
              <a:rPr lang="pl-PL" dirty="0" err="1">
                <a:solidFill>
                  <a:srgbClr val="003399"/>
                </a:solidFill>
              </a:rPr>
              <a:t>Customer’s</a:t>
            </a:r>
            <a:r>
              <a:rPr lang="pl-PL" dirty="0">
                <a:solidFill>
                  <a:srgbClr val="003399"/>
                </a:solidFill>
              </a:rPr>
              <a:t> </a:t>
            </a:r>
            <a:r>
              <a:rPr lang="pl-PL" dirty="0" err="1">
                <a:solidFill>
                  <a:srgbClr val="003399"/>
                </a:solidFill>
              </a:rPr>
              <a:t>expectations</a:t>
            </a:r>
            <a:r>
              <a:rPr lang="pl-PL" dirty="0">
                <a:solidFill>
                  <a:srgbClr val="003399"/>
                </a:solidFill>
              </a:rPr>
              <a:t>.</a:t>
            </a:r>
          </a:p>
          <a:p>
            <a:pPr eaLnBrk="1" hangingPunct="1">
              <a:buFont typeface="Wingdings" pitchFamily="2" charset="2"/>
              <a:buNone/>
            </a:pPr>
            <a:r>
              <a:rPr lang="pl-PL" dirty="0" err="1">
                <a:solidFill>
                  <a:srgbClr val="003399"/>
                </a:solidFill>
              </a:rPr>
              <a:t>Customer</a:t>
            </a:r>
            <a:r>
              <a:rPr lang="pl-PL" dirty="0">
                <a:solidFill>
                  <a:srgbClr val="003399"/>
                </a:solidFill>
              </a:rPr>
              <a:t> = King </a:t>
            </a:r>
            <a:r>
              <a:rPr lang="pl-PL" dirty="0">
                <a:solidFill>
                  <a:srgbClr val="003399"/>
                </a:solidFill>
                <a:sym typeface="Wingdings" pitchFamily="2" charset="2"/>
              </a:rPr>
              <a:t></a:t>
            </a:r>
            <a:endParaRPr lang="pl-PL" dirty="0">
              <a:solidFill>
                <a:srgbClr val="003399"/>
              </a:solidFill>
            </a:endParaRPr>
          </a:p>
        </p:txBody>
      </p:sp>
      <p:sp>
        <p:nvSpPr>
          <p:cNvPr id="7174" name="Text Box 6"/>
          <p:cNvSpPr txBox="1">
            <a:spLocks noChangeArrowheads="1"/>
          </p:cNvSpPr>
          <p:nvPr/>
        </p:nvSpPr>
        <p:spPr bwMode="auto">
          <a:xfrm>
            <a:off x="395288" y="6308725"/>
            <a:ext cx="5624512" cy="276999"/>
          </a:xfrm>
          <a:prstGeom prst="rect">
            <a:avLst/>
          </a:prstGeom>
          <a:noFill/>
          <a:ln w="9525">
            <a:noFill/>
            <a:miter lim="800000"/>
            <a:headEnd/>
            <a:tailEnd/>
          </a:ln>
        </p:spPr>
        <p:txBody>
          <a:bodyPr wrap="square">
            <a:spAutoFit/>
          </a:bodyPr>
          <a:lstStyle/>
          <a:p>
            <a:pPr>
              <a:spcBef>
                <a:spcPct val="50000"/>
              </a:spcBef>
            </a:pPr>
            <a:r>
              <a:rPr lang="pl-PL" sz="1200" dirty="0"/>
              <a:t>Source: </a:t>
            </a:r>
            <a:r>
              <a:rPr lang="pl-PL" sz="1200" dirty="0">
                <a:hlinkClick r:id="rId3"/>
              </a:rPr>
              <a:t>https://hx.systems/e/want-become-reseller-hx-systems/customer-king/</a:t>
            </a:r>
            <a:endParaRPr lang="pl-PL" sz="1200" dirty="0"/>
          </a:p>
        </p:txBody>
      </p:sp>
      <p:pic>
        <p:nvPicPr>
          <p:cNvPr id="3" name="Obraz 2"/>
          <p:cNvPicPr>
            <a:picLocks noChangeAspect="1"/>
          </p:cNvPicPr>
          <p:nvPr/>
        </p:nvPicPr>
        <p:blipFill>
          <a:blip r:embed="rId4"/>
          <a:stretch>
            <a:fillRect/>
          </a:stretch>
        </p:blipFill>
        <p:spPr>
          <a:xfrm>
            <a:off x="3059832" y="3429000"/>
            <a:ext cx="2664296" cy="25107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8195" name="Rectangle 2"/>
          <p:cNvSpPr>
            <a:spLocks noGrp="1" noChangeArrowheads="1"/>
          </p:cNvSpPr>
          <p:nvPr>
            <p:ph type="title"/>
          </p:nvPr>
        </p:nvSpPr>
        <p:spPr>
          <a:xfrm>
            <a:off x="395288" y="260350"/>
            <a:ext cx="8569325" cy="1139825"/>
          </a:xfrm>
        </p:spPr>
        <p:txBody>
          <a:bodyPr/>
          <a:lstStyle/>
          <a:p>
            <a:pPr eaLnBrk="1" hangingPunct="1"/>
            <a:r>
              <a:rPr lang="pl-PL" sz="4000" b="1" dirty="0" err="1"/>
              <a:t>Quality</a:t>
            </a:r>
            <a:r>
              <a:rPr lang="pl-PL" sz="4000" b="1" dirty="0"/>
              <a:t> management</a:t>
            </a:r>
          </a:p>
        </p:txBody>
      </p:sp>
      <p:sp>
        <p:nvSpPr>
          <p:cNvPr id="8196" name="Rectangle 3"/>
          <p:cNvSpPr>
            <a:spLocks noGrp="1" noChangeArrowheads="1"/>
          </p:cNvSpPr>
          <p:nvPr>
            <p:ph type="body" idx="1"/>
          </p:nvPr>
        </p:nvSpPr>
        <p:spPr/>
        <p:txBody>
          <a:bodyPr/>
          <a:lstStyle/>
          <a:p>
            <a:pPr eaLnBrk="1" hangingPunct="1">
              <a:buNone/>
            </a:pPr>
            <a:r>
              <a:rPr lang="pl-PL" sz="3200" dirty="0">
                <a:solidFill>
                  <a:srgbClr val="003399"/>
                </a:solidFill>
              </a:rPr>
              <a:t>   </a:t>
            </a:r>
            <a:r>
              <a:rPr lang="pl-PL" sz="3200" b="1" dirty="0" err="1">
                <a:solidFill>
                  <a:srgbClr val="003399"/>
                </a:solidFill>
              </a:rPr>
              <a:t>Quality</a:t>
            </a:r>
            <a:r>
              <a:rPr lang="pl-PL" sz="3200" b="1" dirty="0">
                <a:solidFill>
                  <a:srgbClr val="003399"/>
                </a:solidFill>
              </a:rPr>
              <a:t> management </a:t>
            </a:r>
            <a:r>
              <a:rPr lang="pl-PL" sz="3200" dirty="0">
                <a:solidFill>
                  <a:srgbClr val="003399"/>
                </a:solidFill>
              </a:rPr>
              <a:t>= </a:t>
            </a:r>
            <a:r>
              <a:rPr lang="en-US" sz="3200" dirty="0">
                <a:solidFill>
                  <a:srgbClr val="003399"/>
                </a:solidFill>
              </a:rPr>
              <a:t>managing the processes of analyzing and assessing the differences between the actual and desired state (norm) and improving quality.</a:t>
            </a:r>
            <a:r>
              <a:rPr lang="pl-PL" sz="3200" dirty="0">
                <a:solidFill>
                  <a:srgbClr val="003399"/>
                </a:solidFill>
              </a:rPr>
              <a:t> </a:t>
            </a:r>
          </a:p>
        </p:txBody>
      </p:sp>
      <p:pic>
        <p:nvPicPr>
          <p:cNvPr id="8197" name="Picture 4"/>
          <p:cNvPicPr>
            <a:picLocks noChangeAspect="1" noChangeArrowheads="1"/>
          </p:cNvPicPr>
          <p:nvPr/>
        </p:nvPicPr>
        <p:blipFill>
          <a:blip r:embed="rId3" cstate="print"/>
          <a:srcRect/>
          <a:stretch>
            <a:fillRect/>
          </a:stretch>
        </p:blipFill>
        <p:spPr bwMode="auto">
          <a:xfrm>
            <a:off x="3203848" y="4058445"/>
            <a:ext cx="1928813" cy="1700212"/>
          </a:xfrm>
          <a:prstGeom prst="rect">
            <a:avLst/>
          </a:prstGeom>
          <a:noFill/>
          <a:ln w="9525">
            <a:noFill/>
            <a:miter lim="800000"/>
            <a:headEnd/>
            <a:tailEnd/>
          </a:ln>
        </p:spPr>
      </p:pic>
      <p:sp>
        <p:nvSpPr>
          <p:cNvPr id="8198" name="Text Box 5"/>
          <p:cNvSpPr txBox="1">
            <a:spLocks noChangeArrowheads="1"/>
          </p:cNvSpPr>
          <p:nvPr/>
        </p:nvSpPr>
        <p:spPr bwMode="auto">
          <a:xfrm>
            <a:off x="395288" y="6237288"/>
            <a:ext cx="3097212" cy="274637"/>
          </a:xfrm>
          <a:prstGeom prst="rect">
            <a:avLst/>
          </a:prstGeom>
          <a:noFill/>
          <a:ln w="9525">
            <a:noFill/>
            <a:miter lim="800000"/>
            <a:headEnd/>
            <a:tailEnd/>
          </a:ln>
        </p:spPr>
        <p:txBody>
          <a:bodyPr>
            <a:spAutoFit/>
          </a:bodyPr>
          <a:lstStyle/>
          <a:p>
            <a:pPr>
              <a:spcBef>
                <a:spcPct val="50000"/>
              </a:spcBef>
            </a:pPr>
            <a:r>
              <a:rPr lang="pl-PL" sz="1200" dirty="0"/>
              <a:t>Source: korespondentdrogowy.pl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9219" name="Rectangle 2"/>
          <p:cNvSpPr>
            <a:spLocks noGrp="1" noChangeArrowheads="1"/>
          </p:cNvSpPr>
          <p:nvPr>
            <p:ph type="title"/>
          </p:nvPr>
        </p:nvSpPr>
        <p:spPr/>
        <p:txBody>
          <a:bodyPr/>
          <a:lstStyle/>
          <a:p>
            <a:pPr defTabSz="946150" eaLnBrk="1" hangingPunct="1"/>
            <a:r>
              <a:rPr lang="en-US" sz="4000" b="1" dirty="0"/>
              <a:t>The genesis of the increase in the importance of quality</a:t>
            </a:r>
            <a:r>
              <a:rPr lang="pl-PL" sz="4000" b="1" dirty="0"/>
              <a:t> </a:t>
            </a:r>
          </a:p>
        </p:txBody>
      </p:sp>
      <p:sp>
        <p:nvSpPr>
          <p:cNvPr id="9220" name="Rectangle 3"/>
          <p:cNvSpPr>
            <a:spLocks noGrp="1" noChangeArrowheads="1"/>
          </p:cNvSpPr>
          <p:nvPr>
            <p:ph type="body" idx="1"/>
          </p:nvPr>
        </p:nvSpPr>
        <p:spPr>
          <a:xfrm>
            <a:off x="457200" y="1600200"/>
            <a:ext cx="8229600" cy="4997450"/>
          </a:xfrm>
        </p:spPr>
        <p:txBody>
          <a:bodyPr/>
          <a:lstStyle/>
          <a:p>
            <a:pPr marL="815975" lvl="1" indent="-342900" defTabSz="946150" eaLnBrk="1" hangingPunct="1">
              <a:lnSpc>
                <a:spcPct val="80000"/>
              </a:lnSpc>
              <a:buFont typeface="Arial" panose="020B0604020202020204" pitchFamily="34" charset="0"/>
              <a:buChar char="•"/>
            </a:pPr>
            <a:r>
              <a:rPr lang="en-US" sz="2200" dirty="0">
                <a:solidFill>
                  <a:srgbClr val="003399"/>
                </a:solidFill>
              </a:rPr>
              <a:t>Management through</a:t>
            </a:r>
            <a:r>
              <a:rPr lang="pl-PL" sz="2200" dirty="0">
                <a:solidFill>
                  <a:srgbClr val="003399"/>
                </a:solidFill>
              </a:rPr>
              <a:t>/by</a:t>
            </a:r>
            <a:r>
              <a:rPr lang="en-US" sz="2200" dirty="0">
                <a:solidFill>
                  <a:srgbClr val="003399"/>
                </a:solidFill>
              </a:rPr>
              <a:t> </a:t>
            </a:r>
            <a:r>
              <a:rPr lang="en-US" sz="2200" b="1" dirty="0">
                <a:solidFill>
                  <a:srgbClr val="003399"/>
                </a:solidFill>
              </a:rPr>
              <a:t>production</a:t>
            </a:r>
            <a:r>
              <a:rPr lang="en-US" sz="2200" dirty="0">
                <a:solidFill>
                  <a:srgbClr val="003399"/>
                </a:solidFill>
              </a:rPr>
              <a:t> - maximization of production</a:t>
            </a:r>
            <a:endParaRPr lang="pl-PL" sz="2200" dirty="0">
              <a:solidFill>
                <a:srgbClr val="003399"/>
              </a:solidFill>
            </a:endParaRPr>
          </a:p>
          <a:p>
            <a:pPr marL="768350" lvl="1" indent="-295275" defTabSz="946150" eaLnBrk="1" hangingPunct="1">
              <a:lnSpc>
                <a:spcPct val="80000"/>
              </a:lnSpc>
              <a:buFont typeface="Wingdings" pitchFamily="2" charset="2"/>
              <a:buNone/>
            </a:pPr>
            <a:endParaRPr lang="pl-PL" sz="2200" dirty="0">
              <a:solidFill>
                <a:srgbClr val="003399"/>
              </a:solidFill>
            </a:endParaRPr>
          </a:p>
          <a:p>
            <a:pPr marL="768350" lvl="1" indent="-295275" defTabSz="946150" eaLnBrk="1" hangingPunct="1">
              <a:lnSpc>
                <a:spcPct val="80000"/>
              </a:lnSpc>
              <a:buFont typeface="Wingdings" pitchFamily="2" charset="2"/>
              <a:buNone/>
            </a:pPr>
            <a:endParaRPr lang="pl-PL" sz="2200" dirty="0">
              <a:solidFill>
                <a:srgbClr val="003399"/>
              </a:solidFill>
            </a:endParaRPr>
          </a:p>
          <a:p>
            <a:pPr marL="768350" lvl="1" indent="-295275" defTabSz="946150" eaLnBrk="1" hangingPunct="1">
              <a:lnSpc>
                <a:spcPct val="80000"/>
              </a:lnSpc>
            </a:pPr>
            <a:endParaRPr lang="pl-PL" sz="2200" dirty="0">
              <a:solidFill>
                <a:srgbClr val="003399"/>
              </a:solidFill>
            </a:endParaRPr>
          </a:p>
          <a:p>
            <a:pPr marL="815975" lvl="1" indent="-342900" defTabSz="946150" eaLnBrk="1" hangingPunct="1">
              <a:lnSpc>
                <a:spcPct val="80000"/>
              </a:lnSpc>
              <a:buFont typeface="Arial" panose="020B0604020202020204" pitchFamily="34" charset="0"/>
              <a:buChar char="•"/>
            </a:pPr>
            <a:r>
              <a:rPr lang="en-US" sz="2200" dirty="0">
                <a:solidFill>
                  <a:srgbClr val="003399"/>
                </a:solidFill>
              </a:rPr>
              <a:t>Management by </a:t>
            </a:r>
            <a:r>
              <a:rPr lang="en-US" sz="2200" b="1" dirty="0">
                <a:solidFill>
                  <a:srgbClr val="003399"/>
                </a:solidFill>
              </a:rPr>
              <a:t>marketing</a:t>
            </a:r>
            <a:r>
              <a:rPr lang="en-US" sz="2200" dirty="0">
                <a:solidFill>
                  <a:srgbClr val="003399"/>
                </a:solidFill>
              </a:rPr>
              <a:t> - </a:t>
            </a:r>
            <a:r>
              <a:rPr lang="pl-PL" sz="2200" dirty="0" err="1">
                <a:solidFill>
                  <a:srgbClr val="003399"/>
                </a:solidFill>
              </a:rPr>
              <a:t>creating</a:t>
            </a:r>
            <a:r>
              <a:rPr lang="en-US" sz="2200" dirty="0">
                <a:solidFill>
                  <a:srgbClr val="003399"/>
                </a:solidFill>
              </a:rPr>
              <a:t> and </a:t>
            </a:r>
            <a:endParaRPr lang="pl-PL" sz="2200" dirty="0">
              <a:solidFill>
                <a:srgbClr val="003399"/>
              </a:solidFill>
            </a:endParaRPr>
          </a:p>
          <a:p>
            <a:pPr marL="473075" lvl="1" indent="0" defTabSz="946150" eaLnBrk="1" hangingPunct="1">
              <a:lnSpc>
                <a:spcPct val="80000"/>
              </a:lnSpc>
              <a:buNone/>
            </a:pPr>
            <a:r>
              <a:rPr lang="pl-PL" sz="2200" dirty="0">
                <a:solidFill>
                  <a:srgbClr val="003399"/>
                </a:solidFill>
              </a:rPr>
              <a:t>    </a:t>
            </a:r>
            <a:r>
              <a:rPr lang="en-US" sz="2200" dirty="0">
                <a:solidFill>
                  <a:srgbClr val="003399"/>
                </a:solidFill>
              </a:rPr>
              <a:t>satisfying the needs of the recipient</a:t>
            </a:r>
            <a:endParaRPr lang="pl-PL" sz="2200" dirty="0">
              <a:solidFill>
                <a:srgbClr val="003399"/>
              </a:solidFill>
            </a:endParaRPr>
          </a:p>
          <a:p>
            <a:pPr marL="768350" lvl="1" indent="-295275" defTabSz="946150" eaLnBrk="1" hangingPunct="1">
              <a:lnSpc>
                <a:spcPct val="80000"/>
              </a:lnSpc>
            </a:pPr>
            <a:endParaRPr lang="pl-PL" sz="2200" dirty="0">
              <a:solidFill>
                <a:srgbClr val="003399"/>
              </a:solidFill>
            </a:endParaRPr>
          </a:p>
          <a:p>
            <a:pPr marL="815975" lvl="1" indent="-342900" defTabSz="946150" eaLnBrk="1" hangingPunct="1">
              <a:lnSpc>
                <a:spcPct val="80000"/>
              </a:lnSpc>
              <a:buFont typeface="Arial" panose="020B0604020202020204" pitchFamily="34" charset="0"/>
              <a:buChar char="•"/>
            </a:pPr>
            <a:endParaRPr lang="pl-PL" sz="2200" b="1" dirty="0">
              <a:solidFill>
                <a:srgbClr val="003399"/>
              </a:solidFill>
            </a:endParaRPr>
          </a:p>
          <a:p>
            <a:pPr marL="815975" lvl="1" indent="-342900" algn="just" defTabSz="946150" eaLnBrk="1" hangingPunct="1">
              <a:lnSpc>
                <a:spcPct val="80000"/>
              </a:lnSpc>
              <a:buFont typeface="Arial" panose="020B0604020202020204" pitchFamily="34" charset="0"/>
              <a:buChar char="•"/>
            </a:pPr>
            <a:r>
              <a:rPr lang="en-US" sz="2200" b="1" dirty="0">
                <a:solidFill>
                  <a:srgbClr val="003399"/>
                </a:solidFill>
              </a:rPr>
              <a:t>Quality management </a:t>
            </a:r>
            <a:r>
              <a:rPr lang="en-US" sz="2200" dirty="0">
                <a:solidFill>
                  <a:srgbClr val="003399"/>
                </a:solidFill>
              </a:rPr>
              <a:t>- a comprehensive approach to quality in the organization and its environment - this complexity results from the fact that the quality of final products is determined by the activity of all subsystems of the organization and the situation in its environment.</a:t>
            </a:r>
            <a:endParaRPr lang="pl-PL" sz="2200" dirty="0">
              <a:solidFill>
                <a:srgbClr val="003399"/>
              </a:solidFill>
            </a:endParaRPr>
          </a:p>
        </p:txBody>
      </p:sp>
      <p:pic>
        <p:nvPicPr>
          <p:cNvPr id="9221" name="Picture 4"/>
          <p:cNvPicPr>
            <a:picLocks noChangeAspect="1" noChangeArrowheads="1"/>
          </p:cNvPicPr>
          <p:nvPr/>
        </p:nvPicPr>
        <p:blipFill>
          <a:blip r:embed="rId3" cstate="print"/>
          <a:srcRect/>
          <a:stretch>
            <a:fillRect/>
          </a:stretch>
        </p:blipFill>
        <p:spPr bwMode="auto">
          <a:xfrm>
            <a:off x="3419475" y="2060575"/>
            <a:ext cx="1584325" cy="1052513"/>
          </a:xfrm>
          <a:prstGeom prst="rect">
            <a:avLst/>
          </a:prstGeom>
          <a:noFill/>
          <a:ln w="9525">
            <a:noFill/>
            <a:miter lim="800000"/>
            <a:headEnd/>
            <a:tailEnd/>
          </a:ln>
        </p:spPr>
      </p:pic>
      <p:sp>
        <p:nvSpPr>
          <p:cNvPr id="9222" name="Text Box 5"/>
          <p:cNvSpPr txBox="1">
            <a:spLocks noChangeArrowheads="1"/>
          </p:cNvSpPr>
          <p:nvPr/>
        </p:nvSpPr>
        <p:spPr bwMode="auto">
          <a:xfrm>
            <a:off x="250825" y="6237288"/>
            <a:ext cx="4321175" cy="579437"/>
          </a:xfrm>
          <a:prstGeom prst="rect">
            <a:avLst/>
          </a:prstGeom>
          <a:noFill/>
          <a:ln w="9525">
            <a:noFill/>
            <a:miter lim="800000"/>
            <a:headEnd/>
            <a:tailEnd/>
          </a:ln>
        </p:spPr>
        <p:txBody>
          <a:bodyPr>
            <a:spAutoFit/>
          </a:bodyPr>
          <a:lstStyle/>
          <a:p>
            <a:pPr>
              <a:spcBef>
                <a:spcPct val="50000"/>
              </a:spcBef>
            </a:pPr>
            <a:r>
              <a:rPr lang="pl-PL" sz="1200" dirty="0" err="1"/>
              <a:t>Sources</a:t>
            </a:r>
            <a:r>
              <a:rPr lang="pl-PL" sz="1200" dirty="0"/>
              <a:t>: </a:t>
            </a:r>
            <a:r>
              <a:rPr lang="pl-PL" sz="1200" dirty="0">
                <a:hlinkClick r:id="rId4"/>
              </a:rPr>
              <a:t>www.automotogaleria.pl</a:t>
            </a:r>
            <a:r>
              <a:rPr lang="pl-PL" sz="1200" dirty="0"/>
              <a:t>, </a:t>
            </a:r>
            <a:r>
              <a:rPr lang="pl-PL" sz="1200" dirty="0">
                <a:hlinkClick r:id="rId5"/>
              </a:rPr>
              <a:t>www.reghardware.co.uk</a:t>
            </a:r>
            <a:r>
              <a:rPr lang="pl-PL" sz="1200" dirty="0"/>
              <a:t>,</a:t>
            </a:r>
            <a:r>
              <a:rPr lang="pl-PL" dirty="0"/>
              <a:t> </a:t>
            </a:r>
          </a:p>
        </p:txBody>
      </p:sp>
      <p:pic>
        <p:nvPicPr>
          <p:cNvPr id="9223" name="Picture 6"/>
          <p:cNvPicPr>
            <a:picLocks noChangeAspect="1" noChangeArrowheads="1"/>
          </p:cNvPicPr>
          <p:nvPr/>
        </p:nvPicPr>
        <p:blipFill>
          <a:blip r:embed="rId6" cstate="print"/>
          <a:srcRect/>
          <a:stretch>
            <a:fillRect/>
          </a:stretch>
        </p:blipFill>
        <p:spPr bwMode="auto">
          <a:xfrm>
            <a:off x="7164288" y="2780928"/>
            <a:ext cx="1028700" cy="1209675"/>
          </a:xfrm>
          <a:prstGeom prst="rect">
            <a:avLst/>
          </a:prstGeom>
          <a:noFill/>
          <a:ln w="9525">
            <a:noFill/>
            <a:miter lim="800000"/>
            <a:headEnd/>
            <a:tailEnd/>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10243" name="Rectangle 2"/>
          <p:cNvSpPr>
            <a:spLocks noGrp="1" noChangeArrowheads="1"/>
          </p:cNvSpPr>
          <p:nvPr>
            <p:ph type="title"/>
          </p:nvPr>
        </p:nvSpPr>
        <p:spPr/>
        <p:txBody>
          <a:bodyPr/>
          <a:lstStyle/>
          <a:p>
            <a:pPr eaLnBrk="1" hangingPunct="1"/>
            <a:r>
              <a:rPr lang="pl-PL" sz="4000" b="1" dirty="0"/>
              <a:t>The </a:t>
            </a:r>
            <a:r>
              <a:rPr lang="pl-PL" sz="4000" b="1" dirty="0" err="1"/>
              <a:t>origins</a:t>
            </a:r>
            <a:r>
              <a:rPr lang="pl-PL" sz="4000" b="1" dirty="0"/>
              <a:t> of </a:t>
            </a:r>
            <a:r>
              <a:rPr lang="pl-PL" sz="4000" b="1" dirty="0" err="1"/>
              <a:t>quality</a:t>
            </a:r>
            <a:r>
              <a:rPr lang="pl-PL" sz="4000" b="1" dirty="0"/>
              <a:t> management </a:t>
            </a:r>
            <a:r>
              <a:rPr lang="pl-PL" sz="4000" b="1" dirty="0">
                <a:sym typeface="Wingdings" pitchFamily="2" charset="2"/>
              </a:rPr>
              <a:t></a:t>
            </a:r>
          </a:p>
        </p:txBody>
      </p:sp>
      <p:sp>
        <p:nvSpPr>
          <p:cNvPr id="10244" name="Rectangle 4"/>
          <p:cNvSpPr>
            <a:spLocks noGrp="1" noChangeArrowheads="1"/>
          </p:cNvSpPr>
          <p:nvPr>
            <p:ph type="body" idx="1"/>
          </p:nvPr>
        </p:nvSpPr>
        <p:spPr/>
        <p:txBody>
          <a:bodyPr/>
          <a:lstStyle/>
          <a:p>
            <a:pPr eaLnBrk="1" hangingPunct="1">
              <a:buFont typeface="Wingdings" pitchFamily="2" charset="2"/>
              <a:buNone/>
            </a:pPr>
            <a:endParaRPr lang="pl-PL" dirty="0"/>
          </a:p>
        </p:txBody>
      </p:sp>
      <p:pic>
        <p:nvPicPr>
          <p:cNvPr id="10245" name="Picture 5" descr="a"/>
          <p:cNvPicPr>
            <a:picLocks noChangeAspect="1" noChangeArrowheads="1"/>
          </p:cNvPicPr>
          <p:nvPr/>
        </p:nvPicPr>
        <p:blipFill>
          <a:blip r:embed="rId3" cstate="print"/>
          <a:srcRect/>
          <a:stretch>
            <a:fillRect/>
          </a:stretch>
        </p:blipFill>
        <p:spPr bwMode="auto">
          <a:xfrm>
            <a:off x="3276600" y="1844675"/>
            <a:ext cx="1585913" cy="1857375"/>
          </a:xfrm>
          <a:prstGeom prst="rect">
            <a:avLst/>
          </a:prstGeom>
          <a:noFill/>
          <a:ln w="9525">
            <a:noFill/>
            <a:miter lim="800000"/>
            <a:headEnd/>
            <a:tailEnd/>
          </a:ln>
        </p:spPr>
      </p:pic>
      <p:sp>
        <p:nvSpPr>
          <p:cNvPr id="10246" name="Text Box 6"/>
          <p:cNvSpPr txBox="1">
            <a:spLocks noChangeArrowheads="1"/>
          </p:cNvSpPr>
          <p:nvPr/>
        </p:nvSpPr>
        <p:spPr bwMode="auto">
          <a:xfrm>
            <a:off x="395932" y="6313487"/>
            <a:ext cx="6984380" cy="461665"/>
          </a:xfrm>
          <a:prstGeom prst="rect">
            <a:avLst/>
          </a:prstGeom>
          <a:noFill/>
          <a:ln w="9525">
            <a:noFill/>
            <a:miter lim="800000"/>
            <a:headEnd/>
            <a:tailEnd/>
          </a:ln>
        </p:spPr>
        <p:txBody>
          <a:bodyPr wrap="square">
            <a:spAutoFit/>
          </a:bodyPr>
          <a:lstStyle/>
          <a:p>
            <a:pPr>
              <a:spcBef>
                <a:spcPct val="50000"/>
              </a:spcBef>
            </a:pPr>
            <a:r>
              <a:rPr lang="pl-PL" sz="1200" dirty="0" err="1"/>
              <a:t>Sources</a:t>
            </a:r>
            <a:r>
              <a:rPr lang="pl-PL" sz="1200" dirty="0"/>
              <a:t>: enjpro.info, </a:t>
            </a:r>
            <a:r>
              <a:rPr lang="pl-PL" sz="1200" dirty="0" err="1"/>
              <a:t>Pacholarz</a:t>
            </a:r>
            <a:r>
              <a:rPr lang="pl-PL" sz="1200" dirty="0"/>
              <a:t>, Bucki, </a:t>
            </a:r>
            <a:r>
              <a:rPr lang="en-US" sz="1200" dirty="0"/>
              <a:t>Perception and understanding of quality in Deming’s management theory... and quality process improvement in education</a:t>
            </a:r>
            <a:endParaRPr lang="pl-PL"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11267" name="Rectangle 2"/>
          <p:cNvSpPr>
            <a:spLocks noGrp="1" noChangeArrowheads="1"/>
          </p:cNvSpPr>
          <p:nvPr>
            <p:ph type="title"/>
          </p:nvPr>
        </p:nvSpPr>
        <p:spPr/>
        <p:txBody>
          <a:bodyPr/>
          <a:lstStyle/>
          <a:p>
            <a:pPr eaLnBrk="1" hangingPunct="1"/>
            <a:r>
              <a:rPr lang="pl-PL" sz="4000" b="1" dirty="0" err="1"/>
              <a:t>Quality</a:t>
            </a:r>
            <a:r>
              <a:rPr lang="pl-PL" sz="4000" b="1" dirty="0"/>
              <a:t> management </a:t>
            </a:r>
            <a:r>
              <a:rPr lang="pl-PL" sz="4000" b="1" dirty="0" err="1"/>
              <a:t>systems</a:t>
            </a:r>
            <a:r>
              <a:rPr lang="pl-PL" sz="4000" b="1" dirty="0"/>
              <a:t> – </a:t>
            </a:r>
            <a:r>
              <a:rPr lang="pl-PL" sz="4000" b="1" dirty="0" err="1"/>
              <a:t>history</a:t>
            </a:r>
            <a:r>
              <a:rPr lang="pl-PL" sz="4000" b="1" dirty="0"/>
              <a:t> </a:t>
            </a:r>
            <a:r>
              <a:rPr lang="pl-PL" sz="4000" b="1" dirty="0">
                <a:sym typeface="Wingdings" pitchFamily="2" charset="2"/>
              </a:rPr>
              <a:t></a:t>
            </a:r>
          </a:p>
        </p:txBody>
      </p:sp>
      <p:sp>
        <p:nvSpPr>
          <p:cNvPr id="11268" name="Rectangle 3"/>
          <p:cNvSpPr>
            <a:spLocks noGrp="1" noChangeAspect="1" noChangeArrowheads="1"/>
          </p:cNvSpPr>
          <p:nvPr>
            <p:ph type="body" idx="1"/>
          </p:nvPr>
        </p:nvSpPr>
        <p:spPr/>
        <p:txBody>
          <a:bodyPr/>
          <a:lstStyle/>
          <a:p>
            <a:pPr eaLnBrk="1" hangingPunct="1">
              <a:buFont typeface="Wingdings" pitchFamily="2" charset="2"/>
              <a:buNone/>
            </a:pPr>
            <a:endParaRPr lang="pl-PL" dirty="0"/>
          </a:p>
        </p:txBody>
      </p:sp>
      <p:pic>
        <p:nvPicPr>
          <p:cNvPr id="11269" name="Picture 4" descr="a"/>
          <p:cNvPicPr>
            <a:picLocks noChangeAspect="1" noChangeArrowheads="1"/>
          </p:cNvPicPr>
          <p:nvPr/>
        </p:nvPicPr>
        <p:blipFill>
          <a:blip r:embed="rId3" cstate="print"/>
          <a:srcRect/>
          <a:stretch>
            <a:fillRect/>
          </a:stretch>
        </p:blipFill>
        <p:spPr bwMode="auto">
          <a:xfrm>
            <a:off x="1547813" y="1916113"/>
            <a:ext cx="2043112" cy="1357312"/>
          </a:xfrm>
          <a:prstGeom prst="rect">
            <a:avLst/>
          </a:prstGeom>
          <a:noFill/>
          <a:ln w="9525">
            <a:noFill/>
            <a:miter lim="800000"/>
            <a:headEnd/>
            <a:tailEnd/>
          </a:ln>
        </p:spPr>
      </p:pic>
      <p:sp>
        <p:nvSpPr>
          <p:cNvPr id="11270" name="Text Box 5"/>
          <p:cNvSpPr txBox="1">
            <a:spLocks noChangeArrowheads="1"/>
          </p:cNvSpPr>
          <p:nvPr/>
        </p:nvSpPr>
        <p:spPr bwMode="auto">
          <a:xfrm>
            <a:off x="323850" y="6237288"/>
            <a:ext cx="4032250" cy="274637"/>
          </a:xfrm>
          <a:prstGeom prst="rect">
            <a:avLst/>
          </a:prstGeom>
          <a:noFill/>
          <a:ln w="9525">
            <a:noFill/>
            <a:miter lim="800000"/>
            <a:headEnd/>
            <a:tailEnd/>
          </a:ln>
        </p:spPr>
        <p:txBody>
          <a:bodyPr>
            <a:spAutoFit/>
          </a:bodyPr>
          <a:lstStyle/>
          <a:p>
            <a:pPr>
              <a:spcBef>
                <a:spcPct val="50000"/>
              </a:spcBef>
            </a:pPr>
            <a:r>
              <a:rPr lang="pl-PL" sz="1200" dirty="0" err="1"/>
              <a:t>Sources</a:t>
            </a:r>
            <a:r>
              <a:rPr lang="pl-PL" sz="1200" dirty="0"/>
              <a:t>: </a:t>
            </a:r>
            <a:r>
              <a:rPr lang="pl-PL" sz="1200" dirty="0">
                <a:hlinkClick r:id="rId4"/>
              </a:rPr>
              <a:t>www.eszkola.pl</a:t>
            </a:r>
            <a:r>
              <a:rPr lang="pl-PL" sz="1200" dirty="0"/>
              <a:t>, www.e2cweb.com</a:t>
            </a:r>
          </a:p>
        </p:txBody>
      </p:sp>
      <p:pic>
        <p:nvPicPr>
          <p:cNvPr id="11271" name="Picture 7" descr="a"/>
          <p:cNvPicPr>
            <a:picLocks noChangeAspect="1" noChangeArrowheads="1"/>
          </p:cNvPicPr>
          <p:nvPr/>
        </p:nvPicPr>
        <p:blipFill>
          <a:blip r:embed="rId5" cstate="print"/>
          <a:srcRect/>
          <a:stretch>
            <a:fillRect/>
          </a:stretch>
        </p:blipFill>
        <p:spPr bwMode="auto">
          <a:xfrm>
            <a:off x="4572000" y="1916113"/>
            <a:ext cx="1885950" cy="12573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ymbol zastępczy stopki 6"/>
          <p:cNvSpPr>
            <a:spLocks noGrp="1"/>
          </p:cNvSpPr>
          <p:nvPr>
            <p:ph type="ftr" sz="quarter" idx="11"/>
          </p:nvPr>
        </p:nvSpPr>
        <p:spPr/>
        <p:txBody>
          <a:bodyPr/>
          <a:lstStyle/>
          <a:p>
            <a:pPr>
              <a:defRPr/>
            </a:pPr>
            <a:r>
              <a:rPr lang="pl-PL" altLang="en-US"/>
              <a:t>PJAIT</a:t>
            </a:r>
          </a:p>
        </p:txBody>
      </p:sp>
      <p:sp>
        <p:nvSpPr>
          <p:cNvPr id="12291" name="Rectangle 2"/>
          <p:cNvSpPr>
            <a:spLocks noGrp="1" noChangeArrowheads="1"/>
          </p:cNvSpPr>
          <p:nvPr>
            <p:ph type="title"/>
          </p:nvPr>
        </p:nvSpPr>
        <p:spPr>
          <a:xfrm>
            <a:off x="457200" y="277813"/>
            <a:ext cx="8229600" cy="630237"/>
          </a:xfrm>
        </p:spPr>
        <p:txBody>
          <a:bodyPr/>
          <a:lstStyle/>
          <a:p>
            <a:pPr eaLnBrk="1" hangingPunct="1"/>
            <a:r>
              <a:rPr lang="pl-PL" sz="3600" b="1" dirty="0" err="1"/>
              <a:t>Quality</a:t>
            </a:r>
            <a:r>
              <a:rPr lang="pl-PL" sz="3600" b="1" dirty="0"/>
              <a:t> management </a:t>
            </a:r>
            <a:r>
              <a:rPr lang="pl-PL" sz="3600" b="1" dirty="0" err="1"/>
              <a:t>systems</a:t>
            </a:r>
            <a:r>
              <a:rPr lang="pl-PL" sz="3600" b="1" dirty="0"/>
              <a:t> – </a:t>
            </a:r>
            <a:r>
              <a:rPr lang="pl-PL" sz="3600" b="1" dirty="0" err="1"/>
              <a:t>history</a:t>
            </a:r>
            <a:r>
              <a:rPr lang="pl-PL" sz="3600" b="1" dirty="0"/>
              <a:t> </a:t>
            </a:r>
            <a:r>
              <a:rPr lang="pl-PL" sz="3600" b="1" dirty="0">
                <a:sym typeface="Wingdings" pitchFamily="2" charset="2"/>
              </a:rPr>
              <a:t></a:t>
            </a:r>
          </a:p>
        </p:txBody>
      </p:sp>
      <p:sp>
        <p:nvSpPr>
          <p:cNvPr id="12292" name="Rectangle 7"/>
          <p:cNvSpPr>
            <a:spLocks noGrp="1" noChangeArrowheads="1"/>
          </p:cNvSpPr>
          <p:nvPr>
            <p:ph sz="half" idx="1"/>
          </p:nvPr>
        </p:nvSpPr>
        <p:spPr>
          <a:xfrm>
            <a:off x="468313" y="1125538"/>
            <a:ext cx="4038600" cy="4967287"/>
          </a:xfrm>
        </p:spPr>
        <p:txBody>
          <a:bodyPr/>
          <a:lstStyle/>
          <a:p>
            <a:pPr eaLnBrk="1" hangingPunct="1">
              <a:buFont typeface="Wingdings" pitchFamily="2" charset="2"/>
              <a:buNone/>
            </a:pPr>
            <a:r>
              <a:rPr lang="pl-PL" sz="2600" b="1" dirty="0">
                <a:solidFill>
                  <a:srgbClr val="003399"/>
                </a:solidFill>
              </a:rPr>
              <a:t>W. Edwards </a:t>
            </a:r>
            <a:r>
              <a:rPr lang="pl-PL" sz="2600" b="1" dirty="0" err="1">
                <a:solidFill>
                  <a:srgbClr val="003399"/>
                </a:solidFill>
              </a:rPr>
              <a:t>Deming</a:t>
            </a:r>
            <a:endParaRPr lang="pl-PL" sz="2600" b="1" dirty="0">
              <a:solidFill>
                <a:srgbClr val="003399"/>
              </a:solidFill>
            </a:endParaRPr>
          </a:p>
          <a:p>
            <a:pPr eaLnBrk="1" hangingPunct="1">
              <a:buFont typeface="Wingdings" pitchFamily="2" charset="2"/>
              <a:buNone/>
            </a:pPr>
            <a:endParaRPr lang="pl-PL" sz="2600" dirty="0"/>
          </a:p>
          <a:p>
            <a:pPr eaLnBrk="1" hangingPunct="1">
              <a:buFont typeface="Wingdings" pitchFamily="2" charset="2"/>
              <a:buNone/>
            </a:pPr>
            <a:endParaRPr lang="pl-PL" sz="2600" dirty="0"/>
          </a:p>
          <a:p>
            <a:pPr eaLnBrk="1" hangingPunct="1">
              <a:buFont typeface="Wingdings" pitchFamily="2" charset="2"/>
              <a:buNone/>
            </a:pPr>
            <a:endParaRPr lang="pl-PL" sz="2600" dirty="0"/>
          </a:p>
          <a:p>
            <a:pPr eaLnBrk="1" hangingPunct="1">
              <a:buFont typeface="Wingdings" pitchFamily="2" charset="2"/>
              <a:buNone/>
            </a:pPr>
            <a:endParaRPr lang="pl-PL" sz="2600" dirty="0"/>
          </a:p>
          <a:p>
            <a:pPr eaLnBrk="1" hangingPunct="1"/>
            <a:r>
              <a:rPr lang="en-US" sz="2600" dirty="0">
                <a:solidFill>
                  <a:srgbClr val="003399"/>
                </a:solidFill>
              </a:rPr>
              <a:t>statistical process control (controlled and uncontrolled variations)</a:t>
            </a:r>
            <a:endParaRPr lang="pl-PL" sz="2600" dirty="0">
              <a:solidFill>
                <a:srgbClr val="003399"/>
              </a:solidFill>
            </a:endParaRPr>
          </a:p>
          <a:p>
            <a:pPr eaLnBrk="1" hangingPunct="1"/>
            <a:r>
              <a:rPr lang="pl-PL" sz="2600" dirty="0">
                <a:solidFill>
                  <a:srgbClr val="003399"/>
                </a:solidFill>
              </a:rPr>
              <a:t>14 </a:t>
            </a:r>
            <a:r>
              <a:rPr lang="pl-PL" sz="2600" dirty="0" err="1">
                <a:solidFill>
                  <a:srgbClr val="003399"/>
                </a:solidFill>
              </a:rPr>
              <a:t>points</a:t>
            </a:r>
            <a:r>
              <a:rPr lang="pl-PL" sz="2600" dirty="0">
                <a:solidFill>
                  <a:srgbClr val="003399"/>
                </a:solidFill>
              </a:rPr>
              <a:t> of management</a:t>
            </a:r>
          </a:p>
        </p:txBody>
      </p:sp>
      <p:sp>
        <p:nvSpPr>
          <p:cNvPr id="175112" name="Rectangle 8"/>
          <p:cNvSpPr>
            <a:spLocks noGrp="1" noChangeArrowheads="1"/>
          </p:cNvSpPr>
          <p:nvPr>
            <p:ph sz="quarter" idx="2"/>
          </p:nvPr>
        </p:nvSpPr>
        <p:spPr>
          <a:xfrm>
            <a:off x="4648200" y="1125538"/>
            <a:ext cx="4038600" cy="2663825"/>
          </a:xfrm>
        </p:spPr>
        <p:txBody>
          <a:bodyPr/>
          <a:lstStyle/>
          <a:p>
            <a:pPr eaLnBrk="1" hangingPunct="1">
              <a:buFont typeface="Wingdings" pitchFamily="2" charset="2"/>
              <a:buNone/>
            </a:pPr>
            <a:r>
              <a:rPr lang="pl-PL" sz="2100" b="1" dirty="0">
                <a:solidFill>
                  <a:srgbClr val="003399"/>
                </a:solidFill>
              </a:rPr>
              <a:t>Joseph </a:t>
            </a:r>
            <a:r>
              <a:rPr lang="pl-PL" sz="2100" b="1" dirty="0" err="1">
                <a:solidFill>
                  <a:srgbClr val="003399"/>
                </a:solidFill>
              </a:rPr>
              <a:t>Juran</a:t>
            </a:r>
            <a:endParaRPr lang="pl-PL" sz="2100" b="1" dirty="0">
              <a:solidFill>
                <a:srgbClr val="003399"/>
              </a:solidFill>
            </a:endParaRPr>
          </a:p>
          <a:p>
            <a:pPr eaLnBrk="1" hangingPunct="1"/>
            <a:endParaRPr lang="pl-PL" sz="2100" dirty="0">
              <a:solidFill>
                <a:srgbClr val="003399"/>
              </a:solidFill>
            </a:endParaRPr>
          </a:p>
          <a:p>
            <a:pPr eaLnBrk="1" hangingPunct="1">
              <a:buFont typeface="Wingdings" pitchFamily="2" charset="2"/>
              <a:buNone/>
            </a:pPr>
            <a:endParaRPr lang="pl-PL" sz="2100" dirty="0">
              <a:solidFill>
                <a:srgbClr val="003399"/>
              </a:solidFill>
            </a:endParaRPr>
          </a:p>
          <a:p>
            <a:pPr eaLnBrk="1" hangingPunct="1"/>
            <a:endParaRPr lang="pl-PL" sz="2100" dirty="0">
              <a:solidFill>
                <a:srgbClr val="003399"/>
              </a:solidFill>
            </a:endParaRPr>
          </a:p>
          <a:p>
            <a:pPr eaLnBrk="1" hangingPunct="1"/>
            <a:r>
              <a:rPr lang="pl-PL" sz="2100" dirty="0">
                <a:solidFill>
                  <a:srgbClr val="003399"/>
                </a:solidFill>
              </a:rPr>
              <a:t>„</a:t>
            </a:r>
            <a:r>
              <a:rPr lang="pl-PL" sz="2100" dirty="0" err="1">
                <a:solidFill>
                  <a:srgbClr val="003399"/>
                </a:solidFill>
              </a:rPr>
              <a:t>quality</a:t>
            </a:r>
            <a:r>
              <a:rPr lang="pl-PL" sz="2100" dirty="0">
                <a:solidFill>
                  <a:srgbClr val="003399"/>
                </a:solidFill>
              </a:rPr>
              <a:t> </a:t>
            </a:r>
            <a:r>
              <a:rPr lang="pl-PL" sz="2100" dirty="0" err="1">
                <a:solidFill>
                  <a:srgbClr val="003399"/>
                </a:solidFill>
              </a:rPr>
              <a:t>trilogy</a:t>
            </a:r>
            <a:r>
              <a:rPr lang="pl-PL" sz="2100" dirty="0">
                <a:solidFill>
                  <a:srgbClr val="003399"/>
                </a:solidFill>
              </a:rPr>
              <a:t>” </a:t>
            </a:r>
          </a:p>
          <a:p>
            <a:pPr eaLnBrk="1" hangingPunct="1"/>
            <a:r>
              <a:rPr lang="pl-PL" sz="2100" dirty="0">
                <a:solidFill>
                  <a:srgbClr val="003399"/>
                </a:solidFill>
              </a:rPr>
              <a:t>plan, </a:t>
            </a:r>
            <a:r>
              <a:rPr lang="pl-PL" sz="2100" dirty="0" err="1">
                <a:solidFill>
                  <a:srgbClr val="003399"/>
                </a:solidFill>
              </a:rPr>
              <a:t>control</a:t>
            </a:r>
            <a:r>
              <a:rPr lang="pl-PL" sz="2100" dirty="0">
                <a:solidFill>
                  <a:srgbClr val="003399"/>
                </a:solidFill>
              </a:rPr>
              <a:t>, </a:t>
            </a:r>
            <a:r>
              <a:rPr lang="pl-PL" sz="2100" dirty="0" err="1">
                <a:solidFill>
                  <a:srgbClr val="003399"/>
                </a:solidFill>
              </a:rPr>
              <a:t>improve</a:t>
            </a:r>
            <a:endParaRPr lang="pl-PL" sz="2100" dirty="0"/>
          </a:p>
        </p:txBody>
      </p:sp>
      <p:sp>
        <p:nvSpPr>
          <p:cNvPr id="12294" name="Rectangle 9"/>
          <p:cNvSpPr>
            <a:spLocks noGrp="1" noChangeArrowheads="1"/>
          </p:cNvSpPr>
          <p:nvPr>
            <p:ph sz="quarter" idx="3"/>
          </p:nvPr>
        </p:nvSpPr>
        <p:spPr/>
        <p:txBody>
          <a:bodyPr/>
          <a:lstStyle/>
          <a:p>
            <a:pPr eaLnBrk="1" hangingPunct="1">
              <a:buFont typeface="Wingdings" pitchFamily="2" charset="2"/>
              <a:buNone/>
            </a:pPr>
            <a:r>
              <a:rPr lang="pl-PL" sz="2100" b="1" dirty="0" err="1">
                <a:solidFill>
                  <a:srgbClr val="003399"/>
                </a:solidFill>
              </a:rPr>
              <a:t>Kaoru</a:t>
            </a:r>
            <a:r>
              <a:rPr lang="pl-PL" sz="2100" b="1" dirty="0">
                <a:solidFill>
                  <a:srgbClr val="003399"/>
                </a:solidFill>
              </a:rPr>
              <a:t> </a:t>
            </a:r>
            <a:r>
              <a:rPr lang="pl-PL" sz="2100" b="1" dirty="0" err="1">
                <a:solidFill>
                  <a:srgbClr val="003399"/>
                </a:solidFill>
              </a:rPr>
              <a:t>Ishikawa</a:t>
            </a:r>
            <a:endParaRPr lang="pl-PL" sz="2100" b="1" dirty="0">
              <a:solidFill>
                <a:srgbClr val="003399"/>
              </a:solidFill>
            </a:endParaRPr>
          </a:p>
          <a:p>
            <a:pPr eaLnBrk="1" hangingPunct="1">
              <a:buFont typeface="Wingdings" pitchFamily="2" charset="2"/>
              <a:buNone/>
            </a:pPr>
            <a:endParaRPr lang="pl-PL" sz="2100" b="1" dirty="0">
              <a:solidFill>
                <a:srgbClr val="003399"/>
              </a:solidFill>
            </a:endParaRPr>
          </a:p>
          <a:p>
            <a:pPr eaLnBrk="1" hangingPunct="1">
              <a:buFont typeface="Wingdings" pitchFamily="2" charset="2"/>
              <a:buNone/>
            </a:pPr>
            <a:endParaRPr lang="pl-PL" sz="2100" b="1" dirty="0">
              <a:solidFill>
                <a:srgbClr val="003399"/>
              </a:solidFill>
            </a:endParaRPr>
          </a:p>
          <a:p>
            <a:pPr eaLnBrk="1" hangingPunct="1">
              <a:buFont typeface="Wingdings" pitchFamily="2" charset="2"/>
              <a:buNone/>
            </a:pPr>
            <a:endParaRPr lang="pl-PL" sz="2100" b="1" dirty="0">
              <a:solidFill>
                <a:srgbClr val="003399"/>
              </a:solidFill>
            </a:endParaRPr>
          </a:p>
          <a:p>
            <a:pPr eaLnBrk="1" hangingPunct="1"/>
            <a:r>
              <a:rPr lang="pl-PL" sz="2100" dirty="0" err="1">
                <a:solidFill>
                  <a:srgbClr val="003399"/>
                </a:solidFill>
              </a:rPr>
              <a:t>quality</a:t>
            </a:r>
            <a:r>
              <a:rPr lang="pl-PL" sz="2100" dirty="0">
                <a:solidFill>
                  <a:srgbClr val="003399"/>
                </a:solidFill>
              </a:rPr>
              <a:t> </a:t>
            </a:r>
            <a:r>
              <a:rPr lang="pl-PL" sz="2100" dirty="0" err="1">
                <a:solidFill>
                  <a:srgbClr val="003399"/>
                </a:solidFill>
              </a:rPr>
              <a:t>circles</a:t>
            </a:r>
            <a:endParaRPr lang="pl-PL" sz="2100" dirty="0">
              <a:solidFill>
                <a:srgbClr val="003399"/>
              </a:solidFill>
            </a:endParaRPr>
          </a:p>
        </p:txBody>
      </p:sp>
      <p:pic>
        <p:nvPicPr>
          <p:cNvPr id="12295" name="Picture 4" descr="a"/>
          <p:cNvPicPr>
            <a:picLocks noGrp="1" noChangeAspect="1" noChangeArrowheads="1"/>
          </p:cNvPicPr>
          <p:nvPr>
            <p:ph type="body" idx="4294967295"/>
          </p:nvPr>
        </p:nvPicPr>
        <p:blipFill>
          <a:blip r:embed="rId3" cstate="print"/>
          <a:srcRect/>
          <a:stretch>
            <a:fillRect/>
          </a:stretch>
        </p:blipFill>
        <p:spPr>
          <a:xfrm>
            <a:off x="1547813" y="1700213"/>
            <a:ext cx="1371600" cy="1685925"/>
          </a:xfrm>
          <a:noFill/>
        </p:spPr>
      </p:pic>
      <p:sp>
        <p:nvSpPr>
          <p:cNvPr id="12296" name="Text Box 5"/>
          <p:cNvSpPr txBox="1">
            <a:spLocks noChangeArrowheads="1"/>
          </p:cNvSpPr>
          <p:nvPr/>
        </p:nvSpPr>
        <p:spPr bwMode="auto">
          <a:xfrm>
            <a:off x="323850" y="6237288"/>
            <a:ext cx="6624414" cy="276999"/>
          </a:xfrm>
          <a:prstGeom prst="rect">
            <a:avLst/>
          </a:prstGeom>
          <a:noFill/>
          <a:ln w="9525">
            <a:noFill/>
            <a:miter lim="800000"/>
            <a:headEnd/>
            <a:tailEnd/>
          </a:ln>
        </p:spPr>
        <p:txBody>
          <a:bodyPr wrap="square">
            <a:spAutoFit/>
          </a:bodyPr>
          <a:lstStyle/>
          <a:p>
            <a:pPr>
              <a:spcBef>
                <a:spcPct val="50000"/>
              </a:spcBef>
            </a:pPr>
            <a:r>
              <a:rPr lang="pl-PL" sz="1200" dirty="0" err="1"/>
              <a:t>Sources</a:t>
            </a:r>
            <a:r>
              <a:rPr lang="pl-PL" sz="1200" dirty="0"/>
              <a:t>:  </a:t>
            </a:r>
            <a:r>
              <a:rPr lang="pl-PL" sz="1200" dirty="0">
                <a:hlinkClick r:id="rId4"/>
              </a:rPr>
              <a:t>www.balancedscorecard.org</a:t>
            </a:r>
            <a:r>
              <a:rPr lang="pl-PL" sz="1200" dirty="0"/>
              <a:t>, </a:t>
            </a:r>
            <a:r>
              <a:rPr lang="pl-PL" sz="1200" dirty="0">
                <a:hlinkClick r:id="rId5"/>
              </a:rPr>
              <a:t>www.timesonline.co.uk</a:t>
            </a:r>
            <a:r>
              <a:rPr lang="pl-PL" sz="1200" dirty="0"/>
              <a:t>, www.lean-sigma.com.pl</a:t>
            </a:r>
          </a:p>
        </p:txBody>
      </p:sp>
      <p:pic>
        <p:nvPicPr>
          <p:cNvPr id="12297" name="Picture 6" descr="a"/>
          <p:cNvPicPr>
            <a:picLocks noChangeAspect="1" noChangeArrowheads="1"/>
          </p:cNvPicPr>
          <p:nvPr/>
        </p:nvPicPr>
        <p:blipFill>
          <a:blip r:embed="rId6" cstate="print"/>
          <a:srcRect/>
          <a:stretch>
            <a:fillRect/>
          </a:stretch>
        </p:blipFill>
        <p:spPr bwMode="auto">
          <a:xfrm>
            <a:off x="7019925" y="1125538"/>
            <a:ext cx="1371600" cy="1500187"/>
          </a:xfrm>
          <a:prstGeom prst="rect">
            <a:avLst/>
          </a:prstGeom>
          <a:noFill/>
          <a:ln w="9525">
            <a:noFill/>
            <a:miter lim="800000"/>
            <a:headEnd/>
            <a:tailEnd/>
          </a:ln>
        </p:spPr>
      </p:pic>
      <p:pic>
        <p:nvPicPr>
          <p:cNvPr id="12298" name="Picture 10"/>
          <p:cNvPicPr>
            <a:picLocks noChangeAspect="1" noChangeArrowheads="1"/>
          </p:cNvPicPr>
          <p:nvPr/>
        </p:nvPicPr>
        <p:blipFill>
          <a:blip r:embed="rId7" cstate="print"/>
          <a:srcRect/>
          <a:stretch>
            <a:fillRect/>
          </a:stretch>
        </p:blipFill>
        <p:spPr bwMode="auto">
          <a:xfrm>
            <a:off x="7092950" y="4221163"/>
            <a:ext cx="1014413" cy="152876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75112">
                                            <p:txEl>
                                              <p:pRg st="5" end="5"/>
                                            </p:txEl>
                                          </p:spTgt>
                                        </p:tgtEl>
                                        <p:attrNameLst>
                                          <p:attrName>style.visibility</p:attrName>
                                        </p:attrNameLst>
                                      </p:cBhvr>
                                      <p:to>
                                        <p:strVal val="visible"/>
                                      </p:to>
                                    </p:set>
                                    <p:animEffect transition="in" filter="box(in)">
                                      <p:cBhvr>
                                        <p:cTn id="7" dur="500"/>
                                        <p:tgtEl>
                                          <p:spTgt spid="17511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p:cNvSpPr>
            <a:spLocks noGrp="1"/>
          </p:cNvSpPr>
          <p:nvPr>
            <p:ph type="title"/>
          </p:nvPr>
        </p:nvSpPr>
        <p:spPr/>
        <p:txBody>
          <a:bodyPr/>
          <a:lstStyle/>
          <a:p>
            <a:r>
              <a:rPr lang="pl-PL" sz="4000" b="1" dirty="0"/>
              <a:t>14 </a:t>
            </a:r>
            <a:r>
              <a:rPr lang="pl-PL" sz="4000" b="1" dirty="0" err="1"/>
              <a:t>points</a:t>
            </a:r>
            <a:r>
              <a:rPr lang="pl-PL" sz="4000" b="1" dirty="0"/>
              <a:t> for management</a:t>
            </a:r>
          </a:p>
        </p:txBody>
      </p:sp>
      <p:sp>
        <p:nvSpPr>
          <p:cNvPr id="9" name="Symbol zastępczy zawartości 8"/>
          <p:cNvSpPr>
            <a:spLocks noGrp="1"/>
          </p:cNvSpPr>
          <p:nvPr>
            <p:ph idx="1"/>
          </p:nvPr>
        </p:nvSpPr>
        <p:spPr/>
        <p:txBody>
          <a:bodyPr/>
          <a:lstStyle/>
          <a:p>
            <a:pPr marL="0" indent="0">
              <a:buNone/>
            </a:pPr>
            <a:r>
              <a:rPr lang="en-US" sz="2400" b="1" i="1" dirty="0">
                <a:solidFill>
                  <a:srgbClr val="003399"/>
                </a:solidFill>
              </a:rPr>
              <a:t>1. Create constancy of purpose for improvement of product and service. </a:t>
            </a:r>
          </a:p>
          <a:p>
            <a:pPr marL="0" indent="0">
              <a:buNone/>
            </a:pPr>
            <a:r>
              <a:rPr lang="en-US" sz="2400" dirty="0">
                <a:solidFill>
                  <a:srgbClr val="003399"/>
                </a:solidFill>
              </a:rPr>
              <a:t>The point stresses the need for a mission statement which must be understood by all employees, suppliers, and customers. The strategic plan should look for the </a:t>
            </a:r>
            <a:r>
              <a:rPr lang="en-US" sz="2400" dirty="0" err="1">
                <a:solidFill>
                  <a:srgbClr val="003399"/>
                </a:solidFill>
              </a:rPr>
              <a:t>longterm</a:t>
            </a:r>
            <a:r>
              <a:rPr lang="en-US" sz="2400" dirty="0">
                <a:solidFill>
                  <a:srgbClr val="003399"/>
                </a:solidFill>
              </a:rPr>
              <a:t> payback. </a:t>
            </a:r>
          </a:p>
          <a:p>
            <a:pPr marL="0" indent="0">
              <a:buNone/>
            </a:pPr>
            <a:r>
              <a:rPr lang="en-US" sz="2400" b="1" i="1" dirty="0">
                <a:solidFill>
                  <a:srgbClr val="003399"/>
                </a:solidFill>
              </a:rPr>
              <a:t>2. Adopt the new philosophy. </a:t>
            </a:r>
            <a:endParaRPr lang="pl-PL" sz="2400" b="1" i="1" dirty="0">
              <a:solidFill>
                <a:srgbClr val="003399"/>
              </a:solidFill>
            </a:endParaRPr>
          </a:p>
          <a:p>
            <a:pPr marL="0" indent="0">
              <a:buNone/>
            </a:pPr>
            <a:r>
              <a:rPr lang="en-US" sz="2400" dirty="0">
                <a:solidFill>
                  <a:srgbClr val="003399"/>
                </a:solidFill>
              </a:rPr>
              <a:t>Management must learn the responsibilities and take on leadership for change. Poor workmanship, defective products, or bad service are not acceptable. </a:t>
            </a:r>
          </a:p>
          <a:p>
            <a:pPr marL="0" indent="0">
              <a:buNone/>
            </a:pPr>
            <a:endParaRPr lang="pl-PL" dirty="0"/>
          </a:p>
        </p:txBody>
      </p:sp>
      <p:sp>
        <p:nvSpPr>
          <p:cNvPr id="6" name="Symbol zastępczy stopki 5"/>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1888322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14 </a:t>
            </a:r>
            <a:r>
              <a:rPr lang="pl-PL" sz="4000" b="1" dirty="0" err="1"/>
              <a:t>points</a:t>
            </a:r>
            <a:r>
              <a:rPr lang="pl-PL" sz="4000" b="1" dirty="0"/>
              <a:t> for management</a:t>
            </a:r>
            <a:endParaRPr lang="pl-PL" sz="4000" dirty="0"/>
          </a:p>
        </p:txBody>
      </p:sp>
      <p:sp>
        <p:nvSpPr>
          <p:cNvPr id="3" name="Symbol zastępczy zawartości 2"/>
          <p:cNvSpPr>
            <a:spLocks noGrp="1"/>
          </p:cNvSpPr>
          <p:nvPr>
            <p:ph idx="1"/>
          </p:nvPr>
        </p:nvSpPr>
        <p:spPr/>
        <p:txBody>
          <a:bodyPr/>
          <a:lstStyle/>
          <a:p>
            <a:pPr marL="0" indent="0">
              <a:buNone/>
            </a:pPr>
            <a:r>
              <a:rPr lang="en-US" sz="2400" b="1" i="1" dirty="0">
                <a:solidFill>
                  <a:srgbClr val="003399"/>
                </a:solidFill>
              </a:rPr>
              <a:t>3. Cease dependence on mass inspection. </a:t>
            </a:r>
            <a:endParaRPr lang="pl-PL" sz="2400" b="1" i="1" dirty="0">
              <a:solidFill>
                <a:srgbClr val="003399"/>
              </a:solidFill>
            </a:endParaRPr>
          </a:p>
          <a:p>
            <a:pPr marL="0" indent="0">
              <a:buNone/>
            </a:pPr>
            <a:r>
              <a:rPr lang="en-US" sz="2400" dirty="0">
                <a:solidFill>
                  <a:srgbClr val="003399"/>
                </a:solidFill>
              </a:rPr>
              <a:t>Eliminate the need for inspection on a mass basis by building quality into the product in the first place. Statistical methods of quality control are more efficient. </a:t>
            </a:r>
            <a:endParaRPr lang="pl-PL" sz="2400" dirty="0">
              <a:solidFill>
                <a:srgbClr val="003399"/>
              </a:solidFill>
            </a:endParaRPr>
          </a:p>
          <a:p>
            <a:pPr marL="0" indent="0">
              <a:buNone/>
            </a:pPr>
            <a:r>
              <a:rPr lang="en-US" sz="2400" b="1" i="1" dirty="0">
                <a:solidFill>
                  <a:srgbClr val="003399"/>
                </a:solidFill>
              </a:rPr>
              <a:t>4. End the practice of awarding business on the basis of price tag alone. </a:t>
            </a:r>
            <a:endParaRPr lang="pl-PL" sz="2400" b="1" i="1" dirty="0">
              <a:solidFill>
                <a:srgbClr val="003399"/>
              </a:solidFill>
            </a:endParaRPr>
          </a:p>
          <a:p>
            <a:pPr marL="0" indent="0">
              <a:buNone/>
            </a:pPr>
            <a:r>
              <a:rPr lang="en-US" sz="2400" dirty="0">
                <a:solidFill>
                  <a:srgbClr val="003399"/>
                </a:solidFill>
              </a:rPr>
              <a:t>Instead, minimize the total cost. The aim in the purchase of new tools and other equipment should be to minimize the net cost per hour of operation or per piece produced. Move toward a single supplier for any one item, on a long-term relationship of loyalty and trust. </a:t>
            </a:r>
            <a:endParaRPr lang="pl-PL" sz="24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2411369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a:xfrm>
            <a:off x="457200" y="307228"/>
            <a:ext cx="8229600" cy="1139825"/>
          </a:xfrm>
        </p:spPr>
        <p:txBody>
          <a:bodyPr/>
          <a:lstStyle/>
          <a:p>
            <a:r>
              <a:rPr lang="pl-PL" sz="4000" b="1" dirty="0"/>
              <a:t>14 </a:t>
            </a:r>
            <a:r>
              <a:rPr lang="pl-PL" sz="4000" b="1" dirty="0" err="1"/>
              <a:t>points</a:t>
            </a:r>
            <a:r>
              <a:rPr lang="pl-PL" sz="4000" b="1" dirty="0"/>
              <a:t> for management</a:t>
            </a:r>
            <a:endParaRPr lang="pl-PL" sz="4000" dirty="0"/>
          </a:p>
        </p:txBody>
      </p:sp>
      <p:sp>
        <p:nvSpPr>
          <p:cNvPr id="3" name="Symbol zastępczy zawartości 2"/>
          <p:cNvSpPr>
            <a:spLocks noGrp="1"/>
          </p:cNvSpPr>
          <p:nvPr>
            <p:ph idx="1"/>
          </p:nvPr>
        </p:nvSpPr>
        <p:spPr>
          <a:xfrm>
            <a:off x="457200" y="1628800"/>
            <a:ext cx="8229600" cy="4502125"/>
          </a:xfrm>
        </p:spPr>
        <p:txBody>
          <a:bodyPr/>
          <a:lstStyle/>
          <a:p>
            <a:pPr marL="0" indent="0">
              <a:buNone/>
            </a:pPr>
            <a:r>
              <a:rPr lang="pl-PL" sz="2000" b="1" i="1" dirty="0">
                <a:solidFill>
                  <a:srgbClr val="003399"/>
                </a:solidFill>
              </a:rPr>
              <a:t>5. </a:t>
            </a:r>
            <a:r>
              <a:rPr lang="en-US" sz="2000" b="1" i="1" dirty="0">
                <a:solidFill>
                  <a:srgbClr val="003399"/>
                </a:solidFill>
              </a:rPr>
              <a:t>Improve constantly and forever the system of production and service. </a:t>
            </a:r>
            <a:endParaRPr lang="pl-PL" sz="2000" b="1" i="1" dirty="0">
              <a:solidFill>
                <a:srgbClr val="003399"/>
              </a:solidFill>
            </a:endParaRPr>
          </a:p>
          <a:p>
            <a:pPr marL="0" indent="0">
              <a:buNone/>
            </a:pPr>
            <a:r>
              <a:rPr lang="en-US" sz="2000" dirty="0">
                <a:solidFill>
                  <a:srgbClr val="003399"/>
                </a:solidFill>
              </a:rPr>
              <a:t>The improvement of product and service is an ongoing process. The Deming cycle involves the four-step process of plan, do, check, act. At the plan stage, the opportunities for improvement are identified. The theory is tested on a small scale at the do stage, the results of the test are analyzed at the check stage, and the results are implemented in the act stage. </a:t>
            </a:r>
            <a:endParaRPr lang="pl-PL" sz="2000" dirty="0">
              <a:solidFill>
                <a:srgbClr val="003399"/>
              </a:solidFill>
            </a:endParaRPr>
          </a:p>
          <a:p>
            <a:pPr marL="0" indent="0">
              <a:buNone/>
            </a:pPr>
            <a:r>
              <a:rPr lang="en-US" sz="2000" b="1" i="1" dirty="0">
                <a:solidFill>
                  <a:srgbClr val="003399"/>
                </a:solidFill>
              </a:rPr>
              <a:t>6. Institute training. </a:t>
            </a:r>
            <a:endParaRPr lang="pl-PL" sz="2000" b="1" i="1" dirty="0">
              <a:solidFill>
                <a:srgbClr val="003399"/>
              </a:solidFill>
            </a:endParaRPr>
          </a:p>
          <a:p>
            <a:pPr marL="0" indent="0">
              <a:buNone/>
            </a:pPr>
            <a:r>
              <a:rPr lang="en-US" sz="2000" dirty="0">
                <a:solidFill>
                  <a:srgbClr val="003399"/>
                </a:solidFill>
              </a:rPr>
              <a:t>On-the-job training must be provided for all employees. Employees must be encouraged to implement the knowledge developed through training.</a:t>
            </a:r>
            <a:endParaRPr lang="pl-PL" sz="20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1097465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14 </a:t>
            </a:r>
            <a:r>
              <a:rPr lang="pl-PL" sz="4000" b="1" dirty="0" err="1"/>
              <a:t>points</a:t>
            </a:r>
            <a:r>
              <a:rPr lang="pl-PL" sz="4000" b="1" dirty="0"/>
              <a:t> for management</a:t>
            </a:r>
            <a:endParaRPr lang="pl-PL" sz="4000" dirty="0"/>
          </a:p>
        </p:txBody>
      </p:sp>
      <p:sp>
        <p:nvSpPr>
          <p:cNvPr id="3" name="Symbol zastępczy zawartości 2"/>
          <p:cNvSpPr>
            <a:spLocks noGrp="1"/>
          </p:cNvSpPr>
          <p:nvPr>
            <p:ph idx="1"/>
          </p:nvPr>
        </p:nvSpPr>
        <p:spPr/>
        <p:txBody>
          <a:bodyPr/>
          <a:lstStyle/>
          <a:p>
            <a:pPr marL="0" indent="0">
              <a:buNone/>
            </a:pPr>
            <a:r>
              <a:rPr lang="en-US" sz="2400" b="1" i="1" dirty="0">
                <a:solidFill>
                  <a:srgbClr val="003399"/>
                </a:solidFill>
              </a:rPr>
              <a:t>7. Adopt and institute leadership. </a:t>
            </a:r>
            <a:endParaRPr lang="pl-PL" sz="2400" b="1" i="1" dirty="0">
              <a:solidFill>
                <a:srgbClr val="003399"/>
              </a:solidFill>
            </a:endParaRPr>
          </a:p>
          <a:p>
            <a:pPr marL="0" indent="0">
              <a:buNone/>
            </a:pPr>
            <a:r>
              <a:rPr lang="en-US" sz="2400" dirty="0">
                <a:solidFill>
                  <a:srgbClr val="003399"/>
                </a:solidFill>
              </a:rPr>
              <a:t>The aim of supervision should be to help people to do a better job using machines. Supervision must create an environment where the workers take leadership roles in accomplishing their work.</a:t>
            </a:r>
            <a:endParaRPr lang="pl-PL" sz="2400" dirty="0">
              <a:solidFill>
                <a:srgbClr val="003399"/>
              </a:solidFill>
            </a:endParaRPr>
          </a:p>
          <a:p>
            <a:pPr marL="0" indent="0">
              <a:buNone/>
            </a:pPr>
            <a:r>
              <a:rPr lang="en-US" sz="2400" b="1" i="1" dirty="0">
                <a:solidFill>
                  <a:srgbClr val="003399"/>
                </a:solidFill>
              </a:rPr>
              <a:t>8. Drive out fear. </a:t>
            </a:r>
            <a:endParaRPr lang="pl-PL" sz="2400" b="1" i="1" dirty="0">
              <a:solidFill>
                <a:srgbClr val="003399"/>
              </a:solidFill>
            </a:endParaRPr>
          </a:p>
          <a:p>
            <a:pPr marL="0" indent="0">
              <a:buNone/>
            </a:pPr>
            <a:r>
              <a:rPr lang="en-US" sz="2400" dirty="0">
                <a:solidFill>
                  <a:srgbClr val="003399"/>
                </a:solidFill>
              </a:rPr>
              <a:t>Management must create an environment where workers are encouraged to ask questions and make suggestions. A climate of innovation leads to progress. </a:t>
            </a:r>
            <a:endParaRPr lang="pl-PL" sz="24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endParaRPr lang="pl-PL" altLang="en-US" dirty="0"/>
          </a:p>
        </p:txBody>
      </p:sp>
    </p:spTree>
    <p:extLst>
      <p:ext uri="{BB962C8B-B14F-4D97-AF65-F5344CB8AC3E}">
        <p14:creationId xmlns:p14="http://schemas.microsoft.com/office/powerpoint/2010/main" val="1564990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14 </a:t>
            </a:r>
            <a:r>
              <a:rPr lang="pl-PL" sz="4000" b="1" dirty="0" err="1"/>
              <a:t>points</a:t>
            </a:r>
            <a:r>
              <a:rPr lang="pl-PL" sz="4000" b="1" dirty="0"/>
              <a:t> for management</a:t>
            </a:r>
            <a:endParaRPr lang="pl-PL" sz="4000" dirty="0"/>
          </a:p>
        </p:txBody>
      </p:sp>
      <p:sp>
        <p:nvSpPr>
          <p:cNvPr id="3" name="Symbol zastępczy zawartości 2"/>
          <p:cNvSpPr>
            <a:spLocks noGrp="1"/>
          </p:cNvSpPr>
          <p:nvPr>
            <p:ph idx="1"/>
          </p:nvPr>
        </p:nvSpPr>
        <p:spPr/>
        <p:txBody>
          <a:bodyPr/>
          <a:lstStyle/>
          <a:p>
            <a:pPr marL="0" indent="0">
              <a:buNone/>
            </a:pPr>
            <a:r>
              <a:rPr lang="en-US" sz="2400" b="1" i="1" dirty="0">
                <a:solidFill>
                  <a:srgbClr val="003399"/>
                </a:solidFill>
              </a:rPr>
              <a:t>9. Break down barriers between departments. </a:t>
            </a:r>
            <a:endParaRPr lang="pl-PL" sz="2400" b="1" i="1" dirty="0">
              <a:solidFill>
                <a:srgbClr val="003399"/>
              </a:solidFill>
            </a:endParaRPr>
          </a:p>
          <a:p>
            <a:pPr marL="0" indent="0">
              <a:buNone/>
            </a:pPr>
            <a:r>
              <a:rPr lang="en-US" sz="2400" dirty="0">
                <a:solidFill>
                  <a:srgbClr val="003399"/>
                </a:solidFill>
              </a:rPr>
              <a:t>People in research, design, material procurement, sales, and production must work as a team. They must understand the requirements and specifications. Teamwork leads to improvements in quality and productivity. </a:t>
            </a:r>
            <a:endParaRPr lang="pl-PL" sz="2400" dirty="0">
              <a:solidFill>
                <a:srgbClr val="003399"/>
              </a:solidFill>
            </a:endParaRPr>
          </a:p>
          <a:p>
            <a:pPr marL="0" indent="0">
              <a:buNone/>
            </a:pPr>
            <a:r>
              <a:rPr lang="en-US" sz="2400" b="1" i="1" dirty="0">
                <a:solidFill>
                  <a:srgbClr val="003399"/>
                </a:solidFill>
              </a:rPr>
              <a:t>10. Eliminate slogans, exhortations, and targets for the work force. </a:t>
            </a:r>
            <a:endParaRPr lang="pl-PL" sz="2400" b="1" i="1" dirty="0">
              <a:solidFill>
                <a:srgbClr val="003399"/>
              </a:solidFill>
            </a:endParaRPr>
          </a:p>
          <a:p>
            <a:pPr marL="0" indent="0">
              <a:buNone/>
            </a:pPr>
            <a:r>
              <a:rPr lang="en-US" sz="2400" dirty="0">
                <a:solidFill>
                  <a:srgbClr val="003399"/>
                </a:solidFill>
              </a:rPr>
              <a:t>Exhortations such as asking for zero defects and new levels of productivity only create adversarial relationships. The bulk of the causes of low quality and low productivity belong to the system and thus lie beyond the power of the work force. </a:t>
            </a:r>
            <a:endParaRPr lang="pl-PL" sz="24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3047148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14 </a:t>
            </a:r>
            <a:r>
              <a:rPr lang="pl-PL" sz="4000" b="1" dirty="0" err="1"/>
              <a:t>points</a:t>
            </a:r>
            <a:r>
              <a:rPr lang="pl-PL" sz="4000" b="1" dirty="0"/>
              <a:t> for management</a:t>
            </a:r>
            <a:endParaRPr lang="pl-PL" sz="4000" dirty="0"/>
          </a:p>
        </p:txBody>
      </p:sp>
      <p:sp>
        <p:nvSpPr>
          <p:cNvPr id="3" name="Symbol zastępczy zawartości 2"/>
          <p:cNvSpPr>
            <a:spLocks noGrp="1"/>
          </p:cNvSpPr>
          <p:nvPr>
            <p:ph idx="1"/>
          </p:nvPr>
        </p:nvSpPr>
        <p:spPr/>
        <p:txBody>
          <a:bodyPr/>
          <a:lstStyle/>
          <a:p>
            <a:pPr marL="0" indent="0">
              <a:buNone/>
            </a:pPr>
            <a:r>
              <a:rPr lang="en-US" sz="2400" b="1" i="1" dirty="0">
                <a:solidFill>
                  <a:srgbClr val="003399"/>
                </a:solidFill>
              </a:rPr>
              <a:t>11. Eliminate numerical quotas for the work force and eliminate numerical goals for people in management. </a:t>
            </a:r>
            <a:endParaRPr lang="pl-PL" sz="2400" b="1" i="1" dirty="0">
              <a:solidFill>
                <a:srgbClr val="003399"/>
              </a:solidFill>
            </a:endParaRPr>
          </a:p>
          <a:p>
            <a:pPr marL="0" indent="0">
              <a:buNone/>
            </a:pPr>
            <a:r>
              <a:rPr lang="en-US" sz="2400" dirty="0">
                <a:solidFill>
                  <a:srgbClr val="003399"/>
                </a:solidFill>
              </a:rPr>
              <a:t>Quotas lead to the deterioration of quality. Learn the capabilities of processes and methods to improve them. </a:t>
            </a:r>
            <a:endParaRPr lang="pl-PL" sz="2400" dirty="0">
              <a:solidFill>
                <a:srgbClr val="003399"/>
              </a:solidFill>
            </a:endParaRPr>
          </a:p>
          <a:p>
            <a:pPr marL="0" indent="0">
              <a:buNone/>
            </a:pPr>
            <a:r>
              <a:rPr lang="en-US" sz="2400" b="1" i="1" dirty="0">
                <a:solidFill>
                  <a:srgbClr val="003399"/>
                </a:solidFill>
              </a:rPr>
              <a:t>12. Remove barriers that rob people of pride of workmanship. </a:t>
            </a:r>
            <a:endParaRPr lang="pl-PL" sz="2400" b="1" i="1" dirty="0">
              <a:solidFill>
                <a:srgbClr val="003399"/>
              </a:solidFill>
            </a:endParaRPr>
          </a:p>
          <a:p>
            <a:pPr marL="0" indent="0">
              <a:buNone/>
            </a:pPr>
            <a:r>
              <a:rPr lang="en-US" sz="2400" dirty="0">
                <a:solidFill>
                  <a:srgbClr val="003399"/>
                </a:solidFill>
              </a:rPr>
              <a:t>Quality is achieved in the company when all employees are satisfied and motivated. Management must create an environment where the workers take pride in their job. </a:t>
            </a:r>
            <a:endParaRPr lang="pl-PL" sz="2400" b="1"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36705979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14 </a:t>
            </a:r>
            <a:r>
              <a:rPr lang="pl-PL" sz="4000" b="1" dirty="0" err="1"/>
              <a:t>points</a:t>
            </a:r>
            <a:r>
              <a:rPr lang="pl-PL" sz="4000" b="1" dirty="0"/>
              <a:t> for management</a:t>
            </a:r>
            <a:endParaRPr lang="pl-PL" sz="4000" dirty="0"/>
          </a:p>
        </p:txBody>
      </p:sp>
      <p:sp>
        <p:nvSpPr>
          <p:cNvPr id="3" name="Symbol zastępczy zawartości 2"/>
          <p:cNvSpPr>
            <a:spLocks noGrp="1"/>
          </p:cNvSpPr>
          <p:nvPr>
            <p:ph idx="1"/>
          </p:nvPr>
        </p:nvSpPr>
        <p:spPr/>
        <p:txBody>
          <a:bodyPr/>
          <a:lstStyle/>
          <a:p>
            <a:pPr marL="0" indent="0">
              <a:buNone/>
            </a:pPr>
            <a:r>
              <a:rPr lang="en-US" b="1" i="1" dirty="0">
                <a:solidFill>
                  <a:srgbClr val="003399"/>
                </a:solidFill>
              </a:rPr>
              <a:t>13. Encourage education and self-improvement for everyone. </a:t>
            </a:r>
            <a:endParaRPr lang="pl-PL" b="1" i="1" dirty="0">
              <a:solidFill>
                <a:srgbClr val="003399"/>
              </a:solidFill>
            </a:endParaRPr>
          </a:p>
          <a:p>
            <a:pPr marL="0" indent="0">
              <a:buNone/>
            </a:pPr>
            <a:r>
              <a:rPr lang="en-US" dirty="0">
                <a:solidFill>
                  <a:srgbClr val="003399"/>
                </a:solidFill>
              </a:rPr>
              <a:t>An organization needs people that are improving with education. </a:t>
            </a:r>
            <a:endParaRPr lang="pl-PL" dirty="0">
              <a:solidFill>
                <a:srgbClr val="003399"/>
              </a:solidFill>
            </a:endParaRPr>
          </a:p>
          <a:p>
            <a:pPr marL="0" indent="0">
              <a:buNone/>
            </a:pPr>
            <a:r>
              <a:rPr lang="en-US" b="1" i="1" dirty="0">
                <a:solidFill>
                  <a:srgbClr val="003399"/>
                </a:solidFill>
              </a:rPr>
              <a:t>14. Take action to accomplish the transformation. </a:t>
            </a:r>
            <a:endParaRPr lang="pl-PL" b="1" i="1" dirty="0">
              <a:solidFill>
                <a:srgbClr val="003399"/>
              </a:solidFill>
            </a:endParaRPr>
          </a:p>
          <a:p>
            <a:pPr marL="0" indent="0">
              <a:buNone/>
            </a:pPr>
            <a:r>
              <a:rPr lang="en-US" dirty="0">
                <a:solidFill>
                  <a:srgbClr val="003399"/>
                </a:solidFill>
              </a:rPr>
              <a:t>The transformation is everybody’s job</a:t>
            </a:r>
            <a:r>
              <a:rPr lang="pl-PL" dirty="0">
                <a:solidFill>
                  <a:srgbClr val="003399"/>
                </a:solidFill>
              </a:rPr>
              <a:t>.</a:t>
            </a:r>
          </a:p>
          <a:p>
            <a:pPr marL="0" indent="0">
              <a:buNone/>
            </a:pPr>
            <a:endParaRPr lang="pl-PL" dirty="0"/>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2877419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20483" name="Rectangle 2"/>
          <p:cNvSpPr>
            <a:spLocks noGrp="1" noChangeArrowheads="1"/>
          </p:cNvSpPr>
          <p:nvPr>
            <p:ph type="title"/>
          </p:nvPr>
        </p:nvSpPr>
        <p:spPr/>
        <p:txBody>
          <a:bodyPr/>
          <a:lstStyle/>
          <a:p>
            <a:pPr eaLnBrk="1" hangingPunct="1"/>
            <a:r>
              <a:rPr lang="pl-PL" sz="4000" b="1"/>
              <a:t>W. Edwards Deming</a:t>
            </a:r>
          </a:p>
        </p:txBody>
      </p:sp>
      <p:sp>
        <p:nvSpPr>
          <p:cNvPr id="190467" name="Rectangle 3"/>
          <p:cNvSpPr>
            <a:spLocks noGrp="1" noChangeArrowheads="1"/>
          </p:cNvSpPr>
          <p:nvPr>
            <p:ph type="body" idx="1"/>
          </p:nvPr>
        </p:nvSpPr>
        <p:spPr/>
        <p:txBody>
          <a:bodyPr/>
          <a:lstStyle/>
          <a:p>
            <a:pPr eaLnBrk="1" hangingPunct="1">
              <a:buNone/>
            </a:pPr>
            <a:r>
              <a:rPr lang="pl-PL" dirty="0">
                <a:solidFill>
                  <a:srgbClr val="003399"/>
                </a:solidFill>
              </a:rPr>
              <a:t>„80 - </a:t>
            </a:r>
            <a:r>
              <a:rPr lang="en-US" dirty="0">
                <a:solidFill>
                  <a:srgbClr val="003399"/>
                </a:solidFill>
              </a:rPr>
              <a:t>85% of the problems of each organization have their sources in   </a:t>
            </a:r>
            <a:endParaRPr lang="pl-PL" dirty="0">
              <a:solidFill>
                <a:srgbClr val="003399"/>
              </a:solidFill>
            </a:endParaRPr>
          </a:p>
          <a:p>
            <a:pPr eaLnBrk="1" hangingPunct="1">
              <a:buNone/>
            </a:pPr>
            <a:r>
              <a:rPr lang="en-US" dirty="0">
                <a:solidFill>
                  <a:srgbClr val="003399"/>
                </a:solidFill>
              </a:rPr>
              <a:t> systems, </a:t>
            </a:r>
            <a:endParaRPr lang="pl-PL" dirty="0">
              <a:solidFill>
                <a:srgbClr val="003399"/>
              </a:solidFill>
            </a:endParaRPr>
          </a:p>
          <a:p>
            <a:pPr eaLnBrk="1" hangingPunct="1">
              <a:buNone/>
            </a:pPr>
            <a:r>
              <a:rPr lang="en-US" dirty="0">
                <a:solidFill>
                  <a:srgbClr val="003399"/>
                </a:solidFill>
              </a:rPr>
              <a:t>and only 15</a:t>
            </a:r>
            <a:r>
              <a:rPr lang="pl-PL" dirty="0">
                <a:solidFill>
                  <a:srgbClr val="003399"/>
                </a:solidFill>
              </a:rPr>
              <a:t> – 20 </a:t>
            </a:r>
            <a:r>
              <a:rPr lang="en-US" dirty="0">
                <a:solidFill>
                  <a:srgbClr val="003399"/>
                </a:solidFill>
              </a:rPr>
              <a:t>% </a:t>
            </a:r>
            <a:r>
              <a:rPr lang="pl-PL" dirty="0" err="1">
                <a:solidFill>
                  <a:srgbClr val="003399"/>
                </a:solidFill>
              </a:rPr>
              <a:t>are</a:t>
            </a:r>
            <a:r>
              <a:rPr lang="pl-PL" dirty="0">
                <a:solidFill>
                  <a:srgbClr val="003399"/>
                </a:solidFill>
              </a:rPr>
              <a:t> with</a:t>
            </a:r>
          </a:p>
          <a:p>
            <a:pPr eaLnBrk="1" hangingPunct="1">
              <a:buNone/>
            </a:pPr>
            <a:r>
              <a:rPr lang="en-US" dirty="0">
                <a:solidFill>
                  <a:srgbClr val="003399"/>
                </a:solidFill>
              </a:rPr>
              <a:t>   workers</a:t>
            </a:r>
            <a:r>
              <a:rPr lang="pl-PL" dirty="0">
                <a:solidFill>
                  <a:srgbClr val="003399"/>
                </a:solidFill>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0467">
                                            <p:txEl>
                                              <p:pRg st="1" end="1"/>
                                            </p:txEl>
                                          </p:spTgt>
                                        </p:tgtEl>
                                        <p:attrNameLst>
                                          <p:attrName>style.visibility</p:attrName>
                                        </p:attrNameLst>
                                      </p:cBhvr>
                                      <p:to>
                                        <p:strVal val="visible"/>
                                      </p:to>
                                    </p:set>
                                    <p:anim calcmode="lin" valueType="num">
                                      <p:cBhvr additive="base">
                                        <p:cTn id="7" dur="500" fill="hold"/>
                                        <p:tgtEl>
                                          <p:spTgt spid="1904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04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0467">
                                            <p:txEl>
                                              <p:pRg st="3" end="3"/>
                                            </p:txEl>
                                          </p:spTgt>
                                        </p:tgtEl>
                                        <p:attrNameLst>
                                          <p:attrName>style.visibility</p:attrName>
                                        </p:attrNameLst>
                                      </p:cBhvr>
                                      <p:to>
                                        <p:strVal val="visible"/>
                                      </p:to>
                                    </p:set>
                                    <p:anim calcmode="lin" valueType="num">
                                      <p:cBhvr additive="base">
                                        <p:cTn id="13" dur="500" fill="hold"/>
                                        <p:tgtEl>
                                          <p:spTgt spid="190467">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046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21507" name="Rectangle 2"/>
          <p:cNvSpPr>
            <a:spLocks noGrp="1" noChangeArrowheads="1"/>
          </p:cNvSpPr>
          <p:nvPr>
            <p:ph type="title"/>
          </p:nvPr>
        </p:nvSpPr>
        <p:spPr/>
        <p:txBody>
          <a:bodyPr/>
          <a:lstStyle/>
          <a:p>
            <a:pPr eaLnBrk="1" hangingPunct="1"/>
            <a:r>
              <a:rPr lang="pl-PL" sz="4000" b="1"/>
              <a:t>W. Edwards Deming</a:t>
            </a:r>
          </a:p>
        </p:txBody>
      </p:sp>
      <p:sp>
        <p:nvSpPr>
          <p:cNvPr id="21508" name="Rectangle 3"/>
          <p:cNvSpPr>
            <a:spLocks noGrp="1" noChangeArrowheads="1"/>
          </p:cNvSpPr>
          <p:nvPr>
            <p:ph type="body" idx="1"/>
          </p:nvPr>
        </p:nvSpPr>
        <p:spPr/>
        <p:txBody>
          <a:bodyPr/>
          <a:lstStyle/>
          <a:p>
            <a:pPr marL="0" indent="0">
              <a:buNone/>
            </a:pPr>
            <a:r>
              <a:rPr lang="pl-PL" sz="3200" b="1" dirty="0" err="1">
                <a:solidFill>
                  <a:srgbClr val="003399"/>
                </a:solidFill>
              </a:rPr>
              <a:t>Deming’s</a:t>
            </a:r>
            <a:r>
              <a:rPr lang="pl-PL" sz="3200" b="1" dirty="0">
                <a:solidFill>
                  <a:srgbClr val="003399"/>
                </a:solidFill>
              </a:rPr>
              <a:t> </a:t>
            </a:r>
            <a:r>
              <a:rPr lang="pl-PL" sz="3200" b="1" dirty="0" err="1">
                <a:solidFill>
                  <a:srgbClr val="003399"/>
                </a:solidFill>
              </a:rPr>
              <a:t>deadly</a:t>
            </a:r>
            <a:r>
              <a:rPr lang="pl-PL" sz="3200" b="1" dirty="0">
                <a:solidFill>
                  <a:srgbClr val="003399"/>
                </a:solidFill>
              </a:rPr>
              <a:t> </a:t>
            </a:r>
            <a:r>
              <a:rPr lang="pl-PL" sz="3200" b="1" dirty="0" err="1">
                <a:solidFill>
                  <a:srgbClr val="003399"/>
                </a:solidFill>
              </a:rPr>
              <a:t>diseases</a:t>
            </a:r>
            <a:endParaRPr lang="pl-PL" sz="3200" b="1" dirty="0">
              <a:solidFill>
                <a:srgbClr val="003399"/>
              </a:solidFill>
            </a:endParaRPr>
          </a:p>
          <a:p>
            <a:pPr marL="0" indent="0">
              <a:buNone/>
            </a:pPr>
            <a:endParaRPr lang="pl-PL" sz="1800" b="1" dirty="0">
              <a:solidFill>
                <a:srgbClr val="003399"/>
              </a:solidFill>
            </a:endParaRPr>
          </a:p>
          <a:p>
            <a:pPr marL="0" indent="0">
              <a:buNone/>
            </a:pPr>
            <a:r>
              <a:rPr lang="en-US" sz="1800" b="1" dirty="0">
                <a:solidFill>
                  <a:srgbClr val="003399"/>
                </a:solidFill>
              </a:rPr>
              <a:t>1. Lack of constancy of purpose</a:t>
            </a:r>
            <a:endParaRPr lang="en-US" sz="1800" dirty="0">
              <a:solidFill>
                <a:srgbClr val="003399"/>
              </a:solidFill>
            </a:endParaRPr>
          </a:p>
          <a:p>
            <a:pPr marL="0" indent="0">
              <a:buNone/>
            </a:pPr>
            <a:r>
              <a:rPr lang="en-US" sz="1800" b="1" dirty="0">
                <a:solidFill>
                  <a:srgbClr val="003399"/>
                </a:solidFill>
              </a:rPr>
              <a:t>2. Emphasis on short-term profits</a:t>
            </a:r>
            <a:endParaRPr lang="en-US" sz="1800" dirty="0">
              <a:solidFill>
                <a:srgbClr val="003399"/>
              </a:solidFill>
            </a:endParaRPr>
          </a:p>
          <a:p>
            <a:pPr marL="0" indent="0">
              <a:buNone/>
            </a:pPr>
            <a:r>
              <a:rPr lang="en-US" sz="1800" b="1" dirty="0">
                <a:solidFill>
                  <a:srgbClr val="003399"/>
                </a:solidFill>
              </a:rPr>
              <a:t>3. Evaluation of performance, merit rating, or annual review</a:t>
            </a:r>
            <a:endParaRPr lang="en-US" sz="1800" dirty="0">
              <a:solidFill>
                <a:srgbClr val="003399"/>
              </a:solidFill>
            </a:endParaRPr>
          </a:p>
          <a:p>
            <a:pPr marL="0" indent="0">
              <a:buNone/>
            </a:pPr>
            <a:r>
              <a:rPr lang="en-US" sz="1800" b="1" dirty="0">
                <a:solidFill>
                  <a:srgbClr val="003399"/>
                </a:solidFill>
              </a:rPr>
              <a:t>4. Mobility of top management</a:t>
            </a:r>
            <a:endParaRPr lang="en-US" sz="1800" dirty="0">
              <a:solidFill>
                <a:srgbClr val="003399"/>
              </a:solidFill>
            </a:endParaRPr>
          </a:p>
          <a:p>
            <a:pPr marL="0" indent="0">
              <a:buNone/>
            </a:pPr>
            <a:r>
              <a:rPr lang="en-US" sz="1800" b="1" dirty="0">
                <a:solidFill>
                  <a:srgbClr val="003399"/>
                </a:solidFill>
              </a:rPr>
              <a:t>5. Running a company on visible figures alone (counting the money)</a:t>
            </a:r>
            <a:endParaRPr lang="en-US" sz="1800" dirty="0">
              <a:solidFill>
                <a:srgbClr val="003399"/>
              </a:solidFill>
            </a:endParaRPr>
          </a:p>
          <a:p>
            <a:pPr marL="0" indent="0">
              <a:buNone/>
            </a:pPr>
            <a:r>
              <a:rPr lang="en-US" sz="1800" b="1" dirty="0">
                <a:solidFill>
                  <a:srgbClr val="003399"/>
                </a:solidFill>
              </a:rPr>
              <a:t>6 &amp; 7</a:t>
            </a:r>
            <a:endParaRPr lang="en-US" sz="1800" dirty="0">
              <a:solidFill>
                <a:srgbClr val="003399"/>
              </a:solidFill>
            </a:endParaRPr>
          </a:p>
          <a:p>
            <a:pPr marL="0" indent="0">
              <a:buNone/>
            </a:pPr>
            <a:r>
              <a:rPr lang="en-US" sz="1800" dirty="0">
                <a:solidFill>
                  <a:srgbClr val="003399"/>
                </a:solidFill>
              </a:rPr>
              <a:t>These are not reproduced here. They relate to excessive medical and warranty costs and were considered by Deming to be essentially American phenomena.</a:t>
            </a:r>
          </a:p>
          <a:p>
            <a:pPr marL="0" indent="0">
              <a:buNone/>
            </a:pPr>
            <a:r>
              <a:rPr lang="en-US" sz="1800" b="1" dirty="0">
                <a:solidFill>
                  <a:srgbClr val="003399"/>
                </a:solidFill>
              </a:rPr>
              <a:t>6. Excessive medical costs</a:t>
            </a:r>
            <a:endParaRPr lang="en-US" sz="1800" dirty="0">
              <a:solidFill>
                <a:srgbClr val="00339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23555" name="Rectangle 2"/>
          <p:cNvSpPr>
            <a:spLocks noGrp="1" noChangeArrowheads="1"/>
          </p:cNvSpPr>
          <p:nvPr>
            <p:ph type="title"/>
          </p:nvPr>
        </p:nvSpPr>
        <p:spPr/>
        <p:txBody>
          <a:bodyPr/>
          <a:lstStyle/>
          <a:p>
            <a:pPr eaLnBrk="1" hangingPunct="1"/>
            <a:r>
              <a:rPr lang="pl-PL" sz="4000" b="1"/>
              <a:t>Total Quality Management (TQM)</a:t>
            </a:r>
          </a:p>
        </p:txBody>
      </p:sp>
      <p:sp>
        <p:nvSpPr>
          <p:cNvPr id="23556" name="Rectangle 3"/>
          <p:cNvSpPr>
            <a:spLocks noGrp="1" noChangeArrowheads="1"/>
          </p:cNvSpPr>
          <p:nvPr>
            <p:ph type="body" idx="1"/>
          </p:nvPr>
        </p:nvSpPr>
        <p:spPr/>
        <p:txBody>
          <a:bodyPr/>
          <a:lstStyle/>
          <a:p>
            <a:pPr eaLnBrk="1" hangingPunct="1">
              <a:buFont typeface="Wingdings" pitchFamily="2" charset="2"/>
              <a:buNone/>
            </a:pPr>
            <a:r>
              <a:rPr lang="pl-PL" dirty="0">
                <a:solidFill>
                  <a:srgbClr val="0066CC"/>
                </a:solidFill>
              </a:rPr>
              <a:t>   </a:t>
            </a:r>
            <a:r>
              <a:rPr lang="pl-PL" b="1" dirty="0">
                <a:solidFill>
                  <a:srgbClr val="003399"/>
                </a:solidFill>
              </a:rPr>
              <a:t>Total </a:t>
            </a:r>
            <a:r>
              <a:rPr lang="pl-PL" b="1" dirty="0" err="1">
                <a:solidFill>
                  <a:srgbClr val="003399"/>
                </a:solidFill>
              </a:rPr>
              <a:t>Quality</a:t>
            </a:r>
            <a:r>
              <a:rPr lang="pl-PL" b="1" dirty="0">
                <a:solidFill>
                  <a:srgbClr val="003399"/>
                </a:solidFill>
              </a:rPr>
              <a:t> Management </a:t>
            </a:r>
            <a:r>
              <a:rPr lang="pl-PL" dirty="0">
                <a:solidFill>
                  <a:srgbClr val="003399"/>
                </a:solidFill>
              </a:rPr>
              <a:t>= </a:t>
            </a:r>
          </a:p>
          <a:p>
            <a:pPr eaLnBrk="1" hangingPunct="1">
              <a:buNone/>
            </a:pPr>
            <a:r>
              <a:rPr lang="pl-PL" dirty="0">
                <a:solidFill>
                  <a:srgbClr val="003399"/>
                </a:solidFill>
              </a:rPr>
              <a:t>   </a:t>
            </a:r>
            <a:r>
              <a:rPr lang="en-US" dirty="0">
                <a:solidFill>
                  <a:srgbClr val="003399"/>
                </a:solidFill>
              </a:rPr>
              <a:t>a management system for a customer-focused organization that involves all employees in continual improvement. It uses strategy, data, and effective communications to integrate the quality discipline into the culture and activities of the organization</a:t>
            </a:r>
            <a:r>
              <a:rPr lang="pl-PL" dirty="0">
                <a:solidFill>
                  <a:srgbClr val="003399"/>
                </a:solidFill>
              </a:rPr>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24579" name="Rectangle 2"/>
          <p:cNvSpPr>
            <a:spLocks noGrp="1" noChangeArrowheads="1"/>
          </p:cNvSpPr>
          <p:nvPr>
            <p:ph type="title"/>
          </p:nvPr>
        </p:nvSpPr>
        <p:spPr/>
        <p:txBody>
          <a:bodyPr/>
          <a:lstStyle/>
          <a:p>
            <a:pPr eaLnBrk="1" hangingPunct="1"/>
            <a:r>
              <a:rPr lang="pl-PL" sz="4000" b="1" dirty="0"/>
              <a:t>TQM – </a:t>
            </a:r>
            <a:r>
              <a:rPr lang="pl-PL" sz="4000" b="1" dirty="0" err="1"/>
              <a:t>basic</a:t>
            </a:r>
            <a:r>
              <a:rPr lang="pl-PL" sz="4000" b="1" dirty="0"/>
              <a:t> </a:t>
            </a:r>
            <a:r>
              <a:rPr lang="pl-PL" sz="4000" b="1" dirty="0" err="1"/>
              <a:t>rules</a:t>
            </a:r>
            <a:endParaRPr lang="pl-PL" sz="4000" b="1" dirty="0"/>
          </a:p>
        </p:txBody>
      </p:sp>
      <p:sp>
        <p:nvSpPr>
          <p:cNvPr id="24580" name="Rectangle 3"/>
          <p:cNvSpPr>
            <a:spLocks noGrp="1" noChangeArrowheads="1"/>
          </p:cNvSpPr>
          <p:nvPr>
            <p:ph type="body" idx="1"/>
          </p:nvPr>
        </p:nvSpPr>
        <p:spPr>
          <a:xfrm>
            <a:off x="457200" y="1417638"/>
            <a:ext cx="8229600" cy="4713287"/>
          </a:xfrm>
        </p:spPr>
        <p:txBody>
          <a:bodyPr/>
          <a:lstStyle/>
          <a:p>
            <a:pPr eaLnBrk="1" hangingPunct="1"/>
            <a:r>
              <a:rPr lang="en-US" dirty="0">
                <a:solidFill>
                  <a:srgbClr val="003399"/>
                </a:solidFill>
              </a:rPr>
              <a:t>Continuous improvement (of processes, staff, products and components)</a:t>
            </a:r>
          </a:p>
          <a:p>
            <a:pPr eaLnBrk="1" hangingPunct="1"/>
            <a:r>
              <a:rPr lang="en-US" dirty="0">
                <a:solidFill>
                  <a:srgbClr val="003399"/>
                </a:solidFill>
              </a:rPr>
              <a:t>Very strong cooperation between all participants of the quality management process</a:t>
            </a:r>
          </a:p>
          <a:p>
            <a:pPr eaLnBrk="1" hangingPunct="1"/>
            <a:r>
              <a:rPr lang="en-US" dirty="0">
                <a:solidFill>
                  <a:srgbClr val="003399"/>
                </a:solidFill>
              </a:rPr>
              <a:t>System </a:t>
            </a:r>
            <a:r>
              <a:rPr lang="pl-PL" dirty="0">
                <a:solidFill>
                  <a:srgbClr val="003399"/>
                </a:solidFill>
              </a:rPr>
              <a:t>t</a:t>
            </a:r>
            <a:r>
              <a:rPr lang="en-US" dirty="0" err="1">
                <a:solidFill>
                  <a:srgbClr val="003399"/>
                </a:solidFill>
              </a:rPr>
              <a:t>hinking</a:t>
            </a:r>
            <a:endParaRPr lang="en-US" dirty="0">
              <a:solidFill>
                <a:srgbClr val="003399"/>
              </a:solidFill>
            </a:endParaRPr>
          </a:p>
          <a:p>
            <a:pPr eaLnBrk="1" hangingPunct="1"/>
            <a:r>
              <a:rPr lang="en-US" dirty="0">
                <a:solidFill>
                  <a:srgbClr val="003399"/>
                </a:solidFill>
              </a:rPr>
              <a:t>Focusing on customers</a:t>
            </a:r>
          </a:p>
          <a:p>
            <a:pPr eaLnBrk="1" hangingPunct="1"/>
            <a:r>
              <a:rPr lang="en-US" dirty="0">
                <a:solidFill>
                  <a:srgbClr val="003399"/>
                </a:solidFill>
              </a:rPr>
              <a:t>The role of management</a:t>
            </a:r>
          </a:p>
          <a:p>
            <a:pPr eaLnBrk="1" hangingPunct="1"/>
            <a:r>
              <a:rPr lang="en-US" dirty="0">
                <a:solidFill>
                  <a:srgbClr val="003399"/>
                </a:solidFill>
              </a:rPr>
              <a:t>Employee participation</a:t>
            </a:r>
            <a:endParaRPr lang="pl-PL" dirty="0">
              <a:solidFill>
                <a:srgbClr val="00339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ymbol zastępczy stopki 4"/>
          <p:cNvSpPr>
            <a:spLocks noGrp="1"/>
          </p:cNvSpPr>
          <p:nvPr>
            <p:ph type="ftr" sz="quarter" idx="11"/>
          </p:nvPr>
        </p:nvSpPr>
        <p:spPr/>
        <p:txBody>
          <a:bodyPr/>
          <a:lstStyle/>
          <a:p>
            <a:pPr>
              <a:defRPr/>
            </a:pPr>
            <a:r>
              <a:rPr lang="pl-PL" altLang="en-US"/>
              <a:t>PJAIT</a:t>
            </a:r>
          </a:p>
        </p:txBody>
      </p:sp>
      <p:sp>
        <p:nvSpPr>
          <p:cNvPr id="25603" name="Rectangle 2"/>
          <p:cNvSpPr>
            <a:spLocks noGrp="1" noChangeArrowheads="1"/>
          </p:cNvSpPr>
          <p:nvPr>
            <p:ph type="title"/>
          </p:nvPr>
        </p:nvSpPr>
        <p:spPr/>
        <p:txBody>
          <a:bodyPr/>
          <a:lstStyle/>
          <a:p>
            <a:pPr eaLnBrk="1" hangingPunct="1"/>
            <a:r>
              <a:rPr lang="pl-PL" sz="4000" b="1"/>
              <a:t>Total Quality Management (TQM)</a:t>
            </a:r>
          </a:p>
        </p:txBody>
      </p:sp>
      <p:sp>
        <p:nvSpPr>
          <p:cNvPr id="25604" name="Rectangle 3"/>
          <p:cNvSpPr>
            <a:spLocks noGrp="1" noChangeArrowheads="1"/>
          </p:cNvSpPr>
          <p:nvPr>
            <p:ph type="body" idx="1"/>
          </p:nvPr>
        </p:nvSpPr>
        <p:spPr/>
        <p:txBody>
          <a:bodyPr/>
          <a:lstStyle/>
          <a:p>
            <a:pPr eaLnBrk="1" hangingPunct="1">
              <a:buFont typeface="Wingdings" pitchFamily="2" charset="2"/>
              <a:buNone/>
            </a:pPr>
            <a:endParaRPr lang="pl-PL" dirty="0">
              <a:solidFill>
                <a:srgbClr val="0066CC"/>
              </a:solidFill>
            </a:endParaRPr>
          </a:p>
        </p:txBody>
      </p:sp>
      <p:sp>
        <p:nvSpPr>
          <p:cNvPr id="25605" name="Rectangle 4"/>
          <p:cNvSpPr>
            <a:spLocks noChangeArrowheads="1"/>
          </p:cNvSpPr>
          <p:nvPr/>
        </p:nvSpPr>
        <p:spPr bwMode="auto">
          <a:xfrm>
            <a:off x="3203575" y="1700213"/>
            <a:ext cx="2808288" cy="576262"/>
          </a:xfrm>
          <a:prstGeom prst="rect">
            <a:avLst/>
          </a:prstGeom>
          <a:solidFill>
            <a:srgbClr val="00FF00"/>
          </a:solidFill>
          <a:ln w="9525">
            <a:solidFill>
              <a:schemeClr val="tx1"/>
            </a:solidFill>
            <a:miter lim="800000"/>
            <a:headEnd/>
            <a:tailEnd/>
          </a:ln>
        </p:spPr>
        <p:txBody>
          <a:bodyPr wrap="none" anchor="ctr"/>
          <a:lstStyle/>
          <a:p>
            <a:pPr algn="ctr"/>
            <a:r>
              <a:rPr lang="pl-PL" sz="2400" b="1" dirty="0" err="1">
                <a:solidFill>
                  <a:srgbClr val="FF3300"/>
                </a:solidFill>
              </a:rPr>
              <a:t>Teams</a:t>
            </a:r>
            <a:endParaRPr lang="pl-PL" sz="2400" b="1" dirty="0">
              <a:solidFill>
                <a:srgbClr val="FF3300"/>
              </a:solidFill>
            </a:endParaRPr>
          </a:p>
        </p:txBody>
      </p:sp>
      <p:sp>
        <p:nvSpPr>
          <p:cNvPr id="25606" name="Rectangle 5"/>
          <p:cNvSpPr>
            <a:spLocks noChangeArrowheads="1"/>
          </p:cNvSpPr>
          <p:nvPr/>
        </p:nvSpPr>
        <p:spPr bwMode="auto">
          <a:xfrm>
            <a:off x="468313" y="5516563"/>
            <a:ext cx="2447925" cy="504825"/>
          </a:xfrm>
          <a:prstGeom prst="rect">
            <a:avLst/>
          </a:prstGeom>
          <a:solidFill>
            <a:srgbClr val="00FF00"/>
          </a:solidFill>
          <a:ln w="9525">
            <a:solidFill>
              <a:schemeClr val="tx1"/>
            </a:solidFill>
            <a:miter lim="800000"/>
            <a:headEnd/>
            <a:tailEnd/>
          </a:ln>
        </p:spPr>
        <p:txBody>
          <a:bodyPr wrap="none" anchor="ctr"/>
          <a:lstStyle/>
          <a:p>
            <a:pPr algn="ctr"/>
            <a:r>
              <a:rPr lang="pl-PL" sz="2000" b="1" dirty="0">
                <a:solidFill>
                  <a:srgbClr val="FF3300"/>
                </a:solidFill>
              </a:rPr>
              <a:t>Systems</a:t>
            </a:r>
          </a:p>
        </p:txBody>
      </p:sp>
      <p:sp>
        <p:nvSpPr>
          <p:cNvPr id="25607" name="Rectangle 6"/>
          <p:cNvSpPr>
            <a:spLocks noChangeArrowheads="1"/>
          </p:cNvSpPr>
          <p:nvPr/>
        </p:nvSpPr>
        <p:spPr bwMode="auto">
          <a:xfrm>
            <a:off x="6227763" y="5516563"/>
            <a:ext cx="2447925" cy="504825"/>
          </a:xfrm>
          <a:prstGeom prst="rect">
            <a:avLst/>
          </a:prstGeom>
          <a:solidFill>
            <a:srgbClr val="00FF00"/>
          </a:solidFill>
          <a:ln w="9525">
            <a:solidFill>
              <a:schemeClr val="tx1"/>
            </a:solidFill>
            <a:miter lim="800000"/>
            <a:headEnd/>
            <a:tailEnd/>
          </a:ln>
        </p:spPr>
        <p:txBody>
          <a:bodyPr wrap="none" anchor="ctr"/>
          <a:lstStyle/>
          <a:p>
            <a:pPr algn="ctr"/>
            <a:r>
              <a:rPr lang="pl-PL" sz="2000" b="1" dirty="0">
                <a:solidFill>
                  <a:srgbClr val="FF3300"/>
                </a:solidFill>
              </a:rPr>
              <a:t>Tools</a:t>
            </a:r>
          </a:p>
        </p:txBody>
      </p:sp>
      <p:sp>
        <p:nvSpPr>
          <p:cNvPr id="25608" name="Rectangle 7"/>
          <p:cNvSpPr>
            <a:spLocks noChangeArrowheads="1"/>
          </p:cNvSpPr>
          <p:nvPr/>
        </p:nvSpPr>
        <p:spPr bwMode="auto">
          <a:xfrm>
            <a:off x="3779838" y="3068638"/>
            <a:ext cx="1584325" cy="1582737"/>
          </a:xfrm>
          <a:prstGeom prst="rect">
            <a:avLst/>
          </a:prstGeom>
          <a:solidFill>
            <a:srgbClr val="FFFFFF"/>
          </a:solidFill>
          <a:ln w="9525">
            <a:solidFill>
              <a:schemeClr val="tx1"/>
            </a:solidFill>
            <a:miter lim="800000"/>
            <a:headEnd/>
            <a:tailEnd/>
          </a:ln>
        </p:spPr>
        <p:txBody>
          <a:bodyPr wrap="none" anchor="ctr"/>
          <a:lstStyle/>
          <a:p>
            <a:pPr algn="ctr"/>
            <a:endParaRPr lang="pl-PL" sz="2000" b="1" dirty="0">
              <a:solidFill>
                <a:srgbClr val="FF3300"/>
              </a:solidFill>
            </a:endParaRPr>
          </a:p>
          <a:p>
            <a:pPr algn="ctr"/>
            <a:endParaRPr lang="pl-PL" sz="2000" b="1" dirty="0">
              <a:solidFill>
                <a:srgbClr val="FF3300"/>
              </a:solidFill>
            </a:endParaRPr>
          </a:p>
          <a:p>
            <a:pPr algn="ctr"/>
            <a:r>
              <a:rPr lang="pl-PL" sz="2000" b="1" dirty="0" err="1">
                <a:solidFill>
                  <a:srgbClr val="FF3300"/>
                </a:solidFill>
              </a:rPr>
              <a:t>Customer</a:t>
            </a:r>
            <a:endParaRPr lang="pl-PL" sz="2000" b="1" dirty="0">
              <a:solidFill>
                <a:srgbClr val="FF3300"/>
              </a:solidFill>
            </a:endParaRPr>
          </a:p>
          <a:p>
            <a:pPr algn="ctr"/>
            <a:endParaRPr lang="pl-PL" sz="2000" b="1" dirty="0">
              <a:solidFill>
                <a:srgbClr val="FF3300"/>
              </a:solidFill>
            </a:endParaRPr>
          </a:p>
          <a:p>
            <a:pPr algn="ctr"/>
            <a:endParaRPr lang="pl-PL" sz="2000" b="1" dirty="0">
              <a:solidFill>
                <a:srgbClr val="FF3300"/>
              </a:solidFill>
            </a:endParaRPr>
          </a:p>
          <a:p>
            <a:pPr algn="ctr"/>
            <a:endParaRPr lang="pl-PL" sz="2000" b="1" dirty="0">
              <a:solidFill>
                <a:srgbClr val="FF3300"/>
              </a:solidFill>
            </a:endParaRPr>
          </a:p>
          <a:p>
            <a:pPr algn="ctr"/>
            <a:r>
              <a:rPr lang="pl-PL" sz="2000" b="1" dirty="0">
                <a:solidFill>
                  <a:srgbClr val="FF3300"/>
                </a:solidFill>
              </a:rPr>
              <a:t>Supplier</a:t>
            </a:r>
          </a:p>
          <a:p>
            <a:pPr algn="ctr"/>
            <a:endParaRPr lang="pl-PL" sz="2000" b="1" dirty="0">
              <a:solidFill>
                <a:srgbClr val="FF3300"/>
              </a:solidFill>
            </a:endParaRPr>
          </a:p>
          <a:p>
            <a:pPr algn="ctr"/>
            <a:endParaRPr lang="pl-PL" sz="2000" b="1" dirty="0">
              <a:solidFill>
                <a:srgbClr val="FF3300"/>
              </a:solidFill>
            </a:endParaRPr>
          </a:p>
        </p:txBody>
      </p:sp>
      <p:sp>
        <p:nvSpPr>
          <p:cNvPr id="25609" name="Rectangle 8"/>
          <p:cNvSpPr>
            <a:spLocks noChangeArrowheads="1"/>
          </p:cNvSpPr>
          <p:nvPr/>
        </p:nvSpPr>
        <p:spPr bwMode="auto">
          <a:xfrm>
            <a:off x="3492500" y="5084763"/>
            <a:ext cx="2016125" cy="360362"/>
          </a:xfrm>
          <a:prstGeom prst="rect">
            <a:avLst/>
          </a:prstGeom>
          <a:solidFill>
            <a:srgbClr val="FFFF00"/>
          </a:solidFill>
          <a:ln w="9525">
            <a:solidFill>
              <a:schemeClr val="tx1"/>
            </a:solidFill>
            <a:miter lim="800000"/>
            <a:headEnd/>
            <a:tailEnd/>
          </a:ln>
        </p:spPr>
        <p:txBody>
          <a:bodyPr wrap="none" anchor="ctr"/>
          <a:lstStyle/>
          <a:p>
            <a:pPr algn="ctr"/>
            <a:r>
              <a:rPr lang="pl-PL" sz="2000" b="1" dirty="0" err="1">
                <a:solidFill>
                  <a:srgbClr val="FF3300"/>
                </a:solidFill>
              </a:rPr>
              <a:t>Involvement</a:t>
            </a:r>
            <a:endParaRPr lang="pl-PL" sz="2000" b="1" dirty="0">
              <a:solidFill>
                <a:srgbClr val="FF3300"/>
              </a:solidFill>
            </a:endParaRPr>
          </a:p>
        </p:txBody>
      </p:sp>
      <p:sp>
        <p:nvSpPr>
          <p:cNvPr id="25610" name="Rectangle 9"/>
          <p:cNvSpPr>
            <a:spLocks noChangeArrowheads="1"/>
          </p:cNvSpPr>
          <p:nvPr/>
        </p:nvSpPr>
        <p:spPr bwMode="auto">
          <a:xfrm>
            <a:off x="2411413" y="4221163"/>
            <a:ext cx="1223962" cy="360362"/>
          </a:xfrm>
          <a:prstGeom prst="rect">
            <a:avLst/>
          </a:prstGeom>
          <a:solidFill>
            <a:srgbClr val="FFFF00"/>
          </a:solidFill>
          <a:ln w="9525">
            <a:solidFill>
              <a:schemeClr val="tx1"/>
            </a:solidFill>
            <a:miter lim="800000"/>
            <a:headEnd/>
            <a:tailEnd/>
          </a:ln>
        </p:spPr>
        <p:txBody>
          <a:bodyPr wrap="none" anchor="ctr"/>
          <a:lstStyle/>
          <a:p>
            <a:pPr algn="ctr"/>
            <a:r>
              <a:rPr lang="pl-PL" sz="2000" b="1" dirty="0" err="1">
                <a:solidFill>
                  <a:srgbClr val="FF3300"/>
                </a:solidFill>
              </a:rPr>
              <a:t>Culture</a:t>
            </a:r>
            <a:endParaRPr lang="pl-PL" sz="2000" b="1" dirty="0">
              <a:solidFill>
                <a:srgbClr val="FF3300"/>
              </a:solidFill>
            </a:endParaRPr>
          </a:p>
        </p:txBody>
      </p:sp>
      <p:sp>
        <p:nvSpPr>
          <p:cNvPr id="25611" name="Rectangle 10"/>
          <p:cNvSpPr>
            <a:spLocks noChangeArrowheads="1"/>
          </p:cNvSpPr>
          <p:nvPr/>
        </p:nvSpPr>
        <p:spPr bwMode="auto">
          <a:xfrm>
            <a:off x="5508625" y="4221163"/>
            <a:ext cx="1871663" cy="360362"/>
          </a:xfrm>
          <a:prstGeom prst="rect">
            <a:avLst/>
          </a:prstGeom>
          <a:solidFill>
            <a:srgbClr val="FFFF00"/>
          </a:solidFill>
          <a:ln w="9525">
            <a:solidFill>
              <a:schemeClr val="tx1"/>
            </a:solidFill>
            <a:miter lim="800000"/>
            <a:headEnd/>
            <a:tailEnd/>
          </a:ln>
        </p:spPr>
        <p:txBody>
          <a:bodyPr wrap="none" anchor="ctr"/>
          <a:lstStyle/>
          <a:p>
            <a:pPr algn="ctr"/>
            <a:r>
              <a:rPr lang="pl-PL" sz="2000" b="1" dirty="0" err="1">
                <a:solidFill>
                  <a:srgbClr val="FF3300"/>
                </a:solidFill>
              </a:rPr>
              <a:t>Communication</a:t>
            </a:r>
            <a:endParaRPr lang="pl-PL" sz="2000" b="1" dirty="0">
              <a:solidFill>
                <a:srgbClr val="FF3300"/>
              </a:solidFill>
            </a:endParaRPr>
          </a:p>
        </p:txBody>
      </p:sp>
      <p:sp>
        <p:nvSpPr>
          <p:cNvPr id="25612" name="Line 11"/>
          <p:cNvSpPr>
            <a:spLocks noChangeShapeType="1"/>
          </p:cNvSpPr>
          <p:nvPr/>
        </p:nvSpPr>
        <p:spPr bwMode="auto">
          <a:xfrm flipH="1">
            <a:off x="827088" y="2276475"/>
            <a:ext cx="2376487" cy="3240088"/>
          </a:xfrm>
          <a:prstGeom prst="line">
            <a:avLst/>
          </a:prstGeom>
          <a:noFill/>
          <a:ln w="9525">
            <a:solidFill>
              <a:schemeClr val="tx1"/>
            </a:solidFill>
            <a:round/>
            <a:headEnd type="triangle" w="med" len="med"/>
            <a:tailEnd type="triangle" w="med" len="med"/>
          </a:ln>
        </p:spPr>
        <p:txBody>
          <a:bodyPr/>
          <a:lstStyle/>
          <a:p>
            <a:endParaRPr lang="pl-PL"/>
          </a:p>
        </p:txBody>
      </p:sp>
      <p:sp>
        <p:nvSpPr>
          <p:cNvPr id="25613" name="Line 12"/>
          <p:cNvSpPr>
            <a:spLocks noChangeShapeType="1"/>
          </p:cNvSpPr>
          <p:nvPr/>
        </p:nvSpPr>
        <p:spPr bwMode="auto">
          <a:xfrm>
            <a:off x="6011863" y="2276475"/>
            <a:ext cx="2520950" cy="3240088"/>
          </a:xfrm>
          <a:prstGeom prst="line">
            <a:avLst/>
          </a:prstGeom>
          <a:noFill/>
          <a:ln w="9525">
            <a:solidFill>
              <a:schemeClr val="tx1"/>
            </a:solidFill>
            <a:round/>
            <a:headEnd type="triangle" w="med" len="med"/>
            <a:tailEnd type="triangle" w="med" len="med"/>
          </a:ln>
        </p:spPr>
        <p:txBody>
          <a:bodyPr/>
          <a:lstStyle/>
          <a:p>
            <a:endParaRPr lang="pl-PL"/>
          </a:p>
        </p:txBody>
      </p:sp>
      <p:sp>
        <p:nvSpPr>
          <p:cNvPr id="25614" name="Line 13"/>
          <p:cNvSpPr>
            <a:spLocks noChangeShapeType="1"/>
          </p:cNvSpPr>
          <p:nvPr/>
        </p:nvSpPr>
        <p:spPr bwMode="auto">
          <a:xfrm>
            <a:off x="2916238" y="5805488"/>
            <a:ext cx="3311525" cy="0"/>
          </a:xfrm>
          <a:prstGeom prst="line">
            <a:avLst/>
          </a:prstGeom>
          <a:noFill/>
          <a:ln w="9525">
            <a:solidFill>
              <a:schemeClr val="tx1"/>
            </a:solidFill>
            <a:round/>
            <a:headEnd type="triangle" w="med" len="med"/>
            <a:tailEnd type="triangle" w="med" len="med"/>
          </a:ln>
        </p:spPr>
        <p:txBody>
          <a:bodyPr/>
          <a:lstStyle/>
          <a:p>
            <a:endParaRPr lang="pl-PL"/>
          </a:p>
        </p:txBody>
      </p:sp>
      <p:sp>
        <p:nvSpPr>
          <p:cNvPr id="25615" name="Line 14"/>
          <p:cNvSpPr>
            <a:spLocks noChangeShapeType="1"/>
          </p:cNvSpPr>
          <p:nvPr/>
        </p:nvSpPr>
        <p:spPr bwMode="auto">
          <a:xfrm>
            <a:off x="4572000" y="3500438"/>
            <a:ext cx="0" cy="792162"/>
          </a:xfrm>
          <a:prstGeom prst="line">
            <a:avLst/>
          </a:prstGeom>
          <a:noFill/>
          <a:ln w="9525">
            <a:solidFill>
              <a:schemeClr val="tx1"/>
            </a:solidFill>
            <a:round/>
            <a:headEnd type="triangle" w="med" len="med"/>
            <a:tailEnd type="triangle" w="med" len="med"/>
          </a:ln>
        </p:spPr>
        <p:txBody>
          <a:bodyPr/>
          <a:lstStyle/>
          <a:p>
            <a:endParaRPr lang="pl-PL"/>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26627" name="Rectangle 2"/>
          <p:cNvSpPr>
            <a:spLocks noGrp="1" noChangeArrowheads="1"/>
          </p:cNvSpPr>
          <p:nvPr>
            <p:ph type="title"/>
          </p:nvPr>
        </p:nvSpPr>
        <p:spPr/>
        <p:txBody>
          <a:bodyPr/>
          <a:lstStyle/>
          <a:p>
            <a:pPr marL="800100" indent="-800100" eaLnBrk="1" hangingPunct="1"/>
            <a:r>
              <a:rPr lang="pl-PL" sz="4000" b="1" dirty="0" err="1"/>
              <a:t>Methods</a:t>
            </a:r>
            <a:r>
              <a:rPr lang="pl-PL" sz="4000" b="1" dirty="0"/>
              <a:t> </a:t>
            </a:r>
            <a:r>
              <a:rPr lang="pl-PL" sz="4000" b="1" dirty="0" err="1"/>
              <a:t>supporting</a:t>
            </a:r>
            <a:r>
              <a:rPr lang="pl-PL" sz="4000" b="1" dirty="0"/>
              <a:t> TQM</a:t>
            </a:r>
          </a:p>
        </p:txBody>
      </p:sp>
      <p:sp>
        <p:nvSpPr>
          <p:cNvPr id="26628" name="Rectangle 3"/>
          <p:cNvSpPr>
            <a:spLocks noGrp="1" noChangeArrowheads="1"/>
          </p:cNvSpPr>
          <p:nvPr>
            <p:ph type="body" idx="1"/>
          </p:nvPr>
        </p:nvSpPr>
        <p:spPr/>
        <p:txBody>
          <a:bodyPr/>
          <a:lstStyle/>
          <a:p>
            <a:pPr marL="571500" indent="-571500" eaLnBrk="1" hangingPunct="1"/>
            <a:r>
              <a:rPr lang="pl-PL" dirty="0" err="1">
                <a:solidFill>
                  <a:srgbClr val="003399"/>
                </a:solidFill>
              </a:rPr>
              <a:t>concept</a:t>
            </a:r>
            <a:r>
              <a:rPr lang="pl-PL" dirty="0">
                <a:solidFill>
                  <a:srgbClr val="003399"/>
                </a:solidFill>
              </a:rPr>
              <a:t> of </a:t>
            </a:r>
            <a:r>
              <a:rPr lang="pl-PL" dirty="0" err="1">
                <a:solidFill>
                  <a:srgbClr val="003399"/>
                </a:solidFill>
              </a:rPr>
              <a:t>cost</a:t>
            </a:r>
            <a:r>
              <a:rPr lang="pl-PL" dirty="0">
                <a:solidFill>
                  <a:srgbClr val="003399"/>
                </a:solidFill>
              </a:rPr>
              <a:t> of </a:t>
            </a:r>
            <a:r>
              <a:rPr lang="pl-PL" dirty="0" err="1">
                <a:solidFill>
                  <a:srgbClr val="003399"/>
                </a:solidFill>
              </a:rPr>
              <a:t>quality</a:t>
            </a:r>
            <a:r>
              <a:rPr lang="pl-PL" dirty="0">
                <a:solidFill>
                  <a:srgbClr val="003399"/>
                </a:solidFill>
              </a:rPr>
              <a:t> (COQ)</a:t>
            </a:r>
          </a:p>
          <a:p>
            <a:pPr marL="571500" indent="-571500" eaLnBrk="1" hangingPunct="1"/>
            <a:r>
              <a:rPr lang="pl-PL" dirty="0">
                <a:solidFill>
                  <a:srgbClr val="003399"/>
                </a:solidFill>
              </a:rPr>
              <a:t>the "zero </a:t>
            </a:r>
            <a:r>
              <a:rPr lang="pl-PL" dirty="0" err="1">
                <a:solidFill>
                  <a:srgbClr val="003399"/>
                </a:solidFill>
              </a:rPr>
              <a:t>defects</a:t>
            </a:r>
            <a:r>
              <a:rPr lang="pl-PL" dirty="0">
                <a:solidFill>
                  <a:srgbClr val="003399"/>
                </a:solidFill>
              </a:rPr>
              <a:t>" </a:t>
            </a:r>
            <a:r>
              <a:rPr lang="pl-PL" dirty="0" err="1">
                <a:solidFill>
                  <a:srgbClr val="003399"/>
                </a:solidFill>
              </a:rPr>
              <a:t>concept</a:t>
            </a:r>
            <a:endParaRPr lang="pl-PL" dirty="0">
              <a:solidFill>
                <a:srgbClr val="003399"/>
              </a:solidFill>
            </a:endParaRPr>
          </a:p>
          <a:p>
            <a:pPr marL="571500" indent="-571500" eaLnBrk="1" hangingPunct="1"/>
            <a:r>
              <a:rPr lang="pl-PL" dirty="0" err="1">
                <a:solidFill>
                  <a:srgbClr val="003399"/>
                </a:solidFill>
              </a:rPr>
              <a:t>Ishikawa</a:t>
            </a:r>
            <a:r>
              <a:rPr lang="pl-PL" dirty="0">
                <a:solidFill>
                  <a:srgbClr val="003399"/>
                </a:solidFill>
              </a:rPr>
              <a:t> diagram</a:t>
            </a:r>
          </a:p>
          <a:p>
            <a:pPr marL="571500" indent="-571500" eaLnBrk="1" hangingPunct="1"/>
            <a:r>
              <a:rPr lang="pl-PL" dirty="0">
                <a:solidFill>
                  <a:srgbClr val="003399"/>
                </a:solidFill>
              </a:rPr>
              <a:t>5S </a:t>
            </a:r>
            <a:r>
              <a:rPr lang="pl-PL" dirty="0" err="1">
                <a:solidFill>
                  <a:srgbClr val="003399"/>
                </a:solidFill>
              </a:rPr>
              <a:t>method</a:t>
            </a:r>
            <a:endParaRPr lang="pl-PL" dirty="0">
              <a:solidFill>
                <a:srgbClr val="003399"/>
              </a:solidFill>
            </a:endParaRPr>
          </a:p>
          <a:p>
            <a:pPr marL="571500" indent="-571500" eaLnBrk="1" hangingPunct="1"/>
            <a:r>
              <a:rPr lang="pl-PL" dirty="0" err="1">
                <a:solidFill>
                  <a:srgbClr val="003399"/>
                </a:solidFill>
              </a:rPr>
              <a:t>Kaizen</a:t>
            </a:r>
            <a:r>
              <a:rPr lang="pl-PL" dirty="0">
                <a:solidFill>
                  <a:srgbClr val="003399"/>
                </a:solidFill>
              </a:rPr>
              <a:t> </a:t>
            </a:r>
            <a:r>
              <a:rPr lang="pl-PL" dirty="0" err="1">
                <a:solidFill>
                  <a:srgbClr val="003399"/>
                </a:solidFill>
              </a:rPr>
              <a:t>concept</a:t>
            </a:r>
            <a:endParaRPr lang="pl-PL" dirty="0">
              <a:solidFill>
                <a:srgbClr val="003399"/>
              </a:solidFill>
            </a:endParaRPr>
          </a:p>
          <a:p>
            <a:pPr marL="571500" indent="-571500" eaLnBrk="1" hangingPunct="1"/>
            <a:r>
              <a:rPr lang="pl-PL" dirty="0" err="1">
                <a:solidFill>
                  <a:srgbClr val="003399"/>
                </a:solidFill>
              </a:rPr>
              <a:t>JiT</a:t>
            </a:r>
            <a:r>
              <a:rPr lang="pl-PL" dirty="0">
                <a:solidFill>
                  <a:srgbClr val="003399"/>
                </a:solidFill>
              </a:rPr>
              <a:t> system</a:t>
            </a:r>
          </a:p>
          <a:p>
            <a:pPr marL="571500" indent="-571500" eaLnBrk="1" hangingPunct="1"/>
            <a:r>
              <a:rPr lang="pl-PL" dirty="0" err="1">
                <a:solidFill>
                  <a:srgbClr val="003399"/>
                </a:solidFill>
              </a:rPr>
              <a:t>Six</a:t>
            </a:r>
            <a:r>
              <a:rPr lang="pl-PL" dirty="0">
                <a:solidFill>
                  <a:srgbClr val="003399"/>
                </a:solidFill>
              </a:rPr>
              <a:t> Sigma </a:t>
            </a:r>
            <a:r>
              <a:rPr lang="pl-PL" dirty="0" err="1">
                <a:solidFill>
                  <a:srgbClr val="003399"/>
                </a:solidFill>
              </a:rPr>
              <a:t>method</a:t>
            </a:r>
            <a:endParaRPr lang="pl-PL" dirty="0">
              <a:solidFill>
                <a:srgbClr val="003399"/>
              </a:solidFill>
            </a:endParaRPr>
          </a:p>
          <a:p>
            <a:pPr marL="571500" indent="-571500" eaLnBrk="1" hangingPunct="1">
              <a:buFont typeface="Wingdings" pitchFamily="2" charset="2"/>
              <a:buNone/>
            </a:pPr>
            <a:endParaRPr lang="pl-PL" dirty="0">
              <a:solidFill>
                <a:srgbClr val="00339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27651" name="Rectangle 2"/>
          <p:cNvSpPr>
            <a:spLocks noGrp="1" noChangeArrowheads="1"/>
          </p:cNvSpPr>
          <p:nvPr>
            <p:ph type="title"/>
          </p:nvPr>
        </p:nvSpPr>
        <p:spPr/>
        <p:txBody>
          <a:bodyPr/>
          <a:lstStyle/>
          <a:p>
            <a:pPr eaLnBrk="1" hangingPunct="1"/>
            <a:r>
              <a:rPr lang="pl-PL" sz="4000" b="1" dirty="0" err="1"/>
              <a:t>Cost</a:t>
            </a:r>
            <a:r>
              <a:rPr lang="pl-PL" sz="4000" b="1" dirty="0"/>
              <a:t> of </a:t>
            </a:r>
            <a:r>
              <a:rPr lang="pl-PL" sz="4000" b="1" dirty="0" err="1"/>
              <a:t>Quality</a:t>
            </a:r>
            <a:r>
              <a:rPr lang="pl-PL" sz="4000" b="1" dirty="0"/>
              <a:t> (COQ)</a:t>
            </a:r>
            <a:br>
              <a:rPr lang="pl-PL" sz="4000" b="1" dirty="0"/>
            </a:br>
            <a:endParaRPr lang="pl-PL" sz="4000" b="1" dirty="0"/>
          </a:p>
        </p:txBody>
      </p:sp>
      <p:sp>
        <p:nvSpPr>
          <p:cNvPr id="27652" name="Rectangle 3"/>
          <p:cNvSpPr>
            <a:spLocks noGrp="1" noChangeArrowheads="1"/>
          </p:cNvSpPr>
          <p:nvPr>
            <p:ph type="body" idx="1"/>
          </p:nvPr>
        </p:nvSpPr>
        <p:spPr>
          <a:xfrm>
            <a:off x="457200" y="1600200"/>
            <a:ext cx="4682276" cy="2219571"/>
          </a:xfrm>
        </p:spPr>
        <p:txBody>
          <a:bodyPr/>
          <a:lstStyle/>
          <a:p>
            <a:pPr eaLnBrk="1" hangingPunct="1">
              <a:lnSpc>
                <a:spcPct val="90000"/>
              </a:lnSpc>
              <a:buNone/>
            </a:pPr>
            <a:endParaRPr lang="pl-PL" sz="2800" dirty="0">
              <a:solidFill>
                <a:srgbClr val="003399"/>
              </a:solidFill>
            </a:endParaRPr>
          </a:p>
        </p:txBody>
      </p:sp>
      <p:sp>
        <p:nvSpPr>
          <p:cNvPr id="27654" name="Text Box 5"/>
          <p:cNvSpPr txBox="1">
            <a:spLocks noChangeArrowheads="1"/>
          </p:cNvSpPr>
          <p:nvPr/>
        </p:nvSpPr>
        <p:spPr bwMode="auto">
          <a:xfrm>
            <a:off x="395288" y="6237288"/>
            <a:ext cx="5040808" cy="276999"/>
          </a:xfrm>
          <a:prstGeom prst="rect">
            <a:avLst/>
          </a:prstGeom>
          <a:noFill/>
          <a:ln w="9525">
            <a:noFill/>
            <a:miter lim="800000"/>
            <a:headEnd/>
            <a:tailEnd/>
          </a:ln>
        </p:spPr>
        <p:txBody>
          <a:bodyPr wrap="square">
            <a:spAutoFit/>
          </a:bodyPr>
          <a:lstStyle/>
          <a:p>
            <a:pPr>
              <a:spcBef>
                <a:spcPct val="50000"/>
              </a:spcBef>
            </a:pPr>
            <a:r>
              <a:rPr lang="pl-PL" sz="1200" dirty="0"/>
              <a:t>Source: </a:t>
            </a:r>
            <a:r>
              <a:rPr lang="pl-PL" sz="1200" dirty="0">
                <a:hlinkClick r:id="rId3"/>
              </a:rPr>
              <a:t>https://massaroconsulting.com/2017/10/cost-of-quality/</a:t>
            </a:r>
            <a:endParaRPr lang="pl-PL" sz="1200" dirty="0"/>
          </a:p>
        </p:txBody>
      </p:sp>
      <p:pic>
        <p:nvPicPr>
          <p:cNvPr id="3" name="Obraz 2"/>
          <p:cNvPicPr>
            <a:picLocks noChangeAspect="1"/>
          </p:cNvPicPr>
          <p:nvPr/>
        </p:nvPicPr>
        <p:blipFill>
          <a:blip r:embed="rId4"/>
          <a:stretch>
            <a:fillRect/>
          </a:stretch>
        </p:blipFill>
        <p:spPr>
          <a:xfrm>
            <a:off x="323528" y="1268760"/>
            <a:ext cx="8487127" cy="453365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28675" name="Rectangle 2"/>
          <p:cNvSpPr>
            <a:spLocks noGrp="1" noChangeArrowheads="1"/>
          </p:cNvSpPr>
          <p:nvPr>
            <p:ph type="title"/>
          </p:nvPr>
        </p:nvSpPr>
        <p:spPr>
          <a:xfrm>
            <a:off x="468313" y="188913"/>
            <a:ext cx="8156575" cy="995362"/>
          </a:xfrm>
        </p:spPr>
        <p:txBody>
          <a:bodyPr/>
          <a:lstStyle/>
          <a:p>
            <a:pPr eaLnBrk="1" hangingPunct="1"/>
            <a:r>
              <a:rPr lang="pl-PL" sz="4000" b="1" dirty="0"/>
              <a:t>„Zero </a:t>
            </a:r>
            <a:r>
              <a:rPr lang="pl-PL" sz="4000" b="1" dirty="0" err="1"/>
              <a:t>defects</a:t>
            </a:r>
            <a:r>
              <a:rPr lang="pl-PL" sz="4000" b="1" dirty="0"/>
              <a:t>” </a:t>
            </a:r>
            <a:r>
              <a:rPr lang="pl-PL" sz="4000" b="1" dirty="0" err="1"/>
              <a:t>concept</a:t>
            </a:r>
            <a:endParaRPr lang="pl-PL" sz="4000" b="1" dirty="0"/>
          </a:p>
        </p:txBody>
      </p:sp>
      <p:sp>
        <p:nvSpPr>
          <p:cNvPr id="28676" name="Rectangle 4"/>
          <p:cNvSpPr>
            <a:spLocks noGrp="1" noChangeArrowheads="1"/>
          </p:cNvSpPr>
          <p:nvPr>
            <p:ph type="body" idx="1"/>
          </p:nvPr>
        </p:nvSpPr>
        <p:spPr>
          <a:xfrm>
            <a:off x="457200" y="1328738"/>
            <a:ext cx="8229600" cy="4802188"/>
          </a:xfrm>
        </p:spPr>
        <p:txBody>
          <a:bodyPr/>
          <a:lstStyle/>
          <a:p>
            <a:pPr eaLnBrk="1" hangingPunct="1">
              <a:lnSpc>
                <a:spcPct val="90000"/>
              </a:lnSpc>
              <a:buFont typeface="Wingdings" pitchFamily="2" charset="2"/>
              <a:buNone/>
            </a:pPr>
            <a:r>
              <a:rPr lang="pl-PL" sz="2600" b="1" dirty="0">
                <a:solidFill>
                  <a:srgbClr val="003399"/>
                </a:solidFill>
              </a:rPr>
              <a:t>Philip </a:t>
            </a:r>
            <a:r>
              <a:rPr lang="pl-PL" sz="2600" b="1" dirty="0" err="1">
                <a:solidFill>
                  <a:srgbClr val="003399"/>
                </a:solidFill>
              </a:rPr>
              <a:t>Crosby</a:t>
            </a:r>
            <a:r>
              <a:rPr lang="pl-PL" sz="2600" b="1" dirty="0">
                <a:solidFill>
                  <a:srgbClr val="003399"/>
                </a:solidFill>
              </a:rPr>
              <a:t> – 4 major </a:t>
            </a:r>
            <a:r>
              <a:rPr lang="pl-PL" sz="2600" b="1" dirty="0" err="1">
                <a:solidFill>
                  <a:srgbClr val="003399"/>
                </a:solidFill>
              </a:rPr>
              <a:t>principles</a:t>
            </a:r>
            <a:r>
              <a:rPr lang="pl-PL" sz="2600" b="1" dirty="0">
                <a:solidFill>
                  <a:srgbClr val="003399"/>
                </a:solidFill>
              </a:rPr>
              <a:t>:</a:t>
            </a:r>
          </a:p>
          <a:p>
            <a:pPr marL="514350" indent="-514350">
              <a:buFont typeface="+mj-lt"/>
              <a:buAutoNum type="arabicPeriod"/>
            </a:pPr>
            <a:r>
              <a:rPr lang="en-US" sz="2800" dirty="0">
                <a:solidFill>
                  <a:srgbClr val="003399"/>
                </a:solidFill>
              </a:rPr>
              <a:t>The definition of quality is conformance to requirements (requirements meaning both the product and the customer's requirements)</a:t>
            </a:r>
          </a:p>
          <a:p>
            <a:pPr marL="514350" indent="-514350">
              <a:buFont typeface="+mj-lt"/>
              <a:buAutoNum type="arabicPeriod"/>
            </a:pPr>
            <a:r>
              <a:rPr lang="en-US" sz="2800" dirty="0">
                <a:solidFill>
                  <a:srgbClr val="003399"/>
                </a:solidFill>
              </a:rPr>
              <a:t>The system of quality is prevention</a:t>
            </a:r>
          </a:p>
          <a:p>
            <a:pPr marL="514350" indent="-514350">
              <a:buFont typeface="+mj-lt"/>
              <a:buAutoNum type="arabicPeriod"/>
            </a:pPr>
            <a:r>
              <a:rPr lang="en-US" sz="2800" dirty="0">
                <a:solidFill>
                  <a:srgbClr val="003399"/>
                </a:solidFill>
              </a:rPr>
              <a:t>The performance standard is zero defects (relative to requirements)</a:t>
            </a:r>
          </a:p>
          <a:p>
            <a:pPr marL="514350" indent="-514350">
              <a:buFont typeface="+mj-lt"/>
              <a:buAutoNum type="arabicPeriod"/>
            </a:pPr>
            <a:r>
              <a:rPr lang="en-US" sz="2800" dirty="0">
                <a:solidFill>
                  <a:srgbClr val="003399"/>
                </a:solidFill>
              </a:rPr>
              <a:t>The measurement of quality is the price of nonconformance</a:t>
            </a:r>
            <a:endParaRPr lang="pl-PL" sz="2600" dirty="0">
              <a:solidFill>
                <a:srgbClr val="003399"/>
              </a:solidFill>
            </a:endParaRPr>
          </a:p>
          <a:p>
            <a:pPr eaLnBrk="1" hangingPunct="1">
              <a:lnSpc>
                <a:spcPct val="90000"/>
              </a:lnSpc>
            </a:pPr>
            <a:r>
              <a:rPr lang="pl-PL" sz="2600" i="1" dirty="0" err="1">
                <a:solidFill>
                  <a:srgbClr val="003399"/>
                </a:solidFill>
              </a:rPr>
              <a:t>Quality</a:t>
            </a:r>
            <a:r>
              <a:rPr lang="pl-PL" sz="2600" i="1" dirty="0">
                <a:solidFill>
                  <a:srgbClr val="003399"/>
                </a:solidFill>
              </a:rPr>
              <a:t> </a:t>
            </a:r>
            <a:r>
              <a:rPr lang="pl-PL" sz="2600" i="1" dirty="0" err="1">
                <a:solidFill>
                  <a:srgbClr val="003399"/>
                </a:solidFill>
              </a:rPr>
              <a:t>is</a:t>
            </a:r>
            <a:r>
              <a:rPr lang="pl-PL" sz="2600" i="1" dirty="0">
                <a:solidFill>
                  <a:srgbClr val="003399"/>
                </a:solidFill>
              </a:rPr>
              <a:t> </a:t>
            </a:r>
            <a:r>
              <a:rPr lang="pl-PL" sz="2600" i="1" dirty="0" err="1">
                <a:solidFill>
                  <a:srgbClr val="003399"/>
                </a:solidFill>
              </a:rPr>
              <a:t>free</a:t>
            </a:r>
            <a:endParaRPr lang="pl-PL" sz="2600" i="1" dirty="0">
              <a:solidFill>
                <a:srgbClr val="003399"/>
              </a:solidFill>
            </a:endParaRPr>
          </a:p>
        </p:txBody>
      </p:sp>
      <p:sp>
        <p:nvSpPr>
          <p:cNvPr id="28677" name="Text Box 6"/>
          <p:cNvSpPr txBox="1">
            <a:spLocks noChangeArrowheads="1"/>
          </p:cNvSpPr>
          <p:nvPr/>
        </p:nvSpPr>
        <p:spPr bwMode="auto">
          <a:xfrm>
            <a:off x="468313" y="6308725"/>
            <a:ext cx="3167062" cy="274638"/>
          </a:xfrm>
          <a:prstGeom prst="rect">
            <a:avLst/>
          </a:prstGeom>
          <a:noFill/>
          <a:ln w="9525">
            <a:noFill/>
            <a:miter lim="800000"/>
            <a:headEnd/>
            <a:tailEnd/>
          </a:ln>
        </p:spPr>
        <p:txBody>
          <a:bodyPr>
            <a:spAutoFit/>
          </a:bodyPr>
          <a:lstStyle/>
          <a:p>
            <a:pPr>
              <a:spcBef>
                <a:spcPct val="50000"/>
              </a:spcBef>
            </a:pPr>
            <a:r>
              <a:rPr lang="pl-PL" sz="1200" dirty="0"/>
              <a:t>Source: www.wppl.org</a:t>
            </a:r>
          </a:p>
        </p:txBody>
      </p:sp>
      <p:pic>
        <p:nvPicPr>
          <p:cNvPr id="28678" name="Picture 7"/>
          <p:cNvPicPr>
            <a:picLocks noChangeAspect="1" noChangeArrowheads="1"/>
          </p:cNvPicPr>
          <p:nvPr/>
        </p:nvPicPr>
        <p:blipFill>
          <a:blip r:embed="rId3" cstate="print"/>
          <a:srcRect/>
          <a:stretch>
            <a:fillRect/>
          </a:stretch>
        </p:blipFill>
        <p:spPr bwMode="auto">
          <a:xfrm>
            <a:off x="7442224" y="241744"/>
            <a:ext cx="1244576" cy="1574769"/>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ymbol zastępczy stopki 4"/>
          <p:cNvSpPr>
            <a:spLocks noGrp="1"/>
          </p:cNvSpPr>
          <p:nvPr>
            <p:ph type="ftr" sz="quarter" idx="11"/>
          </p:nvPr>
        </p:nvSpPr>
        <p:spPr/>
        <p:txBody>
          <a:bodyPr/>
          <a:lstStyle/>
          <a:p>
            <a:pPr>
              <a:defRPr/>
            </a:pPr>
            <a:r>
              <a:rPr lang="pl-PL" altLang="en-US"/>
              <a:t>PJAIT</a:t>
            </a:r>
          </a:p>
        </p:txBody>
      </p:sp>
      <p:sp>
        <p:nvSpPr>
          <p:cNvPr id="29699" name="Rectangle 2"/>
          <p:cNvSpPr>
            <a:spLocks noGrp="1" noChangeArrowheads="1"/>
          </p:cNvSpPr>
          <p:nvPr>
            <p:ph type="title"/>
          </p:nvPr>
        </p:nvSpPr>
        <p:spPr/>
        <p:txBody>
          <a:bodyPr/>
          <a:lstStyle/>
          <a:p>
            <a:pPr eaLnBrk="1" hangingPunct="1"/>
            <a:r>
              <a:rPr lang="pl-PL" sz="4000" b="1" dirty="0" err="1"/>
              <a:t>Ishikawa</a:t>
            </a:r>
            <a:r>
              <a:rPr lang="pl-PL" sz="4000" b="1" dirty="0"/>
              <a:t> diagram </a:t>
            </a:r>
          </a:p>
        </p:txBody>
      </p:sp>
      <p:sp>
        <p:nvSpPr>
          <p:cNvPr id="29700" name="Rectangle 3"/>
          <p:cNvSpPr>
            <a:spLocks noGrp="1" noChangeArrowheads="1"/>
          </p:cNvSpPr>
          <p:nvPr>
            <p:ph type="body" idx="1"/>
          </p:nvPr>
        </p:nvSpPr>
        <p:spPr/>
        <p:txBody>
          <a:bodyPr/>
          <a:lstStyle/>
          <a:p>
            <a:pPr eaLnBrk="1" hangingPunct="1">
              <a:buFont typeface="Wingdings" pitchFamily="2" charset="2"/>
              <a:buNone/>
            </a:pPr>
            <a:endParaRPr lang="pl-PL" dirty="0">
              <a:solidFill>
                <a:srgbClr val="0066CC"/>
              </a:solidFill>
            </a:endParaRPr>
          </a:p>
        </p:txBody>
      </p:sp>
      <p:sp>
        <p:nvSpPr>
          <p:cNvPr id="29701" name="Line 6"/>
          <p:cNvSpPr>
            <a:spLocks noChangeShapeType="1"/>
          </p:cNvSpPr>
          <p:nvPr/>
        </p:nvSpPr>
        <p:spPr bwMode="auto">
          <a:xfrm>
            <a:off x="684213" y="3860800"/>
            <a:ext cx="0" cy="0"/>
          </a:xfrm>
          <a:prstGeom prst="line">
            <a:avLst/>
          </a:prstGeom>
          <a:noFill/>
          <a:ln w="9525">
            <a:solidFill>
              <a:schemeClr val="tx1"/>
            </a:solidFill>
            <a:round/>
            <a:headEnd/>
            <a:tailEnd/>
          </a:ln>
        </p:spPr>
        <p:txBody>
          <a:bodyPr/>
          <a:lstStyle/>
          <a:p>
            <a:endParaRPr lang="pl-PL"/>
          </a:p>
        </p:txBody>
      </p:sp>
      <p:sp>
        <p:nvSpPr>
          <p:cNvPr id="29702" name="Line 7"/>
          <p:cNvSpPr>
            <a:spLocks noChangeShapeType="1"/>
          </p:cNvSpPr>
          <p:nvPr/>
        </p:nvSpPr>
        <p:spPr bwMode="auto">
          <a:xfrm>
            <a:off x="755650" y="3860800"/>
            <a:ext cx="6553200" cy="0"/>
          </a:xfrm>
          <a:prstGeom prst="line">
            <a:avLst/>
          </a:prstGeom>
          <a:noFill/>
          <a:ln w="9525">
            <a:solidFill>
              <a:schemeClr val="tx1"/>
            </a:solidFill>
            <a:round/>
            <a:headEnd/>
            <a:tailEnd type="triangle" w="med" len="med"/>
          </a:ln>
        </p:spPr>
        <p:txBody>
          <a:bodyPr/>
          <a:lstStyle/>
          <a:p>
            <a:endParaRPr lang="pl-PL"/>
          </a:p>
        </p:txBody>
      </p:sp>
      <p:sp>
        <p:nvSpPr>
          <p:cNvPr id="29703" name="Line 8"/>
          <p:cNvSpPr>
            <a:spLocks noChangeShapeType="1"/>
          </p:cNvSpPr>
          <p:nvPr/>
        </p:nvSpPr>
        <p:spPr bwMode="auto">
          <a:xfrm>
            <a:off x="900113" y="2781300"/>
            <a:ext cx="792162" cy="1079500"/>
          </a:xfrm>
          <a:prstGeom prst="line">
            <a:avLst/>
          </a:prstGeom>
          <a:noFill/>
          <a:ln w="9525">
            <a:solidFill>
              <a:schemeClr val="tx1"/>
            </a:solidFill>
            <a:round/>
            <a:headEnd/>
            <a:tailEnd type="triangle" w="med" len="med"/>
          </a:ln>
        </p:spPr>
        <p:txBody>
          <a:bodyPr/>
          <a:lstStyle/>
          <a:p>
            <a:endParaRPr lang="pl-PL"/>
          </a:p>
        </p:txBody>
      </p:sp>
      <p:sp>
        <p:nvSpPr>
          <p:cNvPr id="29704" name="Line 9"/>
          <p:cNvSpPr>
            <a:spLocks noChangeShapeType="1"/>
          </p:cNvSpPr>
          <p:nvPr/>
        </p:nvSpPr>
        <p:spPr bwMode="auto">
          <a:xfrm>
            <a:off x="4067175" y="2565400"/>
            <a:ext cx="865188" cy="1295400"/>
          </a:xfrm>
          <a:prstGeom prst="line">
            <a:avLst/>
          </a:prstGeom>
          <a:noFill/>
          <a:ln w="9525">
            <a:solidFill>
              <a:schemeClr val="tx1"/>
            </a:solidFill>
            <a:round/>
            <a:headEnd/>
            <a:tailEnd type="triangle" w="med" len="med"/>
          </a:ln>
        </p:spPr>
        <p:txBody>
          <a:bodyPr/>
          <a:lstStyle/>
          <a:p>
            <a:endParaRPr lang="pl-PL"/>
          </a:p>
        </p:txBody>
      </p:sp>
      <p:sp>
        <p:nvSpPr>
          <p:cNvPr id="29705" name="Line 10"/>
          <p:cNvSpPr>
            <a:spLocks noChangeShapeType="1"/>
          </p:cNvSpPr>
          <p:nvPr/>
        </p:nvSpPr>
        <p:spPr bwMode="auto">
          <a:xfrm flipV="1">
            <a:off x="611188" y="3860800"/>
            <a:ext cx="720725" cy="1081088"/>
          </a:xfrm>
          <a:prstGeom prst="line">
            <a:avLst/>
          </a:prstGeom>
          <a:noFill/>
          <a:ln w="9525">
            <a:solidFill>
              <a:schemeClr val="tx1"/>
            </a:solidFill>
            <a:round/>
            <a:headEnd/>
            <a:tailEnd type="triangle" w="med" len="med"/>
          </a:ln>
        </p:spPr>
        <p:txBody>
          <a:bodyPr/>
          <a:lstStyle/>
          <a:p>
            <a:endParaRPr lang="pl-PL"/>
          </a:p>
        </p:txBody>
      </p:sp>
      <p:sp>
        <p:nvSpPr>
          <p:cNvPr id="29706" name="Line 11"/>
          <p:cNvSpPr>
            <a:spLocks noChangeShapeType="1"/>
          </p:cNvSpPr>
          <p:nvPr/>
        </p:nvSpPr>
        <p:spPr bwMode="auto">
          <a:xfrm flipV="1">
            <a:off x="2771775" y="3860800"/>
            <a:ext cx="576263" cy="1223963"/>
          </a:xfrm>
          <a:prstGeom prst="line">
            <a:avLst/>
          </a:prstGeom>
          <a:noFill/>
          <a:ln w="9525">
            <a:solidFill>
              <a:schemeClr val="tx1"/>
            </a:solidFill>
            <a:round/>
            <a:headEnd/>
            <a:tailEnd type="triangle" w="med" len="med"/>
          </a:ln>
        </p:spPr>
        <p:txBody>
          <a:bodyPr/>
          <a:lstStyle/>
          <a:p>
            <a:endParaRPr lang="pl-PL"/>
          </a:p>
        </p:txBody>
      </p:sp>
      <p:sp>
        <p:nvSpPr>
          <p:cNvPr id="29707" name="Line 12"/>
          <p:cNvSpPr>
            <a:spLocks noChangeShapeType="1"/>
          </p:cNvSpPr>
          <p:nvPr/>
        </p:nvSpPr>
        <p:spPr bwMode="auto">
          <a:xfrm flipV="1">
            <a:off x="5219700" y="3860800"/>
            <a:ext cx="647700" cy="1368425"/>
          </a:xfrm>
          <a:prstGeom prst="line">
            <a:avLst/>
          </a:prstGeom>
          <a:noFill/>
          <a:ln w="9525">
            <a:solidFill>
              <a:schemeClr val="tx1"/>
            </a:solidFill>
            <a:round/>
            <a:headEnd/>
            <a:tailEnd type="triangle" w="med" len="med"/>
          </a:ln>
        </p:spPr>
        <p:txBody>
          <a:bodyPr/>
          <a:lstStyle/>
          <a:p>
            <a:endParaRPr lang="pl-PL"/>
          </a:p>
        </p:txBody>
      </p:sp>
      <p:sp>
        <p:nvSpPr>
          <p:cNvPr id="29708" name="Text Box 13"/>
          <p:cNvSpPr txBox="1">
            <a:spLocks noChangeArrowheads="1"/>
          </p:cNvSpPr>
          <p:nvPr/>
        </p:nvSpPr>
        <p:spPr bwMode="auto">
          <a:xfrm>
            <a:off x="7451725" y="3716338"/>
            <a:ext cx="1223963" cy="854075"/>
          </a:xfrm>
          <a:prstGeom prst="rect">
            <a:avLst/>
          </a:prstGeom>
          <a:noFill/>
          <a:ln w="9525">
            <a:noFill/>
            <a:miter lim="800000"/>
            <a:headEnd/>
            <a:tailEnd/>
          </a:ln>
        </p:spPr>
        <p:txBody>
          <a:bodyPr>
            <a:spAutoFit/>
          </a:bodyPr>
          <a:lstStyle/>
          <a:p>
            <a:pPr>
              <a:spcBef>
                <a:spcPct val="50000"/>
              </a:spcBef>
            </a:pPr>
            <a:r>
              <a:rPr lang="pl-PL" sz="2000" b="1" dirty="0" err="1">
                <a:solidFill>
                  <a:srgbClr val="FF3300"/>
                </a:solidFill>
              </a:rPr>
              <a:t>Result</a:t>
            </a:r>
            <a:endParaRPr lang="pl-PL" sz="2000" b="1" dirty="0">
              <a:solidFill>
                <a:srgbClr val="FF3300"/>
              </a:solidFill>
            </a:endParaRPr>
          </a:p>
          <a:p>
            <a:pPr>
              <a:spcBef>
                <a:spcPct val="50000"/>
              </a:spcBef>
            </a:pPr>
            <a:r>
              <a:rPr lang="pl-PL" sz="2000" b="1" dirty="0">
                <a:solidFill>
                  <a:srgbClr val="FF3300"/>
                </a:solidFill>
              </a:rPr>
              <a:t>(</a:t>
            </a:r>
            <a:r>
              <a:rPr lang="pl-PL" sz="2000" b="1" dirty="0" err="1">
                <a:solidFill>
                  <a:srgbClr val="FF3300"/>
                </a:solidFill>
              </a:rPr>
              <a:t>Quality</a:t>
            </a:r>
            <a:r>
              <a:rPr lang="pl-PL" sz="2000" b="1" dirty="0">
                <a:solidFill>
                  <a:srgbClr val="FF3300"/>
                </a:solidFill>
              </a:rPr>
              <a:t>)</a:t>
            </a:r>
          </a:p>
        </p:txBody>
      </p:sp>
      <p:sp>
        <p:nvSpPr>
          <p:cNvPr id="29709" name="Text Box 14"/>
          <p:cNvSpPr txBox="1">
            <a:spLocks noChangeArrowheads="1"/>
          </p:cNvSpPr>
          <p:nvPr/>
        </p:nvSpPr>
        <p:spPr bwMode="auto">
          <a:xfrm>
            <a:off x="611188" y="2205038"/>
            <a:ext cx="1657350" cy="400110"/>
          </a:xfrm>
          <a:prstGeom prst="rect">
            <a:avLst/>
          </a:prstGeom>
          <a:noFill/>
          <a:ln w="9525">
            <a:noFill/>
            <a:miter lim="800000"/>
            <a:headEnd/>
            <a:tailEnd/>
          </a:ln>
        </p:spPr>
        <p:txBody>
          <a:bodyPr>
            <a:spAutoFit/>
          </a:bodyPr>
          <a:lstStyle/>
          <a:p>
            <a:pPr>
              <a:spcBef>
                <a:spcPct val="50000"/>
              </a:spcBef>
            </a:pPr>
            <a:r>
              <a:rPr lang="pl-PL" sz="2000" b="1" dirty="0" err="1">
                <a:solidFill>
                  <a:srgbClr val="FF3300"/>
                </a:solidFill>
              </a:rPr>
              <a:t>Manpower</a:t>
            </a:r>
            <a:endParaRPr lang="pl-PL" sz="2000" b="1" dirty="0">
              <a:solidFill>
                <a:srgbClr val="FF3300"/>
              </a:solidFill>
            </a:endParaRPr>
          </a:p>
        </p:txBody>
      </p:sp>
      <p:sp>
        <p:nvSpPr>
          <p:cNvPr id="29710" name="Text Box 15"/>
          <p:cNvSpPr txBox="1">
            <a:spLocks noChangeArrowheads="1"/>
          </p:cNvSpPr>
          <p:nvPr/>
        </p:nvSpPr>
        <p:spPr bwMode="auto">
          <a:xfrm>
            <a:off x="395288" y="5084763"/>
            <a:ext cx="1439862" cy="400110"/>
          </a:xfrm>
          <a:prstGeom prst="rect">
            <a:avLst/>
          </a:prstGeom>
          <a:noFill/>
          <a:ln w="9525">
            <a:noFill/>
            <a:miter lim="800000"/>
            <a:headEnd/>
            <a:tailEnd/>
          </a:ln>
        </p:spPr>
        <p:txBody>
          <a:bodyPr>
            <a:spAutoFit/>
          </a:bodyPr>
          <a:lstStyle/>
          <a:p>
            <a:pPr>
              <a:spcBef>
                <a:spcPct val="50000"/>
              </a:spcBef>
            </a:pPr>
            <a:r>
              <a:rPr lang="pl-PL" sz="2000" b="1" dirty="0">
                <a:solidFill>
                  <a:srgbClr val="FF3300"/>
                </a:solidFill>
              </a:rPr>
              <a:t>Machine</a:t>
            </a:r>
          </a:p>
        </p:txBody>
      </p:sp>
      <p:sp>
        <p:nvSpPr>
          <p:cNvPr id="29711" name="Text Box 16"/>
          <p:cNvSpPr txBox="1">
            <a:spLocks noChangeArrowheads="1"/>
          </p:cNvSpPr>
          <p:nvPr/>
        </p:nvSpPr>
        <p:spPr bwMode="auto">
          <a:xfrm>
            <a:off x="2195513" y="5157788"/>
            <a:ext cx="1584325" cy="400110"/>
          </a:xfrm>
          <a:prstGeom prst="rect">
            <a:avLst/>
          </a:prstGeom>
          <a:noFill/>
          <a:ln w="9525">
            <a:noFill/>
            <a:miter lim="800000"/>
            <a:headEnd/>
            <a:tailEnd/>
          </a:ln>
        </p:spPr>
        <p:txBody>
          <a:bodyPr>
            <a:spAutoFit/>
          </a:bodyPr>
          <a:lstStyle/>
          <a:p>
            <a:pPr>
              <a:spcBef>
                <a:spcPct val="50000"/>
              </a:spcBef>
            </a:pPr>
            <a:r>
              <a:rPr lang="pl-PL" sz="2000" b="1" dirty="0">
                <a:solidFill>
                  <a:srgbClr val="FF3300"/>
                </a:solidFill>
              </a:rPr>
              <a:t>Method</a:t>
            </a:r>
          </a:p>
        </p:txBody>
      </p:sp>
      <p:sp>
        <p:nvSpPr>
          <p:cNvPr id="29712" name="Text Box 17"/>
          <p:cNvSpPr txBox="1">
            <a:spLocks noChangeArrowheads="1"/>
          </p:cNvSpPr>
          <p:nvPr/>
        </p:nvSpPr>
        <p:spPr bwMode="auto">
          <a:xfrm>
            <a:off x="4859338" y="5157788"/>
            <a:ext cx="1944687" cy="400110"/>
          </a:xfrm>
          <a:prstGeom prst="rect">
            <a:avLst/>
          </a:prstGeom>
          <a:noFill/>
          <a:ln w="9525">
            <a:noFill/>
            <a:miter lim="800000"/>
            <a:headEnd/>
            <a:tailEnd/>
          </a:ln>
        </p:spPr>
        <p:txBody>
          <a:bodyPr>
            <a:spAutoFit/>
          </a:bodyPr>
          <a:lstStyle/>
          <a:p>
            <a:pPr>
              <a:spcBef>
                <a:spcPct val="50000"/>
              </a:spcBef>
            </a:pPr>
            <a:r>
              <a:rPr lang="pl-PL" sz="2000" b="1" dirty="0">
                <a:solidFill>
                  <a:srgbClr val="FF3300"/>
                </a:solidFill>
              </a:rPr>
              <a:t>Management</a:t>
            </a:r>
          </a:p>
        </p:txBody>
      </p:sp>
      <p:sp>
        <p:nvSpPr>
          <p:cNvPr id="29713" name="Text Box 18"/>
          <p:cNvSpPr txBox="1">
            <a:spLocks noChangeArrowheads="1"/>
          </p:cNvSpPr>
          <p:nvPr/>
        </p:nvSpPr>
        <p:spPr bwMode="auto">
          <a:xfrm>
            <a:off x="3635375" y="2133600"/>
            <a:ext cx="1657350" cy="400110"/>
          </a:xfrm>
          <a:prstGeom prst="rect">
            <a:avLst/>
          </a:prstGeom>
          <a:noFill/>
          <a:ln w="9525">
            <a:noFill/>
            <a:miter lim="800000"/>
            <a:headEnd/>
            <a:tailEnd/>
          </a:ln>
        </p:spPr>
        <p:txBody>
          <a:bodyPr>
            <a:spAutoFit/>
          </a:bodyPr>
          <a:lstStyle/>
          <a:p>
            <a:pPr>
              <a:spcBef>
                <a:spcPct val="50000"/>
              </a:spcBef>
            </a:pPr>
            <a:r>
              <a:rPr lang="pl-PL" sz="2000" b="1" dirty="0" err="1">
                <a:solidFill>
                  <a:srgbClr val="FF3300"/>
                </a:solidFill>
              </a:rPr>
              <a:t>Material</a:t>
            </a:r>
            <a:endParaRPr lang="pl-PL" sz="2000" b="1" dirty="0">
              <a:solidFill>
                <a:srgbClr val="FF33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ymbol zastępczy stopki 4"/>
          <p:cNvSpPr>
            <a:spLocks noGrp="1"/>
          </p:cNvSpPr>
          <p:nvPr>
            <p:ph type="ftr" sz="quarter" idx="11"/>
          </p:nvPr>
        </p:nvSpPr>
        <p:spPr/>
        <p:txBody>
          <a:bodyPr/>
          <a:lstStyle/>
          <a:p>
            <a:pPr>
              <a:defRPr/>
            </a:pPr>
            <a:r>
              <a:rPr lang="pl-PL" altLang="en-US"/>
              <a:t>PJAIT</a:t>
            </a:r>
          </a:p>
        </p:txBody>
      </p:sp>
      <p:sp>
        <p:nvSpPr>
          <p:cNvPr id="30723" name="Rectangle 2"/>
          <p:cNvSpPr>
            <a:spLocks noGrp="1" noChangeArrowheads="1"/>
          </p:cNvSpPr>
          <p:nvPr>
            <p:ph type="title"/>
          </p:nvPr>
        </p:nvSpPr>
        <p:spPr/>
        <p:txBody>
          <a:bodyPr/>
          <a:lstStyle/>
          <a:p>
            <a:pPr eaLnBrk="1" hangingPunct="1"/>
            <a:r>
              <a:rPr lang="pl-PL" sz="4000" b="1" dirty="0" err="1"/>
              <a:t>Example</a:t>
            </a:r>
            <a:r>
              <a:rPr lang="pl-PL" sz="4000" b="1" dirty="0"/>
              <a:t>: </a:t>
            </a:r>
            <a:r>
              <a:rPr lang="pl-PL" sz="4000" b="1" dirty="0" err="1"/>
              <a:t>faulty</a:t>
            </a:r>
            <a:r>
              <a:rPr lang="pl-PL" sz="4000" b="1" dirty="0"/>
              <a:t> </a:t>
            </a:r>
            <a:r>
              <a:rPr lang="pl-PL" sz="4000" b="1" dirty="0" err="1"/>
              <a:t>bearing</a:t>
            </a:r>
            <a:endParaRPr lang="pl-PL" sz="4000" b="1" dirty="0"/>
          </a:p>
        </p:txBody>
      </p:sp>
      <p:sp>
        <p:nvSpPr>
          <p:cNvPr id="30724" name="Rectangle 3"/>
          <p:cNvSpPr>
            <a:spLocks noGrp="1" noChangeArrowheads="1"/>
          </p:cNvSpPr>
          <p:nvPr>
            <p:ph type="body" idx="1"/>
          </p:nvPr>
        </p:nvSpPr>
        <p:spPr/>
        <p:txBody>
          <a:bodyPr/>
          <a:lstStyle/>
          <a:p>
            <a:pPr eaLnBrk="1" hangingPunct="1">
              <a:buFont typeface="Wingdings" pitchFamily="2" charset="2"/>
              <a:buNone/>
            </a:pPr>
            <a:endParaRPr lang="pl-PL">
              <a:solidFill>
                <a:srgbClr val="0066CC"/>
              </a:solidFill>
            </a:endParaRPr>
          </a:p>
        </p:txBody>
      </p:sp>
      <p:sp>
        <p:nvSpPr>
          <p:cNvPr id="30725" name="Line 4"/>
          <p:cNvSpPr>
            <a:spLocks noChangeShapeType="1"/>
          </p:cNvSpPr>
          <p:nvPr/>
        </p:nvSpPr>
        <p:spPr bwMode="auto">
          <a:xfrm>
            <a:off x="684213" y="3860800"/>
            <a:ext cx="0" cy="0"/>
          </a:xfrm>
          <a:prstGeom prst="line">
            <a:avLst/>
          </a:prstGeom>
          <a:noFill/>
          <a:ln w="9525">
            <a:solidFill>
              <a:schemeClr val="tx1"/>
            </a:solidFill>
            <a:round/>
            <a:headEnd/>
            <a:tailEnd/>
          </a:ln>
        </p:spPr>
        <p:txBody>
          <a:bodyPr/>
          <a:lstStyle/>
          <a:p>
            <a:endParaRPr lang="pl-PL"/>
          </a:p>
        </p:txBody>
      </p:sp>
      <p:sp>
        <p:nvSpPr>
          <p:cNvPr id="30726" name="Line 5"/>
          <p:cNvSpPr>
            <a:spLocks noChangeShapeType="1"/>
          </p:cNvSpPr>
          <p:nvPr/>
        </p:nvSpPr>
        <p:spPr bwMode="auto">
          <a:xfrm>
            <a:off x="755650" y="3860800"/>
            <a:ext cx="6553200" cy="0"/>
          </a:xfrm>
          <a:prstGeom prst="line">
            <a:avLst/>
          </a:prstGeom>
          <a:noFill/>
          <a:ln w="9525">
            <a:solidFill>
              <a:schemeClr val="tx1"/>
            </a:solidFill>
            <a:round/>
            <a:headEnd/>
            <a:tailEnd type="triangle" w="med" len="med"/>
          </a:ln>
        </p:spPr>
        <p:txBody>
          <a:bodyPr/>
          <a:lstStyle/>
          <a:p>
            <a:endParaRPr lang="pl-PL"/>
          </a:p>
        </p:txBody>
      </p:sp>
      <p:sp>
        <p:nvSpPr>
          <p:cNvPr id="30727" name="Line 6"/>
          <p:cNvSpPr>
            <a:spLocks noChangeShapeType="1"/>
          </p:cNvSpPr>
          <p:nvPr/>
        </p:nvSpPr>
        <p:spPr bwMode="auto">
          <a:xfrm>
            <a:off x="900113" y="2781300"/>
            <a:ext cx="792162" cy="1079500"/>
          </a:xfrm>
          <a:prstGeom prst="line">
            <a:avLst/>
          </a:prstGeom>
          <a:noFill/>
          <a:ln w="9525">
            <a:solidFill>
              <a:schemeClr val="tx1"/>
            </a:solidFill>
            <a:round/>
            <a:headEnd/>
            <a:tailEnd type="triangle" w="med" len="med"/>
          </a:ln>
        </p:spPr>
        <p:txBody>
          <a:bodyPr/>
          <a:lstStyle/>
          <a:p>
            <a:endParaRPr lang="pl-PL"/>
          </a:p>
        </p:txBody>
      </p:sp>
      <p:sp>
        <p:nvSpPr>
          <p:cNvPr id="30728" name="Line 7"/>
          <p:cNvSpPr>
            <a:spLocks noChangeShapeType="1"/>
          </p:cNvSpPr>
          <p:nvPr/>
        </p:nvSpPr>
        <p:spPr bwMode="auto">
          <a:xfrm>
            <a:off x="4067175" y="2565400"/>
            <a:ext cx="865188" cy="1295400"/>
          </a:xfrm>
          <a:prstGeom prst="line">
            <a:avLst/>
          </a:prstGeom>
          <a:noFill/>
          <a:ln w="9525">
            <a:solidFill>
              <a:schemeClr val="tx1"/>
            </a:solidFill>
            <a:round/>
            <a:headEnd/>
            <a:tailEnd type="triangle" w="med" len="med"/>
          </a:ln>
        </p:spPr>
        <p:txBody>
          <a:bodyPr/>
          <a:lstStyle/>
          <a:p>
            <a:endParaRPr lang="pl-PL"/>
          </a:p>
        </p:txBody>
      </p:sp>
      <p:sp>
        <p:nvSpPr>
          <p:cNvPr id="30729" name="Line 8"/>
          <p:cNvSpPr>
            <a:spLocks noChangeShapeType="1"/>
          </p:cNvSpPr>
          <p:nvPr/>
        </p:nvSpPr>
        <p:spPr bwMode="auto">
          <a:xfrm flipV="1">
            <a:off x="611188" y="3860800"/>
            <a:ext cx="720725" cy="1081088"/>
          </a:xfrm>
          <a:prstGeom prst="line">
            <a:avLst/>
          </a:prstGeom>
          <a:noFill/>
          <a:ln w="9525">
            <a:solidFill>
              <a:schemeClr val="tx1"/>
            </a:solidFill>
            <a:round/>
            <a:headEnd/>
            <a:tailEnd type="triangle" w="med" len="med"/>
          </a:ln>
        </p:spPr>
        <p:txBody>
          <a:bodyPr/>
          <a:lstStyle/>
          <a:p>
            <a:endParaRPr lang="pl-PL"/>
          </a:p>
        </p:txBody>
      </p:sp>
      <p:sp>
        <p:nvSpPr>
          <p:cNvPr id="30730" name="Line 9"/>
          <p:cNvSpPr>
            <a:spLocks noChangeShapeType="1"/>
          </p:cNvSpPr>
          <p:nvPr/>
        </p:nvSpPr>
        <p:spPr bwMode="auto">
          <a:xfrm flipV="1">
            <a:off x="2771775" y="3860800"/>
            <a:ext cx="576263" cy="1223963"/>
          </a:xfrm>
          <a:prstGeom prst="line">
            <a:avLst/>
          </a:prstGeom>
          <a:noFill/>
          <a:ln w="9525">
            <a:solidFill>
              <a:schemeClr val="tx1"/>
            </a:solidFill>
            <a:round/>
            <a:headEnd/>
            <a:tailEnd type="triangle" w="med" len="med"/>
          </a:ln>
        </p:spPr>
        <p:txBody>
          <a:bodyPr/>
          <a:lstStyle/>
          <a:p>
            <a:endParaRPr lang="pl-PL"/>
          </a:p>
        </p:txBody>
      </p:sp>
      <p:sp>
        <p:nvSpPr>
          <p:cNvPr id="30731" name="Line 10"/>
          <p:cNvSpPr>
            <a:spLocks noChangeShapeType="1"/>
          </p:cNvSpPr>
          <p:nvPr/>
        </p:nvSpPr>
        <p:spPr bwMode="auto">
          <a:xfrm flipV="1">
            <a:off x="5219700" y="3860800"/>
            <a:ext cx="647700" cy="1368425"/>
          </a:xfrm>
          <a:prstGeom prst="line">
            <a:avLst/>
          </a:prstGeom>
          <a:noFill/>
          <a:ln w="9525">
            <a:solidFill>
              <a:schemeClr val="tx1"/>
            </a:solidFill>
            <a:round/>
            <a:headEnd/>
            <a:tailEnd type="triangle" w="med" len="med"/>
          </a:ln>
        </p:spPr>
        <p:txBody>
          <a:bodyPr/>
          <a:lstStyle/>
          <a:p>
            <a:endParaRPr lang="pl-PL"/>
          </a:p>
        </p:txBody>
      </p:sp>
      <p:sp>
        <p:nvSpPr>
          <p:cNvPr id="30732" name="Text Box 11"/>
          <p:cNvSpPr txBox="1">
            <a:spLocks noChangeArrowheads="1"/>
          </p:cNvSpPr>
          <p:nvPr/>
        </p:nvSpPr>
        <p:spPr bwMode="auto">
          <a:xfrm>
            <a:off x="7451725" y="3716338"/>
            <a:ext cx="1223963" cy="1169551"/>
          </a:xfrm>
          <a:prstGeom prst="rect">
            <a:avLst/>
          </a:prstGeom>
          <a:noFill/>
          <a:ln w="9525">
            <a:noFill/>
            <a:miter lim="800000"/>
            <a:headEnd/>
            <a:tailEnd/>
          </a:ln>
        </p:spPr>
        <p:txBody>
          <a:bodyPr>
            <a:spAutoFit/>
          </a:bodyPr>
          <a:lstStyle/>
          <a:p>
            <a:pPr>
              <a:spcBef>
                <a:spcPct val="50000"/>
              </a:spcBef>
            </a:pPr>
            <a:r>
              <a:rPr lang="pl-PL" sz="2000" b="1" dirty="0" err="1">
                <a:solidFill>
                  <a:srgbClr val="FF3300"/>
                </a:solidFill>
              </a:rPr>
              <a:t>Faulty</a:t>
            </a:r>
            <a:r>
              <a:rPr lang="pl-PL" sz="2000" b="1" dirty="0">
                <a:solidFill>
                  <a:srgbClr val="FF3300"/>
                </a:solidFill>
              </a:rPr>
              <a:t> </a:t>
            </a:r>
            <a:r>
              <a:rPr lang="pl-PL" sz="2000" b="1" dirty="0" err="1">
                <a:solidFill>
                  <a:srgbClr val="FF3300"/>
                </a:solidFill>
              </a:rPr>
              <a:t>bearing</a:t>
            </a:r>
            <a:endParaRPr lang="pl-PL" sz="2000" b="1" dirty="0">
              <a:solidFill>
                <a:srgbClr val="FF3300"/>
              </a:solidFill>
            </a:endParaRPr>
          </a:p>
          <a:p>
            <a:pPr>
              <a:spcBef>
                <a:spcPct val="50000"/>
              </a:spcBef>
            </a:pPr>
            <a:endParaRPr lang="pl-PL" sz="2000" b="1" dirty="0">
              <a:solidFill>
                <a:srgbClr val="FF3300"/>
              </a:solidFill>
            </a:endParaRPr>
          </a:p>
        </p:txBody>
      </p:sp>
      <p:sp>
        <p:nvSpPr>
          <p:cNvPr id="30733" name="Text Box 12"/>
          <p:cNvSpPr txBox="1">
            <a:spLocks noChangeArrowheads="1"/>
          </p:cNvSpPr>
          <p:nvPr/>
        </p:nvSpPr>
        <p:spPr bwMode="auto">
          <a:xfrm>
            <a:off x="611188" y="2205038"/>
            <a:ext cx="1657350" cy="396875"/>
          </a:xfrm>
          <a:prstGeom prst="rect">
            <a:avLst/>
          </a:prstGeom>
          <a:noFill/>
          <a:ln w="9525">
            <a:noFill/>
            <a:miter lim="800000"/>
            <a:headEnd/>
            <a:tailEnd/>
          </a:ln>
        </p:spPr>
        <p:txBody>
          <a:bodyPr>
            <a:spAutoFit/>
          </a:bodyPr>
          <a:lstStyle/>
          <a:p>
            <a:pPr>
              <a:spcBef>
                <a:spcPct val="50000"/>
              </a:spcBef>
            </a:pPr>
            <a:r>
              <a:rPr lang="pl-PL" sz="2000" b="1" dirty="0" err="1">
                <a:solidFill>
                  <a:srgbClr val="FF3300"/>
                </a:solidFill>
              </a:rPr>
              <a:t>Manpower</a:t>
            </a:r>
            <a:endParaRPr lang="pl-PL" sz="2000" b="1" dirty="0">
              <a:solidFill>
                <a:srgbClr val="FF3300"/>
              </a:solidFill>
            </a:endParaRPr>
          </a:p>
        </p:txBody>
      </p:sp>
      <p:sp>
        <p:nvSpPr>
          <p:cNvPr id="30734" name="Text Box 13"/>
          <p:cNvSpPr txBox="1">
            <a:spLocks noChangeArrowheads="1"/>
          </p:cNvSpPr>
          <p:nvPr/>
        </p:nvSpPr>
        <p:spPr bwMode="auto">
          <a:xfrm>
            <a:off x="468313" y="5084763"/>
            <a:ext cx="1366837" cy="396875"/>
          </a:xfrm>
          <a:prstGeom prst="rect">
            <a:avLst/>
          </a:prstGeom>
          <a:noFill/>
          <a:ln w="9525">
            <a:noFill/>
            <a:miter lim="800000"/>
            <a:headEnd/>
            <a:tailEnd/>
          </a:ln>
        </p:spPr>
        <p:txBody>
          <a:bodyPr>
            <a:spAutoFit/>
          </a:bodyPr>
          <a:lstStyle/>
          <a:p>
            <a:pPr>
              <a:spcBef>
                <a:spcPct val="50000"/>
              </a:spcBef>
            </a:pPr>
            <a:r>
              <a:rPr lang="pl-PL" sz="2000" b="1" dirty="0">
                <a:solidFill>
                  <a:srgbClr val="FF3300"/>
                </a:solidFill>
              </a:rPr>
              <a:t>Machine</a:t>
            </a:r>
          </a:p>
        </p:txBody>
      </p:sp>
      <p:sp>
        <p:nvSpPr>
          <p:cNvPr id="30735" name="Text Box 14"/>
          <p:cNvSpPr txBox="1">
            <a:spLocks noChangeArrowheads="1"/>
          </p:cNvSpPr>
          <p:nvPr/>
        </p:nvSpPr>
        <p:spPr bwMode="auto">
          <a:xfrm>
            <a:off x="2195513" y="5157788"/>
            <a:ext cx="1584325" cy="396875"/>
          </a:xfrm>
          <a:prstGeom prst="rect">
            <a:avLst/>
          </a:prstGeom>
          <a:noFill/>
          <a:ln w="9525">
            <a:noFill/>
            <a:miter lim="800000"/>
            <a:headEnd/>
            <a:tailEnd/>
          </a:ln>
        </p:spPr>
        <p:txBody>
          <a:bodyPr>
            <a:spAutoFit/>
          </a:bodyPr>
          <a:lstStyle/>
          <a:p>
            <a:pPr>
              <a:spcBef>
                <a:spcPct val="50000"/>
              </a:spcBef>
            </a:pPr>
            <a:r>
              <a:rPr lang="pl-PL" sz="2000" b="1" dirty="0">
                <a:solidFill>
                  <a:srgbClr val="FF3300"/>
                </a:solidFill>
              </a:rPr>
              <a:t>Method</a:t>
            </a:r>
          </a:p>
        </p:txBody>
      </p:sp>
      <p:sp>
        <p:nvSpPr>
          <p:cNvPr id="30736" name="Text Box 15"/>
          <p:cNvSpPr txBox="1">
            <a:spLocks noChangeArrowheads="1"/>
          </p:cNvSpPr>
          <p:nvPr/>
        </p:nvSpPr>
        <p:spPr bwMode="auto">
          <a:xfrm>
            <a:off x="4859338" y="5157788"/>
            <a:ext cx="1800225" cy="396875"/>
          </a:xfrm>
          <a:prstGeom prst="rect">
            <a:avLst/>
          </a:prstGeom>
          <a:noFill/>
          <a:ln w="9525">
            <a:noFill/>
            <a:miter lim="800000"/>
            <a:headEnd/>
            <a:tailEnd/>
          </a:ln>
        </p:spPr>
        <p:txBody>
          <a:bodyPr>
            <a:spAutoFit/>
          </a:bodyPr>
          <a:lstStyle/>
          <a:p>
            <a:pPr>
              <a:spcBef>
                <a:spcPct val="50000"/>
              </a:spcBef>
            </a:pPr>
            <a:r>
              <a:rPr lang="pl-PL" sz="2000" b="1" dirty="0">
                <a:solidFill>
                  <a:srgbClr val="FF3300"/>
                </a:solidFill>
              </a:rPr>
              <a:t>Management</a:t>
            </a:r>
          </a:p>
        </p:txBody>
      </p:sp>
      <p:sp>
        <p:nvSpPr>
          <p:cNvPr id="30737" name="Text Box 16"/>
          <p:cNvSpPr txBox="1">
            <a:spLocks noChangeArrowheads="1"/>
          </p:cNvSpPr>
          <p:nvPr/>
        </p:nvSpPr>
        <p:spPr bwMode="auto">
          <a:xfrm>
            <a:off x="3635375" y="2133600"/>
            <a:ext cx="1657350" cy="396875"/>
          </a:xfrm>
          <a:prstGeom prst="rect">
            <a:avLst/>
          </a:prstGeom>
          <a:noFill/>
          <a:ln w="9525">
            <a:noFill/>
            <a:miter lim="800000"/>
            <a:headEnd/>
            <a:tailEnd/>
          </a:ln>
        </p:spPr>
        <p:txBody>
          <a:bodyPr>
            <a:spAutoFit/>
          </a:bodyPr>
          <a:lstStyle/>
          <a:p>
            <a:pPr>
              <a:spcBef>
                <a:spcPct val="50000"/>
              </a:spcBef>
            </a:pPr>
            <a:r>
              <a:rPr lang="pl-PL" sz="2000" b="1">
                <a:solidFill>
                  <a:srgbClr val="FF3300"/>
                </a:solidFill>
              </a:rPr>
              <a:t>Materiał</a:t>
            </a:r>
          </a:p>
        </p:txBody>
      </p:sp>
      <p:sp>
        <p:nvSpPr>
          <p:cNvPr id="30738" name="Text Box 17"/>
          <p:cNvSpPr txBox="1">
            <a:spLocks noChangeArrowheads="1"/>
          </p:cNvSpPr>
          <p:nvPr/>
        </p:nvSpPr>
        <p:spPr bwMode="auto">
          <a:xfrm>
            <a:off x="1258888" y="2708275"/>
            <a:ext cx="1368425" cy="579438"/>
          </a:xfrm>
          <a:prstGeom prst="rect">
            <a:avLst/>
          </a:prstGeom>
          <a:noFill/>
          <a:ln w="9525">
            <a:noFill/>
            <a:miter lim="800000"/>
            <a:headEnd/>
            <a:tailEnd/>
          </a:ln>
        </p:spPr>
        <p:txBody>
          <a:bodyPr>
            <a:spAutoFit/>
          </a:bodyPr>
          <a:lstStyle/>
          <a:p>
            <a:pPr>
              <a:spcBef>
                <a:spcPct val="50000"/>
              </a:spcBef>
            </a:pPr>
            <a:endParaRPr lang="pl-PL"/>
          </a:p>
        </p:txBody>
      </p:sp>
      <p:sp>
        <p:nvSpPr>
          <p:cNvPr id="30739" name="Text Box 18"/>
          <p:cNvSpPr txBox="1">
            <a:spLocks noChangeArrowheads="1"/>
          </p:cNvSpPr>
          <p:nvPr/>
        </p:nvSpPr>
        <p:spPr bwMode="auto">
          <a:xfrm>
            <a:off x="1403350" y="2781300"/>
            <a:ext cx="1439863" cy="461665"/>
          </a:xfrm>
          <a:prstGeom prst="rect">
            <a:avLst/>
          </a:prstGeom>
          <a:noFill/>
          <a:ln w="9525">
            <a:noFill/>
            <a:miter lim="800000"/>
            <a:headEnd/>
            <a:tailEnd/>
          </a:ln>
        </p:spPr>
        <p:txBody>
          <a:bodyPr>
            <a:spAutoFit/>
          </a:bodyPr>
          <a:lstStyle/>
          <a:p>
            <a:pPr>
              <a:spcBef>
                <a:spcPct val="50000"/>
              </a:spcBef>
            </a:pPr>
            <a:r>
              <a:rPr lang="pl-PL" sz="1200" b="1" dirty="0" err="1"/>
              <a:t>Insufficient</a:t>
            </a:r>
            <a:r>
              <a:rPr lang="pl-PL" sz="1200" b="1" dirty="0"/>
              <a:t> </a:t>
            </a:r>
            <a:r>
              <a:rPr lang="pl-PL" sz="1200" b="1" dirty="0" err="1"/>
              <a:t>training</a:t>
            </a:r>
            <a:endParaRPr lang="pl-PL" sz="1200" b="1" dirty="0"/>
          </a:p>
        </p:txBody>
      </p:sp>
      <p:sp>
        <p:nvSpPr>
          <p:cNvPr id="30740" name="Text Box 19"/>
          <p:cNvSpPr txBox="1">
            <a:spLocks noChangeArrowheads="1"/>
          </p:cNvSpPr>
          <p:nvPr/>
        </p:nvSpPr>
        <p:spPr bwMode="auto">
          <a:xfrm>
            <a:off x="684213" y="4076700"/>
            <a:ext cx="1296987" cy="579438"/>
          </a:xfrm>
          <a:prstGeom prst="rect">
            <a:avLst/>
          </a:prstGeom>
          <a:noFill/>
          <a:ln w="9525">
            <a:noFill/>
            <a:miter lim="800000"/>
            <a:headEnd/>
            <a:tailEnd/>
          </a:ln>
        </p:spPr>
        <p:txBody>
          <a:bodyPr>
            <a:spAutoFit/>
          </a:bodyPr>
          <a:lstStyle/>
          <a:p>
            <a:pPr>
              <a:spcBef>
                <a:spcPct val="50000"/>
              </a:spcBef>
            </a:pPr>
            <a:endParaRPr lang="pl-PL"/>
          </a:p>
        </p:txBody>
      </p:sp>
      <p:sp>
        <p:nvSpPr>
          <p:cNvPr id="30741" name="Text Box 20"/>
          <p:cNvSpPr txBox="1">
            <a:spLocks noChangeArrowheads="1"/>
          </p:cNvSpPr>
          <p:nvPr/>
        </p:nvSpPr>
        <p:spPr bwMode="auto">
          <a:xfrm>
            <a:off x="1042988" y="4221163"/>
            <a:ext cx="1657350" cy="461665"/>
          </a:xfrm>
          <a:prstGeom prst="rect">
            <a:avLst/>
          </a:prstGeom>
          <a:noFill/>
          <a:ln w="9525">
            <a:noFill/>
            <a:miter lim="800000"/>
            <a:headEnd/>
            <a:tailEnd/>
          </a:ln>
        </p:spPr>
        <p:txBody>
          <a:bodyPr>
            <a:spAutoFit/>
          </a:bodyPr>
          <a:lstStyle/>
          <a:p>
            <a:pPr>
              <a:spcBef>
                <a:spcPct val="50000"/>
              </a:spcBef>
            </a:pPr>
            <a:r>
              <a:rPr lang="pl-PL" sz="1200" b="1" dirty="0"/>
              <a:t>High </a:t>
            </a:r>
            <a:r>
              <a:rPr lang="pl-PL" sz="1200" b="1" dirty="0" err="1"/>
              <a:t>power</a:t>
            </a:r>
            <a:r>
              <a:rPr lang="pl-PL" sz="1200" b="1" dirty="0"/>
              <a:t> </a:t>
            </a:r>
            <a:r>
              <a:rPr lang="pl-PL" sz="1200" b="1" dirty="0" err="1"/>
              <a:t>variability</a:t>
            </a:r>
            <a:endParaRPr lang="pl-PL" sz="1200" b="1" dirty="0"/>
          </a:p>
        </p:txBody>
      </p:sp>
      <p:sp>
        <p:nvSpPr>
          <p:cNvPr id="30742" name="Text Box 21"/>
          <p:cNvSpPr txBox="1">
            <a:spLocks noChangeArrowheads="1"/>
          </p:cNvSpPr>
          <p:nvPr/>
        </p:nvSpPr>
        <p:spPr bwMode="auto">
          <a:xfrm>
            <a:off x="539750" y="5589588"/>
            <a:ext cx="1223963" cy="461665"/>
          </a:xfrm>
          <a:prstGeom prst="rect">
            <a:avLst/>
          </a:prstGeom>
          <a:noFill/>
          <a:ln w="9525">
            <a:noFill/>
            <a:miter lim="800000"/>
            <a:headEnd/>
            <a:tailEnd/>
          </a:ln>
        </p:spPr>
        <p:txBody>
          <a:bodyPr>
            <a:spAutoFit/>
          </a:bodyPr>
          <a:lstStyle/>
          <a:p>
            <a:pPr>
              <a:spcBef>
                <a:spcPct val="50000"/>
              </a:spcBef>
            </a:pPr>
            <a:r>
              <a:rPr lang="pl-PL" sz="1200" b="1" dirty="0" err="1"/>
              <a:t>Frequent</a:t>
            </a:r>
            <a:r>
              <a:rPr lang="pl-PL" sz="1200" b="1" dirty="0"/>
              <a:t> </a:t>
            </a:r>
            <a:r>
              <a:rPr lang="pl-PL" sz="1200" b="1" dirty="0" err="1"/>
              <a:t>failures</a:t>
            </a:r>
            <a:endParaRPr lang="pl-PL" sz="1200" b="1" dirty="0"/>
          </a:p>
        </p:txBody>
      </p:sp>
      <p:sp>
        <p:nvSpPr>
          <p:cNvPr id="30743" name="Text Box 23"/>
          <p:cNvSpPr txBox="1">
            <a:spLocks noChangeArrowheads="1"/>
          </p:cNvSpPr>
          <p:nvPr/>
        </p:nvSpPr>
        <p:spPr bwMode="auto">
          <a:xfrm>
            <a:off x="3059113" y="4437063"/>
            <a:ext cx="1664238" cy="276999"/>
          </a:xfrm>
          <a:prstGeom prst="rect">
            <a:avLst/>
          </a:prstGeom>
          <a:noFill/>
          <a:ln w="9525">
            <a:noFill/>
            <a:miter lim="800000"/>
            <a:headEnd/>
            <a:tailEnd/>
          </a:ln>
        </p:spPr>
        <p:txBody>
          <a:bodyPr wrap="none">
            <a:spAutoFit/>
          </a:bodyPr>
          <a:lstStyle/>
          <a:p>
            <a:r>
              <a:rPr lang="pl-PL" sz="1200" b="1" dirty="0" err="1"/>
              <a:t>Incorrect</a:t>
            </a:r>
            <a:r>
              <a:rPr lang="pl-PL" sz="1200" b="1" dirty="0"/>
              <a:t> </a:t>
            </a:r>
            <a:r>
              <a:rPr lang="pl-PL" sz="1200" b="1" dirty="0" err="1"/>
              <a:t>calibration</a:t>
            </a:r>
            <a:endParaRPr lang="pl-PL" sz="1200" b="1" dirty="0"/>
          </a:p>
        </p:txBody>
      </p:sp>
      <p:sp>
        <p:nvSpPr>
          <p:cNvPr id="30744" name="Text Box 43"/>
          <p:cNvSpPr txBox="1">
            <a:spLocks noChangeArrowheads="1"/>
          </p:cNvSpPr>
          <p:nvPr/>
        </p:nvSpPr>
        <p:spPr bwMode="auto">
          <a:xfrm>
            <a:off x="2268538" y="5661025"/>
            <a:ext cx="2303462" cy="461665"/>
          </a:xfrm>
          <a:prstGeom prst="rect">
            <a:avLst/>
          </a:prstGeom>
          <a:noFill/>
          <a:ln w="9525">
            <a:noFill/>
            <a:miter lim="800000"/>
            <a:headEnd/>
            <a:tailEnd/>
          </a:ln>
        </p:spPr>
        <p:txBody>
          <a:bodyPr>
            <a:spAutoFit/>
          </a:bodyPr>
          <a:lstStyle/>
          <a:p>
            <a:pPr>
              <a:spcBef>
                <a:spcPct val="50000"/>
              </a:spcBef>
            </a:pPr>
            <a:r>
              <a:rPr lang="pl-PL" sz="1200" b="1" dirty="0" err="1"/>
              <a:t>Defective</a:t>
            </a:r>
            <a:r>
              <a:rPr lang="pl-PL" sz="1200" b="1" dirty="0"/>
              <a:t> a</a:t>
            </a:r>
            <a:r>
              <a:rPr lang="en-US" sz="1200" b="1" dirty="0" err="1"/>
              <a:t>utomatic</a:t>
            </a:r>
            <a:r>
              <a:rPr lang="en-US" sz="1200" b="1" dirty="0"/>
              <a:t> power supply speed </a:t>
            </a:r>
            <a:endParaRPr lang="pl-PL" sz="1200" b="1" dirty="0"/>
          </a:p>
        </p:txBody>
      </p:sp>
      <p:sp>
        <p:nvSpPr>
          <p:cNvPr id="30745" name="Text Box 44"/>
          <p:cNvSpPr txBox="1">
            <a:spLocks noChangeArrowheads="1"/>
          </p:cNvSpPr>
          <p:nvPr/>
        </p:nvSpPr>
        <p:spPr bwMode="auto">
          <a:xfrm>
            <a:off x="5795963" y="4724400"/>
            <a:ext cx="2160587" cy="461665"/>
          </a:xfrm>
          <a:prstGeom prst="rect">
            <a:avLst/>
          </a:prstGeom>
          <a:noFill/>
          <a:ln w="9525">
            <a:noFill/>
            <a:miter lim="800000"/>
            <a:headEnd/>
            <a:tailEnd/>
          </a:ln>
        </p:spPr>
        <p:txBody>
          <a:bodyPr>
            <a:spAutoFit/>
          </a:bodyPr>
          <a:lstStyle/>
          <a:p>
            <a:pPr>
              <a:spcBef>
                <a:spcPct val="50000"/>
              </a:spcBef>
            </a:pPr>
            <a:r>
              <a:rPr lang="pl-PL" sz="1200" b="1" dirty="0" err="1"/>
              <a:t>Wrong</a:t>
            </a:r>
            <a:r>
              <a:rPr lang="pl-PL" sz="1200" b="1" dirty="0"/>
              <a:t> </a:t>
            </a:r>
            <a:r>
              <a:rPr lang="pl-PL" sz="1200" b="1" dirty="0" err="1"/>
              <a:t>production</a:t>
            </a:r>
            <a:r>
              <a:rPr lang="pl-PL" sz="1200" b="1" dirty="0"/>
              <a:t> </a:t>
            </a:r>
            <a:r>
              <a:rPr lang="pl-PL" sz="1200" b="1" dirty="0" err="1"/>
              <a:t>programming</a:t>
            </a:r>
            <a:endParaRPr lang="pl-PL" sz="1200" b="1" dirty="0"/>
          </a:p>
        </p:txBody>
      </p:sp>
      <p:sp>
        <p:nvSpPr>
          <p:cNvPr id="30746" name="Text Box 45"/>
          <p:cNvSpPr txBox="1">
            <a:spLocks noChangeArrowheads="1"/>
          </p:cNvSpPr>
          <p:nvPr/>
        </p:nvSpPr>
        <p:spPr bwMode="auto">
          <a:xfrm>
            <a:off x="4716463" y="1628775"/>
            <a:ext cx="1873250" cy="461665"/>
          </a:xfrm>
          <a:prstGeom prst="rect">
            <a:avLst/>
          </a:prstGeom>
          <a:noFill/>
          <a:ln w="9525">
            <a:noFill/>
            <a:miter lim="800000"/>
            <a:headEnd/>
            <a:tailEnd/>
          </a:ln>
        </p:spPr>
        <p:txBody>
          <a:bodyPr>
            <a:spAutoFit/>
          </a:bodyPr>
          <a:lstStyle/>
          <a:p>
            <a:pPr>
              <a:spcBef>
                <a:spcPct val="50000"/>
              </a:spcBef>
            </a:pPr>
            <a:r>
              <a:rPr lang="en-US" sz="1200" b="1" dirty="0"/>
              <a:t>Steel bars with incorrect dimensions</a:t>
            </a:r>
            <a:endParaRPr lang="pl-PL" sz="1200" b="1" dirty="0"/>
          </a:p>
        </p:txBody>
      </p:sp>
      <p:sp>
        <p:nvSpPr>
          <p:cNvPr id="30747" name="Text Box 47"/>
          <p:cNvSpPr txBox="1">
            <a:spLocks noChangeArrowheads="1"/>
          </p:cNvSpPr>
          <p:nvPr/>
        </p:nvSpPr>
        <p:spPr bwMode="auto">
          <a:xfrm>
            <a:off x="4859338" y="2781300"/>
            <a:ext cx="1657350" cy="461665"/>
          </a:xfrm>
          <a:prstGeom prst="rect">
            <a:avLst/>
          </a:prstGeom>
          <a:noFill/>
          <a:ln w="9525">
            <a:noFill/>
            <a:miter lim="800000"/>
            <a:headEnd/>
            <a:tailEnd/>
          </a:ln>
        </p:spPr>
        <p:txBody>
          <a:bodyPr>
            <a:spAutoFit/>
          </a:bodyPr>
          <a:lstStyle/>
          <a:p>
            <a:pPr>
              <a:spcBef>
                <a:spcPct val="50000"/>
              </a:spcBef>
            </a:pPr>
            <a:r>
              <a:rPr lang="en-US" sz="1200" b="1" dirty="0"/>
              <a:t>Incorrect carbon content in steel</a:t>
            </a:r>
            <a:endParaRPr lang="pl-PL" sz="12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32771" name="Rectangle 2"/>
          <p:cNvSpPr>
            <a:spLocks noGrp="1" noChangeArrowheads="1"/>
          </p:cNvSpPr>
          <p:nvPr>
            <p:ph type="title"/>
          </p:nvPr>
        </p:nvSpPr>
        <p:spPr/>
        <p:txBody>
          <a:bodyPr/>
          <a:lstStyle/>
          <a:p>
            <a:pPr eaLnBrk="1" hangingPunct="1"/>
            <a:r>
              <a:rPr lang="pl-PL" sz="4000" b="1" dirty="0" err="1"/>
              <a:t>Kaizen</a:t>
            </a:r>
            <a:endParaRPr lang="pl-PL" sz="4000" b="1" dirty="0"/>
          </a:p>
        </p:txBody>
      </p:sp>
      <p:sp>
        <p:nvSpPr>
          <p:cNvPr id="32772" name="Rectangle 3"/>
          <p:cNvSpPr>
            <a:spLocks noGrp="1" noChangeArrowheads="1"/>
          </p:cNvSpPr>
          <p:nvPr>
            <p:ph type="body" idx="1"/>
          </p:nvPr>
        </p:nvSpPr>
        <p:spPr/>
        <p:txBody>
          <a:bodyPr/>
          <a:lstStyle/>
          <a:p>
            <a:pPr marL="571500" indent="-571500" eaLnBrk="1" hangingPunct="1">
              <a:buNone/>
            </a:pPr>
            <a:r>
              <a:rPr lang="en-US" sz="3200" dirty="0">
                <a:solidFill>
                  <a:srgbClr val="003399"/>
                </a:solidFill>
              </a:rPr>
              <a:t>Kaizen = a strategy of continuous improvement</a:t>
            </a:r>
            <a:endParaRPr lang="pl-PL" sz="3200" dirty="0">
              <a:solidFill>
                <a:srgbClr val="003399"/>
              </a:solidFill>
            </a:endParaRPr>
          </a:p>
          <a:p>
            <a:pPr marL="571500" indent="-571500" eaLnBrk="1" hangingPunct="1">
              <a:buNone/>
            </a:pPr>
            <a:r>
              <a:rPr lang="pl-PL" sz="3200" dirty="0" err="1">
                <a:solidFill>
                  <a:srgbClr val="003399"/>
                </a:solidFill>
              </a:rPr>
              <a:t>Success</a:t>
            </a:r>
            <a:r>
              <a:rPr lang="pl-PL" sz="3200" dirty="0">
                <a:solidFill>
                  <a:srgbClr val="003399"/>
                </a:solidFill>
              </a:rPr>
              <a:t>      i</a:t>
            </a:r>
            <a:r>
              <a:rPr lang="en-US" sz="3200" dirty="0" err="1">
                <a:solidFill>
                  <a:srgbClr val="003399"/>
                </a:solidFill>
              </a:rPr>
              <a:t>nvolvement</a:t>
            </a:r>
            <a:r>
              <a:rPr lang="en-US" sz="3200" dirty="0">
                <a:solidFill>
                  <a:srgbClr val="003399"/>
                </a:solidFill>
              </a:rPr>
              <a:t> of all levels of the organization hierarchy</a:t>
            </a:r>
            <a:endParaRPr lang="pl-PL" sz="3200" dirty="0">
              <a:solidFill>
                <a:srgbClr val="003399"/>
              </a:solidFill>
            </a:endParaRPr>
          </a:p>
        </p:txBody>
      </p:sp>
      <p:sp>
        <p:nvSpPr>
          <p:cNvPr id="32773" name="Line 4"/>
          <p:cNvSpPr>
            <a:spLocks noChangeShapeType="1"/>
          </p:cNvSpPr>
          <p:nvPr/>
        </p:nvSpPr>
        <p:spPr bwMode="auto">
          <a:xfrm flipH="1">
            <a:off x="2267744" y="2996952"/>
            <a:ext cx="360363" cy="0"/>
          </a:xfrm>
          <a:prstGeom prst="line">
            <a:avLst/>
          </a:prstGeom>
          <a:noFill/>
          <a:ln w="9525">
            <a:solidFill>
              <a:schemeClr val="tx1"/>
            </a:solidFill>
            <a:round/>
            <a:headEnd/>
            <a:tailEnd type="triangle" w="med" len="med"/>
          </a:ln>
        </p:spPr>
        <p:txBody>
          <a:bodyPr/>
          <a:lstStyle/>
          <a:p>
            <a:endParaRPr lang="pl-PL"/>
          </a:p>
        </p:txBody>
      </p:sp>
      <p:pic>
        <p:nvPicPr>
          <p:cNvPr id="32774" name="Picture 5"/>
          <p:cNvPicPr>
            <a:picLocks noChangeAspect="1" noChangeArrowheads="1"/>
          </p:cNvPicPr>
          <p:nvPr/>
        </p:nvPicPr>
        <p:blipFill>
          <a:blip r:embed="rId3" cstate="print"/>
          <a:srcRect/>
          <a:stretch>
            <a:fillRect/>
          </a:stretch>
        </p:blipFill>
        <p:spPr bwMode="auto">
          <a:xfrm>
            <a:off x="5580112" y="3880483"/>
            <a:ext cx="1440160" cy="1861562"/>
          </a:xfrm>
          <a:prstGeom prst="rect">
            <a:avLst/>
          </a:prstGeom>
          <a:noFill/>
          <a:ln w="9525">
            <a:noFill/>
            <a:miter lim="800000"/>
            <a:headEnd/>
            <a:tailEnd/>
          </a:ln>
        </p:spPr>
      </p:pic>
      <p:sp>
        <p:nvSpPr>
          <p:cNvPr id="32775" name="Text Box 6"/>
          <p:cNvSpPr txBox="1">
            <a:spLocks noChangeArrowheads="1"/>
          </p:cNvSpPr>
          <p:nvPr/>
        </p:nvSpPr>
        <p:spPr bwMode="auto">
          <a:xfrm>
            <a:off x="395288" y="6308725"/>
            <a:ext cx="2808287" cy="274638"/>
          </a:xfrm>
          <a:prstGeom prst="rect">
            <a:avLst/>
          </a:prstGeom>
          <a:noFill/>
          <a:ln w="9525">
            <a:noFill/>
            <a:miter lim="800000"/>
            <a:headEnd/>
            <a:tailEnd/>
          </a:ln>
        </p:spPr>
        <p:txBody>
          <a:bodyPr>
            <a:spAutoFit/>
          </a:bodyPr>
          <a:lstStyle/>
          <a:p>
            <a:pPr>
              <a:spcBef>
                <a:spcPct val="50000"/>
              </a:spcBef>
            </a:pPr>
            <a:r>
              <a:rPr lang="pl-PL" sz="1200" dirty="0"/>
              <a:t>Source: shinsokai.files.wordpress.com</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400" b="1" dirty="0" err="1"/>
              <a:t>Kaizen</a:t>
            </a:r>
            <a:endParaRPr lang="pl-PL" dirty="0"/>
          </a:p>
        </p:txBody>
      </p:sp>
      <p:sp>
        <p:nvSpPr>
          <p:cNvPr id="3" name="Symbol zastępczy zawartości 2"/>
          <p:cNvSpPr>
            <a:spLocks noGrp="1"/>
          </p:cNvSpPr>
          <p:nvPr>
            <p:ph idx="1"/>
          </p:nvPr>
        </p:nvSpPr>
        <p:spPr/>
        <p:txBody>
          <a:bodyPr/>
          <a:lstStyle/>
          <a:p>
            <a:pPr marL="0" indent="0">
              <a:buNone/>
            </a:pPr>
            <a:r>
              <a:rPr lang="pl-PL" sz="2400" b="1" dirty="0" err="1">
                <a:solidFill>
                  <a:srgbClr val="003399"/>
                </a:solidFill>
              </a:rPr>
              <a:t>Glossary</a:t>
            </a:r>
            <a:r>
              <a:rPr lang="pl-PL" sz="2400" b="1" dirty="0">
                <a:solidFill>
                  <a:srgbClr val="003399"/>
                </a:solidFill>
              </a:rPr>
              <a:t> (</a:t>
            </a:r>
            <a:r>
              <a:rPr lang="pl-PL" sz="2400" b="1" dirty="0" err="1">
                <a:solidFill>
                  <a:srgbClr val="003399"/>
                </a:solidFill>
              </a:rPr>
              <a:t>examples</a:t>
            </a:r>
            <a:r>
              <a:rPr lang="pl-PL" sz="2400" b="1" dirty="0">
                <a:solidFill>
                  <a:srgbClr val="003399"/>
                </a:solidFill>
              </a:rPr>
              <a:t>):</a:t>
            </a:r>
          </a:p>
          <a:p>
            <a:pPr marL="0" indent="0">
              <a:buNone/>
            </a:pPr>
            <a:r>
              <a:rPr lang="pl-PL" sz="2400" b="1" i="1" dirty="0" err="1">
                <a:solidFill>
                  <a:srgbClr val="003399"/>
                </a:solidFill>
              </a:rPr>
              <a:t>Gemba</a:t>
            </a:r>
            <a:endParaRPr lang="pl-PL" sz="2400" b="1" i="1" dirty="0">
              <a:solidFill>
                <a:srgbClr val="003399"/>
              </a:solidFill>
            </a:endParaRPr>
          </a:p>
          <a:p>
            <a:pPr marL="0" indent="0" algn="just">
              <a:buNone/>
            </a:pPr>
            <a:r>
              <a:rPr lang="en-US" sz="2400" dirty="0">
                <a:solidFill>
                  <a:srgbClr val="003399"/>
                </a:solidFill>
              </a:rPr>
              <a:t>A Japanese word that means "the real place". Used in the context of KAIZEN™, </a:t>
            </a:r>
            <a:r>
              <a:rPr lang="en-US" sz="2400" dirty="0" err="1">
                <a:solidFill>
                  <a:srgbClr val="003399"/>
                </a:solidFill>
              </a:rPr>
              <a:t>Gemba</a:t>
            </a:r>
            <a:r>
              <a:rPr lang="en-US" sz="2400" dirty="0">
                <a:solidFill>
                  <a:srgbClr val="003399"/>
                </a:solidFill>
              </a:rPr>
              <a:t> usually refers to the place where value is added, such as the shop floor or frontline. In a broader sense, </a:t>
            </a:r>
            <a:r>
              <a:rPr lang="en-US" sz="2400" dirty="0" err="1">
                <a:solidFill>
                  <a:srgbClr val="003399"/>
                </a:solidFill>
              </a:rPr>
              <a:t>Gemba</a:t>
            </a:r>
            <a:r>
              <a:rPr lang="en-US" sz="2400" dirty="0">
                <a:solidFill>
                  <a:srgbClr val="003399"/>
                </a:solidFill>
              </a:rPr>
              <a:t> refers to any place in an organization where work is being performed; thus one may have an engineering </a:t>
            </a:r>
            <a:r>
              <a:rPr lang="en-US" sz="2400" dirty="0" err="1">
                <a:solidFill>
                  <a:srgbClr val="003399"/>
                </a:solidFill>
              </a:rPr>
              <a:t>Gemba</a:t>
            </a:r>
            <a:r>
              <a:rPr lang="en-US" sz="2400" dirty="0">
                <a:solidFill>
                  <a:srgbClr val="003399"/>
                </a:solidFill>
              </a:rPr>
              <a:t>, a sales </a:t>
            </a:r>
            <a:r>
              <a:rPr lang="en-US" sz="2400" dirty="0" err="1">
                <a:solidFill>
                  <a:srgbClr val="003399"/>
                </a:solidFill>
              </a:rPr>
              <a:t>Gemba</a:t>
            </a:r>
            <a:r>
              <a:rPr lang="en-US" sz="2400" dirty="0">
                <a:solidFill>
                  <a:srgbClr val="003399"/>
                </a:solidFill>
              </a:rPr>
              <a:t>, an accounting </a:t>
            </a:r>
            <a:r>
              <a:rPr lang="en-US" sz="2400" dirty="0" err="1">
                <a:solidFill>
                  <a:srgbClr val="003399"/>
                </a:solidFill>
              </a:rPr>
              <a:t>Gemba</a:t>
            </a:r>
            <a:r>
              <a:rPr lang="en-US" sz="2400" dirty="0">
                <a:solidFill>
                  <a:srgbClr val="003399"/>
                </a:solidFill>
              </a:rPr>
              <a:t>, etc. Management must </a:t>
            </a:r>
            <a:r>
              <a:rPr lang="en-US" sz="2400" b="1" dirty="0">
                <a:solidFill>
                  <a:srgbClr val="003399"/>
                </a:solidFill>
              </a:rPr>
              <a:t>go to </a:t>
            </a:r>
            <a:r>
              <a:rPr lang="en-US" sz="2400" b="1" dirty="0" err="1">
                <a:solidFill>
                  <a:srgbClr val="003399"/>
                </a:solidFill>
              </a:rPr>
              <a:t>Gemba</a:t>
            </a:r>
            <a:r>
              <a:rPr lang="en-US" sz="2400" b="1" dirty="0">
                <a:solidFill>
                  <a:srgbClr val="003399"/>
                </a:solidFill>
              </a:rPr>
              <a:t> </a:t>
            </a:r>
            <a:r>
              <a:rPr lang="en-US" sz="2400" dirty="0">
                <a:solidFill>
                  <a:srgbClr val="003399"/>
                </a:solidFill>
              </a:rPr>
              <a:t>to understand the people, processes, products and problems.</a:t>
            </a:r>
            <a:endParaRPr lang="pl-PL" sz="24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170997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endParaRPr lang="pl-PL" sz="4000" b="1" dirty="0"/>
          </a:p>
        </p:txBody>
      </p:sp>
      <p:sp>
        <p:nvSpPr>
          <p:cNvPr id="3" name="Symbol zastępczy zawartości 2"/>
          <p:cNvSpPr>
            <a:spLocks noGrp="1"/>
          </p:cNvSpPr>
          <p:nvPr>
            <p:ph idx="1"/>
          </p:nvPr>
        </p:nvSpPr>
        <p:spPr/>
        <p:txBody>
          <a:bodyPr/>
          <a:lstStyle/>
          <a:p>
            <a:pPr marL="0" indent="0">
              <a:buNone/>
            </a:pPr>
            <a:r>
              <a:rPr lang="pl-PL" sz="2800" b="1" i="1" dirty="0" err="1">
                <a:solidFill>
                  <a:srgbClr val="003399"/>
                </a:solidFill>
              </a:rPr>
              <a:t>Kanban</a:t>
            </a:r>
            <a:r>
              <a:rPr lang="pl-PL" sz="2800" i="1" dirty="0">
                <a:solidFill>
                  <a:srgbClr val="003399"/>
                </a:solidFill>
              </a:rPr>
              <a:t> </a:t>
            </a:r>
            <a:endParaRPr lang="pl-PL" sz="2800" dirty="0">
              <a:solidFill>
                <a:srgbClr val="003399"/>
              </a:solidFill>
            </a:endParaRPr>
          </a:p>
          <a:p>
            <a:pPr marL="0" indent="0" algn="just">
              <a:buNone/>
            </a:pPr>
            <a:r>
              <a:rPr lang="en-US" sz="2400" dirty="0">
                <a:solidFill>
                  <a:srgbClr val="003399"/>
                </a:solidFill>
              </a:rPr>
              <a:t>A materials (or information) replenishment planning tool in a Just-in-Time production and inventory control system developed by Toyota. KANBAN is often seen as a central element of a Pull system. The root meaning of KANBAN is a visual sign (</a:t>
            </a:r>
            <a:r>
              <a:rPr lang="en-US" sz="2400" dirty="0" err="1">
                <a:solidFill>
                  <a:srgbClr val="003399"/>
                </a:solidFill>
              </a:rPr>
              <a:t>Kan</a:t>
            </a:r>
            <a:r>
              <a:rPr lang="en-US" sz="2400" dirty="0">
                <a:solidFill>
                  <a:srgbClr val="003399"/>
                </a:solidFill>
              </a:rPr>
              <a:t> = card; Ban = signal). On the basis of automatic replenishment (through signal cards that indicate when more materials or information are needed) the flow of materials and information throughout the system (suppliers,</a:t>
            </a:r>
            <a:r>
              <a:rPr lang="pl-PL" sz="2400" dirty="0">
                <a:solidFill>
                  <a:srgbClr val="003399"/>
                </a:solidFill>
              </a:rPr>
              <a:t> </a:t>
            </a:r>
            <a:r>
              <a:rPr lang="en-US" sz="2400" dirty="0">
                <a:solidFill>
                  <a:srgbClr val="003399"/>
                </a:solidFill>
              </a:rPr>
              <a:t>within the value stream, and the customers), is regulated. Also known  as "</a:t>
            </a:r>
            <a:r>
              <a:rPr lang="en-US" sz="2400" dirty="0" err="1">
                <a:solidFill>
                  <a:srgbClr val="003399"/>
                </a:solidFill>
              </a:rPr>
              <a:t>Kamban</a:t>
            </a:r>
            <a:r>
              <a:rPr lang="en-US" sz="2400" dirty="0">
                <a:solidFill>
                  <a:srgbClr val="003399"/>
                </a:solidFill>
              </a:rPr>
              <a:t>".</a:t>
            </a:r>
          </a:p>
          <a:p>
            <a:pPr marL="0" indent="0">
              <a:buNone/>
            </a:pPr>
            <a:endParaRPr lang="en-US" sz="2800" dirty="0">
              <a:solidFill>
                <a:srgbClr val="003399"/>
              </a:solidFill>
            </a:endParaRPr>
          </a:p>
          <a:p>
            <a:pPr marL="0" indent="0">
              <a:buNone/>
            </a:pPr>
            <a:endParaRPr lang="pl-PL" sz="28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163581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endParaRPr lang="pl-PL" sz="4000" dirty="0"/>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3074" name="Picture 2" descr="A visual guide to kanban principle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53283" y="1417638"/>
            <a:ext cx="8053754" cy="4530725"/>
          </a:xfrm>
          <a:prstGeom prst="rect">
            <a:avLst/>
          </a:prstGeom>
          <a:noFill/>
          <a:extLst>
            <a:ext uri="{909E8E84-426E-40DD-AFC4-6F175D3DCCD1}">
              <a14:hiddenFill xmlns:a14="http://schemas.microsoft.com/office/drawing/2010/main">
                <a:solidFill>
                  <a:srgbClr val="FFFFFF"/>
                </a:solidFill>
              </a14:hiddenFill>
            </a:ext>
          </a:extLst>
        </p:spPr>
      </p:pic>
      <p:sp>
        <p:nvSpPr>
          <p:cNvPr id="5" name="pole tekstowe 4"/>
          <p:cNvSpPr txBox="1"/>
          <p:nvPr/>
        </p:nvSpPr>
        <p:spPr>
          <a:xfrm>
            <a:off x="611560" y="6411706"/>
            <a:ext cx="5408240" cy="246221"/>
          </a:xfrm>
          <a:prstGeom prst="rect">
            <a:avLst/>
          </a:prstGeom>
          <a:noFill/>
        </p:spPr>
        <p:txBody>
          <a:bodyPr wrap="square" rtlCol="0">
            <a:spAutoFit/>
          </a:bodyPr>
          <a:lstStyle/>
          <a:p>
            <a:r>
              <a:rPr lang="pl-PL" sz="1000" dirty="0"/>
              <a:t>Source: </a:t>
            </a:r>
            <a:r>
              <a:rPr lang="pl-PL" sz="1000" dirty="0">
                <a:hlinkClick r:id="rId4"/>
              </a:rPr>
              <a:t>https://www.knowledgetrain.co.uk/agile/kanban-principles</a:t>
            </a:r>
            <a:endParaRPr lang="pl-PL" sz="1000" dirty="0"/>
          </a:p>
        </p:txBody>
      </p:sp>
    </p:spTree>
    <p:extLst>
      <p:ext uri="{BB962C8B-B14F-4D97-AF65-F5344CB8AC3E}">
        <p14:creationId xmlns:p14="http://schemas.microsoft.com/office/powerpoint/2010/main" val="37942598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endParaRPr lang="pl-PL" sz="4000" b="1" dirty="0"/>
          </a:p>
        </p:txBody>
      </p:sp>
      <p:sp>
        <p:nvSpPr>
          <p:cNvPr id="3" name="Symbol zastępczy zawartości 2"/>
          <p:cNvSpPr>
            <a:spLocks noGrp="1"/>
          </p:cNvSpPr>
          <p:nvPr>
            <p:ph idx="1"/>
          </p:nvPr>
        </p:nvSpPr>
        <p:spPr/>
        <p:txBody>
          <a:bodyPr/>
          <a:lstStyle/>
          <a:p>
            <a:pPr marL="0" indent="0">
              <a:buNone/>
            </a:pPr>
            <a:r>
              <a:rPr lang="pl-PL" b="1" dirty="0" err="1">
                <a:solidFill>
                  <a:srgbClr val="003399"/>
                </a:solidFill>
              </a:rPr>
              <a:t>Quality</a:t>
            </a:r>
            <a:r>
              <a:rPr lang="pl-PL" b="1" dirty="0">
                <a:solidFill>
                  <a:srgbClr val="003399"/>
                </a:solidFill>
              </a:rPr>
              <a:t> </a:t>
            </a:r>
            <a:r>
              <a:rPr lang="pl-PL" b="1" dirty="0" err="1">
                <a:solidFill>
                  <a:srgbClr val="003399"/>
                </a:solidFill>
              </a:rPr>
              <a:t>circles</a:t>
            </a:r>
            <a:endParaRPr lang="pl-PL" b="1" dirty="0">
              <a:solidFill>
                <a:srgbClr val="003399"/>
              </a:solidFill>
            </a:endParaRPr>
          </a:p>
          <a:p>
            <a:pPr marL="0" indent="0">
              <a:buNone/>
            </a:pPr>
            <a:r>
              <a:rPr lang="en-US" dirty="0">
                <a:solidFill>
                  <a:srgbClr val="003399"/>
                </a:solidFill>
              </a:rPr>
              <a:t>Quality improvement teams of 10 or fewer employees. They carry out voluntary and continuous activities </a:t>
            </a:r>
            <a:r>
              <a:rPr lang="pl-PL" dirty="0" err="1">
                <a:solidFill>
                  <a:srgbClr val="003399"/>
                </a:solidFill>
              </a:rPr>
              <a:t>aimed</a:t>
            </a:r>
            <a:r>
              <a:rPr lang="pl-PL" dirty="0">
                <a:solidFill>
                  <a:srgbClr val="003399"/>
                </a:solidFill>
              </a:rPr>
              <a:t> </a:t>
            </a:r>
            <a:r>
              <a:rPr lang="pl-PL" dirty="0" err="1">
                <a:solidFill>
                  <a:srgbClr val="003399"/>
                </a:solidFill>
              </a:rPr>
              <a:t>at</a:t>
            </a:r>
            <a:r>
              <a:rPr lang="pl-PL" dirty="0">
                <a:solidFill>
                  <a:srgbClr val="003399"/>
                </a:solidFill>
              </a:rPr>
              <a:t> </a:t>
            </a:r>
            <a:r>
              <a:rPr lang="en-US" dirty="0">
                <a:solidFill>
                  <a:srgbClr val="003399"/>
                </a:solidFill>
              </a:rPr>
              <a:t>improving the workplace.</a:t>
            </a:r>
            <a:endParaRPr lang="pl-PL"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139091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r>
              <a:rPr lang="pl-PL" sz="4000" b="1" dirty="0"/>
              <a:t> - </a:t>
            </a:r>
            <a:r>
              <a:rPr lang="pl-PL" sz="4000" b="1" dirty="0" err="1"/>
              <a:t>muda</a:t>
            </a:r>
            <a:endParaRPr lang="pl-PL" sz="4000" b="1" dirty="0"/>
          </a:p>
        </p:txBody>
      </p:sp>
      <p:sp>
        <p:nvSpPr>
          <p:cNvPr id="3" name="Symbol zastępczy zawartości 2"/>
          <p:cNvSpPr>
            <a:spLocks noGrp="1"/>
          </p:cNvSpPr>
          <p:nvPr>
            <p:ph idx="1"/>
          </p:nvPr>
        </p:nvSpPr>
        <p:spPr/>
        <p:txBody>
          <a:bodyPr/>
          <a:lstStyle/>
          <a:p>
            <a:pPr marL="0" indent="0">
              <a:buNone/>
            </a:pPr>
            <a:r>
              <a:rPr lang="pl-PL" sz="2400" b="1" i="1" dirty="0" err="1">
                <a:solidFill>
                  <a:srgbClr val="003399"/>
                </a:solidFill>
              </a:rPr>
              <a:t>Muda</a:t>
            </a:r>
            <a:r>
              <a:rPr lang="pl-PL" sz="2400" b="1" i="1" dirty="0">
                <a:solidFill>
                  <a:srgbClr val="003399"/>
                </a:solidFill>
              </a:rPr>
              <a:t>:</a:t>
            </a:r>
          </a:p>
          <a:p>
            <a:pPr marL="0" lvl="0" indent="0" algn="just">
              <a:buNone/>
            </a:pPr>
            <a:r>
              <a:rPr lang="en-US" sz="2400" dirty="0">
                <a:solidFill>
                  <a:srgbClr val="003399"/>
                </a:solidFill>
              </a:rPr>
              <a:t>Japanese word for "Waste</a:t>
            </a:r>
            <a:r>
              <a:rPr lang="pl-PL" sz="2400" dirty="0">
                <a:solidFill>
                  <a:srgbClr val="003399"/>
                </a:solidFill>
              </a:rPr>
              <a:t>”.</a:t>
            </a:r>
            <a:r>
              <a:rPr lang="en-US" sz="2400" dirty="0">
                <a:solidFill>
                  <a:srgbClr val="003399"/>
                </a:solidFill>
              </a:rPr>
              <a:t> </a:t>
            </a:r>
            <a:r>
              <a:rPr lang="en-US" sz="2400" dirty="0" err="1">
                <a:solidFill>
                  <a:srgbClr val="003399"/>
                </a:solidFill>
              </a:rPr>
              <a:t>Muda</a:t>
            </a:r>
            <a:r>
              <a:rPr lang="en-US" sz="2400" dirty="0">
                <a:solidFill>
                  <a:srgbClr val="003399"/>
                </a:solidFill>
              </a:rPr>
              <a:t> is any non-value adding activity, or a task a customer is not willing to pay for.</a:t>
            </a:r>
            <a:endParaRPr lang="pl-PL" sz="2400" dirty="0">
              <a:solidFill>
                <a:srgbClr val="003399"/>
              </a:solidFill>
            </a:endParaRPr>
          </a:p>
          <a:p>
            <a:pPr marL="0" indent="0" algn="just">
              <a:buNone/>
            </a:pPr>
            <a:r>
              <a:rPr lang="en-US" sz="2000" b="1" dirty="0" err="1">
                <a:solidFill>
                  <a:srgbClr val="003399"/>
                </a:solidFill>
              </a:rPr>
              <a:t>Muda</a:t>
            </a:r>
            <a:r>
              <a:rPr lang="en-US" sz="2000" b="1" dirty="0">
                <a:solidFill>
                  <a:srgbClr val="003399"/>
                </a:solidFill>
              </a:rPr>
              <a:t>-Walk</a:t>
            </a:r>
          </a:p>
          <a:p>
            <a:pPr marL="0" indent="0" algn="just">
              <a:buNone/>
            </a:pPr>
            <a:r>
              <a:rPr lang="en-US" sz="2000" dirty="0">
                <a:solidFill>
                  <a:srgbClr val="003399"/>
                </a:solidFill>
              </a:rPr>
              <a:t>A walk through </a:t>
            </a:r>
            <a:r>
              <a:rPr lang="en-US" sz="2000" dirty="0" err="1">
                <a:solidFill>
                  <a:srgbClr val="003399"/>
                </a:solidFill>
              </a:rPr>
              <a:t>Gemba</a:t>
            </a:r>
            <a:r>
              <a:rPr lang="en-US" sz="2000" dirty="0">
                <a:solidFill>
                  <a:srgbClr val="003399"/>
                </a:solidFill>
              </a:rPr>
              <a:t> to observe evidence of what may be various types of </a:t>
            </a:r>
            <a:r>
              <a:rPr lang="en-US" sz="2000" dirty="0" err="1">
                <a:solidFill>
                  <a:srgbClr val="003399"/>
                </a:solidFill>
              </a:rPr>
              <a:t>Muda</a:t>
            </a:r>
            <a:r>
              <a:rPr lang="en-US" sz="2000" dirty="0">
                <a:solidFill>
                  <a:srgbClr val="003399"/>
                </a:solidFill>
              </a:rPr>
              <a:t>. The object of this walk is to show that the </a:t>
            </a:r>
            <a:r>
              <a:rPr lang="en-US" sz="2000" dirty="0" err="1">
                <a:solidFill>
                  <a:srgbClr val="003399"/>
                </a:solidFill>
              </a:rPr>
              <a:t>Gemba</a:t>
            </a:r>
            <a:r>
              <a:rPr lang="en-US" sz="2000" dirty="0">
                <a:solidFill>
                  <a:srgbClr val="003399"/>
                </a:solidFill>
              </a:rPr>
              <a:t> is full of opportunities for improvement for those whose eyes are trained to see them. </a:t>
            </a:r>
            <a:r>
              <a:rPr lang="en-US" sz="2000" dirty="0" err="1">
                <a:solidFill>
                  <a:srgbClr val="003399"/>
                </a:solidFill>
              </a:rPr>
              <a:t>Muda</a:t>
            </a:r>
            <a:r>
              <a:rPr lang="en-US" sz="2000" dirty="0">
                <a:solidFill>
                  <a:srgbClr val="003399"/>
                </a:solidFill>
              </a:rPr>
              <a:t> walks are not intended to blame and shame or to finding fault but to gather data about the status of the process and the people. A waste observation walk must be based on respect for people.</a:t>
            </a:r>
          </a:p>
          <a:p>
            <a:pPr marL="0" lvl="0" indent="0" algn="just">
              <a:buNone/>
            </a:pPr>
            <a:endParaRPr lang="pl-PL" sz="20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4227934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r>
              <a:rPr lang="pl-PL" sz="4000" b="1" dirty="0"/>
              <a:t> - </a:t>
            </a:r>
            <a:r>
              <a:rPr lang="pl-PL" sz="4000" b="1" dirty="0" err="1"/>
              <a:t>muda</a:t>
            </a:r>
            <a:endParaRPr lang="pl-PL" sz="4000" b="1" dirty="0"/>
          </a:p>
        </p:txBody>
      </p:sp>
      <p:sp>
        <p:nvSpPr>
          <p:cNvPr id="3" name="Symbol zastępczy zawartości 2"/>
          <p:cNvSpPr>
            <a:spLocks noGrp="1"/>
          </p:cNvSpPr>
          <p:nvPr>
            <p:ph idx="1"/>
          </p:nvPr>
        </p:nvSpPr>
        <p:spPr>
          <a:xfrm>
            <a:off x="457200" y="1268760"/>
            <a:ext cx="8229600" cy="4862165"/>
          </a:xfrm>
        </p:spPr>
        <p:txBody>
          <a:bodyPr/>
          <a:lstStyle/>
          <a:p>
            <a:pPr marL="0" indent="0" algn="just">
              <a:buNone/>
            </a:pPr>
            <a:r>
              <a:rPr lang="en-US" sz="1800" b="1" dirty="0">
                <a:solidFill>
                  <a:srgbClr val="003399"/>
                </a:solidFill>
              </a:rPr>
              <a:t>Overproduction</a:t>
            </a:r>
            <a:endParaRPr lang="en-US" sz="1800" dirty="0">
              <a:solidFill>
                <a:srgbClr val="003399"/>
              </a:solidFill>
            </a:endParaRPr>
          </a:p>
          <a:p>
            <a:pPr marL="0" indent="0" algn="just">
              <a:buNone/>
            </a:pPr>
            <a:r>
              <a:rPr lang="en-US" sz="1800" dirty="0">
                <a:solidFill>
                  <a:srgbClr val="003399"/>
                </a:solidFill>
              </a:rPr>
              <a:t>Overproduction occurs when manufacturing a product or an element of the product before it is being asked for or required. It may be tempting to produce as many products as possible when there is idle worker or equipment time. However, rather than producing products just when they are needed under the ‘Just In Time’ philosophy, the ‘Just In Case’ way of working leads a host of problems including preventing smooth flow of work, higher storage costs, hiding defects inside the WIP, requiring more capital expenditure to fund the production process, and excessive lead-time. Additionally, over-producing a product also leads to an increase in likelihood that the product or quantities of products produced are beyond the customer’s requirements.</a:t>
            </a:r>
            <a:br>
              <a:rPr lang="en-US" sz="1800" dirty="0">
                <a:solidFill>
                  <a:srgbClr val="003399"/>
                </a:solidFill>
              </a:rPr>
            </a:br>
            <a:br>
              <a:rPr lang="en-US" sz="1800" dirty="0">
                <a:solidFill>
                  <a:srgbClr val="003399"/>
                </a:solidFill>
              </a:rPr>
            </a:br>
            <a:r>
              <a:rPr lang="en-US" sz="1800" dirty="0">
                <a:solidFill>
                  <a:srgbClr val="003399"/>
                </a:solidFill>
              </a:rPr>
              <a:t>In an office environment, overproduction could include making extra copies, creating reports no one reads, providing more information than needed, and providing a service before the customer is ready. Manufacturing overproduction involves producing more products than demanded through a ‘push production system’ or producing products in higher batch sizes than needed.</a:t>
            </a:r>
            <a:br>
              <a:rPr lang="en-US" sz="1800" dirty="0"/>
            </a:br>
            <a:endParaRPr lang="en-US" sz="1800" dirty="0"/>
          </a:p>
          <a:p>
            <a:pPr marL="0" lvl="0" indent="0" algn="just">
              <a:buNone/>
            </a:pPr>
            <a:endParaRPr lang="pl-PL" sz="24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
        <p:nvSpPr>
          <p:cNvPr id="5" name="pole tekstowe 4"/>
          <p:cNvSpPr txBox="1"/>
          <p:nvPr/>
        </p:nvSpPr>
        <p:spPr>
          <a:xfrm>
            <a:off x="457200" y="6381328"/>
            <a:ext cx="3538736" cy="230832"/>
          </a:xfrm>
          <a:prstGeom prst="rect">
            <a:avLst/>
          </a:prstGeom>
          <a:noFill/>
        </p:spPr>
        <p:txBody>
          <a:bodyPr wrap="square" rtlCol="0">
            <a:spAutoFit/>
          </a:bodyPr>
          <a:lstStyle/>
          <a:p>
            <a:r>
              <a:rPr lang="pl-PL" sz="900" dirty="0"/>
              <a:t>Source: </a:t>
            </a:r>
            <a:r>
              <a:rPr lang="pl-PL" sz="900" dirty="0">
                <a:hlinkClick r:id="rId3"/>
              </a:rPr>
              <a:t>https://theleanway.net/The-8-Wastes-of-Lean</a:t>
            </a:r>
            <a:endParaRPr lang="pl-PL" sz="900" dirty="0"/>
          </a:p>
        </p:txBody>
      </p:sp>
    </p:spTree>
    <p:extLst>
      <p:ext uri="{BB962C8B-B14F-4D97-AF65-F5344CB8AC3E}">
        <p14:creationId xmlns:p14="http://schemas.microsoft.com/office/powerpoint/2010/main" val="2542649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r>
              <a:rPr lang="pl-PL" sz="4000" b="1" dirty="0"/>
              <a:t> - </a:t>
            </a:r>
            <a:r>
              <a:rPr lang="pl-PL" sz="4000" b="1" dirty="0" err="1"/>
              <a:t>muda</a:t>
            </a:r>
            <a:endParaRPr lang="pl-PL" sz="4000" b="1" dirty="0"/>
          </a:p>
        </p:txBody>
      </p:sp>
      <p:sp>
        <p:nvSpPr>
          <p:cNvPr id="3" name="Symbol zastępczy zawartości 2"/>
          <p:cNvSpPr>
            <a:spLocks noGrp="1"/>
          </p:cNvSpPr>
          <p:nvPr>
            <p:ph idx="1"/>
          </p:nvPr>
        </p:nvSpPr>
        <p:spPr/>
        <p:txBody>
          <a:bodyPr/>
          <a:lstStyle/>
          <a:p>
            <a:pPr marL="0" lvl="0" indent="0" algn="just">
              <a:buNone/>
            </a:pPr>
            <a:r>
              <a:rPr lang="en-US" sz="2400" b="1" dirty="0">
                <a:solidFill>
                  <a:srgbClr val="003399"/>
                </a:solidFill>
              </a:rPr>
              <a:t>Defects</a:t>
            </a:r>
          </a:p>
          <a:p>
            <a:pPr marL="0" lvl="0" indent="0" algn="just">
              <a:buNone/>
            </a:pPr>
            <a:r>
              <a:rPr lang="en-US" sz="2400" dirty="0">
                <a:solidFill>
                  <a:srgbClr val="003399"/>
                </a:solidFill>
              </a:rPr>
              <a:t>Defects occurs when the product is not fit for use. This typically results in either reworking or scrapping the product. Both results are wasteful as they add additional costs to the operations without delivering any value to the customer.</a:t>
            </a:r>
          </a:p>
          <a:p>
            <a:pPr marL="0" lvl="0" indent="0" algn="just">
              <a:buNone/>
            </a:pPr>
            <a:endParaRPr lang="pl-PL" sz="24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
        <p:nvSpPr>
          <p:cNvPr id="5" name="pole tekstowe 4"/>
          <p:cNvSpPr txBox="1"/>
          <p:nvPr/>
        </p:nvSpPr>
        <p:spPr>
          <a:xfrm>
            <a:off x="457200" y="6381328"/>
            <a:ext cx="3538736" cy="230832"/>
          </a:xfrm>
          <a:prstGeom prst="rect">
            <a:avLst/>
          </a:prstGeom>
          <a:noFill/>
        </p:spPr>
        <p:txBody>
          <a:bodyPr wrap="square" rtlCol="0">
            <a:spAutoFit/>
          </a:bodyPr>
          <a:lstStyle/>
          <a:p>
            <a:r>
              <a:rPr lang="pl-PL" sz="900" dirty="0"/>
              <a:t>Source: </a:t>
            </a:r>
            <a:r>
              <a:rPr lang="pl-PL" sz="900" dirty="0">
                <a:hlinkClick r:id="rId3"/>
              </a:rPr>
              <a:t>https://theleanway.net/The-8-Wastes-of-Lean</a:t>
            </a:r>
            <a:endParaRPr lang="pl-PL" sz="900" dirty="0"/>
          </a:p>
        </p:txBody>
      </p:sp>
    </p:spTree>
    <p:extLst>
      <p:ext uri="{BB962C8B-B14F-4D97-AF65-F5344CB8AC3E}">
        <p14:creationId xmlns:p14="http://schemas.microsoft.com/office/powerpoint/2010/main" val="3391111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solidFill>
                  <a:schemeClr val="accent6"/>
                </a:solidFill>
              </a:rPr>
              <a:t>Kaizen</a:t>
            </a:r>
            <a:r>
              <a:rPr lang="pl-PL" sz="4000" b="1" dirty="0">
                <a:solidFill>
                  <a:schemeClr val="accent6"/>
                </a:solidFill>
              </a:rPr>
              <a:t> - </a:t>
            </a:r>
            <a:r>
              <a:rPr lang="pl-PL" sz="4000" b="1" dirty="0" err="1">
                <a:solidFill>
                  <a:schemeClr val="accent6"/>
                </a:solidFill>
              </a:rPr>
              <a:t>muda</a:t>
            </a:r>
            <a:endParaRPr lang="pl-PL" sz="4000" b="1" dirty="0">
              <a:solidFill>
                <a:schemeClr val="accent6"/>
              </a:solidFill>
            </a:endParaRPr>
          </a:p>
        </p:txBody>
      </p:sp>
      <p:sp>
        <p:nvSpPr>
          <p:cNvPr id="3" name="Symbol zastępczy zawartości 2"/>
          <p:cNvSpPr>
            <a:spLocks noGrp="1"/>
          </p:cNvSpPr>
          <p:nvPr>
            <p:ph idx="1"/>
          </p:nvPr>
        </p:nvSpPr>
        <p:spPr>
          <a:xfrm>
            <a:off x="457200" y="1196752"/>
            <a:ext cx="8229600" cy="4934173"/>
          </a:xfrm>
        </p:spPr>
        <p:txBody>
          <a:bodyPr/>
          <a:lstStyle/>
          <a:p>
            <a:pPr marL="0" indent="0">
              <a:buNone/>
            </a:pPr>
            <a:r>
              <a:rPr lang="en-US" sz="2000" b="1" dirty="0">
                <a:solidFill>
                  <a:srgbClr val="003399"/>
                </a:solidFill>
              </a:rPr>
              <a:t>Inventory</a:t>
            </a:r>
            <a:endParaRPr lang="en-US" sz="2000" dirty="0">
              <a:solidFill>
                <a:srgbClr val="003399"/>
              </a:solidFill>
            </a:endParaRPr>
          </a:p>
          <a:p>
            <a:pPr marL="0" indent="0" algn="just">
              <a:buNone/>
            </a:pPr>
            <a:r>
              <a:rPr lang="pl-PL" sz="1800" dirty="0">
                <a:solidFill>
                  <a:srgbClr val="003399"/>
                </a:solidFill>
              </a:rPr>
              <a:t>It</a:t>
            </a:r>
            <a:r>
              <a:rPr lang="en-US" sz="1800" dirty="0">
                <a:solidFill>
                  <a:srgbClr val="003399"/>
                </a:solidFill>
              </a:rPr>
              <a:t> is </a:t>
            </a:r>
            <a:r>
              <a:rPr lang="pl-PL" sz="1800" dirty="0" err="1">
                <a:solidFill>
                  <a:srgbClr val="003399"/>
                </a:solidFill>
              </a:rPr>
              <a:t>often</a:t>
            </a:r>
            <a:r>
              <a:rPr lang="pl-PL" sz="1800" dirty="0">
                <a:solidFill>
                  <a:srgbClr val="003399"/>
                </a:solidFill>
              </a:rPr>
              <a:t> </a:t>
            </a:r>
            <a:r>
              <a:rPr lang="en-US" sz="1800" dirty="0">
                <a:solidFill>
                  <a:srgbClr val="003399"/>
                </a:solidFill>
              </a:rPr>
              <a:t>difficult to think about excess inventory as waste. In accounting, inventory is seen as an asset and often suppliers give discount for bulk purchases. But having more inventory than necessary to sustain a steady flow of work can lead to problems including: product defects or damage materials, greater lead time in the production process, an inefficient allocation of capital, and problems being hidden away in the inventory. Excess inventory can be caused by over-purchasing, overproducing work in process (WIP), or producing more products than the customer needs. Excess inventory prevents detecting production-related problems since defects have time to accumulate before it is discovered. As a result, more work will be needed to correct the defects.</a:t>
            </a:r>
            <a:br>
              <a:rPr lang="en-US" sz="1800" dirty="0">
                <a:solidFill>
                  <a:srgbClr val="003399"/>
                </a:solidFill>
              </a:rPr>
            </a:br>
            <a:r>
              <a:rPr lang="en-US" sz="1800" dirty="0">
                <a:solidFill>
                  <a:srgbClr val="003399"/>
                </a:solidFill>
              </a:rPr>
              <a:t>In-office inventory waste could be files waiting to be worked on, customers waiting for service, unused records in a database, or obsolete files. Manufacturing inventory waste could include broken machines sitting around, more finished products than demanded, extra materials taking up work space, and finished products that cannot be sold.</a:t>
            </a:r>
          </a:p>
          <a:p>
            <a:endParaRPr lang="pl-PL" sz="2000" dirty="0"/>
          </a:p>
        </p:txBody>
      </p:sp>
      <p:sp>
        <p:nvSpPr>
          <p:cNvPr id="4" name="Symbol zastępczy stopki 3"/>
          <p:cNvSpPr>
            <a:spLocks noGrp="1"/>
          </p:cNvSpPr>
          <p:nvPr>
            <p:ph type="ftr" sz="quarter" idx="11"/>
          </p:nvPr>
        </p:nvSpPr>
        <p:spPr/>
        <p:txBody>
          <a:bodyPr/>
          <a:lstStyle/>
          <a:p>
            <a:pPr>
              <a:defRPr/>
            </a:pPr>
            <a:r>
              <a:rPr lang="pl-PL" altLang="en-US"/>
              <a:t>PJAIT</a:t>
            </a:r>
          </a:p>
        </p:txBody>
      </p:sp>
      <p:sp>
        <p:nvSpPr>
          <p:cNvPr id="5" name="pole tekstowe 4"/>
          <p:cNvSpPr txBox="1"/>
          <p:nvPr/>
        </p:nvSpPr>
        <p:spPr>
          <a:xfrm>
            <a:off x="457200" y="6381328"/>
            <a:ext cx="3538736" cy="230832"/>
          </a:xfrm>
          <a:prstGeom prst="rect">
            <a:avLst/>
          </a:prstGeom>
          <a:noFill/>
        </p:spPr>
        <p:txBody>
          <a:bodyPr wrap="square" rtlCol="0">
            <a:spAutoFit/>
          </a:bodyPr>
          <a:lstStyle/>
          <a:p>
            <a:r>
              <a:rPr lang="pl-PL" sz="900" dirty="0"/>
              <a:t>Source: </a:t>
            </a:r>
            <a:r>
              <a:rPr lang="pl-PL" sz="900" dirty="0">
                <a:hlinkClick r:id="rId3"/>
              </a:rPr>
              <a:t>https://theleanway.net/The-8-Wastes-of-Lean</a:t>
            </a:r>
            <a:endParaRPr lang="pl-PL" sz="900" dirty="0"/>
          </a:p>
        </p:txBody>
      </p:sp>
    </p:spTree>
    <p:extLst>
      <p:ext uri="{BB962C8B-B14F-4D97-AF65-F5344CB8AC3E}">
        <p14:creationId xmlns:p14="http://schemas.microsoft.com/office/powerpoint/2010/main" val="2559862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solidFill>
                  <a:schemeClr val="accent6"/>
                </a:solidFill>
              </a:rPr>
              <a:t>Kaizen</a:t>
            </a:r>
            <a:r>
              <a:rPr lang="pl-PL" sz="4000" b="1" dirty="0">
                <a:solidFill>
                  <a:schemeClr val="accent6"/>
                </a:solidFill>
              </a:rPr>
              <a:t> - </a:t>
            </a:r>
            <a:r>
              <a:rPr lang="pl-PL" sz="4000" b="1" dirty="0" err="1">
                <a:solidFill>
                  <a:schemeClr val="accent6"/>
                </a:solidFill>
              </a:rPr>
              <a:t>muda</a:t>
            </a:r>
            <a:endParaRPr lang="pl-PL" sz="4000" b="1" dirty="0">
              <a:solidFill>
                <a:schemeClr val="accent6"/>
              </a:solidFill>
            </a:endParaRPr>
          </a:p>
        </p:txBody>
      </p:sp>
      <p:sp>
        <p:nvSpPr>
          <p:cNvPr id="3" name="Symbol zastępczy zawartości 2"/>
          <p:cNvSpPr>
            <a:spLocks noGrp="1"/>
          </p:cNvSpPr>
          <p:nvPr>
            <p:ph idx="1"/>
          </p:nvPr>
        </p:nvSpPr>
        <p:spPr>
          <a:xfrm>
            <a:off x="457200" y="1196752"/>
            <a:ext cx="8229600" cy="4934173"/>
          </a:xfrm>
        </p:spPr>
        <p:txBody>
          <a:bodyPr/>
          <a:lstStyle/>
          <a:p>
            <a:pPr marL="0" indent="0">
              <a:buNone/>
            </a:pPr>
            <a:r>
              <a:rPr lang="en-US" sz="2000" b="1" dirty="0">
                <a:solidFill>
                  <a:srgbClr val="003399"/>
                </a:solidFill>
              </a:rPr>
              <a:t>Motion</a:t>
            </a:r>
            <a:endParaRPr lang="en-US" sz="2000" dirty="0">
              <a:solidFill>
                <a:srgbClr val="003399"/>
              </a:solidFill>
            </a:endParaRPr>
          </a:p>
          <a:p>
            <a:pPr marL="0" indent="0">
              <a:buNone/>
            </a:pPr>
            <a:r>
              <a:rPr lang="en-US" sz="2000" dirty="0">
                <a:solidFill>
                  <a:srgbClr val="003399"/>
                </a:solidFill>
              </a:rPr>
              <a:t>The waste in motion includes any unnecessary movement of people, equipment, or machinery. This includes walking, lifting, reaching, bending, stretching, and moving. Tasks that require excessive motion should be redesigned to enhance the work of personnel and increase the health and safety levels.</a:t>
            </a:r>
            <a:br>
              <a:rPr lang="en-US" sz="2000" dirty="0">
                <a:solidFill>
                  <a:srgbClr val="003399"/>
                </a:solidFill>
              </a:rPr>
            </a:br>
            <a:br>
              <a:rPr lang="en-US" sz="2000" dirty="0">
                <a:solidFill>
                  <a:srgbClr val="003399"/>
                </a:solidFill>
              </a:rPr>
            </a:br>
            <a:r>
              <a:rPr lang="en-US" sz="2000" dirty="0">
                <a:solidFill>
                  <a:srgbClr val="003399"/>
                </a:solidFill>
              </a:rPr>
              <a:t>In the office, wasted motion can include walking, reaching to get materials, searching for files, sifting through inventory to find what is needed, excess mouse clicks, and double entry of data. Manufacturing motion waste can include repetitive movements that do not add value to the customer, reaching for materials, walking to get a tool or materials, and readjusting a component after it has been installed.</a:t>
            </a:r>
          </a:p>
          <a:p>
            <a:pPr marL="0" indent="0">
              <a:buNone/>
            </a:pPr>
            <a:endParaRPr lang="pl-PL" sz="20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
        <p:nvSpPr>
          <p:cNvPr id="5" name="pole tekstowe 4"/>
          <p:cNvSpPr txBox="1"/>
          <p:nvPr/>
        </p:nvSpPr>
        <p:spPr>
          <a:xfrm>
            <a:off x="457200" y="6381328"/>
            <a:ext cx="3538736" cy="230832"/>
          </a:xfrm>
          <a:prstGeom prst="rect">
            <a:avLst/>
          </a:prstGeom>
          <a:noFill/>
        </p:spPr>
        <p:txBody>
          <a:bodyPr wrap="square" rtlCol="0">
            <a:spAutoFit/>
          </a:bodyPr>
          <a:lstStyle/>
          <a:p>
            <a:r>
              <a:rPr lang="pl-PL" sz="900" dirty="0"/>
              <a:t>Source: </a:t>
            </a:r>
            <a:r>
              <a:rPr lang="pl-PL" sz="900" dirty="0">
                <a:hlinkClick r:id="rId3"/>
              </a:rPr>
              <a:t>https://theleanway.net/The-8-Wastes-of-Lean</a:t>
            </a:r>
            <a:endParaRPr lang="pl-PL" sz="900" dirty="0"/>
          </a:p>
        </p:txBody>
      </p:sp>
    </p:spTree>
    <p:extLst>
      <p:ext uri="{BB962C8B-B14F-4D97-AF65-F5344CB8AC3E}">
        <p14:creationId xmlns:p14="http://schemas.microsoft.com/office/powerpoint/2010/main" val="2012721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solidFill>
                  <a:schemeClr val="accent6"/>
                </a:solidFill>
              </a:rPr>
              <a:t>Kaizen</a:t>
            </a:r>
            <a:r>
              <a:rPr lang="pl-PL" sz="4000" b="1" dirty="0">
                <a:solidFill>
                  <a:schemeClr val="accent6"/>
                </a:solidFill>
              </a:rPr>
              <a:t> - </a:t>
            </a:r>
            <a:r>
              <a:rPr lang="pl-PL" sz="4000" b="1" dirty="0" err="1">
                <a:solidFill>
                  <a:schemeClr val="accent6"/>
                </a:solidFill>
              </a:rPr>
              <a:t>muda</a:t>
            </a:r>
            <a:endParaRPr lang="pl-PL" sz="4000" b="1" dirty="0">
              <a:solidFill>
                <a:schemeClr val="accent6"/>
              </a:solidFill>
            </a:endParaRPr>
          </a:p>
        </p:txBody>
      </p:sp>
      <p:sp>
        <p:nvSpPr>
          <p:cNvPr id="3" name="Symbol zastępczy zawartości 2"/>
          <p:cNvSpPr>
            <a:spLocks noGrp="1"/>
          </p:cNvSpPr>
          <p:nvPr>
            <p:ph idx="1"/>
          </p:nvPr>
        </p:nvSpPr>
        <p:spPr>
          <a:xfrm>
            <a:off x="457200" y="1052736"/>
            <a:ext cx="8229600" cy="5078189"/>
          </a:xfrm>
        </p:spPr>
        <p:txBody>
          <a:bodyPr/>
          <a:lstStyle/>
          <a:p>
            <a:pPr marL="0" indent="0" algn="just">
              <a:buNone/>
            </a:pPr>
            <a:r>
              <a:rPr lang="en-US" sz="2000" b="1" dirty="0">
                <a:solidFill>
                  <a:srgbClr val="003399"/>
                </a:solidFill>
              </a:rPr>
              <a:t>Skills - The 8th Waste</a:t>
            </a:r>
          </a:p>
          <a:p>
            <a:pPr marL="0" indent="0">
              <a:buNone/>
            </a:pPr>
            <a:r>
              <a:rPr lang="en-US" sz="1800" dirty="0">
                <a:solidFill>
                  <a:srgbClr val="003399"/>
                </a:solidFill>
              </a:rPr>
              <a:t>Even though it was not part of the Toyota Production System (TPS), many people are well aware of the 8th waste - the waste of human potential. The 8th waste is also described as the waste of unused human talent and ingenuity. This waste occurs when organizations separate the role of management from employees. In some organizations, management’s responsibility is planning, organizing, controlling, and innovating the production process. The employee’s role is to simply follow orders and execute the work as planned. By not engaging the frontline worker’s knowledge and expertise, it is difficult to improve processes. This is due to the fact that the people doing the work are the ones who are most capable of identifying problems and developing solutions for them.</a:t>
            </a:r>
            <a:r>
              <a:rPr lang="pl-PL" sz="1800" dirty="0">
                <a:solidFill>
                  <a:srgbClr val="003399"/>
                </a:solidFill>
              </a:rPr>
              <a:t> </a:t>
            </a:r>
            <a:r>
              <a:rPr lang="en-US" sz="1800" dirty="0">
                <a:solidFill>
                  <a:srgbClr val="003399"/>
                </a:solidFill>
              </a:rPr>
              <a:t>In the office, non-utilized talent could include insufficient training, poor incentives, not asking for employee feedback, and placing employees in positions below their skills and qualifications. In manufacturing, this waste can be seen when employees are poorly trained, employees not knowing how to effectively operate equipment, when employees are given the wrong tool for the job, and when employees are not challenged to come up with ideas to improve the work</a:t>
            </a:r>
            <a:r>
              <a:rPr lang="en-US" sz="2000" dirty="0"/>
              <a:t>.</a:t>
            </a:r>
            <a:br>
              <a:rPr lang="en-US" sz="2000" dirty="0"/>
            </a:br>
            <a:endParaRPr lang="pl-PL" sz="2000"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
        <p:nvSpPr>
          <p:cNvPr id="5" name="pole tekstowe 4"/>
          <p:cNvSpPr txBox="1"/>
          <p:nvPr/>
        </p:nvSpPr>
        <p:spPr>
          <a:xfrm>
            <a:off x="457200" y="6381328"/>
            <a:ext cx="3538736" cy="230832"/>
          </a:xfrm>
          <a:prstGeom prst="rect">
            <a:avLst/>
          </a:prstGeom>
          <a:noFill/>
        </p:spPr>
        <p:txBody>
          <a:bodyPr wrap="square" rtlCol="0">
            <a:spAutoFit/>
          </a:bodyPr>
          <a:lstStyle/>
          <a:p>
            <a:r>
              <a:rPr lang="pl-PL" sz="900" dirty="0"/>
              <a:t>Source: </a:t>
            </a:r>
            <a:r>
              <a:rPr lang="pl-PL" sz="900" dirty="0">
                <a:hlinkClick r:id="rId3"/>
              </a:rPr>
              <a:t>https://theleanway.net/The-8-Wastes-of-Lean</a:t>
            </a:r>
            <a:endParaRPr lang="pl-PL" sz="900" dirty="0"/>
          </a:p>
        </p:txBody>
      </p:sp>
    </p:spTree>
    <p:extLst>
      <p:ext uri="{BB962C8B-B14F-4D97-AF65-F5344CB8AC3E}">
        <p14:creationId xmlns:p14="http://schemas.microsoft.com/office/powerpoint/2010/main" val="145902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solidFill>
                  <a:schemeClr val="accent6"/>
                </a:solidFill>
              </a:rPr>
              <a:t>Kaizen</a:t>
            </a:r>
            <a:r>
              <a:rPr lang="pl-PL" sz="4000" b="1" dirty="0">
                <a:solidFill>
                  <a:schemeClr val="accent6"/>
                </a:solidFill>
              </a:rPr>
              <a:t> - </a:t>
            </a:r>
            <a:r>
              <a:rPr lang="pl-PL" sz="4000" b="1" dirty="0" err="1">
                <a:solidFill>
                  <a:schemeClr val="accent6"/>
                </a:solidFill>
              </a:rPr>
              <a:t>muda</a:t>
            </a:r>
            <a:endParaRPr lang="pl-PL" sz="4000" dirty="0"/>
          </a:p>
        </p:txBody>
      </p:sp>
      <p:sp>
        <p:nvSpPr>
          <p:cNvPr id="3" name="Symbol zastępczy zawartości 2"/>
          <p:cNvSpPr>
            <a:spLocks noGrp="1"/>
          </p:cNvSpPr>
          <p:nvPr>
            <p:ph idx="1"/>
          </p:nvPr>
        </p:nvSpPr>
        <p:spPr>
          <a:xfrm>
            <a:off x="457200" y="1268760"/>
            <a:ext cx="8229600" cy="4862165"/>
          </a:xfrm>
        </p:spPr>
        <p:txBody>
          <a:bodyPr/>
          <a:lstStyle/>
          <a:p>
            <a:pPr marL="0" indent="0">
              <a:buNone/>
            </a:pPr>
            <a:r>
              <a:rPr lang="en-US" sz="2000" b="1" dirty="0">
                <a:solidFill>
                  <a:srgbClr val="003399"/>
                </a:solidFill>
              </a:rPr>
              <a:t>Over-processing</a:t>
            </a:r>
            <a:endParaRPr lang="en-US" sz="2000" dirty="0">
              <a:solidFill>
                <a:srgbClr val="003399"/>
              </a:solidFill>
            </a:endParaRPr>
          </a:p>
          <a:p>
            <a:pPr marL="0" indent="0" algn="just">
              <a:buNone/>
            </a:pPr>
            <a:r>
              <a:rPr lang="en-US" sz="2000" dirty="0">
                <a:solidFill>
                  <a:srgbClr val="003399"/>
                </a:solidFill>
              </a:rPr>
              <a:t>Over-processing refers to doing more work, adding more components, or having more steps in a product or service than what is required by the customer. In manufacturing this could include using a higher precision equipment than necessary, using components with capacities beyond what is required, running more analysis than needed, over-engineering a solution, adjusting a component after it has already been installed, and having more functionalities in a product than needed. In the office, over-processing can include generating more detailed reports than needed, having unnecessary steps in the purchasing process, requiring unnecessary signatures on a document, double entry of data, requiring more forms than needed, and having an extra step in a workflow.</a:t>
            </a:r>
          </a:p>
          <a:p>
            <a:pPr marL="0" indent="0">
              <a:buNone/>
            </a:pPr>
            <a:endParaRPr lang="pl-PL" dirty="0"/>
          </a:p>
        </p:txBody>
      </p:sp>
      <p:sp>
        <p:nvSpPr>
          <p:cNvPr id="4" name="Symbol zastępczy stopki 3"/>
          <p:cNvSpPr>
            <a:spLocks noGrp="1"/>
          </p:cNvSpPr>
          <p:nvPr>
            <p:ph type="ftr" sz="quarter" idx="11"/>
          </p:nvPr>
        </p:nvSpPr>
        <p:spPr/>
        <p:txBody>
          <a:bodyPr/>
          <a:lstStyle/>
          <a:p>
            <a:pPr>
              <a:defRPr/>
            </a:pPr>
            <a:r>
              <a:rPr lang="pl-PL" altLang="en-US"/>
              <a:t>PJAIT</a:t>
            </a:r>
          </a:p>
        </p:txBody>
      </p:sp>
      <p:sp>
        <p:nvSpPr>
          <p:cNvPr id="5" name="pole tekstowe 4"/>
          <p:cNvSpPr txBox="1"/>
          <p:nvPr/>
        </p:nvSpPr>
        <p:spPr>
          <a:xfrm>
            <a:off x="457200" y="6381328"/>
            <a:ext cx="3538736" cy="230832"/>
          </a:xfrm>
          <a:prstGeom prst="rect">
            <a:avLst/>
          </a:prstGeom>
          <a:noFill/>
        </p:spPr>
        <p:txBody>
          <a:bodyPr wrap="square" rtlCol="0">
            <a:spAutoFit/>
          </a:bodyPr>
          <a:lstStyle/>
          <a:p>
            <a:r>
              <a:rPr lang="pl-PL" sz="900" dirty="0"/>
              <a:t>Source: </a:t>
            </a:r>
            <a:r>
              <a:rPr lang="pl-PL" sz="900" dirty="0">
                <a:hlinkClick r:id="rId3"/>
              </a:rPr>
              <a:t>https://theleanway.net/The-8-Wastes-of-Lean</a:t>
            </a:r>
            <a:endParaRPr lang="pl-PL" sz="900" dirty="0"/>
          </a:p>
        </p:txBody>
      </p:sp>
    </p:spTree>
    <p:extLst>
      <p:ext uri="{BB962C8B-B14F-4D97-AF65-F5344CB8AC3E}">
        <p14:creationId xmlns:p14="http://schemas.microsoft.com/office/powerpoint/2010/main" val="1246525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solidFill>
                  <a:schemeClr val="accent6"/>
                </a:solidFill>
              </a:rPr>
              <a:t>Kaizen</a:t>
            </a:r>
            <a:r>
              <a:rPr lang="pl-PL" sz="4000" b="1" dirty="0">
                <a:solidFill>
                  <a:schemeClr val="accent6"/>
                </a:solidFill>
              </a:rPr>
              <a:t> - </a:t>
            </a:r>
            <a:r>
              <a:rPr lang="pl-PL" sz="4000" b="1" dirty="0" err="1">
                <a:solidFill>
                  <a:schemeClr val="accent6"/>
                </a:solidFill>
              </a:rPr>
              <a:t>muda</a:t>
            </a:r>
            <a:endParaRPr lang="pl-PL" sz="4000" dirty="0"/>
          </a:p>
        </p:txBody>
      </p:sp>
      <p:sp>
        <p:nvSpPr>
          <p:cNvPr id="3" name="Symbol zastępczy zawartości 2"/>
          <p:cNvSpPr>
            <a:spLocks noGrp="1"/>
          </p:cNvSpPr>
          <p:nvPr>
            <p:ph idx="1"/>
          </p:nvPr>
        </p:nvSpPr>
        <p:spPr>
          <a:xfrm>
            <a:off x="457200" y="1268760"/>
            <a:ext cx="8229600" cy="4862165"/>
          </a:xfrm>
        </p:spPr>
        <p:txBody>
          <a:bodyPr/>
          <a:lstStyle/>
          <a:p>
            <a:pPr marL="0" indent="0">
              <a:buNone/>
            </a:pPr>
            <a:r>
              <a:rPr lang="en-US" sz="2400" b="1" dirty="0">
                <a:solidFill>
                  <a:srgbClr val="003399"/>
                </a:solidFill>
              </a:rPr>
              <a:t>Transport</a:t>
            </a:r>
            <a:endParaRPr lang="en-US" sz="2400" dirty="0">
              <a:solidFill>
                <a:srgbClr val="003399"/>
              </a:solidFill>
            </a:endParaRPr>
          </a:p>
          <a:p>
            <a:pPr marL="0" indent="0" algn="just">
              <a:buNone/>
            </a:pPr>
            <a:r>
              <a:rPr lang="en-US" sz="2400" dirty="0">
                <a:solidFill>
                  <a:srgbClr val="003399"/>
                </a:solidFill>
              </a:rPr>
              <a:t>Waste in transportation includes movement of people, tools, inventory, equipment, or products further than necessary. Excessive movement of materials can lead to product damage and defects. Additionally, excessive movement of people and equipment can lead to unnecessary work, greater wear and tear, and exhaustion.</a:t>
            </a:r>
            <a:br>
              <a:rPr lang="en-US" sz="2400" dirty="0">
                <a:solidFill>
                  <a:srgbClr val="003399"/>
                </a:solidFill>
              </a:rPr>
            </a:br>
            <a:endParaRPr lang="pl-PL" sz="2400" dirty="0">
              <a:solidFill>
                <a:srgbClr val="003399"/>
              </a:solidFill>
            </a:endParaRPr>
          </a:p>
          <a:p>
            <a:pPr marL="0" indent="0" algn="just">
              <a:buNone/>
            </a:pPr>
            <a:r>
              <a:rPr lang="en-US" sz="2400" dirty="0">
                <a:solidFill>
                  <a:srgbClr val="003399"/>
                </a:solidFill>
              </a:rPr>
              <a:t>In the office, workers who collaborate with each other often should be close together. In the factory, materials necessary for production should be easily accessible at the production location and double or triple handling of materials should be avoided</a:t>
            </a:r>
            <a:r>
              <a:rPr lang="en-US" sz="2400" dirty="0"/>
              <a:t>.</a:t>
            </a:r>
          </a:p>
          <a:p>
            <a:endParaRPr lang="pl-PL" dirty="0"/>
          </a:p>
        </p:txBody>
      </p:sp>
      <p:sp>
        <p:nvSpPr>
          <p:cNvPr id="4" name="Symbol zastępczy stopki 3"/>
          <p:cNvSpPr>
            <a:spLocks noGrp="1"/>
          </p:cNvSpPr>
          <p:nvPr>
            <p:ph type="ftr" sz="quarter" idx="11"/>
          </p:nvPr>
        </p:nvSpPr>
        <p:spPr/>
        <p:txBody>
          <a:bodyPr/>
          <a:lstStyle/>
          <a:p>
            <a:pPr>
              <a:defRPr/>
            </a:pPr>
            <a:r>
              <a:rPr lang="pl-PL" altLang="en-US"/>
              <a:t>PJAIT</a:t>
            </a:r>
          </a:p>
        </p:txBody>
      </p:sp>
      <p:sp>
        <p:nvSpPr>
          <p:cNvPr id="5" name="pole tekstowe 4"/>
          <p:cNvSpPr txBox="1"/>
          <p:nvPr/>
        </p:nvSpPr>
        <p:spPr>
          <a:xfrm>
            <a:off x="457200" y="6381328"/>
            <a:ext cx="3538736" cy="230832"/>
          </a:xfrm>
          <a:prstGeom prst="rect">
            <a:avLst/>
          </a:prstGeom>
          <a:noFill/>
        </p:spPr>
        <p:txBody>
          <a:bodyPr wrap="square" rtlCol="0">
            <a:spAutoFit/>
          </a:bodyPr>
          <a:lstStyle/>
          <a:p>
            <a:r>
              <a:rPr lang="pl-PL" sz="900" dirty="0"/>
              <a:t>Source: </a:t>
            </a:r>
            <a:r>
              <a:rPr lang="pl-PL" sz="900" dirty="0">
                <a:hlinkClick r:id="rId3"/>
              </a:rPr>
              <a:t>https://theleanway.net/The-8-Wastes-of-Lean</a:t>
            </a:r>
            <a:endParaRPr lang="pl-PL" sz="900" dirty="0"/>
          </a:p>
        </p:txBody>
      </p:sp>
    </p:spTree>
    <p:extLst>
      <p:ext uri="{BB962C8B-B14F-4D97-AF65-F5344CB8AC3E}">
        <p14:creationId xmlns:p14="http://schemas.microsoft.com/office/powerpoint/2010/main" val="1245862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solidFill>
                  <a:schemeClr val="accent6"/>
                </a:solidFill>
              </a:rPr>
              <a:t>Kaizen</a:t>
            </a:r>
            <a:r>
              <a:rPr lang="pl-PL" sz="4000" b="1" dirty="0">
                <a:solidFill>
                  <a:schemeClr val="accent6"/>
                </a:solidFill>
              </a:rPr>
              <a:t> - </a:t>
            </a:r>
            <a:r>
              <a:rPr lang="pl-PL" sz="4000" b="1" dirty="0" err="1">
                <a:solidFill>
                  <a:schemeClr val="accent6"/>
                </a:solidFill>
              </a:rPr>
              <a:t>muda</a:t>
            </a:r>
            <a:endParaRPr lang="pl-PL" sz="4000" dirty="0"/>
          </a:p>
        </p:txBody>
      </p:sp>
      <p:sp>
        <p:nvSpPr>
          <p:cNvPr id="3" name="Symbol zastępczy zawartości 2"/>
          <p:cNvSpPr>
            <a:spLocks noGrp="1"/>
          </p:cNvSpPr>
          <p:nvPr>
            <p:ph idx="1"/>
          </p:nvPr>
        </p:nvSpPr>
        <p:spPr>
          <a:xfrm>
            <a:off x="457200" y="1268760"/>
            <a:ext cx="8229600" cy="4862165"/>
          </a:xfrm>
        </p:spPr>
        <p:txBody>
          <a:bodyPr/>
          <a:lstStyle/>
          <a:p>
            <a:pPr marL="0" indent="0">
              <a:buNone/>
            </a:pPr>
            <a:r>
              <a:rPr lang="en-US" sz="2400" b="1" dirty="0">
                <a:solidFill>
                  <a:srgbClr val="003399"/>
                </a:solidFill>
              </a:rPr>
              <a:t>Waiting</a:t>
            </a:r>
            <a:endParaRPr lang="en-US" sz="2400" dirty="0">
              <a:solidFill>
                <a:srgbClr val="003399"/>
              </a:solidFill>
            </a:endParaRPr>
          </a:p>
          <a:p>
            <a:pPr marL="0" indent="0">
              <a:buNone/>
            </a:pPr>
            <a:r>
              <a:rPr lang="en-US" sz="2400" dirty="0">
                <a:solidFill>
                  <a:srgbClr val="003399"/>
                </a:solidFill>
              </a:rPr>
              <a:t>The waste of waiting includes: 1) people waiting on material or equipment and 2) idle equipment. Waiting time is often caused by unevenness in the production stations and can result in excess inventory and overproduction.</a:t>
            </a:r>
            <a:br>
              <a:rPr lang="en-US" sz="2400" dirty="0">
                <a:solidFill>
                  <a:srgbClr val="003399"/>
                </a:solidFill>
              </a:rPr>
            </a:br>
            <a:r>
              <a:rPr lang="en-US" sz="2400" dirty="0">
                <a:solidFill>
                  <a:srgbClr val="003399"/>
                </a:solidFill>
              </a:rPr>
              <a:t>In the office, waiting waste can include waiting for others to respond to an email, having files waiting for review, ineffective meetings, and waiting for the computer to load a program. In the manufacturing facility, waiting waste can include waiting for materials to arrive, waiting for the proper instructions to start manufacturing, and having equipment with insufficient capacity.</a:t>
            </a:r>
            <a:br>
              <a:rPr lang="en-US" dirty="0"/>
            </a:br>
            <a:endParaRPr lang="en-US" dirty="0"/>
          </a:p>
          <a:p>
            <a:endParaRPr lang="pl-PL" dirty="0"/>
          </a:p>
        </p:txBody>
      </p:sp>
      <p:sp>
        <p:nvSpPr>
          <p:cNvPr id="4" name="Symbol zastępczy stopki 3"/>
          <p:cNvSpPr>
            <a:spLocks noGrp="1"/>
          </p:cNvSpPr>
          <p:nvPr>
            <p:ph type="ftr" sz="quarter" idx="11"/>
          </p:nvPr>
        </p:nvSpPr>
        <p:spPr/>
        <p:txBody>
          <a:bodyPr/>
          <a:lstStyle/>
          <a:p>
            <a:pPr>
              <a:defRPr/>
            </a:pPr>
            <a:r>
              <a:rPr lang="pl-PL" altLang="en-US"/>
              <a:t>PJAIT</a:t>
            </a:r>
          </a:p>
        </p:txBody>
      </p:sp>
      <p:sp>
        <p:nvSpPr>
          <p:cNvPr id="5" name="pole tekstowe 4"/>
          <p:cNvSpPr txBox="1"/>
          <p:nvPr/>
        </p:nvSpPr>
        <p:spPr>
          <a:xfrm>
            <a:off x="457200" y="6381328"/>
            <a:ext cx="3538736" cy="230832"/>
          </a:xfrm>
          <a:prstGeom prst="rect">
            <a:avLst/>
          </a:prstGeom>
          <a:noFill/>
        </p:spPr>
        <p:txBody>
          <a:bodyPr wrap="square" rtlCol="0">
            <a:spAutoFit/>
          </a:bodyPr>
          <a:lstStyle/>
          <a:p>
            <a:r>
              <a:rPr lang="pl-PL" sz="900" dirty="0"/>
              <a:t>Source: </a:t>
            </a:r>
            <a:r>
              <a:rPr lang="pl-PL" sz="900" dirty="0">
                <a:hlinkClick r:id="rId3"/>
              </a:rPr>
              <a:t>https://theleanway.net/The-8-Wastes-of-Lean</a:t>
            </a:r>
            <a:endParaRPr lang="pl-PL" sz="900" dirty="0"/>
          </a:p>
        </p:txBody>
      </p:sp>
    </p:spTree>
    <p:extLst>
      <p:ext uri="{BB962C8B-B14F-4D97-AF65-F5344CB8AC3E}">
        <p14:creationId xmlns:p14="http://schemas.microsoft.com/office/powerpoint/2010/main" val="248269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solidFill>
                  <a:schemeClr val="accent6"/>
                </a:solidFill>
              </a:rPr>
              <a:t>Kaizen</a:t>
            </a:r>
            <a:r>
              <a:rPr lang="pl-PL" sz="4000" b="1" dirty="0">
                <a:solidFill>
                  <a:schemeClr val="accent6"/>
                </a:solidFill>
              </a:rPr>
              <a:t> - </a:t>
            </a:r>
            <a:r>
              <a:rPr lang="pl-PL" sz="4000" b="1" dirty="0" err="1">
                <a:solidFill>
                  <a:schemeClr val="accent6"/>
                </a:solidFill>
              </a:rPr>
              <a:t>muda</a:t>
            </a:r>
            <a:endParaRPr lang="pl-PL" sz="4000" dirty="0"/>
          </a:p>
        </p:txBody>
      </p:sp>
      <p:pic>
        <p:nvPicPr>
          <p:cNvPr id="5" name="Symbol zastępczy zawartości 4"/>
          <p:cNvPicPr>
            <a:picLocks noGrp="1" noChangeAspect="1"/>
          </p:cNvPicPr>
          <p:nvPr>
            <p:ph idx="1"/>
          </p:nvPr>
        </p:nvPicPr>
        <p:blipFill>
          <a:blip r:embed="rId3"/>
          <a:stretch>
            <a:fillRect/>
          </a:stretch>
        </p:blipFill>
        <p:spPr>
          <a:xfrm>
            <a:off x="395536" y="1450526"/>
            <a:ext cx="8229600" cy="4230766"/>
          </a:xfrm>
          <a:prstGeom prst="rect">
            <a:avLst/>
          </a:prstGeom>
        </p:spPr>
      </p:pic>
      <p:sp>
        <p:nvSpPr>
          <p:cNvPr id="4" name="Symbol zastępczy stopki 3"/>
          <p:cNvSpPr>
            <a:spLocks noGrp="1"/>
          </p:cNvSpPr>
          <p:nvPr>
            <p:ph type="ftr" sz="quarter" idx="11"/>
          </p:nvPr>
        </p:nvSpPr>
        <p:spPr/>
        <p:txBody>
          <a:bodyPr/>
          <a:lstStyle/>
          <a:p>
            <a:pPr>
              <a:defRPr/>
            </a:pPr>
            <a:r>
              <a:rPr lang="pl-PL" altLang="en-US"/>
              <a:t>PJAIT</a:t>
            </a:r>
          </a:p>
        </p:txBody>
      </p:sp>
      <p:sp>
        <p:nvSpPr>
          <p:cNvPr id="6" name="pole tekstowe 5"/>
          <p:cNvSpPr txBox="1"/>
          <p:nvPr/>
        </p:nvSpPr>
        <p:spPr>
          <a:xfrm>
            <a:off x="611560" y="6248400"/>
            <a:ext cx="6696744" cy="246221"/>
          </a:xfrm>
          <a:prstGeom prst="rect">
            <a:avLst/>
          </a:prstGeom>
          <a:noFill/>
        </p:spPr>
        <p:txBody>
          <a:bodyPr wrap="square" rtlCol="0">
            <a:spAutoFit/>
          </a:bodyPr>
          <a:lstStyle/>
          <a:p>
            <a:r>
              <a:rPr lang="pl-PL" sz="1000" dirty="0"/>
              <a:t>Source: </a:t>
            </a:r>
            <a:r>
              <a:rPr lang="pl-PL" sz="1000" dirty="0">
                <a:hlinkClick r:id="rId4"/>
              </a:rPr>
              <a:t>https://takuminotie.com/english/wp-content/uploads/sites/3/2015/02/kaizen11.png</a:t>
            </a:r>
            <a:r>
              <a:rPr lang="pl-PL" sz="1000" dirty="0"/>
              <a:t> </a:t>
            </a:r>
          </a:p>
        </p:txBody>
      </p:sp>
    </p:spTree>
    <p:extLst>
      <p:ext uri="{BB962C8B-B14F-4D97-AF65-F5344CB8AC3E}">
        <p14:creationId xmlns:p14="http://schemas.microsoft.com/office/powerpoint/2010/main" val="18263479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endParaRPr lang="pl-PL" sz="4000" b="1" dirty="0"/>
          </a:p>
        </p:txBody>
      </p:sp>
      <p:sp>
        <p:nvSpPr>
          <p:cNvPr id="3" name="Symbol zastępczy zawartości 2"/>
          <p:cNvSpPr>
            <a:spLocks noGrp="1"/>
          </p:cNvSpPr>
          <p:nvPr>
            <p:ph idx="1"/>
          </p:nvPr>
        </p:nvSpPr>
        <p:spPr>
          <a:xfrm>
            <a:off x="457200" y="1387245"/>
            <a:ext cx="8229600" cy="4530725"/>
          </a:xfrm>
        </p:spPr>
        <p:txBody>
          <a:bodyPr/>
          <a:lstStyle/>
          <a:p>
            <a:pPr marL="0" indent="0">
              <a:buNone/>
            </a:pPr>
            <a:r>
              <a:rPr lang="pl-PL" b="1" i="1" dirty="0" err="1">
                <a:solidFill>
                  <a:srgbClr val="003399"/>
                </a:solidFill>
              </a:rPr>
              <a:t>Suggestion</a:t>
            </a:r>
            <a:r>
              <a:rPr lang="pl-PL" b="1" i="1" dirty="0">
                <a:solidFill>
                  <a:srgbClr val="003399"/>
                </a:solidFill>
              </a:rPr>
              <a:t> system </a:t>
            </a:r>
            <a:r>
              <a:rPr lang="pl-PL" dirty="0">
                <a:solidFill>
                  <a:srgbClr val="003399"/>
                </a:solidFill>
              </a:rPr>
              <a:t>– </a:t>
            </a:r>
          </a:p>
          <a:p>
            <a:pPr marL="0" indent="0" algn="just">
              <a:buNone/>
            </a:pPr>
            <a:r>
              <a:rPr lang="en-US" dirty="0">
                <a:solidFill>
                  <a:srgbClr val="003399"/>
                </a:solidFill>
              </a:rPr>
              <a:t>a system typical of Japan for submitting proposals to improve the organization's activities by employees, based on a positive attitude of employees to their workplace rather than (Western European) orientation on economic benefits.</a:t>
            </a:r>
            <a:endParaRPr lang="pl-PL" dirty="0">
              <a:solidFill>
                <a:srgbClr val="003399"/>
              </a:solidFill>
            </a:endParaRPr>
          </a:p>
        </p:txBody>
      </p:sp>
      <p:sp>
        <p:nvSpPr>
          <p:cNvPr id="4" name="Symbol zastępczy stopki 3"/>
          <p:cNvSpPr>
            <a:spLocks noGrp="1"/>
          </p:cNvSpPr>
          <p:nvPr>
            <p:ph type="ftr" sz="quarter" idx="11"/>
          </p:nvPr>
        </p:nvSpPr>
        <p:spPr/>
        <p:txBody>
          <a:bodyPr/>
          <a:lstStyle/>
          <a:p>
            <a:pPr>
              <a:defRPr/>
            </a:pPr>
            <a:r>
              <a:rPr lang="pl-PL" altLang="en-US"/>
              <a:t>PJAIT</a:t>
            </a:r>
          </a:p>
        </p:txBody>
      </p:sp>
    </p:spTree>
    <p:extLst>
      <p:ext uri="{BB962C8B-B14F-4D97-AF65-F5344CB8AC3E}">
        <p14:creationId xmlns:p14="http://schemas.microsoft.com/office/powerpoint/2010/main" val="207113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31747" name="Rectangle 2"/>
          <p:cNvSpPr>
            <a:spLocks noGrp="1" noChangeArrowheads="1"/>
          </p:cNvSpPr>
          <p:nvPr>
            <p:ph type="title"/>
          </p:nvPr>
        </p:nvSpPr>
        <p:spPr/>
        <p:txBody>
          <a:bodyPr/>
          <a:lstStyle/>
          <a:p>
            <a:pPr eaLnBrk="1" hangingPunct="1"/>
            <a:r>
              <a:rPr lang="pl-PL" sz="4000" b="1" dirty="0"/>
              <a:t>5S Method</a:t>
            </a:r>
          </a:p>
        </p:txBody>
      </p:sp>
      <p:sp>
        <p:nvSpPr>
          <p:cNvPr id="31748" name="Rectangle 3"/>
          <p:cNvSpPr>
            <a:spLocks noGrp="1" noChangeArrowheads="1"/>
          </p:cNvSpPr>
          <p:nvPr>
            <p:ph type="body" idx="1"/>
          </p:nvPr>
        </p:nvSpPr>
        <p:spPr>
          <a:xfrm>
            <a:off x="457200" y="1124744"/>
            <a:ext cx="8229600" cy="5006181"/>
          </a:xfrm>
        </p:spPr>
        <p:txBody>
          <a:bodyPr/>
          <a:lstStyle/>
          <a:p>
            <a:pPr marL="571500" indent="-571500" eaLnBrk="1" hangingPunct="1">
              <a:buNone/>
            </a:pPr>
            <a:r>
              <a:rPr lang="pl-PL" sz="3200" dirty="0">
                <a:solidFill>
                  <a:srgbClr val="003399"/>
                </a:solidFill>
              </a:rPr>
              <a:t>A</a:t>
            </a:r>
            <a:r>
              <a:rPr lang="en-US" sz="3200" dirty="0">
                <a:solidFill>
                  <a:srgbClr val="003399"/>
                </a:solidFill>
              </a:rPr>
              <a:t> methodology that results in a workplace that is clean, uncluttered, safe, and well organized to help reduce waste and optimize productivity</a:t>
            </a:r>
            <a:r>
              <a:rPr lang="pl-PL" sz="3200" dirty="0">
                <a:solidFill>
                  <a:srgbClr val="003399"/>
                </a:solidFill>
              </a:rPr>
              <a:t>.</a:t>
            </a:r>
          </a:p>
          <a:p>
            <a:pPr eaLnBrk="1" hangingPunct="1">
              <a:buFont typeface="Arial" panose="020B0604020202020204" pitchFamily="34" charset="0"/>
              <a:buChar char="•"/>
            </a:pPr>
            <a:r>
              <a:rPr lang="pl-PL" sz="3200" b="1" dirty="0">
                <a:solidFill>
                  <a:srgbClr val="003399"/>
                </a:solidFill>
              </a:rPr>
              <a:t>S</a:t>
            </a:r>
            <a:r>
              <a:rPr lang="pl-PL" sz="3200" dirty="0">
                <a:solidFill>
                  <a:srgbClr val="003399"/>
                </a:solidFill>
              </a:rPr>
              <a:t>EIRI - sort</a:t>
            </a:r>
          </a:p>
          <a:p>
            <a:pPr eaLnBrk="1" hangingPunct="1">
              <a:buFont typeface="Arial" panose="020B0604020202020204" pitchFamily="34" charset="0"/>
              <a:buChar char="•"/>
            </a:pPr>
            <a:r>
              <a:rPr lang="pl-PL" sz="3200" b="1" dirty="0">
                <a:solidFill>
                  <a:srgbClr val="003399"/>
                </a:solidFill>
              </a:rPr>
              <a:t>S</a:t>
            </a:r>
            <a:r>
              <a:rPr lang="pl-PL" sz="3200" dirty="0">
                <a:solidFill>
                  <a:srgbClr val="003399"/>
                </a:solidFill>
              </a:rPr>
              <a:t>EITON – set in order</a:t>
            </a:r>
          </a:p>
          <a:p>
            <a:pPr eaLnBrk="1" hangingPunct="1">
              <a:buFont typeface="Arial" panose="020B0604020202020204" pitchFamily="34" charset="0"/>
              <a:buChar char="•"/>
            </a:pPr>
            <a:r>
              <a:rPr lang="pl-PL" sz="3200" b="1" dirty="0">
                <a:solidFill>
                  <a:srgbClr val="003399"/>
                </a:solidFill>
              </a:rPr>
              <a:t>S</a:t>
            </a:r>
            <a:r>
              <a:rPr lang="pl-PL" sz="3200" dirty="0">
                <a:solidFill>
                  <a:srgbClr val="003399"/>
                </a:solidFill>
              </a:rPr>
              <a:t>EISO – </a:t>
            </a:r>
            <a:r>
              <a:rPr lang="pl-PL" sz="3200" dirty="0" err="1">
                <a:solidFill>
                  <a:srgbClr val="003399"/>
                </a:solidFill>
              </a:rPr>
              <a:t>sweep</a:t>
            </a:r>
            <a:r>
              <a:rPr lang="pl-PL" sz="3200" dirty="0">
                <a:solidFill>
                  <a:srgbClr val="003399"/>
                </a:solidFill>
              </a:rPr>
              <a:t>, </a:t>
            </a:r>
            <a:r>
              <a:rPr lang="pl-PL" sz="3200" dirty="0" err="1">
                <a:solidFill>
                  <a:srgbClr val="003399"/>
                </a:solidFill>
              </a:rPr>
              <a:t>shine</a:t>
            </a:r>
            <a:r>
              <a:rPr lang="pl-PL" sz="3200" dirty="0">
                <a:solidFill>
                  <a:srgbClr val="003399"/>
                </a:solidFill>
              </a:rPr>
              <a:t> </a:t>
            </a:r>
          </a:p>
          <a:p>
            <a:pPr eaLnBrk="1" hangingPunct="1">
              <a:buFont typeface="Arial" panose="020B0604020202020204" pitchFamily="34" charset="0"/>
              <a:buChar char="•"/>
            </a:pPr>
            <a:r>
              <a:rPr lang="pl-PL" sz="3200" b="1" dirty="0">
                <a:solidFill>
                  <a:srgbClr val="003399"/>
                </a:solidFill>
              </a:rPr>
              <a:t>S</a:t>
            </a:r>
            <a:r>
              <a:rPr lang="pl-PL" sz="3200" dirty="0">
                <a:solidFill>
                  <a:srgbClr val="003399"/>
                </a:solidFill>
              </a:rPr>
              <a:t>EIKETSU – </a:t>
            </a:r>
            <a:r>
              <a:rPr lang="pl-PL" sz="3200" dirty="0" err="1">
                <a:solidFill>
                  <a:srgbClr val="003399"/>
                </a:solidFill>
              </a:rPr>
              <a:t>stabilize</a:t>
            </a:r>
            <a:r>
              <a:rPr lang="pl-PL" sz="3200" dirty="0">
                <a:solidFill>
                  <a:srgbClr val="003399"/>
                </a:solidFill>
              </a:rPr>
              <a:t>, </a:t>
            </a:r>
            <a:r>
              <a:rPr lang="pl-PL" sz="3200" dirty="0" err="1">
                <a:solidFill>
                  <a:srgbClr val="003399"/>
                </a:solidFill>
              </a:rPr>
              <a:t>standardize</a:t>
            </a:r>
            <a:endParaRPr lang="pl-PL" sz="3200" dirty="0">
              <a:solidFill>
                <a:srgbClr val="003399"/>
              </a:solidFill>
            </a:endParaRPr>
          </a:p>
          <a:p>
            <a:pPr eaLnBrk="1" hangingPunct="1">
              <a:buFont typeface="Arial" panose="020B0604020202020204" pitchFamily="34" charset="0"/>
              <a:buChar char="•"/>
            </a:pPr>
            <a:r>
              <a:rPr lang="pl-PL" sz="3200" b="1" dirty="0">
                <a:solidFill>
                  <a:srgbClr val="003399"/>
                </a:solidFill>
              </a:rPr>
              <a:t>S</a:t>
            </a:r>
            <a:r>
              <a:rPr lang="pl-PL" sz="3200" dirty="0">
                <a:solidFill>
                  <a:srgbClr val="003399"/>
                </a:solidFill>
              </a:rPr>
              <a:t>HISUKE – </a:t>
            </a:r>
            <a:r>
              <a:rPr lang="pl-PL" sz="3200" dirty="0" err="1">
                <a:solidFill>
                  <a:srgbClr val="003399"/>
                </a:solidFill>
              </a:rPr>
              <a:t>self-discipline</a:t>
            </a:r>
            <a:r>
              <a:rPr lang="pl-PL" sz="3200" dirty="0">
                <a:solidFill>
                  <a:srgbClr val="003399"/>
                </a:solidFill>
              </a:rPr>
              <a:t>, </a:t>
            </a:r>
            <a:r>
              <a:rPr lang="pl-PL" sz="3200" dirty="0" err="1">
                <a:solidFill>
                  <a:srgbClr val="003399"/>
                </a:solidFill>
              </a:rPr>
              <a:t>sustain</a:t>
            </a:r>
            <a:endParaRPr lang="pl-PL" sz="3200" dirty="0">
              <a:solidFill>
                <a:srgbClr val="003399"/>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5S Method</a:t>
            </a:r>
            <a:endParaRPr lang="pl-PL" sz="4000" dirty="0"/>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2050" name="Picture 2" descr="Znalezione obrazy dla zapytania: 5s metho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1520" y="1346718"/>
            <a:ext cx="8745046" cy="4557712"/>
          </a:xfrm>
          <a:prstGeom prst="rect">
            <a:avLst/>
          </a:prstGeom>
          <a:noFill/>
          <a:extLst>
            <a:ext uri="{909E8E84-426E-40DD-AFC4-6F175D3DCCD1}">
              <a14:hiddenFill xmlns:a14="http://schemas.microsoft.com/office/drawing/2010/main">
                <a:solidFill>
                  <a:srgbClr val="FFFFFF"/>
                </a:solidFill>
              </a14:hiddenFill>
            </a:ext>
          </a:extLst>
        </p:spPr>
      </p:pic>
      <p:sp>
        <p:nvSpPr>
          <p:cNvPr id="5" name="pole tekstowe 4"/>
          <p:cNvSpPr txBox="1"/>
          <p:nvPr/>
        </p:nvSpPr>
        <p:spPr>
          <a:xfrm>
            <a:off x="755576" y="6248400"/>
            <a:ext cx="7992888" cy="553998"/>
          </a:xfrm>
          <a:prstGeom prst="rect">
            <a:avLst/>
          </a:prstGeom>
          <a:noFill/>
        </p:spPr>
        <p:txBody>
          <a:bodyPr wrap="square" rtlCol="0">
            <a:spAutoFit/>
          </a:bodyPr>
          <a:lstStyle/>
          <a:p>
            <a:r>
              <a:rPr lang="pl-PL" sz="1000" dirty="0"/>
              <a:t>Source: </a:t>
            </a:r>
            <a:r>
              <a:rPr lang="pl-PL" sz="1000" dirty="0">
                <a:hlinkClick r:id="rId4"/>
              </a:rPr>
              <a:t>https://www.researchgate.net/publication/324202036_Case_study_concerning_5S_method_impact_in_an_automotive_company/figures?lo=1</a:t>
            </a:r>
            <a:endParaRPr lang="pl-PL" sz="1000" dirty="0"/>
          </a:p>
        </p:txBody>
      </p:sp>
    </p:spTree>
    <p:extLst>
      <p:ext uri="{BB962C8B-B14F-4D97-AF65-F5344CB8AC3E}">
        <p14:creationId xmlns:p14="http://schemas.microsoft.com/office/powerpoint/2010/main" val="9403294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a:t>5S Method</a:t>
            </a:r>
            <a:endParaRPr lang="pl-PL" sz="4000" dirty="0"/>
          </a:p>
        </p:txBody>
      </p:sp>
      <p:pic>
        <p:nvPicPr>
          <p:cNvPr id="5" name="Symbol zastępczy zawartości 4"/>
          <p:cNvPicPr>
            <a:picLocks noGrp="1" noChangeAspect="1"/>
          </p:cNvPicPr>
          <p:nvPr>
            <p:ph idx="1"/>
          </p:nvPr>
        </p:nvPicPr>
        <p:blipFill>
          <a:blip r:embed="rId3"/>
          <a:stretch>
            <a:fillRect/>
          </a:stretch>
        </p:blipFill>
        <p:spPr>
          <a:xfrm>
            <a:off x="1259632" y="2132855"/>
            <a:ext cx="2381250" cy="2581275"/>
          </a:xfrm>
          <a:prstGeom prst="rect">
            <a:avLst/>
          </a:prstGeom>
        </p:spPr>
      </p:pic>
      <p:sp>
        <p:nvSpPr>
          <p:cNvPr id="4" name="Symbol zastępczy stopki 3"/>
          <p:cNvSpPr>
            <a:spLocks noGrp="1"/>
          </p:cNvSpPr>
          <p:nvPr>
            <p:ph type="ftr" sz="quarter" idx="11"/>
          </p:nvPr>
        </p:nvSpPr>
        <p:spPr/>
        <p:txBody>
          <a:bodyPr/>
          <a:lstStyle/>
          <a:p>
            <a:pPr>
              <a:defRPr/>
            </a:pPr>
            <a:r>
              <a:rPr lang="pl-PL" altLang="en-US"/>
              <a:t>PJAIT</a:t>
            </a:r>
          </a:p>
        </p:txBody>
      </p:sp>
      <p:pic>
        <p:nvPicPr>
          <p:cNvPr id="6" name="Obraz 5"/>
          <p:cNvPicPr>
            <a:picLocks noChangeAspect="1"/>
          </p:cNvPicPr>
          <p:nvPr/>
        </p:nvPicPr>
        <p:blipFill>
          <a:blip r:embed="rId4"/>
          <a:stretch>
            <a:fillRect/>
          </a:stretch>
        </p:blipFill>
        <p:spPr>
          <a:xfrm>
            <a:off x="5148064" y="2132855"/>
            <a:ext cx="2381250" cy="2581275"/>
          </a:xfrm>
          <a:prstGeom prst="rect">
            <a:avLst/>
          </a:prstGeom>
        </p:spPr>
      </p:pic>
      <p:sp>
        <p:nvSpPr>
          <p:cNvPr id="7" name="pole tekstowe 6"/>
          <p:cNvSpPr txBox="1"/>
          <p:nvPr/>
        </p:nvSpPr>
        <p:spPr>
          <a:xfrm>
            <a:off x="755576" y="6248400"/>
            <a:ext cx="5976664" cy="246221"/>
          </a:xfrm>
          <a:prstGeom prst="rect">
            <a:avLst/>
          </a:prstGeom>
          <a:noFill/>
        </p:spPr>
        <p:txBody>
          <a:bodyPr wrap="square" rtlCol="0">
            <a:spAutoFit/>
          </a:bodyPr>
          <a:lstStyle/>
          <a:p>
            <a:r>
              <a:rPr lang="pl-PL" sz="1000" dirty="0"/>
              <a:t>Source: </a:t>
            </a:r>
            <a:r>
              <a:rPr lang="pl-PL" sz="1000" dirty="0">
                <a:hlinkClick r:id="rId5"/>
              </a:rPr>
              <a:t>https://www.sesa-systems.co.uk/method-5s-approach-for-an-organized-environment</a:t>
            </a:r>
            <a:endParaRPr lang="pl-PL" sz="1000" dirty="0"/>
          </a:p>
        </p:txBody>
      </p:sp>
    </p:spTree>
    <p:extLst>
      <p:ext uri="{BB962C8B-B14F-4D97-AF65-F5344CB8AC3E}">
        <p14:creationId xmlns:p14="http://schemas.microsoft.com/office/powerpoint/2010/main" val="3851695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r>
              <a:rPr lang="pl-PL" sz="4000" b="1" dirty="0"/>
              <a:t> </a:t>
            </a:r>
            <a:r>
              <a:rPr lang="pl-PL" sz="4000" b="1" dirty="0" err="1"/>
              <a:t>outside</a:t>
            </a:r>
            <a:r>
              <a:rPr lang="pl-PL" sz="4000" b="1" dirty="0"/>
              <a:t> Japan? </a:t>
            </a:r>
            <a:r>
              <a:rPr lang="pl-PL" sz="4000" b="1" dirty="0" err="1"/>
              <a:t>Kaizen</a:t>
            </a:r>
            <a:r>
              <a:rPr lang="pl-PL" sz="4000" b="1" dirty="0"/>
              <a:t> in Poland?</a:t>
            </a:r>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7" name="Symbol zastępczy zawartości 6"/>
          <p:cNvPicPr>
            <a:picLocks noGrp="1" noChangeAspect="1"/>
          </p:cNvPicPr>
          <p:nvPr>
            <p:ph idx="1"/>
          </p:nvPr>
        </p:nvPicPr>
        <p:blipFill>
          <a:blip r:embed="rId3"/>
          <a:stretch>
            <a:fillRect/>
          </a:stretch>
        </p:blipFill>
        <p:spPr>
          <a:xfrm>
            <a:off x="1331640" y="1628800"/>
            <a:ext cx="6424996" cy="4280036"/>
          </a:xfrm>
          <a:prstGeom prst="rect">
            <a:avLst/>
          </a:prstGeom>
        </p:spPr>
      </p:pic>
      <p:sp>
        <p:nvSpPr>
          <p:cNvPr id="8" name="pole tekstowe 7"/>
          <p:cNvSpPr txBox="1"/>
          <p:nvPr/>
        </p:nvSpPr>
        <p:spPr>
          <a:xfrm>
            <a:off x="539552" y="6248400"/>
            <a:ext cx="7632848" cy="246221"/>
          </a:xfrm>
          <a:prstGeom prst="rect">
            <a:avLst/>
          </a:prstGeom>
          <a:noFill/>
        </p:spPr>
        <p:txBody>
          <a:bodyPr wrap="square" rtlCol="0">
            <a:spAutoFit/>
          </a:bodyPr>
          <a:lstStyle/>
          <a:p>
            <a:r>
              <a:rPr lang="pl-PL" sz="1000" dirty="0"/>
              <a:t>Source: </a:t>
            </a:r>
            <a:r>
              <a:rPr lang="pl-PL" sz="1000" dirty="0">
                <a:hlinkClick r:id="rId4"/>
              </a:rPr>
              <a:t>https://www.123rf.com/photo_82522466_portrait-of-a-smiling-male-janitor-cleaning-desk-with-cloth-at-workplace.html</a:t>
            </a:r>
            <a:endParaRPr lang="pl-PL" sz="1000" dirty="0"/>
          </a:p>
        </p:txBody>
      </p:sp>
    </p:spTree>
    <p:extLst>
      <p:ext uri="{BB962C8B-B14F-4D97-AF65-F5344CB8AC3E}">
        <p14:creationId xmlns:p14="http://schemas.microsoft.com/office/powerpoint/2010/main" val="7572823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sz="4000" b="1" dirty="0" err="1"/>
              <a:t>Kaizen</a:t>
            </a:r>
            <a:r>
              <a:rPr lang="pl-PL" sz="4000" b="1" dirty="0"/>
              <a:t> </a:t>
            </a:r>
            <a:r>
              <a:rPr lang="pl-PL" sz="4000" b="1" dirty="0" err="1"/>
              <a:t>outside</a:t>
            </a:r>
            <a:r>
              <a:rPr lang="pl-PL" sz="4000" b="1" dirty="0"/>
              <a:t> Japan? </a:t>
            </a:r>
            <a:r>
              <a:rPr lang="pl-PL" sz="4000" b="1" dirty="0" err="1"/>
              <a:t>Kaizen</a:t>
            </a:r>
            <a:r>
              <a:rPr lang="pl-PL" sz="4000" b="1" dirty="0"/>
              <a:t> in Poland?</a:t>
            </a:r>
            <a:endParaRPr lang="pl-PL" sz="4000" dirty="0"/>
          </a:p>
        </p:txBody>
      </p:sp>
      <p:sp>
        <p:nvSpPr>
          <p:cNvPr id="4" name="Symbol zastępczy stopki 3"/>
          <p:cNvSpPr>
            <a:spLocks noGrp="1"/>
          </p:cNvSpPr>
          <p:nvPr>
            <p:ph type="ftr" sz="quarter" idx="11"/>
          </p:nvPr>
        </p:nvSpPr>
        <p:spPr/>
        <p:txBody>
          <a:bodyPr/>
          <a:lstStyle/>
          <a:p>
            <a:pPr>
              <a:defRPr/>
            </a:pPr>
            <a:r>
              <a:rPr lang="pl-PL" altLang="en-US"/>
              <a:t>PJAIT</a:t>
            </a:r>
          </a:p>
        </p:txBody>
      </p:sp>
      <p:pic>
        <p:nvPicPr>
          <p:cNvPr id="5" name="Symbol zastępczy zawartości 4"/>
          <p:cNvPicPr>
            <a:picLocks noGrp="1" noChangeAspect="1"/>
          </p:cNvPicPr>
          <p:nvPr>
            <p:ph idx="1"/>
          </p:nvPr>
        </p:nvPicPr>
        <p:blipFill>
          <a:blip r:embed="rId3"/>
          <a:stretch>
            <a:fillRect/>
          </a:stretch>
        </p:blipFill>
        <p:spPr>
          <a:xfrm>
            <a:off x="2543317" y="1554566"/>
            <a:ext cx="4057365" cy="4530725"/>
          </a:xfrm>
          <a:prstGeom prst="rect">
            <a:avLst/>
          </a:prstGeom>
        </p:spPr>
      </p:pic>
      <p:sp>
        <p:nvSpPr>
          <p:cNvPr id="6" name="pole tekstowe 5"/>
          <p:cNvSpPr txBox="1"/>
          <p:nvPr/>
        </p:nvSpPr>
        <p:spPr>
          <a:xfrm>
            <a:off x="323528" y="6248400"/>
            <a:ext cx="4608512" cy="246221"/>
          </a:xfrm>
          <a:prstGeom prst="rect">
            <a:avLst/>
          </a:prstGeom>
          <a:noFill/>
        </p:spPr>
        <p:txBody>
          <a:bodyPr wrap="square" rtlCol="0">
            <a:spAutoFit/>
          </a:bodyPr>
          <a:lstStyle/>
          <a:p>
            <a:r>
              <a:rPr lang="pl-PL" sz="1000" dirty="0"/>
              <a:t>Source: </a:t>
            </a:r>
            <a:r>
              <a:rPr lang="pl-PL" sz="1000" dirty="0">
                <a:hlinkClick r:id="rId4"/>
              </a:rPr>
              <a:t>https://www.creativesafetysupply.com/articles/quality-circle/</a:t>
            </a:r>
            <a:endParaRPr lang="pl-PL" sz="1000" dirty="0"/>
          </a:p>
        </p:txBody>
      </p:sp>
    </p:spTree>
    <p:extLst>
      <p:ext uri="{BB962C8B-B14F-4D97-AF65-F5344CB8AC3E}">
        <p14:creationId xmlns:p14="http://schemas.microsoft.com/office/powerpoint/2010/main" val="35246412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33795" name="Rectangle 2"/>
          <p:cNvSpPr>
            <a:spLocks noGrp="1" noChangeArrowheads="1"/>
          </p:cNvSpPr>
          <p:nvPr>
            <p:ph type="title"/>
          </p:nvPr>
        </p:nvSpPr>
        <p:spPr/>
        <p:txBody>
          <a:bodyPr/>
          <a:lstStyle/>
          <a:p>
            <a:pPr eaLnBrk="1" hangingPunct="1"/>
            <a:r>
              <a:rPr lang="pl-PL" sz="4000" b="1"/>
              <a:t>Just in Time (JiT)</a:t>
            </a:r>
          </a:p>
        </p:txBody>
      </p:sp>
      <p:sp>
        <p:nvSpPr>
          <p:cNvPr id="33796" name="Rectangle 3"/>
          <p:cNvSpPr>
            <a:spLocks noGrp="1" noChangeArrowheads="1"/>
          </p:cNvSpPr>
          <p:nvPr>
            <p:ph type="body" idx="1"/>
          </p:nvPr>
        </p:nvSpPr>
        <p:spPr/>
        <p:txBody>
          <a:bodyPr/>
          <a:lstStyle/>
          <a:p>
            <a:pPr eaLnBrk="1" hangingPunct="1"/>
            <a:r>
              <a:rPr lang="en-US" dirty="0">
                <a:solidFill>
                  <a:srgbClr val="003399"/>
                </a:solidFill>
              </a:rPr>
              <a:t>Demand </a:t>
            </a:r>
            <a:r>
              <a:rPr lang="pl-PL" dirty="0">
                <a:solidFill>
                  <a:srgbClr val="003399"/>
                </a:solidFill>
              </a:rPr>
              <a:t>         start of </a:t>
            </a:r>
            <a:r>
              <a:rPr lang="en-US" dirty="0">
                <a:solidFill>
                  <a:srgbClr val="003399"/>
                </a:solidFill>
              </a:rPr>
              <a:t>production</a:t>
            </a:r>
          </a:p>
          <a:p>
            <a:pPr eaLnBrk="1" hangingPunct="1"/>
            <a:r>
              <a:rPr lang="en-US" dirty="0">
                <a:solidFill>
                  <a:srgbClr val="003399"/>
                </a:solidFill>
              </a:rPr>
              <a:t>Kaizen</a:t>
            </a:r>
          </a:p>
          <a:p>
            <a:pPr eaLnBrk="1" hangingPunct="1"/>
            <a:r>
              <a:rPr lang="en-US" dirty="0">
                <a:solidFill>
                  <a:srgbClr val="003399"/>
                </a:solidFill>
              </a:rPr>
              <a:t>Keeping equipment in perfect condition</a:t>
            </a:r>
          </a:p>
          <a:p>
            <a:pPr eaLnBrk="1" hangingPunct="1"/>
            <a:r>
              <a:rPr lang="en-US" dirty="0">
                <a:solidFill>
                  <a:srgbClr val="003399"/>
                </a:solidFill>
              </a:rPr>
              <a:t>Elimination of unnecessary inventory and storage space</a:t>
            </a:r>
          </a:p>
          <a:p>
            <a:pPr eaLnBrk="1" hangingPunct="1"/>
            <a:r>
              <a:rPr lang="en-US" dirty="0">
                <a:solidFill>
                  <a:srgbClr val="003399"/>
                </a:solidFill>
              </a:rPr>
              <a:t>Increasing the number of deliveries</a:t>
            </a:r>
            <a:endParaRPr lang="pl-PL" dirty="0">
              <a:solidFill>
                <a:srgbClr val="003399"/>
              </a:solidFill>
            </a:endParaRPr>
          </a:p>
        </p:txBody>
      </p:sp>
      <p:sp>
        <p:nvSpPr>
          <p:cNvPr id="33797" name="Line 4"/>
          <p:cNvSpPr>
            <a:spLocks noChangeShapeType="1"/>
          </p:cNvSpPr>
          <p:nvPr/>
        </p:nvSpPr>
        <p:spPr bwMode="auto">
          <a:xfrm>
            <a:off x="2627313" y="1916832"/>
            <a:ext cx="360362" cy="0"/>
          </a:xfrm>
          <a:prstGeom prst="line">
            <a:avLst/>
          </a:prstGeom>
          <a:noFill/>
          <a:ln w="9525">
            <a:solidFill>
              <a:schemeClr val="tx1"/>
            </a:solidFill>
            <a:round/>
            <a:headEnd/>
            <a:tailEnd type="triangle" w="med" len="med"/>
          </a:ln>
        </p:spPr>
        <p:txBody>
          <a:bodyPr/>
          <a:lstStyle/>
          <a:p>
            <a:endParaRPr lang="pl-PL"/>
          </a:p>
        </p:txBody>
      </p:sp>
      <p:pic>
        <p:nvPicPr>
          <p:cNvPr id="33798" name="Picture 5"/>
          <p:cNvPicPr>
            <a:picLocks noChangeAspect="1" noChangeArrowheads="1"/>
          </p:cNvPicPr>
          <p:nvPr/>
        </p:nvPicPr>
        <p:blipFill>
          <a:blip r:embed="rId3" cstate="print"/>
          <a:srcRect/>
          <a:stretch>
            <a:fillRect/>
          </a:stretch>
        </p:blipFill>
        <p:spPr bwMode="auto">
          <a:xfrm>
            <a:off x="6660232" y="4941168"/>
            <a:ext cx="1485900" cy="1000125"/>
          </a:xfrm>
          <a:prstGeom prst="rect">
            <a:avLst/>
          </a:prstGeom>
          <a:noFill/>
          <a:ln w="9525">
            <a:noFill/>
            <a:miter lim="800000"/>
            <a:headEnd/>
            <a:tailEnd/>
          </a:ln>
        </p:spPr>
      </p:pic>
      <p:sp>
        <p:nvSpPr>
          <p:cNvPr id="33799" name="Text Box 6"/>
          <p:cNvSpPr txBox="1">
            <a:spLocks noChangeArrowheads="1"/>
          </p:cNvSpPr>
          <p:nvPr/>
        </p:nvSpPr>
        <p:spPr bwMode="auto">
          <a:xfrm>
            <a:off x="395288" y="6308725"/>
            <a:ext cx="2232025" cy="274638"/>
          </a:xfrm>
          <a:prstGeom prst="rect">
            <a:avLst/>
          </a:prstGeom>
          <a:noFill/>
          <a:ln w="9525">
            <a:noFill/>
            <a:miter lim="800000"/>
            <a:headEnd/>
            <a:tailEnd/>
          </a:ln>
        </p:spPr>
        <p:txBody>
          <a:bodyPr>
            <a:spAutoFit/>
          </a:bodyPr>
          <a:lstStyle/>
          <a:p>
            <a:pPr>
              <a:spcBef>
                <a:spcPct val="50000"/>
              </a:spcBef>
            </a:pPr>
            <a:r>
              <a:rPr lang="pl-PL" sz="1200" dirty="0"/>
              <a:t>Source: www.solar-polska.pl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35843" name="Rectangle 2"/>
          <p:cNvSpPr>
            <a:spLocks noGrp="1" noChangeArrowheads="1"/>
          </p:cNvSpPr>
          <p:nvPr>
            <p:ph type="title"/>
          </p:nvPr>
        </p:nvSpPr>
        <p:spPr/>
        <p:txBody>
          <a:bodyPr/>
          <a:lstStyle/>
          <a:p>
            <a:pPr eaLnBrk="1" hangingPunct="1"/>
            <a:r>
              <a:rPr lang="pl-PL" sz="4000" b="1" dirty="0" err="1"/>
              <a:t>Six</a:t>
            </a:r>
            <a:r>
              <a:rPr lang="pl-PL" sz="4000" b="1" dirty="0"/>
              <a:t> Sigma</a:t>
            </a:r>
          </a:p>
        </p:txBody>
      </p:sp>
      <p:sp>
        <p:nvSpPr>
          <p:cNvPr id="35844" name="Rectangle 3"/>
          <p:cNvSpPr>
            <a:spLocks noGrp="1" noChangeArrowheads="1"/>
          </p:cNvSpPr>
          <p:nvPr>
            <p:ph type="body" idx="1"/>
          </p:nvPr>
        </p:nvSpPr>
        <p:spPr/>
        <p:txBody>
          <a:bodyPr/>
          <a:lstStyle/>
          <a:p>
            <a:pPr marL="0" indent="0" eaLnBrk="1" hangingPunct="1">
              <a:buNone/>
            </a:pPr>
            <a:r>
              <a:rPr lang="en-US" b="1" dirty="0">
                <a:solidFill>
                  <a:srgbClr val="003399"/>
                </a:solidFill>
              </a:rPr>
              <a:t>Goal:</a:t>
            </a:r>
            <a:r>
              <a:rPr lang="en-US" dirty="0">
                <a:solidFill>
                  <a:srgbClr val="003399"/>
                </a:solidFill>
              </a:rPr>
              <a:t> reducing the number of defects </a:t>
            </a:r>
            <a:endParaRPr lang="pl-PL" dirty="0">
              <a:solidFill>
                <a:srgbClr val="003399"/>
              </a:solidFill>
            </a:endParaRPr>
          </a:p>
          <a:p>
            <a:pPr marL="0" indent="0" eaLnBrk="1" hangingPunct="1">
              <a:buNone/>
            </a:pPr>
            <a:r>
              <a:rPr lang="en-US" dirty="0">
                <a:solidFill>
                  <a:srgbClr val="003399"/>
                </a:solidFill>
              </a:rPr>
              <a:t>to fewer than 3.4 per million</a:t>
            </a:r>
            <a:endParaRPr lang="pl-PL" dirty="0">
              <a:solidFill>
                <a:srgbClr val="003399"/>
              </a:solidFill>
            </a:endParaRPr>
          </a:p>
          <a:p>
            <a:pPr marL="0" indent="0" eaLnBrk="1" hangingPunct="1">
              <a:buNone/>
            </a:pPr>
            <a:r>
              <a:rPr lang="en-US" dirty="0">
                <a:solidFill>
                  <a:srgbClr val="003399"/>
                </a:solidFill>
              </a:rPr>
              <a:t>Champions </a:t>
            </a:r>
            <a:r>
              <a:rPr lang="pl-PL" dirty="0">
                <a:solidFill>
                  <a:srgbClr val="003399"/>
                </a:solidFill>
                <a:sym typeface="Wingdings" panose="05000000000000000000" pitchFamily="2" charset="2"/>
              </a:rPr>
              <a:t></a:t>
            </a:r>
            <a:endParaRPr lang="en-US" dirty="0">
              <a:solidFill>
                <a:srgbClr val="003399"/>
              </a:solidFill>
            </a:endParaRPr>
          </a:p>
          <a:p>
            <a:pPr marL="0" indent="0" eaLnBrk="1" hangingPunct="1">
              <a:buNone/>
            </a:pPr>
            <a:r>
              <a:rPr lang="en-US" b="1" dirty="0">
                <a:solidFill>
                  <a:srgbClr val="003399"/>
                </a:solidFill>
              </a:rPr>
              <a:t>DMAIC</a:t>
            </a:r>
            <a:r>
              <a:rPr lang="pl-PL" dirty="0">
                <a:solidFill>
                  <a:srgbClr val="003399"/>
                </a:solidFill>
              </a:rPr>
              <a:t> (</a:t>
            </a:r>
            <a:r>
              <a:rPr lang="pl-PL" dirty="0" err="1">
                <a:solidFill>
                  <a:srgbClr val="003399"/>
                </a:solidFill>
              </a:rPr>
              <a:t>Define</a:t>
            </a:r>
            <a:r>
              <a:rPr lang="pl-PL" dirty="0">
                <a:solidFill>
                  <a:srgbClr val="003399"/>
                </a:solidFill>
              </a:rPr>
              <a:t>, </a:t>
            </a:r>
            <a:r>
              <a:rPr lang="pl-PL" dirty="0" err="1">
                <a:solidFill>
                  <a:srgbClr val="003399"/>
                </a:solidFill>
              </a:rPr>
              <a:t>Measure</a:t>
            </a:r>
            <a:r>
              <a:rPr lang="pl-PL" dirty="0">
                <a:solidFill>
                  <a:srgbClr val="003399"/>
                </a:solidFill>
              </a:rPr>
              <a:t>, </a:t>
            </a:r>
            <a:r>
              <a:rPr lang="pl-PL" dirty="0" err="1">
                <a:solidFill>
                  <a:srgbClr val="003399"/>
                </a:solidFill>
              </a:rPr>
              <a:t>Analyze</a:t>
            </a:r>
            <a:r>
              <a:rPr lang="pl-PL" dirty="0">
                <a:solidFill>
                  <a:srgbClr val="003399"/>
                </a:solidFill>
              </a:rPr>
              <a:t>, </a:t>
            </a:r>
            <a:r>
              <a:rPr lang="pl-PL" dirty="0" err="1">
                <a:solidFill>
                  <a:srgbClr val="003399"/>
                </a:solidFill>
              </a:rPr>
              <a:t>Improve</a:t>
            </a:r>
            <a:r>
              <a:rPr lang="pl-PL" dirty="0">
                <a:solidFill>
                  <a:srgbClr val="003399"/>
                </a:solidFill>
              </a:rPr>
              <a:t>, Control)</a:t>
            </a:r>
            <a:endParaRPr lang="en-US" dirty="0">
              <a:solidFill>
                <a:srgbClr val="003399"/>
              </a:solidFill>
            </a:endParaRPr>
          </a:p>
          <a:p>
            <a:pPr marL="0" indent="0" eaLnBrk="1" hangingPunct="1">
              <a:buNone/>
            </a:pPr>
            <a:r>
              <a:rPr lang="en-US" b="1" dirty="0">
                <a:solidFill>
                  <a:srgbClr val="003399"/>
                </a:solidFill>
              </a:rPr>
              <a:t>Start</a:t>
            </a:r>
            <a:r>
              <a:rPr lang="en-US" dirty="0">
                <a:solidFill>
                  <a:srgbClr val="003399"/>
                </a:solidFill>
              </a:rPr>
              <a:t>: </a:t>
            </a:r>
            <a:r>
              <a:rPr lang="en-US" dirty="0" err="1">
                <a:solidFill>
                  <a:srgbClr val="003399"/>
                </a:solidFill>
              </a:rPr>
              <a:t>analy</a:t>
            </a:r>
            <a:r>
              <a:rPr lang="pl-PL" dirty="0" err="1">
                <a:solidFill>
                  <a:srgbClr val="003399"/>
                </a:solidFill>
              </a:rPr>
              <a:t>zing</a:t>
            </a:r>
            <a:r>
              <a:rPr lang="pl-PL" dirty="0">
                <a:solidFill>
                  <a:srgbClr val="003399"/>
                </a:solidFill>
              </a:rPr>
              <a:t> </a:t>
            </a:r>
            <a:r>
              <a:rPr lang="en-US" dirty="0">
                <a:solidFill>
                  <a:srgbClr val="003399"/>
                </a:solidFill>
              </a:rPr>
              <a:t>areas </a:t>
            </a:r>
            <a:r>
              <a:rPr lang="pl-PL" dirty="0">
                <a:solidFill>
                  <a:srgbClr val="003399"/>
                </a:solidFill>
              </a:rPr>
              <a:t>of</a:t>
            </a:r>
            <a:r>
              <a:rPr lang="en-US" dirty="0">
                <a:solidFill>
                  <a:srgbClr val="003399"/>
                </a:solidFill>
              </a:rPr>
              <a:t> the lowest quality</a:t>
            </a:r>
            <a:endParaRPr lang="pl-PL" dirty="0">
              <a:solidFill>
                <a:srgbClr val="003399"/>
              </a:solidFill>
            </a:endParaRPr>
          </a:p>
        </p:txBody>
      </p:sp>
      <p:sp>
        <p:nvSpPr>
          <p:cNvPr id="35846" name="Text Box 5"/>
          <p:cNvSpPr txBox="1">
            <a:spLocks noChangeArrowheads="1"/>
          </p:cNvSpPr>
          <p:nvPr/>
        </p:nvSpPr>
        <p:spPr bwMode="auto">
          <a:xfrm>
            <a:off x="179388" y="6308725"/>
            <a:ext cx="6624860" cy="276999"/>
          </a:xfrm>
          <a:prstGeom prst="rect">
            <a:avLst/>
          </a:prstGeom>
          <a:noFill/>
          <a:ln w="9525">
            <a:noFill/>
            <a:miter lim="800000"/>
            <a:headEnd/>
            <a:tailEnd/>
          </a:ln>
        </p:spPr>
        <p:txBody>
          <a:bodyPr wrap="square">
            <a:spAutoFit/>
          </a:bodyPr>
          <a:lstStyle/>
          <a:p>
            <a:pPr>
              <a:spcBef>
                <a:spcPct val="50000"/>
              </a:spcBef>
            </a:pPr>
            <a:r>
              <a:rPr lang="pl-PL" sz="1200" dirty="0" err="1"/>
              <a:t>Sources</a:t>
            </a:r>
            <a:r>
              <a:rPr lang="pl-PL" sz="1200" dirty="0"/>
              <a:t>: </a:t>
            </a:r>
            <a:r>
              <a:rPr lang="pl-PL" sz="1200" dirty="0">
                <a:hlinkClick r:id="rId3"/>
              </a:rPr>
              <a:t>www.saihamielec.pl</a:t>
            </a:r>
            <a:r>
              <a:rPr lang="pl-PL" sz="1200" dirty="0"/>
              <a:t>, </a:t>
            </a:r>
            <a:r>
              <a:rPr lang="pl-PL" sz="1200" dirty="0">
                <a:hlinkClick r:id="rId4"/>
              </a:rPr>
              <a:t>http://www.leansixsigmadefinition.com/glossary/six-sigma/</a:t>
            </a:r>
            <a:endParaRPr lang="pl-PL" sz="1200" dirty="0"/>
          </a:p>
        </p:txBody>
      </p:sp>
      <p:pic>
        <p:nvPicPr>
          <p:cNvPr id="8" name="Picture 4"/>
          <p:cNvPicPr>
            <a:picLocks noChangeAspect="1" noChangeArrowheads="1"/>
          </p:cNvPicPr>
          <p:nvPr/>
        </p:nvPicPr>
        <p:blipFill>
          <a:blip r:embed="rId5" cstate="print"/>
          <a:srcRect/>
          <a:stretch>
            <a:fillRect/>
          </a:stretch>
        </p:blipFill>
        <p:spPr bwMode="auto">
          <a:xfrm>
            <a:off x="7380312" y="277813"/>
            <a:ext cx="1169712" cy="1500540"/>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34819" name="Rectangle 2"/>
          <p:cNvSpPr>
            <a:spLocks noGrp="1" noChangeArrowheads="1"/>
          </p:cNvSpPr>
          <p:nvPr>
            <p:ph type="title"/>
          </p:nvPr>
        </p:nvSpPr>
        <p:spPr/>
        <p:txBody>
          <a:bodyPr/>
          <a:lstStyle/>
          <a:p>
            <a:pPr eaLnBrk="1" hangingPunct="1"/>
            <a:r>
              <a:rPr lang="pl-PL" sz="4000" b="1" dirty="0" err="1"/>
              <a:t>Six</a:t>
            </a:r>
            <a:r>
              <a:rPr lang="pl-PL" sz="4000" b="1" dirty="0"/>
              <a:t> Sigma</a:t>
            </a:r>
          </a:p>
        </p:txBody>
      </p:sp>
      <p:sp>
        <p:nvSpPr>
          <p:cNvPr id="34820" name="Rectangle 3"/>
          <p:cNvSpPr>
            <a:spLocks noGrp="1" noChangeArrowheads="1"/>
          </p:cNvSpPr>
          <p:nvPr>
            <p:ph type="body" idx="1"/>
          </p:nvPr>
        </p:nvSpPr>
        <p:spPr/>
        <p:txBody>
          <a:bodyPr/>
          <a:lstStyle/>
          <a:p>
            <a:r>
              <a:rPr lang="en-US" sz="2000" b="1" dirty="0">
                <a:solidFill>
                  <a:srgbClr val="003399"/>
                </a:solidFill>
              </a:rPr>
              <a:t>White Belt</a:t>
            </a:r>
            <a:r>
              <a:rPr lang="en-US" sz="2000" dirty="0">
                <a:solidFill>
                  <a:srgbClr val="003399"/>
                </a:solidFill>
              </a:rPr>
              <a:t> – Overview, </a:t>
            </a:r>
            <a:r>
              <a:rPr lang="pl-PL" sz="2000" dirty="0">
                <a:solidFill>
                  <a:srgbClr val="003399"/>
                </a:solidFill>
              </a:rPr>
              <a:t>DMAIC</a:t>
            </a:r>
            <a:r>
              <a:rPr lang="en-US" sz="2000" dirty="0">
                <a:solidFill>
                  <a:srgbClr val="003399"/>
                </a:solidFill>
              </a:rPr>
              <a:t>, Define Phase</a:t>
            </a:r>
          </a:p>
          <a:p>
            <a:r>
              <a:rPr lang="en-US" sz="2000" b="1" dirty="0">
                <a:solidFill>
                  <a:srgbClr val="003399"/>
                </a:solidFill>
              </a:rPr>
              <a:t>Yellow Belt</a:t>
            </a:r>
            <a:r>
              <a:rPr lang="en-US" sz="2000" dirty="0">
                <a:solidFill>
                  <a:srgbClr val="003399"/>
                </a:solidFill>
              </a:rPr>
              <a:t> – White Belt + process mapping, data collection and charting, assisting with a project</a:t>
            </a:r>
          </a:p>
          <a:p>
            <a:r>
              <a:rPr lang="en-US" sz="2000" b="1" dirty="0">
                <a:solidFill>
                  <a:srgbClr val="003399"/>
                </a:solidFill>
              </a:rPr>
              <a:t>Green Belt</a:t>
            </a:r>
            <a:r>
              <a:rPr lang="en-US" sz="2000" dirty="0">
                <a:solidFill>
                  <a:srgbClr val="003399"/>
                </a:solidFill>
              </a:rPr>
              <a:t> – Yellow Belt + Project leader, core Six Sigma</a:t>
            </a:r>
            <a:r>
              <a:rPr lang="pl-PL" sz="2000" dirty="0">
                <a:solidFill>
                  <a:srgbClr val="003399"/>
                </a:solidFill>
              </a:rPr>
              <a:t>, </a:t>
            </a:r>
            <a:r>
              <a:rPr lang="en-US" sz="2000" dirty="0">
                <a:solidFill>
                  <a:srgbClr val="003399"/>
                </a:solidFill>
              </a:rPr>
              <a:t>change management, hypothesis tests and more</a:t>
            </a:r>
          </a:p>
          <a:p>
            <a:r>
              <a:rPr lang="en-US" sz="2000" b="1" dirty="0">
                <a:solidFill>
                  <a:srgbClr val="003399"/>
                </a:solidFill>
              </a:rPr>
              <a:t>Black Belt</a:t>
            </a:r>
            <a:r>
              <a:rPr lang="en-US" sz="2000" dirty="0">
                <a:solidFill>
                  <a:srgbClr val="003399"/>
                </a:solidFill>
              </a:rPr>
              <a:t> – Green Belt + advanced statistical analysis and experiments, change management, </a:t>
            </a:r>
            <a:r>
              <a:rPr lang="en-US" sz="2000" dirty="0" err="1">
                <a:solidFill>
                  <a:srgbClr val="003399"/>
                </a:solidFill>
              </a:rPr>
              <a:t>nonnormal</a:t>
            </a:r>
            <a:r>
              <a:rPr lang="en-US" sz="2000" dirty="0">
                <a:solidFill>
                  <a:srgbClr val="003399"/>
                </a:solidFill>
              </a:rPr>
              <a:t> distributions</a:t>
            </a:r>
          </a:p>
          <a:p>
            <a:r>
              <a:rPr lang="en-US" sz="2000" b="1" dirty="0">
                <a:solidFill>
                  <a:srgbClr val="003399"/>
                </a:solidFill>
              </a:rPr>
              <a:t>Master Black Belt</a:t>
            </a:r>
            <a:r>
              <a:rPr lang="en-US" sz="2000" dirty="0">
                <a:solidFill>
                  <a:srgbClr val="003399"/>
                </a:solidFill>
              </a:rPr>
              <a:t> – Black Belt + Design for Six Sigma, more advanced statistical analysis, unique tools for specific industries and processes, working with leadership, implementing successful improvement programs</a:t>
            </a:r>
          </a:p>
          <a:p>
            <a:pPr marL="0" indent="0" eaLnBrk="1" hangingPunct="1">
              <a:buNone/>
            </a:pPr>
            <a:endParaRPr lang="pl-PL" dirty="0">
              <a:solidFill>
                <a:srgbClr val="003399"/>
              </a:solidFill>
            </a:endParaRPr>
          </a:p>
        </p:txBody>
      </p:sp>
      <p:sp>
        <p:nvSpPr>
          <p:cNvPr id="34822" name="Text Box 5"/>
          <p:cNvSpPr txBox="1">
            <a:spLocks noChangeArrowheads="1"/>
          </p:cNvSpPr>
          <p:nvPr/>
        </p:nvSpPr>
        <p:spPr bwMode="auto">
          <a:xfrm>
            <a:off x="250825" y="6237288"/>
            <a:ext cx="6625431" cy="276999"/>
          </a:xfrm>
          <a:prstGeom prst="rect">
            <a:avLst/>
          </a:prstGeom>
          <a:noFill/>
          <a:ln w="9525">
            <a:noFill/>
            <a:miter lim="800000"/>
            <a:headEnd/>
            <a:tailEnd/>
          </a:ln>
        </p:spPr>
        <p:txBody>
          <a:bodyPr wrap="square">
            <a:spAutoFit/>
          </a:bodyPr>
          <a:lstStyle/>
          <a:p>
            <a:pPr>
              <a:spcBef>
                <a:spcPct val="50000"/>
              </a:spcBef>
            </a:pPr>
            <a:r>
              <a:rPr lang="pl-PL" sz="1200" dirty="0"/>
              <a:t>Source: decker.typepad.com, </a:t>
            </a:r>
            <a:r>
              <a:rPr lang="pl-PL" sz="1200" dirty="0">
                <a:hlinkClick r:id="rId3"/>
              </a:rPr>
              <a:t>http://www.leansixsigmadefinition.com/glossary/six-sigma/</a:t>
            </a:r>
            <a:endParaRPr lang="pl-PL" sz="1200" dirty="0"/>
          </a:p>
        </p:txBody>
      </p:sp>
      <p:pic>
        <p:nvPicPr>
          <p:cNvPr id="8" name="Picture 4"/>
          <p:cNvPicPr>
            <a:picLocks noChangeAspect="1" noChangeArrowheads="1"/>
          </p:cNvPicPr>
          <p:nvPr/>
        </p:nvPicPr>
        <p:blipFill>
          <a:blip r:embed="rId4" cstate="print"/>
          <a:srcRect/>
          <a:stretch>
            <a:fillRect/>
          </a:stretch>
        </p:blipFill>
        <p:spPr bwMode="auto">
          <a:xfrm>
            <a:off x="7315200" y="571500"/>
            <a:ext cx="1371600" cy="1028700"/>
          </a:xfrm>
          <a:prstGeom prst="rect">
            <a:avLst/>
          </a:prstGeom>
          <a:noFill/>
          <a:ln w="9525">
            <a:noFill/>
            <a:miter lim="800000"/>
            <a:headEnd/>
            <a:tailEnd/>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ymbol zastępczy stopki 4"/>
          <p:cNvSpPr>
            <a:spLocks noGrp="1"/>
          </p:cNvSpPr>
          <p:nvPr>
            <p:ph type="ftr" sz="quarter" idx="11"/>
          </p:nvPr>
        </p:nvSpPr>
        <p:spPr/>
        <p:txBody>
          <a:bodyPr/>
          <a:lstStyle/>
          <a:p>
            <a:pPr>
              <a:defRPr/>
            </a:pPr>
            <a:r>
              <a:rPr lang="pl-PL" altLang="en-US"/>
              <a:t>PJAIT</a:t>
            </a:r>
          </a:p>
        </p:txBody>
      </p:sp>
      <p:sp>
        <p:nvSpPr>
          <p:cNvPr id="36867" name="Rectangle 2"/>
          <p:cNvSpPr>
            <a:spLocks noGrp="1" noChangeArrowheads="1"/>
          </p:cNvSpPr>
          <p:nvPr>
            <p:ph type="title"/>
          </p:nvPr>
        </p:nvSpPr>
        <p:spPr/>
        <p:txBody>
          <a:bodyPr/>
          <a:lstStyle/>
          <a:p>
            <a:pPr eaLnBrk="1" hangingPunct="1"/>
            <a:r>
              <a:rPr lang="pl-PL" sz="4000" b="1" dirty="0" err="1"/>
              <a:t>Quality</a:t>
            </a:r>
            <a:r>
              <a:rPr lang="pl-PL" sz="4000" b="1" dirty="0"/>
              <a:t> </a:t>
            </a:r>
            <a:r>
              <a:rPr lang="pl-PL" sz="4000" b="1" dirty="0" err="1"/>
              <a:t>certificates</a:t>
            </a:r>
            <a:r>
              <a:rPr lang="pl-PL" sz="4000" b="1" dirty="0"/>
              <a:t> and </a:t>
            </a:r>
            <a:r>
              <a:rPr lang="pl-PL" sz="4000" b="1" dirty="0" err="1"/>
              <a:t>audit</a:t>
            </a:r>
            <a:endParaRPr lang="pl-PL" sz="4000" b="1" dirty="0"/>
          </a:p>
        </p:txBody>
      </p:sp>
      <p:sp>
        <p:nvSpPr>
          <p:cNvPr id="36868" name="Rectangle 3"/>
          <p:cNvSpPr>
            <a:spLocks noGrp="1" noChangeArrowheads="1"/>
          </p:cNvSpPr>
          <p:nvPr>
            <p:ph type="body" idx="1"/>
          </p:nvPr>
        </p:nvSpPr>
        <p:spPr/>
        <p:txBody>
          <a:bodyPr/>
          <a:lstStyle/>
          <a:p>
            <a:pPr eaLnBrk="1" hangingPunct="1"/>
            <a:r>
              <a:rPr lang="pl-PL" dirty="0">
                <a:solidFill>
                  <a:srgbClr val="003399"/>
                </a:solidFill>
              </a:rPr>
              <a:t>International Organization for </a:t>
            </a:r>
            <a:r>
              <a:rPr lang="pl-PL" dirty="0" err="1">
                <a:solidFill>
                  <a:srgbClr val="003399"/>
                </a:solidFill>
              </a:rPr>
              <a:t>Standardization</a:t>
            </a:r>
            <a:r>
              <a:rPr lang="pl-PL" dirty="0">
                <a:solidFill>
                  <a:srgbClr val="003399"/>
                </a:solidFill>
              </a:rPr>
              <a:t> (ISO)</a:t>
            </a:r>
          </a:p>
          <a:p>
            <a:pPr eaLnBrk="1" hangingPunct="1"/>
            <a:r>
              <a:rPr lang="pl-PL" dirty="0" err="1">
                <a:solidFill>
                  <a:srgbClr val="003399"/>
                </a:solidFill>
              </a:rPr>
              <a:t>Quality</a:t>
            </a:r>
            <a:r>
              <a:rPr lang="pl-PL" dirty="0">
                <a:solidFill>
                  <a:srgbClr val="003399"/>
                </a:solidFill>
              </a:rPr>
              <a:t> </a:t>
            </a:r>
            <a:r>
              <a:rPr lang="pl-PL" dirty="0" err="1">
                <a:solidFill>
                  <a:srgbClr val="003399"/>
                </a:solidFill>
              </a:rPr>
              <a:t>audit</a:t>
            </a:r>
            <a:endParaRPr lang="pl-PL" dirty="0">
              <a:solidFill>
                <a:srgbClr val="003399"/>
              </a:solidFill>
            </a:endParaRPr>
          </a:p>
          <a:p>
            <a:pPr eaLnBrk="1" hangingPunct="1"/>
            <a:r>
              <a:rPr lang="pl-PL" dirty="0" err="1">
                <a:solidFill>
                  <a:srgbClr val="003399"/>
                </a:solidFill>
              </a:rPr>
              <a:t>Certification</a:t>
            </a:r>
            <a:r>
              <a:rPr lang="pl-PL" dirty="0">
                <a:solidFill>
                  <a:srgbClr val="003399"/>
                </a:solidFill>
              </a:rPr>
              <a:t> body?</a:t>
            </a:r>
          </a:p>
          <a:p>
            <a:pPr eaLnBrk="1" hangingPunct="1">
              <a:buFont typeface="Wingdings" pitchFamily="2" charset="2"/>
              <a:buNone/>
            </a:pPr>
            <a:r>
              <a:rPr lang="pl-PL" dirty="0">
                <a:solidFill>
                  <a:srgbClr val="003399"/>
                </a:solidFill>
              </a:rPr>
              <a:t>- market</a:t>
            </a:r>
          </a:p>
          <a:p>
            <a:pPr eaLnBrk="1" hangingPunct="1">
              <a:buFont typeface="Wingdings" pitchFamily="2" charset="2"/>
              <a:buNone/>
            </a:pPr>
            <a:r>
              <a:rPr lang="pl-PL" dirty="0">
                <a:solidFill>
                  <a:srgbClr val="003399"/>
                </a:solidFill>
              </a:rPr>
              <a:t>- </a:t>
            </a:r>
            <a:r>
              <a:rPr lang="pl-PL" dirty="0" err="1">
                <a:solidFill>
                  <a:srgbClr val="003399"/>
                </a:solidFill>
              </a:rPr>
              <a:t>costs</a:t>
            </a:r>
            <a:endParaRPr lang="pl-PL" dirty="0">
              <a:solidFill>
                <a:srgbClr val="003399"/>
              </a:solidFill>
            </a:endParaRPr>
          </a:p>
          <a:p>
            <a:pPr eaLnBrk="1" hangingPunct="1">
              <a:buNone/>
            </a:pPr>
            <a:r>
              <a:rPr lang="pl-PL" dirty="0">
                <a:solidFill>
                  <a:srgbClr val="003399"/>
                </a:solidFill>
              </a:rPr>
              <a:t>- </a:t>
            </a:r>
            <a:r>
              <a:rPr lang="en-US" dirty="0">
                <a:solidFill>
                  <a:srgbClr val="003399"/>
                </a:solidFill>
              </a:rPr>
              <a:t>recognition of the certification body</a:t>
            </a:r>
            <a:endParaRPr lang="pl-PL" dirty="0">
              <a:solidFill>
                <a:srgbClr val="003399"/>
              </a:solidFill>
            </a:endParaRPr>
          </a:p>
          <a:p>
            <a:pPr eaLnBrk="1" hangingPunct="1">
              <a:buNone/>
            </a:pPr>
            <a:r>
              <a:rPr lang="pl-PL" dirty="0">
                <a:solidFill>
                  <a:srgbClr val="003399"/>
                </a:solidFill>
              </a:rPr>
              <a:t>- </a:t>
            </a:r>
            <a:r>
              <a:rPr lang="en-US" dirty="0">
                <a:solidFill>
                  <a:srgbClr val="003399"/>
                </a:solidFill>
              </a:rPr>
              <a:t>recognition of the certificate by the </a:t>
            </a:r>
            <a:r>
              <a:rPr lang="pl-PL" dirty="0" err="1">
                <a:solidFill>
                  <a:srgbClr val="003399"/>
                </a:solidFill>
              </a:rPr>
              <a:t>customer</a:t>
            </a:r>
            <a:endParaRPr lang="pl-PL" dirty="0">
              <a:solidFill>
                <a:srgbClr val="003399"/>
              </a:solidFill>
            </a:endParaRPr>
          </a:p>
        </p:txBody>
      </p:sp>
      <p:pic>
        <p:nvPicPr>
          <p:cNvPr id="36869" name="Picture 4"/>
          <p:cNvPicPr>
            <a:picLocks noChangeAspect="1" noChangeArrowheads="1"/>
          </p:cNvPicPr>
          <p:nvPr/>
        </p:nvPicPr>
        <p:blipFill>
          <a:blip r:embed="rId3" cstate="print"/>
          <a:srcRect/>
          <a:stretch>
            <a:fillRect/>
          </a:stretch>
        </p:blipFill>
        <p:spPr bwMode="auto">
          <a:xfrm>
            <a:off x="5681662" y="2492896"/>
            <a:ext cx="1443038" cy="1300163"/>
          </a:xfrm>
          <a:prstGeom prst="rect">
            <a:avLst/>
          </a:prstGeom>
          <a:noFill/>
          <a:ln w="9525">
            <a:noFill/>
            <a:miter lim="800000"/>
            <a:headEnd/>
            <a:tailEnd/>
          </a:ln>
        </p:spPr>
      </p:pic>
      <p:sp>
        <p:nvSpPr>
          <p:cNvPr id="36870" name="Text Box 5"/>
          <p:cNvSpPr txBox="1">
            <a:spLocks noChangeArrowheads="1"/>
          </p:cNvSpPr>
          <p:nvPr/>
        </p:nvSpPr>
        <p:spPr bwMode="auto">
          <a:xfrm>
            <a:off x="395288" y="6237288"/>
            <a:ext cx="3816672" cy="457200"/>
          </a:xfrm>
          <a:prstGeom prst="rect">
            <a:avLst/>
          </a:prstGeom>
          <a:noFill/>
          <a:ln w="9525">
            <a:noFill/>
            <a:miter lim="800000"/>
            <a:headEnd/>
            <a:tailEnd/>
          </a:ln>
        </p:spPr>
        <p:txBody>
          <a:bodyPr wrap="square">
            <a:spAutoFit/>
          </a:bodyPr>
          <a:lstStyle/>
          <a:p>
            <a:pPr>
              <a:spcBef>
                <a:spcPct val="50000"/>
              </a:spcBef>
            </a:pPr>
            <a:r>
              <a:rPr lang="pl-PL" sz="1200" dirty="0" err="1"/>
              <a:t>Sources</a:t>
            </a:r>
            <a:r>
              <a:rPr lang="pl-PL" sz="1200" dirty="0"/>
              <a:t>: </a:t>
            </a:r>
            <a:r>
              <a:rPr lang="pl-PL" sz="1200" dirty="0">
                <a:hlinkClick r:id="rId4"/>
              </a:rPr>
              <a:t>www.props.com.au</a:t>
            </a:r>
            <a:r>
              <a:rPr lang="pl-PL" sz="1200" dirty="0"/>
              <a:t>, betterecm.files.wordpress.com</a:t>
            </a:r>
          </a:p>
        </p:txBody>
      </p:sp>
      <p:pic>
        <p:nvPicPr>
          <p:cNvPr id="36871" name="Picture 6"/>
          <p:cNvPicPr>
            <a:picLocks noChangeAspect="1" noChangeArrowheads="1"/>
          </p:cNvPicPr>
          <p:nvPr/>
        </p:nvPicPr>
        <p:blipFill>
          <a:blip r:embed="rId5" cstate="print"/>
          <a:srcRect/>
          <a:stretch>
            <a:fillRect/>
          </a:stretch>
        </p:blipFill>
        <p:spPr bwMode="auto">
          <a:xfrm>
            <a:off x="7178195" y="4077072"/>
            <a:ext cx="1381125" cy="914400"/>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37891" name="Rectangle 2"/>
          <p:cNvSpPr>
            <a:spLocks noGrp="1" noChangeArrowheads="1"/>
          </p:cNvSpPr>
          <p:nvPr>
            <p:ph type="title"/>
          </p:nvPr>
        </p:nvSpPr>
        <p:spPr/>
        <p:txBody>
          <a:bodyPr/>
          <a:lstStyle/>
          <a:p>
            <a:pPr eaLnBrk="1" hangingPunct="1"/>
            <a:r>
              <a:rPr lang="pl-PL" sz="4000" b="1" dirty="0" err="1"/>
              <a:t>Documentation</a:t>
            </a:r>
            <a:r>
              <a:rPr lang="pl-PL" sz="4000" b="1" dirty="0"/>
              <a:t> </a:t>
            </a:r>
            <a:r>
              <a:rPr lang="pl-PL" sz="4000" b="1" dirty="0">
                <a:sym typeface="Wingdings" pitchFamily="2" charset="2"/>
              </a:rPr>
              <a:t></a:t>
            </a:r>
            <a:endParaRPr lang="pl-PL" sz="4000" b="1" dirty="0"/>
          </a:p>
        </p:txBody>
      </p:sp>
      <p:sp>
        <p:nvSpPr>
          <p:cNvPr id="37892" name="Rectangle 3"/>
          <p:cNvSpPr>
            <a:spLocks noGrp="1" noChangeArrowheads="1"/>
          </p:cNvSpPr>
          <p:nvPr>
            <p:ph type="body" idx="1"/>
          </p:nvPr>
        </p:nvSpPr>
        <p:spPr/>
        <p:txBody>
          <a:bodyPr/>
          <a:lstStyle/>
          <a:p>
            <a:pPr eaLnBrk="1" hangingPunct="1">
              <a:lnSpc>
                <a:spcPct val="90000"/>
              </a:lnSpc>
              <a:buNone/>
            </a:pPr>
            <a:r>
              <a:rPr lang="pl-PL" b="1" dirty="0"/>
              <a:t>   </a:t>
            </a:r>
            <a:r>
              <a:rPr lang="en-US" b="1" dirty="0">
                <a:solidFill>
                  <a:srgbClr val="003399"/>
                </a:solidFill>
              </a:rPr>
              <a:t>The </a:t>
            </a:r>
            <a:r>
              <a:rPr lang="pl-PL" b="1" dirty="0" err="1">
                <a:solidFill>
                  <a:srgbClr val="003399"/>
                </a:solidFill>
              </a:rPr>
              <a:t>main</a:t>
            </a:r>
            <a:r>
              <a:rPr lang="en-US" b="1" dirty="0">
                <a:solidFill>
                  <a:srgbClr val="003399"/>
                </a:solidFill>
              </a:rPr>
              <a:t> role of documentation: establishing a quality system in which </a:t>
            </a:r>
            <a:r>
              <a:rPr lang="pl-PL" b="1" dirty="0" err="1">
                <a:solidFill>
                  <a:srgbClr val="003399"/>
                </a:solidFill>
              </a:rPr>
              <a:t>every</a:t>
            </a:r>
            <a:r>
              <a:rPr lang="en-US" b="1" dirty="0">
                <a:solidFill>
                  <a:srgbClr val="003399"/>
                </a:solidFill>
              </a:rPr>
              <a:t> employee:</a:t>
            </a:r>
          </a:p>
          <a:p>
            <a:pPr eaLnBrk="1" hangingPunct="1">
              <a:lnSpc>
                <a:spcPct val="90000"/>
              </a:lnSpc>
              <a:buFont typeface="Arial" panose="020B0604020202020204" pitchFamily="34" charset="0"/>
              <a:buChar char="•"/>
            </a:pPr>
            <a:r>
              <a:rPr lang="en-US" dirty="0">
                <a:solidFill>
                  <a:srgbClr val="003399"/>
                </a:solidFill>
              </a:rPr>
              <a:t>knows and understands </a:t>
            </a:r>
            <a:r>
              <a:rPr lang="pl-PL" dirty="0" err="1">
                <a:solidFill>
                  <a:srgbClr val="003399"/>
                </a:solidFill>
              </a:rPr>
              <a:t>his</a:t>
            </a:r>
            <a:r>
              <a:rPr lang="pl-PL" dirty="0">
                <a:solidFill>
                  <a:srgbClr val="003399"/>
                </a:solidFill>
              </a:rPr>
              <a:t> </a:t>
            </a:r>
            <a:r>
              <a:rPr lang="pl-PL" dirty="0" err="1">
                <a:solidFill>
                  <a:srgbClr val="003399"/>
                </a:solidFill>
              </a:rPr>
              <a:t>or</a:t>
            </a:r>
            <a:r>
              <a:rPr lang="pl-PL" dirty="0">
                <a:solidFill>
                  <a:srgbClr val="003399"/>
                </a:solidFill>
              </a:rPr>
              <a:t> </a:t>
            </a:r>
            <a:r>
              <a:rPr lang="pl-PL" dirty="0" err="1">
                <a:solidFill>
                  <a:srgbClr val="003399"/>
                </a:solidFill>
              </a:rPr>
              <a:t>her</a:t>
            </a:r>
            <a:r>
              <a:rPr lang="en-US" dirty="0">
                <a:solidFill>
                  <a:srgbClr val="003399"/>
                </a:solidFill>
              </a:rPr>
              <a:t> function</a:t>
            </a:r>
          </a:p>
          <a:p>
            <a:pPr eaLnBrk="1" hangingPunct="1">
              <a:lnSpc>
                <a:spcPct val="90000"/>
              </a:lnSpc>
              <a:buFont typeface="Arial" panose="020B0604020202020204" pitchFamily="34" charset="0"/>
              <a:buChar char="•"/>
            </a:pPr>
            <a:r>
              <a:rPr lang="en-US" dirty="0">
                <a:solidFill>
                  <a:srgbClr val="003399"/>
                </a:solidFill>
              </a:rPr>
              <a:t>knows what he </a:t>
            </a:r>
            <a:r>
              <a:rPr lang="pl-PL" dirty="0" err="1">
                <a:solidFill>
                  <a:srgbClr val="003399"/>
                </a:solidFill>
              </a:rPr>
              <a:t>or</a:t>
            </a:r>
            <a:r>
              <a:rPr lang="pl-PL" dirty="0">
                <a:solidFill>
                  <a:srgbClr val="003399"/>
                </a:solidFill>
              </a:rPr>
              <a:t> </a:t>
            </a:r>
            <a:r>
              <a:rPr lang="pl-PL" dirty="0" err="1">
                <a:solidFill>
                  <a:srgbClr val="003399"/>
                </a:solidFill>
              </a:rPr>
              <a:t>she</a:t>
            </a:r>
            <a:r>
              <a:rPr lang="pl-PL" dirty="0">
                <a:solidFill>
                  <a:srgbClr val="003399"/>
                </a:solidFill>
              </a:rPr>
              <a:t> </a:t>
            </a:r>
            <a:r>
              <a:rPr lang="en-US" dirty="0">
                <a:solidFill>
                  <a:srgbClr val="003399"/>
                </a:solidFill>
              </a:rPr>
              <a:t>is responsible for</a:t>
            </a:r>
          </a:p>
          <a:p>
            <a:pPr eaLnBrk="1" hangingPunct="1">
              <a:lnSpc>
                <a:spcPct val="90000"/>
              </a:lnSpc>
              <a:buFont typeface="Arial" panose="020B0604020202020204" pitchFamily="34" charset="0"/>
              <a:buChar char="•"/>
            </a:pPr>
            <a:r>
              <a:rPr lang="en-US" dirty="0">
                <a:solidFill>
                  <a:srgbClr val="003399"/>
                </a:solidFill>
              </a:rPr>
              <a:t>knows the standard of his</a:t>
            </a:r>
            <a:r>
              <a:rPr lang="pl-PL" dirty="0">
                <a:solidFill>
                  <a:srgbClr val="003399"/>
                </a:solidFill>
              </a:rPr>
              <a:t>/</a:t>
            </a:r>
            <a:r>
              <a:rPr lang="pl-PL" dirty="0" err="1">
                <a:solidFill>
                  <a:srgbClr val="003399"/>
                </a:solidFill>
              </a:rPr>
              <a:t>her</a:t>
            </a:r>
            <a:r>
              <a:rPr lang="en-US" dirty="0">
                <a:solidFill>
                  <a:srgbClr val="003399"/>
                </a:solidFill>
              </a:rPr>
              <a:t> work (and is able to achieve it)</a:t>
            </a:r>
          </a:p>
          <a:p>
            <a:pPr eaLnBrk="1" hangingPunct="1">
              <a:lnSpc>
                <a:spcPct val="90000"/>
              </a:lnSpc>
              <a:buFont typeface="Arial" panose="020B0604020202020204" pitchFamily="34" charset="0"/>
              <a:buChar char="•"/>
            </a:pPr>
            <a:r>
              <a:rPr lang="en-US" dirty="0">
                <a:solidFill>
                  <a:srgbClr val="003399"/>
                </a:solidFill>
              </a:rPr>
              <a:t>has the right resources</a:t>
            </a:r>
            <a:r>
              <a:rPr lang="pl-PL" dirty="0">
                <a:solidFill>
                  <a:srgbClr val="003399"/>
                </a:solidFill>
              </a:rPr>
              <a:t>/</a:t>
            </a:r>
            <a:r>
              <a:rPr lang="pl-PL" dirty="0" err="1">
                <a:solidFill>
                  <a:srgbClr val="003399"/>
                </a:solidFill>
              </a:rPr>
              <a:t>tools</a:t>
            </a:r>
            <a:r>
              <a:rPr lang="en-US" dirty="0">
                <a:solidFill>
                  <a:srgbClr val="003399"/>
                </a:solidFill>
              </a:rPr>
              <a:t> to do the job</a:t>
            </a:r>
            <a:endParaRPr lang="pl-PL" dirty="0">
              <a:solidFill>
                <a:srgbClr val="003399"/>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38915" name="Rectangle 2"/>
          <p:cNvSpPr>
            <a:spLocks noGrp="1" noChangeArrowheads="1"/>
          </p:cNvSpPr>
          <p:nvPr>
            <p:ph type="title"/>
          </p:nvPr>
        </p:nvSpPr>
        <p:spPr/>
        <p:txBody>
          <a:bodyPr/>
          <a:lstStyle/>
          <a:p>
            <a:pPr eaLnBrk="1" hangingPunct="1"/>
            <a:r>
              <a:rPr lang="pl-PL" sz="4000" b="1" dirty="0" err="1"/>
              <a:t>Documentation</a:t>
            </a:r>
            <a:r>
              <a:rPr lang="pl-PL" sz="4000" b="1" dirty="0"/>
              <a:t> </a:t>
            </a:r>
            <a:r>
              <a:rPr lang="pl-PL" sz="4000" b="1" dirty="0">
                <a:sym typeface="Wingdings" pitchFamily="2" charset="2"/>
              </a:rPr>
              <a:t></a:t>
            </a:r>
          </a:p>
        </p:txBody>
      </p:sp>
      <p:sp>
        <p:nvSpPr>
          <p:cNvPr id="38916" name="Rectangle 3"/>
          <p:cNvSpPr>
            <a:spLocks noGrp="1" noChangeArrowheads="1"/>
          </p:cNvSpPr>
          <p:nvPr>
            <p:ph type="body" idx="1"/>
          </p:nvPr>
        </p:nvSpPr>
        <p:spPr/>
        <p:txBody>
          <a:bodyPr/>
          <a:lstStyle/>
          <a:p>
            <a:pPr eaLnBrk="1" hangingPunct="1">
              <a:buFont typeface="Wingdings" pitchFamily="2" charset="2"/>
              <a:buNone/>
            </a:pPr>
            <a:r>
              <a:rPr lang="pl-PL" dirty="0" err="1">
                <a:solidFill>
                  <a:srgbClr val="003399"/>
                </a:solidFill>
              </a:rPr>
              <a:t>Quality</a:t>
            </a:r>
            <a:r>
              <a:rPr lang="pl-PL" dirty="0">
                <a:solidFill>
                  <a:srgbClr val="003399"/>
                </a:solidFill>
              </a:rPr>
              <a:t> </a:t>
            </a:r>
            <a:r>
              <a:rPr lang="pl-PL" dirty="0" err="1">
                <a:solidFill>
                  <a:srgbClr val="003399"/>
                </a:solidFill>
              </a:rPr>
              <a:t>Handbook</a:t>
            </a:r>
            <a:endParaRPr lang="pl-PL" dirty="0">
              <a:solidFill>
                <a:srgbClr val="003399"/>
              </a:solidFill>
            </a:endParaRPr>
          </a:p>
        </p:txBody>
      </p:sp>
      <p:pic>
        <p:nvPicPr>
          <p:cNvPr id="38917" name="Picture 4"/>
          <p:cNvPicPr>
            <a:picLocks noChangeAspect="1" noChangeArrowheads="1"/>
          </p:cNvPicPr>
          <p:nvPr/>
        </p:nvPicPr>
        <p:blipFill>
          <a:blip r:embed="rId3" cstate="print"/>
          <a:srcRect/>
          <a:stretch>
            <a:fillRect/>
          </a:stretch>
        </p:blipFill>
        <p:spPr bwMode="auto">
          <a:xfrm>
            <a:off x="3347864" y="3140968"/>
            <a:ext cx="1643062" cy="1585912"/>
          </a:xfrm>
          <a:prstGeom prst="rect">
            <a:avLst/>
          </a:prstGeom>
          <a:noFill/>
          <a:ln w="9525">
            <a:noFill/>
            <a:miter lim="800000"/>
            <a:headEnd/>
            <a:tailEnd/>
          </a:ln>
        </p:spPr>
      </p:pic>
      <p:sp>
        <p:nvSpPr>
          <p:cNvPr id="38918" name="Text Box 5"/>
          <p:cNvSpPr txBox="1">
            <a:spLocks noChangeArrowheads="1"/>
          </p:cNvSpPr>
          <p:nvPr/>
        </p:nvSpPr>
        <p:spPr bwMode="auto">
          <a:xfrm>
            <a:off x="323850" y="6308725"/>
            <a:ext cx="2808288" cy="274638"/>
          </a:xfrm>
          <a:prstGeom prst="rect">
            <a:avLst/>
          </a:prstGeom>
          <a:noFill/>
          <a:ln w="9525">
            <a:noFill/>
            <a:miter lim="800000"/>
            <a:headEnd/>
            <a:tailEnd/>
          </a:ln>
        </p:spPr>
        <p:txBody>
          <a:bodyPr>
            <a:spAutoFit/>
          </a:bodyPr>
          <a:lstStyle/>
          <a:p>
            <a:pPr>
              <a:spcBef>
                <a:spcPct val="50000"/>
              </a:spcBef>
            </a:pPr>
            <a:r>
              <a:rPr lang="pl-PL" sz="1200" dirty="0"/>
              <a:t>Source: malgorzatawbz.w.interia.pl</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ymbol zastępczy stopki 4"/>
          <p:cNvSpPr>
            <a:spLocks noGrp="1"/>
          </p:cNvSpPr>
          <p:nvPr>
            <p:ph type="ftr" sz="quarter" idx="11"/>
          </p:nvPr>
        </p:nvSpPr>
        <p:spPr/>
        <p:txBody>
          <a:bodyPr/>
          <a:lstStyle/>
          <a:p>
            <a:pPr>
              <a:defRPr/>
            </a:pPr>
            <a:r>
              <a:rPr lang="pl-PL" altLang="en-US"/>
              <a:t>PJAIT</a:t>
            </a:r>
          </a:p>
        </p:txBody>
      </p:sp>
      <p:sp>
        <p:nvSpPr>
          <p:cNvPr id="1033" name="Rectangle 2"/>
          <p:cNvSpPr>
            <a:spLocks noGrp="1" noChangeArrowheads="1"/>
          </p:cNvSpPr>
          <p:nvPr>
            <p:ph type="title"/>
          </p:nvPr>
        </p:nvSpPr>
        <p:spPr/>
        <p:txBody>
          <a:bodyPr/>
          <a:lstStyle/>
          <a:p>
            <a:pPr eaLnBrk="1" hangingPunct="1"/>
            <a:r>
              <a:rPr lang="pl-PL" sz="4000" b="1" dirty="0" err="1"/>
              <a:t>Documentation</a:t>
            </a:r>
            <a:r>
              <a:rPr lang="pl-PL" sz="4000" b="1" dirty="0"/>
              <a:t> </a:t>
            </a:r>
            <a:r>
              <a:rPr lang="pl-PL" sz="4000" b="1" dirty="0">
                <a:sym typeface="Wingdings" pitchFamily="2" charset="2"/>
              </a:rPr>
              <a:t></a:t>
            </a:r>
          </a:p>
        </p:txBody>
      </p:sp>
      <p:sp>
        <p:nvSpPr>
          <p:cNvPr id="1034" name="Rectangle 3"/>
          <p:cNvSpPr>
            <a:spLocks noGrp="1" noChangeArrowheads="1"/>
          </p:cNvSpPr>
          <p:nvPr>
            <p:ph type="body" idx="1"/>
          </p:nvPr>
        </p:nvSpPr>
        <p:spPr/>
        <p:txBody>
          <a:bodyPr/>
          <a:lstStyle/>
          <a:p>
            <a:pPr eaLnBrk="1" hangingPunct="1"/>
            <a:endParaRPr lang="pl-PL" dirty="0"/>
          </a:p>
        </p:txBody>
      </p:sp>
      <p:grpSp>
        <p:nvGrpSpPr>
          <p:cNvPr id="2" name="Diagram 5"/>
          <p:cNvGrpSpPr>
            <a:grpSpLocks noChangeAspect="1"/>
          </p:cNvGrpSpPr>
          <p:nvPr/>
        </p:nvGrpSpPr>
        <p:grpSpPr bwMode="auto">
          <a:xfrm>
            <a:off x="992188" y="0"/>
            <a:ext cx="7337425" cy="7013575"/>
            <a:chOff x="1339" y="748"/>
            <a:chExt cx="3038" cy="2904"/>
          </a:xfrm>
        </p:grpSpPr>
        <p:sp>
          <p:nvSpPr>
            <p:cNvPr id="3" name="_s1028"/>
            <p:cNvSpPr>
              <a:spLocks noChangeArrowheads="1"/>
            </p:cNvSpPr>
            <p:nvPr/>
          </p:nvSpPr>
          <p:spPr bwMode="auto">
            <a:xfrm flipV="1">
              <a:off x="2518" y="1024"/>
              <a:ext cx="680" cy="588"/>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solidFill>
              <a:srgbClr val="FFFF00"/>
            </a:solidFill>
            <a:ln w="4699" algn="in">
              <a:solidFill>
                <a:schemeClr val="tx1"/>
              </a:solidFill>
              <a:miter lim="800000"/>
              <a:headEnd/>
              <a:tailEnd/>
            </a:ln>
          </p:spPr>
          <p:txBody>
            <a:bodyPr rot="10800000" vert="horz" wrap="none" lIns="139081" tIns="69540" rIns="139081" bIns="6954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Char char="•"/>
                <a:tabLst/>
              </a:pP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Quality</a:t>
              </a:r>
              <a:r>
                <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rPr>
                <a:t> policy</a:t>
              </a:r>
            </a:p>
            <a:p>
              <a:pPr marL="0" marR="0" lvl="0" indent="0" algn="ctr" defTabSz="914400" rtl="0" eaLnBrk="1" fontAlgn="base" latinLnBrk="0" hangingPunct="1">
                <a:lnSpc>
                  <a:spcPct val="100000"/>
                </a:lnSpc>
                <a:spcBef>
                  <a:spcPct val="0"/>
                </a:spcBef>
                <a:spcAft>
                  <a:spcPct val="0"/>
                </a:spcAft>
                <a:buClrTx/>
                <a:buSzTx/>
                <a:buFontTx/>
                <a:buChar char="•"/>
                <a:tabLst/>
              </a:pP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Quality</a:t>
              </a:r>
              <a:r>
                <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rPr>
                <a:t> </a:t>
              </a: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handbook</a:t>
              </a:r>
              <a:endPar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endParaRPr>
            </a:p>
          </p:txBody>
        </p:sp>
        <p:sp>
          <p:nvSpPr>
            <p:cNvPr id="4" name="_s1029"/>
            <p:cNvSpPr>
              <a:spLocks noChangeArrowheads="1"/>
            </p:cNvSpPr>
            <p:nvPr/>
          </p:nvSpPr>
          <p:spPr bwMode="auto">
            <a:xfrm flipV="1">
              <a:off x="2179" y="1612"/>
              <a:ext cx="1358" cy="588"/>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rgbClr val="00FF00"/>
            </a:solidFill>
            <a:ln w="4699" algn="in">
              <a:solidFill>
                <a:schemeClr val="tx1"/>
              </a:solidFill>
              <a:miter lim="800000"/>
              <a:headEnd/>
              <a:tailEnd/>
            </a:ln>
          </p:spPr>
          <p:txBody>
            <a:bodyPr rot="10800000" vert="horz" wrap="none" lIns="139081" tIns="69540" rIns="139081" bIns="6954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Quality</a:t>
              </a:r>
              <a:r>
                <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rPr>
                <a:t> </a:t>
              </a: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assurance</a:t>
              </a:r>
              <a:r>
                <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rPr>
                <a:t> </a:t>
              </a: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plans</a:t>
              </a:r>
              <a:endPar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endParaRPr>
            </a:p>
          </p:txBody>
        </p:sp>
        <p:sp>
          <p:nvSpPr>
            <p:cNvPr id="5" name="_s1030"/>
            <p:cNvSpPr>
              <a:spLocks noChangeArrowheads="1"/>
            </p:cNvSpPr>
            <p:nvPr/>
          </p:nvSpPr>
          <p:spPr bwMode="auto">
            <a:xfrm flipV="1">
              <a:off x="1840" y="2200"/>
              <a:ext cx="2036" cy="588"/>
            </a:xfrm>
            <a:custGeom>
              <a:avLst/>
              <a:gdLst>
                <a:gd name="G0" fmla="+- 3600 0 0"/>
                <a:gd name="G1" fmla="+- 21600 0 3600"/>
                <a:gd name="G2" fmla="*/ 3600 1 2"/>
                <a:gd name="G3" fmla="+- 21600 0 G2"/>
                <a:gd name="G4" fmla="+/ 3600 21600 2"/>
                <a:gd name="G5" fmla="+/ G1 0 2"/>
                <a:gd name="G6" fmla="*/ 21600 21600 3600"/>
                <a:gd name="G7" fmla="*/ G6 1 2"/>
                <a:gd name="G8" fmla="+- 21600 0 G7"/>
                <a:gd name="G9" fmla="*/ 21600 1 2"/>
                <a:gd name="G10" fmla="+- 3600 0 G9"/>
                <a:gd name="G11" fmla="?: G10 G8 0"/>
                <a:gd name="G12" fmla="?: G10 G7 21600"/>
                <a:gd name="T0" fmla="*/ 19800 w 21600"/>
                <a:gd name="T1" fmla="*/ 10800 h 21600"/>
                <a:gd name="T2" fmla="*/ 10800 w 21600"/>
                <a:gd name="T3" fmla="*/ 21600 h 21600"/>
                <a:gd name="T4" fmla="*/ 1800 w 21600"/>
                <a:gd name="T5" fmla="*/ 10800 h 21600"/>
                <a:gd name="T6" fmla="*/ 10800 w 21600"/>
                <a:gd name="T7" fmla="*/ 0 h 21600"/>
                <a:gd name="T8" fmla="*/ 3600 w 21600"/>
                <a:gd name="T9" fmla="*/ 3600 h 21600"/>
                <a:gd name="T10" fmla="*/ 18000 w 21600"/>
                <a:gd name="T11" fmla="*/ 18000 h 21600"/>
              </a:gdLst>
              <a:ahLst/>
              <a:cxnLst>
                <a:cxn ang="0">
                  <a:pos x="T0" y="T1"/>
                </a:cxn>
                <a:cxn ang="0">
                  <a:pos x="T2" y="T3"/>
                </a:cxn>
                <a:cxn ang="0">
                  <a:pos x="T4" y="T5"/>
                </a:cxn>
                <a:cxn ang="0">
                  <a:pos x="T6" y="T7"/>
                </a:cxn>
              </a:cxnLst>
              <a:rect l="T8" t="T9" r="T10" b="T11"/>
              <a:pathLst>
                <a:path w="21600" h="21600">
                  <a:moveTo>
                    <a:pt x="0" y="0"/>
                  </a:moveTo>
                  <a:lnTo>
                    <a:pt x="3600" y="21600"/>
                  </a:lnTo>
                  <a:lnTo>
                    <a:pt x="18000" y="21600"/>
                  </a:lnTo>
                  <a:lnTo>
                    <a:pt x="21600" y="0"/>
                  </a:lnTo>
                  <a:close/>
                </a:path>
              </a:pathLst>
            </a:custGeom>
            <a:solidFill>
              <a:srgbClr val="0000FF"/>
            </a:solidFill>
            <a:ln w="4699" algn="in">
              <a:solidFill>
                <a:schemeClr val="tx1"/>
              </a:solidFill>
              <a:miter lim="800000"/>
              <a:headEnd/>
              <a:tailEnd/>
            </a:ln>
          </p:spPr>
          <p:txBody>
            <a:bodyPr rot="10800000" vert="horz" wrap="none" lIns="139081" tIns="69540" rIns="139081" bIns="6954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Char char="•"/>
                <a:tabLst/>
              </a:pP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Procedures</a:t>
              </a:r>
              <a:endPar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Char char="•"/>
                <a:tabLst/>
              </a:pP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Instructions</a:t>
              </a:r>
              <a:endPar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endParaRPr>
            </a:p>
          </p:txBody>
        </p:sp>
        <p:sp>
          <p:nvSpPr>
            <p:cNvPr id="7" name="_s1031"/>
            <p:cNvSpPr>
              <a:spLocks noChangeArrowheads="1"/>
            </p:cNvSpPr>
            <p:nvPr/>
          </p:nvSpPr>
          <p:spPr bwMode="auto">
            <a:xfrm flipV="1">
              <a:off x="1500" y="2788"/>
              <a:ext cx="2716" cy="588"/>
            </a:xfrm>
            <a:custGeom>
              <a:avLst/>
              <a:gdLst>
                <a:gd name="G0" fmla="+- 2700 0 0"/>
                <a:gd name="G1" fmla="+- 21600 0 2700"/>
                <a:gd name="G2" fmla="*/ 2700 1 2"/>
                <a:gd name="G3" fmla="+- 21600 0 G2"/>
                <a:gd name="G4" fmla="+/ 2700 21600 2"/>
                <a:gd name="G5" fmla="+/ G1 0 2"/>
                <a:gd name="G6" fmla="*/ 21600 21600 2700"/>
                <a:gd name="G7" fmla="*/ G6 1 2"/>
                <a:gd name="G8" fmla="+- 21600 0 G7"/>
                <a:gd name="G9" fmla="*/ 21600 1 2"/>
                <a:gd name="G10" fmla="+- 2700 0 G9"/>
                <a:gd name="G11" fmla="?: G10 G8 0"/>
                <a:gd name="G12" fmla="?: G10 G7 21600"/>
                <a:gd name="T0" fmla="*/ 20250 w 21600"/>
                <a:gd name="T1" fmla="*/ 10800 h 21600"/>
                <a:gd name="T2" fmla="*/ 10800 w 21600"/>
                <a:gd name="T3" fmla="*/ 21600 h 21600"/>
                <a:gd name="T4" fmla="*/ 1350 w 21600"/>
                <a:gd name="T5" fmla="*/ 10800 h 21600"/>
                <a:gd name="T6" fmla="*/ 10800 w 21600"/>
                <a:gd name="T7" fmla="*/ 0 h 21600"/>
                <a:gd name="T8" fmla="*/ 3150 w 21600"/>
                <a:gd name="T9" fmla="*/ 3150 h 21600"/>
                <a:gd name="T10" fmla="*/ 18450 w 21600"/>
                <a:gd name="T11" fmla="*/ 18450 h 21600"/>
              </a:gdLst>
              <a:ahLst/>
              <a:cxnLst>
                <a:cxn ang="0">
                  <a:pos x="T0" y="T1"/>
                </a:cxn>
                <a:cxn ang="0">
                  <a:pos x="T2" y="T3"/>
                </a:cxn>
                <a:cxn ang="0">
                  <a:pos x="T4" y="T5"/>
                </a:cxn>
                <a:cxn ang="0">
                  <a:pos x="T6" y="T7"/>
                </a:cxn>
              </a:cxnLst>
              <a:rect l="T8" t="T9" r="T10" b="T11"/>
              <a:pathLst>
                <a:path w="21600" h="21600">
                  <a:moveTo>
                    <a:pt x="0" y="0"/>
                  </a:moveTo>
                  <a:lnTo>
                    <a:pt x="2700" y="21600"/>
                  </a:lnTo>
                  <a:lnTo>
                    <a:pt x="18900" y="21600"/>
                  </a:lnTo>
                  <a:lnTo>
                    <a:pt x="21600" y="0"/>
                  </a:lnTo>
                  <a:close/>
                </a:path>
              </a:pathLst>
            </a:custGeom>
            <a:solidFill>
              <a:srgbClr val="00FFFF"/>
            </a:solidFill>
            <a:ln w="4699" algn="in">
              <a:solidFill>
                <a:schemeClr val="tx1"/>
              </a:solidFill>
              <a:miter lim="800000"/>
              <a:headEnd/>
              <a:tailEnd/>
            </a:ln>
          </p:spPr>
          <p:txBody>
            <a:bodyPr rot="10800000" vert="horz" wrap="none" lIns="139081" tIns="69540" rIns="139081" bIns="6954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l-PL" sz="1600" b="1" i="0" u="none" strike="noStrike" cap="none" normalizeH="0" baseline="0">
                  <a:ln>
                    <a:noFill/>
                  </a:ln>
                  <a:solidFill>
                    <a:srgbClr val="FF3300"/>
                  </a:solidFill>
                  <a:effectLst/>
                  <a:latin typeface="Arial" panose="020B0604020202020204" pitchFamily="34" charset="0"/>
                  <a:cs typeface="Arial" panose="020B0604020202020204" pitchFamily="34" charset="0"/>
                </a:rPr>
                <a:t>Documents</a:t>
              </a:r>
              <a:r>
                <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rPr>
                <a:t> (</a:t>
              </a: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plans</a:t>
              </a:r>
              <a:r>
                <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rPr>
                <a:t>, </a:t>
              </a: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programs</a:t>
              </a:r>
              <a:r>
                <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rPr>
                <a:t>, </a:t>
              </a:r>
              <a:r>
                <a:rPr kumimoji="0" lang="pl-PL" sz="1600" b="1" i="0" u="none" strike="noStrike" cap="none" normalizeH="0" baseline="0" dirty="0" err="1">
                  <a:ln>
                    <a:noFill/>
                  </a:ln>
                  <a:solidFill>
                    <a:srgbClr val="FF3300"/>
                  </a:solidFill>
                  <a:effectLst/>
                  <a:latin typeface="Arial" panose="020B0604020202020204" pitchFamily="34" charset="0"/>
                  <a:cs typeface="Arial" panose="020B0604020202020204" pitchFamily="34" charset="0"/>
                </a:rPr>
                <a:t>specifications</a:t>
              </a:r>
              <a:r>
                <a:rPr kumimoji="0" lang="pl-PL" sz="1600" b="1" i="0" u="none" strike="noStrike" cap="none" normalizeH="0" baseline="0" dirty="0">
                  <a:ln>
                    <a:noFill/>
                  </a:ln>
                  <a:solidFill>
                    <a:srgbClr val="FF3300"/>
                  </a:solidFill>
                  <a:effectLst/>
                  <a:latin typeface="Arial" panose="020B0604020202020204" pitchFamily="34" charset="0"/>
                  <a:cs typeface="Arial" panose="020B0604020202020204" pitchFamily="34" charset="0"/>
                </a:rPr>
                <a:t>)</a:t>
              </a:r>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39939" name="Rectangle 2"/>
          <p:cNvSpPr>
            <a:spLocks noGrp="1" noChangeArrowheads="1"/>
          </p:cNvSpPr>
          <p:nvPr>
            <p:ph type="title"/>
          </p:nvPr>
        </p:nvSpPr>
        <p:spPr/>
        <p:txBody>
          <a:bodyPr/>
          <a:lstStyle/>
          <a:p>
            <a:pPr eaLnBrk="1" hangingPunct="1"/>
            <a:r>
              <a:rPr lang="pl-PL" sz="4000" b="1" dirty="0" err="1"/>
              <a:t>Pathologies</a:t>
            </a:r>
            <a:r>
              <a:rPr lang="pl-PL" sz="4000" b="1" dirty="0"/>
              <a:t> </a:t>
            </a:r>
            <a:r>
              <a:rPr lang="pl-PL" sz="4000" b="1" dirty="0">
                <a:sym typeface="Wingdings" pitchFamily="2" charset="2"/>
              </a:rPr>
              <a:t></a:t>
            </a:r>
            <a:endParaRPr lang="pl-PL" sz="4000" b="1" dirty="0"/>
          </a:p>
        </p:txBody>
      </p:sp>
      <p:sp>
        <p:nvSpPr>
          <p:cNvPr id="39940" name="Rectangle 3"/>
          <p:cNvSpPr>
            <a:spLocks noGrp="1" noChangeArrowheads="1"/>
          </p:cNvSpPr>
          <p:nvPr>
            <p:ph type="body" idx="1"/>
          </p:nvPr>
        </p:nvSpPr>
        <p:spPr/>
        <p:txBody>
          <a:bodyPr/>
          <a:lstStyle/>
          <a:p>
            <a:pPr eaLnBrk="1" hangingPunct="1">
              <a:lnSpc>
                <a:spcPct val="90000"/>
              </a:lnSpc>
            </a:pPr>
            <a:r>
              <a:rPr lang="en-US" dirty="0">
                <a:solidFill>
                  <a:srgbClr val="003399"/>
                </a:solidFill>
              </a:rPr>
              <a:t>Implementing too bureaucratic systems</a:t>
            </a:r>
          </a:p>
          <a:p>
            <a:pPr eaLnBrk="1" hangingPunct="1">
              <a:lnSpc>
                <a:spcPct val="90000"/>
              </a:lnSpc>
            </a:pPr>
            <a:r>
              <a:rPr lang="en-US" dirty="0">
                <a:solidFill>
                  <a:srgbClr val="003399"/>
                </a:solidFill>
              </a:rPr>
              <a:t>Long and formal procedures</a:t>
            </a:r>
          </a:p>
          <a:p>
            <a:pPr eaLnBrk="1" hangingPunct="1">
              <a:lnSpc>
                <a:spcPct val="90000"/>
              </a:lnSpc>
            </a:pPr>
            <a:r>
              <a:rPr lang="en-US" dirty="0">
                <a:solidFill>
                  <a:srgbClr val="003399"/>
                </a:solidFill>
              </a:rPr>
              <a:t>Multi-stage, ineffective controls</a:t>
            </a:r>
          </a:p>
          <a:p>
            <a:pPr eaLnBrk="1" hangingPunct="1">
              <a:lnSpc>
                <a:spcPct val="90000"/>
              </a:lnSpc>
            </a:pPr>
            <a:r>
              <a:rPr lang="en-US" dirty="0">
                <a:solidFill>
                  <a:srgbClr val="003399"/>
                </a:solidFill>
              </a:rPr>
              <a:t>The cost of creating documents that present activities that will never be implemented</a:t>
            </a:r>
          </a:p>
          <a:p>
            <a:pPr eaLnBrk="1" hangingPunct="1">
              <a:lnSpc>
                <a:spcPct val="90000"/>
              </a:lnSpc>
            </a:pPr>
            <a:r>
              <a:rPr lang="en-US" dirty="0">
                <a:solidFill>
                  <a:srgbClr val="003399"/>
                </a:solidFill>
              </a:rPr>
              <a:t>Documents – </a:t>
            </a:r>
            <a:r>
              <a:rPr lang="pl-PL" dirty="0" err="1">
                <a:solidFill>
                  <a:srgbClr val="003399"/>
                </a:solidFill>
              </a:rPr>
              <a:t>created</a:t>
            </a:r>
            <a:r>
              <a:rPr lang="pl-PL" dirty="0">
                <a:solidFill>
                  <a:srgbClr val="003399"/>
                </a:solidFill>
              </a:rPr>
              <a:t> </a:t>
            </a:r>
            <a:r>
              <a:rPr lang="en-US" dirty="0">
                <a:solidFill>
                  <a:srgbClr val="003399"/>
                </a:solidFill>
              </a:rPr>
              <a:t>only </a:t>
            </a:r>
            <a:r>
              <a:rPr lang="pl-PL" dirty="0">
                <a:solidFill>
                  <a:srgbClr val="003399"/>
                </a:solidFill>
              </a:rPr>
              <a:t>for the </a:t>
            </a:r>
            <a:r>
              <a:rPr lang="en-US" dirty="0">
                <a:solidFill>
                  <a:srgbClr val="003399"/>
                </a:solidFill>
              </a:rPr>
              <a:t>formal </a:t>
            </a:r>
            <a:r>
              <a:rPr lang="pl-PL" dirty="0" err="1">
                <a:solidFill>
                  <a:srgbClr val="003399"/>
                </a:solidFill>
              </a:rPr>
              <a:t>protection</a:t>
            </a:r>
            <a:r>
              <a:rPr lang="en-US" dirty="0">
                <a:solidFill>
                  <a:srgbClr val="003399"/>
                </a:solidFill>
              </a:rPr>
              <a:t> of the organization</a:t>
            </a:r>
            <a:endParaRPr lang="pl-PL" dirty="0">
              <a:solidFill>
                <a:srgbClr val="003399"/>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ymbol zastępczy stopki 4"/>
          <p:cNvSpPr>
            <a:spLocks noGrp="1"/>
          </p:cNvSpPr>
          <p:nvPr>
            <p:ph type="ftr" sz="quarter" idx="11"/>
          </p:nvPr>
        </p:nvSpPr>
        <p:spPr/>
        <p:txBody>
          <a:bodyPr/>
          <a:lstStyle/>
          <a:p>
            <a:pPr>
              <a:defRPr/>
            </a:pPr>
            <a:r>
              <a:rPr lang="pl-PL" altLang="en-US"/>
              <a:t>PJAIT</a:t>
            </a:r>
          </a:p>
        </p:txBody>
      </p:sp>
      <p:sp>
        <p:nvSpPr>
          <p:cNvPr id="40963" name="Rectangle 2"/>
          <p:cNvSpPr>
            <a:spLocks noGrp="1" noChangeArrowheads="1"/>
          </p:cNvSpPr>
          <p:nvPr>
            <p:ph type="title"/>
          </p:nvPr>
        </p:nvSpPr>
        <p:spPr/>
        <p:txBody>
          <a:bodyPr/>
          <a:lstStyle/>
          <a:p>
            <a:pPr eaLnBrk="1" hangingPunct="1"/>
            <a:r>
              <a:rPr lang="pl-PL" sz="4000" b="1">
                <a:sym typeface="Wingdings" pitchFamily="2" charset="2"/>
              </a:rPr>
              <a:t></a:t>
            </a:r>
            <a:endParaRPr lang="pl-PL" sz="4000" b="1"/>
          </a:p>
        </p:txBody>
      </p:sp>
      <p:pic>
        <p:nvPicPr>
          <p:cNvPr id="40964" name="Picture 3" descr="truskawka"/>
          <p:cNvPicPr>
            <a:picLocks noGrp="1" noChangeAspect="1" noChangeArrowheads="1"/>
          </p:cNvPicPr>
          <p:nvPr>
            <p:ph type="body" idx="1"/>
          </p:nvPr>
        </p:nvPicPr>
        <p:blipFill>
          <a:blip r:embed="rId3" cstate="print"/>
          <a:srcRect/>
          <a:stretch>
            <a:fillRect/>
          </a:stretch>
        </p:blipFill>
        <p:spPr>
          <a:xfrm>
            <a:off x="2627313" y="1484313"/>
            <a:ext cx="3810000" cy="3810000"/>
          </a:xfr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41987" name="Rectangle 2"/>
          <p:cNvSpPr>
            <a:spLocks noGrp="1" noChangeArrowheads="1"/>
          </p:cNvSpPr>
          <p:nvPr>
            <p:ph type="title"/>
          </p:nvPr>
        </p:nvSpPr>
        <p:spPr/>
        <p:txBody>
          <a:bodyPr/>
          <a:lstStyle/>
          <a:p>
            <a:pPr eaLnBrk="1" hangingPunct="1"/>
            <a:r>
              <a:rPr lang="pl-PL" sz="4000" b="1">
                <a:sym typeface="Wingdings" pitchFamily="2" charset="2"/>
              </a:rPr>
              <a:t></a:t>
            </a:r>
          </a:p>
        </p:txBody>
      </p:sp>
      <p:sp>
        <p:nvSpPr>
          <p:cNvPr id="203779" name="Rectangle 3"/>
          <p:cNvSpPr>
            <a:spLocks noGrp="1" noChangeArrowheads="1"/>
          </p:cNvSpPr>
          <p:nvPr>
            <p:ph type="body" idx="1"/>
          </p:nvPr>
        </p:nvSpPr>
        <p:spPr/>
        <p:txBody>
          <a:bodyPr/>
          <a:lstStyle/>
          <a:p>
            <a:pPr eaLnBrk="1" hangingPunct="1">
              <a:buNone/>
            </a:pPr>
            <a:r>
              <a:rPr lang="pl-PL" sz="2600" dirty="0">
                <a:solidFill>
                  <a:srgbClr val="003399"/>
                </a:solidFill>
              </a:rPr>
              <a:t>  T</a:t>
            </a:r>
            <a:r>
              <a:rPr lang="en-US" sz="2600" dirty="0">
                <a:solidFill>
                  <a:srgbClr val="003399"/>
                </a:solidFill>
              </a:rPr>
              <a:t>he 1988 Regulation states that 'extra' and first category cucumbers must be 'well developed, well educated and practically simple, with a maximum arch height:</a:t>
            </a:r>
          </a:p>
          <a:p>
            <a:pPr eaLnBrk="1" hangingPunct="1">
              <a:buNone/>
            </a:pPr>
            <a:r>
              <a:rPr lang="en-US" sz="2600" dirty="0">
                <a:solidFill>
                  <a:srgbClr val="003399"/>
                </a:solidFill>
              </a:rPr>
              <a:t>   10 mm for every 10 cm of cucumber.</a:t>
            </a:r>
          </a:p>
          <a:p>
            <a:pPr eaLnBrk="1" hangingPunct="1">
              <a:buNone/>
            </a:pPr>
            <a:r>
              <a:rPr lang="en-US" sz="2600" dirty="0">
                <a:solidFill>
                  <a:srgbClr val="003399"/>
                </a:solidFill>
              </a:rPr>
              <a:t>    In the second and third category, greater curvature is allowed, except if it exceeds</a:t>
            </a:r>
          </a:p>
          <a:p>
            <a:pPr eaLnBrk="1" hangingPunct="1">
              <a:buNone/>
            </a:pPr>
            <a:r>
              <a:rPr lang="en-US" sz="2600" dirty="0">
                <a:solidFill>
                  <a:srgbClr val="003399"/>
                </a:solidFill>
              </a:rPr>
              <a:t>   20 mm for every 10 cm of cucumber,</a:t>
            </a:r>
          </a:p>
          <a:p>
            <a:pPr eaLnBrk="1" hangingPunct="1">
              <a:buNone/>
            </a:pPr>
            <a:r>
              <a:rPr lang="en-US" sz="2600" dirty="0">
                <a:solidFill>
                  <a:srgbClr val="003399"/>
                </a:solidFill>
              </a:rPr>
              <a:t>   cucumbers must be packed separately</a:t>
            </a:r>
            <a:endParaRPr lang="pl-PL" sz="2600" dirty="0">
              <a:solidFill>
                <a:srgbClr val="003399"/>
              </a:solidFill>
            </a:endParaRPr>
          </a:p>
        </p:txBody>
      </p:sp>
      <p:pic>
        <p:nvPicPr>
          <p:cNvPr id="41989" name="Picture 4"/>
          <p:cNvPicPr>
            <a:picLocks noChangeAspect="1" noChangeArrowheads="1"/>
          </p:cNvPicPr>
          <p:nvPr/>
        </p:nvPicPr>
        <p:blipFill>
          <a:blip r:embed="rId3" cstate="print"/>
          <a:srcRect/>
          <a:stretch>
            <a:fillRect/>
          </a:stretch>
        </p:blipFill>
        <p:spPr bwMode="auto">
          <a:xfrm>
            <a:off x="7019925" y="5157788"/>
            <a:ext cx="1585913" cy="785812"/>
          </a:xfrm>
          <a:prstGeom prst="rect">
            <a:avLst/>
          </a:prstGeom>
          <a:noFill/>
          <a:ln w="9525">
            <a:noFill/>
            <a:miter lim="800000"/>
            <a:headEnd/>
            <a:tailEnd/>
          </a:ln>
        </p:spPr>
      </p:pic>
      <p:sp>
        <p:nvSpPr>
          <p:cNvPr id="41990" name="Text Box 5"/>
          <p:cNvSpPr txBox="1">
            <a:spLocks noChangeArrowheads="1"/>
          </p:cNvSpPr>
          <p:nvPr/>
        </p:nvSpPr>
        <p:spPr bwMode="auto">
          <a:xfrm>
            <a:off x="323850" y="6237288"/>
            <a:ext cx="4176713" cy="274637"/>
          </a:xfrm>
          <a:prstGeom prst="rect">
            <a:avLst/>
          </a:prstGeom>
          <a:noFill/>
          <a:ln w="9525">
            <a:noFill/>
            <a:miter lim="800000"/>
            <a:headEnd/>
            <a:tailEnd/>
          </a:ln>
        </p:spPr>
        <p:txBody>
          <a:bodyPr>
            <a:spAutoFit/>
          </a:bodyPr>
          <a:lstStyle/>
          <a:p>
            <a:pPr>
              <a:spcBef>
                <a:spcPct val="50000"/>
              </a:spcBef>
            </a:pPr>
            <a:r>
              <a:rPr lang="pl-PL" sz="1200" dirty="0" err="1"/>
              <a:t>Sources</a:t>
            </a:r>
            <a:r>
              <a:rPr lang="pl-PL" sz="1200" dirty="0"/>
              <a:t>: wiedza.wege.pl,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3779">
                                            <p:txEl>
                                              <p:pRg st="1" end="1"/>
                                            </p:txEl>
                                          </p:spTgt>
                                        </p:tgtEl>
                                        <p:attrNameLst>
                                          <p:attrName>style.visibility</p:attrName>
                                        </p:attrNameLst>
                                      </p:cBhvr>
                                      <p:to>
                                        <p:strVal val="visible"/>
                                      </p:to>
                                    </p:set>
                                    <p:anim calcmode="lin" valueType="num">
                                      <p:cBhvr additive="base">
                                        <p:cTn id="7" dur="500" fill="hold"/>
                                        <p:tgtEl>
                                          <p:spTgt spid="2037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37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3779">
                                            <p:txEl>
                                              <p:pRg st="3" end="3"/>
                                            </p:txEl>
                                          </p:spTgt>
                                        </p:tgtEl>
                                        <p:attrNameLst>
                                          <p:attrName>style.visibility</p:attrName>
                                        </p:attrNameLst>
                                      </p:cBhvr>
                                      <p:to>
                                        <p:strVal val="visible"/>
                                      </p:to>
                                    </p:set>
                                    <p:anim calcmode="lin" valueType="num">
                                      <p:cBhvr additive="base">
                                        <p:cTn id="13" dur="500" fill="hold"/>
                                        <p:tgtEl>
                                          <p:spTgt spid="20377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377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ymbol zastępczy stopki 4"/>
          <p:cNvSpPr>
            <a:spLocks noGrp="1"/>
          </p:cNvSpPr>
          <p:nvPr>
            <p:ph type="ftr" sz="quarter" idx="11"/>
          </p:nvPr>
        </p:nvSpPr>
        <p:spPr/>
        <p:txBody>
          <a:bodyPr/>
          <a:lstStyle/>
          <a:p>
            <a:pPr>
              <a:defRPr/>
            </a:pPr>
            <a:r>
              <a:rPr lang="pl-PL" altLang="en-US"/>
              <a:t>PJAIT</a:t>
            </a:r>
          </a:p>
        </p:txBody>
      </p:sp>
      <p:sp>
        <p:nvSpPr>
          <p:cNvPr id="43011" name="Rectangle 2"/>
          <p:cNvSpPr>
            <a:spLocks noGrp="1" noChangeArrowheads="1"/>
          </p:cNvSpPr>
          <p:nvPr>
            <p:ph type="title"/>
          </p:nvPr>
        </p:nvSpPr>
        <p:spPr/>
        <p:txBody>
          <a:bodyPr/>
          <a:lstStyle/>
          <a:p>
            <a:pPr eaLnBrk="1" hangingPunct="1"/>
            <a:r>
              <a:rPr lang="pl-PL" sz="4000" b="1">
                <a:sym typeface="Wingdings" pitchFamily="2" charset="2"/>
              </a:rPr>
              <a:t></a:t>
            </a:r>
          </a:p>
        </p:txBody>
      </p:sp>
      <p:sp>
        <p:nvSpPr>
          <p:cNvPr id="204804" name="Rectangle 4"/>
          <p:cNvSpPr>
            <a:spLocks noGrp="1" noChangeArrowheads="1"/>
          </p:cNvSpPr>
          <p:nvPr>
            <p:ph type="body" idx="1"/>
          </p:nvPr>
        </p:nvSpPr>
        <p:spPr/>
        <p:txBody>
          <a:bodyPr/>
          <a:lstStyle/>
          <a:p>
            <a:pPr eaLnBrk="1" hangingPunct="1">
              <a:buFont typeface="Wingdings" pitchFamily="2" charset="2"/>
              <a:buNone/>
            </a:pPr>
            <a:endParaRPr lang="pl-PL" dirty="0"/>
          </a:p>
          <a:p>
            <a:pPr eaLnBrk="1" hangingPunct="1">
              <a:buFont typeface="Wingdings" pitchFamily="2" charset="2"/>
              <a:buNone/>
            </a:pPr>
            <a:endParaRPr lang="pl-PL" dirty="0"/>
          </a:p>
          <a:p>
            <a:pPr eaLnBrk="1" hangingPunct="1">
              <a:buFont typeface="Wingdings" pitchFamily="2" charset="2"/>
              <a:buNone/>
            </a:pPr>
            <a:endParaRPr lang="pl-PL" dirty="0"/>
          </a:p>
          <a:p>
            <a:pPr eaLnBrk="1" hangingPunct="1">
              <a:buFont typeface="Wingdings" pitchFamily="2" charset="2"/>
              <a:buNone/>
            </a:pPr>
            <a:endParaRPr lang="pl-PL" dirty="0"/>
          </a:p>
          <a:p>
            <a:pPr eaLnBrk="1" hangingPunct="1">
              <a:buFont typeface="Wingdings" pitchFamily="2" charset="2"/>
              <a:buNone/>
            </a:pPr>
            <a:r>
              <a:rPr lang="pl-PL" dirty="0" err="1">
                <a:solidFill>
                  <a:srgbClr val="003399"/>
                </a:solidFill>
              </a:rPr>
              <a:t>inland</a:t>
            </a:r>
            <a:r>
              <a:rPr lang="pl-PL" dirty="0">
                <a:solidFill>
                  <a:srgbClr val="003399"/>
                </a:solidFill>
              </a:rPr>
              <a:t> </a:t>
            </a:r>
            <a:r>
              <a:rPr lang="pl-PL" dirty="0" err="1">
                <a:solidFill>
                  <a:srgbClr val="003399"/>
                </a:solidFill>
              </a:rPr>
              <a:t>fish</a:t>
            </a:r>
            <a:r>
              <a:rPr lang="pl-PL" dirty="0">
                <a:solidFill>
                  <a:srgbClr val="003399"/>
                </a:solidFill>
              </a:rPr>
              <a:t> </a:t>
            </a:r>
            <a:r>
              <a:rPr lang="pl-PL" dirty="0">
                <a:solidFill>
                  <a:srgbClr val="003399"/>
                </a:solidFill>
                <a:sym typeface="Wingdings" panose="05000000000000000000" pitchFamily="2" charset="2"/>
              </a:rPr>
              <a:t></a:t>
            </a:r>
            <a:endParaRPr lang="pl-PL" dirty="0">
              <a:solidFill>
                <a:srgbClr val="003399"/>
              </a:solidFill>
            </a:endParaRPr>
          </a:p>
        </p:txBody>
      </p:sp>
      <p:pic>
        <p:nvPicPr>
          <p:cNvPr id="43013" name="Picture 5" descr="a"/>
          <p:cNvPicPr>
            <a:picLocks noChangeAspect="1" noChangeArrowheads="1"/>
          </p:cNvPicPr>
          <p:nvPr/>
        </p:nvPicPr>
        <p:blipFill>
          <a:blip r:embed="rId3" cstate="print"/>
          <a:srcRect/>
          <a:stretch>
            <a:fillRect/>
          </a:stretch>
        </p:blipFill>
        <p:spPr bwMode="auto">
          <a:xfrm>
            <a:off x="3614737" y="1916832"/>
            <a:ext cx="1914525" cy="1428750"/>
          </a:xfrm>
          <a:prstGeom prst="rect">
            <a:avLst/>
          </a:prstGeom>
          <a:noFill/>
          <a:ln w="9525">
            <a:noFill/>
            <a:miter lim="800000"/>
            <a:headEnd/>
            <a:tailEnd/>
          </a:ln>
        </p:spPr>
      </p:pic>
      <p:sp>
        <p:nvSpPr>
          <p:cNvPr id="43014" name="Text Box 6"/>
          <p:cNvSpPr txBox="1">
            <a:spLocks noChangeArrowheads="1"/>
          </p:cNvSpPr>
          <p:nvPr/>
        </p:nvSpPr>
        <p:spPr bwMode="auto">
          <a:xfrm>
            <a:off x="323850" y="6165850"/>
            <a:ext cx="3095625" cy="274638"/>
          </a:xfrm>
          <a:prstGeom prst="rect">
            <a:avLst/>
          </a:prstGeom>
          <a:noFill/>
          <a:ln w="9525">
            <a:noFill/>
            <a:miter lim="800000"/>
            <a:headEnd/>
            <a:tailEnd/>
          </a:ln>
        </p:spPr>
        <p:txBody>
          <a:bodyPr>
            <a:spAutoFit/>
          </a:bodyPr>
          <a:lstStyle/>
          <a:p>
            <a:pPr>
              <a:spcBef>
                <a:spcPct val="50000"/>
              </a:spcBef>
            </a:pPr>
            <a:r>
              <a:rPr lang="pl-PL" sz="1200" dirty="0"/>
              <a:t>Source: img.bazarek.pl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04">
                                            <p:txEl>
                                              <p:pRg st="4" end="4"/>
                                            </p:txEl>
                                          </p:spTgt>
                                        </p:tgtEl>
                                        <p:attrNameLst>
                                          <p:attrName>style.visibility</p:attrName>
                                        </p:attrNameLst>
                                      </p:cBhvr>
                                      <p:to>
                                        <p:strVal val="visible"/>
                                      </p:to>
                                    </p:set>
                                    <p:anim calcmode="lin" valueType="num">
                                      <p:cBhvr additive="base">
                                        <p:cTn id="7" dur="500" fill="hold"/>
                                        <p:tgtEl>
                                          <p:spTgt spid="204804">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0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Krawędź">
  <a:themeElements>
    <a:clrScheme name="Krawęd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Krawędź">
      <a:majorFont>
        <a:latin typeface="Garamond"/>
        <a:ea typeface=""/>
        <a:cs typeface=""/>
      </a:majorFont>
      <a:minorFont>
        <a:latin typeface="Arial"/>
        <a:ea typeface=""/>
        <a:cs typeface=""/>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pl-PL" sz="3200" b="0" i="0" u="none" strike="noStrike" cap="none" normalizeH="0" baseline="0" smtClean="0">
            <a:ln>
              <a:noFill/>
            </a:ln>
            <a:solidFill>
              <a:srgbClr val="003399"/>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pl-PL" sz="3200" b="0" i="0" u="none" strike="noStrike" cap="none" normalizeH="0" baseline="0" smtClean="0">
            <a:ln>
              <a:noFill/>
            </a:ln>
            <a:solidFill>
              <a:srgbClr val="003399"/>
            </a:solidFill>
            <a:effectLst/>
            <a:latin typeface="Arial" charset="0"/>
          </a:defRPr>
        </a:defPPr>
      </a:lstStyle>
    </a:lnDef>
  </a:objectDefaults>
  <a:extraClrSchemeLst>
    <a:extraClrScheme>
      <a:clrScheme name="Krawędź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Krawędź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Krawędź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Krawędź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Krawędź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Krawędź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Krawędź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Krawędź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Krawędź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otyw pakietu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akiet 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akiet 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8F85CA91CBE5A04A98B3EABED47C01F4" ma:contentTypeVersion="7" ma:contentTypeDescription="Utwórz nowy dokument." ma:contentTypeScope="" ma:versionID="1a122933455b5f334c7ef3314799227d">
  <xsd:schema xmlns:xsd="http://www.w3.org/2001/XMLSchema" xmlns:xs="http://www.w3.org/2001/XMLSchema" xmlns:p="http://schemas.microsoft.com/office/2006/metadata/properties" xmlns:ns2="c9d74a0b-2f55-4a58-80ca-27c2af706ce1" targetNamespace="http://schemas.microsoft.com/office/2006/metadata/properties" ma:root="true" ma:fieldsID="5705b34186204ad3508f4a66bbe0eead" ns2:_="">
    <xsd:import namespace="c9d74a0b-2f55-4a58-80ca-27c2af706c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d74a0b-2f55-4a58-80ca-27c2af706c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0691314-3C48-43AC-AC7A-1954B9022D51}"/>
</file>

<file path=customXml/itemProps2.xml><?xml version="1.0" encoding="utf-8"?>
<ds:datastoreItem xmlns:ds="http://schemas.openxmlformats.org/officeDocument/2006/customXml" ds:itemID="{9E9D2285-80AD-4EAF-8AF0-A6FF91F44915}"/>
</file>

<file path=customXml/itemProps3.xml><?xml version="1.0" encoding="utf-8"?>
<ds:datastoreItem xmlns:ds="http://schemas.openxmlformats.org/officeDocument/2006/customXml" ds:itemID="{5EC0A1CA-D791-4B17-9B71-B42C71AF2748}"/>
</file>

<file path=docProps/app.xml><?xml version="1.0" encoding="utf-8"?>
<Properties xmlns="http://schemas.openxmlformats.org/officeDocument/2006/extended-properties" xmlns:vt="http://schemas.openxmlformats.org/officeDocument/2006/docPropsVTypes">
  <Template/>
  <TotalTime>3006</TotalTime>
  <Words>9295</Words>
  <Application>Microsoft Office PowerPoint</Application>
  <PresentationFormat>Pokaz na ekranie (4:3)</PresentationFormat>
  <Paragraphs>551</Paragraphs>
  <Slides>58</Slides>
  <Notes>58</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58</vt:i4>
      </vt:variant>
    </vt:vector>
  </HeadingPairs>
  <TitlesOfParts>
    <vt:vector size="62" baseType="lpstr">
      <vt:lpstr>Arial</vt:lpstr>
      <vt:lpstr>Garamond</vt:lpstr>
      <vt:lpstr>Wingdings</vt:lpstr>
      <vt:lpstr>Krawędź</vt:lpstr>
      <vt:lpstr>Quality management</vt:lpstr>
      <vt:lpstr>Quality - definitions</vt:lpstr>
      <vt:lpstr>Quality - definitions</vt:lpstr>
      <vt:lpstr>Quality - definitions</vt:lpstr>
      <vt:lpstr>Quality management</vt:lpstr>
      <vt:lpstr>The genesis of the increase in the importance of quality </vt:lpstr>
      <vt:lpstr>The origins of quality management </vt:lpstr>
      <vt:lpstr>Quality management systems – history </vt:lpstr>
      <vt:lpstr>Quality management systems – history </vt:lpstr>
      <vt:lpstr>14 points for management</vt:lpstr>
      <vt:lpstr>14 points for management</vt:lpstr>
      <vt:lpstr>14 points for management</vt:lpstr>
      <vt:lpstr>14 points for management</vt:lpstr>
      <vt:lpstr>14 points for management</vt:lpstr>
      <vt:lpstr>14 points for management</vt:lpstr>
      <vt:lpstr>14 points for management</vt:lpstr>
      <vt:lpstr>W. Edwards Deming</vt:lpstr>
      <vt:lpstr>W. Edwards Deming</vt:lpstr>
      <vt:lpstr>Total Quality Management (TQM)</vt:lpstr>
      <vt:lpstr>TQM – basic rules</vt:lpstr>
      <vt:lpstr>Total Quality Management (TQM)</vt:lpstr>
      <vt:lpstr>Methods supporting TQM</vt:lpstr>
      <vt:lpstr>Cost of Quality (COQ) </vt:lpstr>
      <vt:lpstr>„Zero defects” concept</vt:lpstr>
      <vt:lpstr>Ishikawa diagram </vt:lpstr>
      <vt:lpstr>Example: faulty bearing</vt:lpstr>
      <vt:lpstr>Kaizen</vt:lpstr>
      <vt:lpstr>Kaizen</vt:lpstr>
      <vt:lpstr>Kaizen</vt:lpstr>
      <vt:lpstr>Kaizen</vt:lpstr>
      <vt:lpstr>Kaizen</vt:lpstr>
      <vt:lpstr>Kaizen - muda</vt:lpstr>
      <vt:lpstr>Kaizen - muda</vt:lpstr>
      <vt:lpstr>Kaizen - muda</vt:lpstr>
      <vt:lpstr>Kaizen - muda</vt:lpstr>
      <vt:lpstr>Kaizen - muda</vt:lpstr>
      <vt:lpstr>Kaizen - muda</vt:lpstr>
      <vt:lpstr>Kaizen - muda</vt:lpstr>
      <vt:lpstr>Kaizen - muda</vt:lpstr>
      <vt:lpstr>Kaizen - muda</vt:lpstr>
      <vt:lpstr>Kaizen - muda</vt:lpstr>
      <vt:lpstr>Kaizen</vt:lpstr>
      <vt:lpstr>5S Method</vt:lpstr>
      <vt:lpstr>5S Method</vt:lpstr>
      <vt:lpstr>5S Method</vt:lpstr>
      <vt:lpstr>Kaizen outside Japan? Kaizen in Poland?</vt:lpstr>
      <vt:lpstr>Kaizen outside Japan? Kaizen in Poland?</vt:lpstr>
      <vt:lpstr>Just in Time (JiT)</vt:lpstr>
      <vt:lpstr>Six Sigma</vt:lpstr>
      <vt:lpstr>Six Sigma</vt:lpstr>
      <vt:lpstr>Quality certificates and audit</vt:lpstr>
      <vt:lpstr>Documentation </vt:lpstr>
      <vt:lpstr>Documentation </vt:lpstr>
      <vt:lpstr>Documentation </vt:lpstr>
      <vt:lpstr>Pathologies </vt:lpstr>
      <vt:lpstr></vt:lpstr>
      <vt:lpstr></vt:lpstr>
      <vt:lp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economics SWPS 2004/05</dc:title>
  <dc:creator>abc</dc:creator>
  <cp:lastModifiedBy>Mateusz Kowalik</cp:lastModifiedBy>
  <cp:revision>172</cp:revision>
  <dcterms:created xsi:type="dcterms:W3CDTF">2005-02-05T11:21:33Z</dcterms:created>
  <dcterms:modified xsi:type="dcterms:W3CDTF">2021-12-10T14:02:29Z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0x0101008F85CA91CBE5A04A98B3EABED47C01F4</vt:lpwstr>
  </property>
</Properties>
</file>