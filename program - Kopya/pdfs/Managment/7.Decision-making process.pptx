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9" r:id="rId4"/>
  </p:sldMasterIdLst>
  <p:notesMasterIdLst>
    <p:notesMasterId r:id="rId37"/>
  </p:notesMasterIdLst>
  <p:handoutMasterIdLst>
    <p:handoutMasterId r:id="rId38"/>
  </p:handoutMasterIdLst>
  <p:sldIdLst>
    <p:sldId id="256" r:id="rId5"/>
    <p:sldId id="257" r:id="rId6"/>
    <p:sldId id="258" r:id="rId7"/>
    <p:sldId id="275" r:id="rId8"/>
    <p:sldId id="260" r:id="rId9"/>
    <p:sldId id="287" r:id="rId10"/>
    <p:sldId id="288" r:id="rId11"/>
    <p:sldId id="289" r:id="rId12"/>
    <p:sldId id="261" r:id="rId13"/>
    <p:sldId id="276" r:id="rId14"/>
    <p:sldId id="262" r:id="rId15"/>
    <p:sldId id="278" r:id="rId16"/>
    <p:sldId id="269" r:id="rId17"/>
    <p:sldId id="279" r:id="rId18"/>
    <p:sldId id="280" r:id="rId19"/>
    <p:sldId id="281" r:id="rId20"/>
    <p:sldId id="283" r:id="rId21"/>
    <p:sldId id="290" r:id="rId22"/>
    <p:sldId id="284" r:id="rId23"/>
    <p:sldId id="285" r:id="rId24"/>
    <p:sldId id="282" r:id="rId25"/>
    <p:sldId id="273" r:id="rId26"/>
    <p:sldId id="264" r:id="rId27"/>
    <p:sldId id="265" r:id="rId28"/>
    <p:sldId id="291" r:id="rId29"/>
    <p:sldId id="292" r:id="rId30"/>
    <p:sldId id="268" r:id="rId31"/>
    <p:sldId id="286" r:id="rId32"/>
    <p:sldId id="271" r:id="rId33"/>
    <p:sldId id="293" r:id="rId34"/>
    <p:sldId id="294" r:id="rId35"/>
    <p:sldId id="274" r:id="rId36"/>
  </p:sldIdLst>
  <p:sldSz cx="9144000" cy="6858000" type="screen4x3"/>
  <p:notesSz cx="6858000" cy="9144000"/>
  <p:defaultTextStyle>
    <a:defPPr>
      <a:defRPr lang="pl-PL"/>
    </a:defPPr>
    <a:lvl1pPr algn="l" rtl="0" fontAlgn="base">
      <a:spcBef>
        <a:spcPct val="0"/>
      </a:spcBef>
      <a:spcAft>
        <a:spcPct val="0"/>
      </a:spcAft>
      <a:defRPr sz="3200" kern="1200">
        <a:solidFill>
          <a:srgbClr val="003399"/>
        </a:solidFill>
        <a:latin typeface="Arial" charset="0"/>
        <a:ea typeface="+mn-ea"/>
        <a:cs typeface="+mn-cs"/>
      </a:defRPr>
    </a:lvl1pPr>
    <a:lvl2pPr marL="457200" algn="l" rtl="0" fontAlgn="base">
      <a:spcBef>
        <a:spcPct val="0"/>
      </a:spcBef>
      <a:spcAft>
        <a:spcPct val="0"/>
      </a:spcAft>
      <a:defRPr sz="3200" kern="1200">
        <a:solidFill>
          <a:srgbClr val="003399"/>
        </a:solidFill>
        <a:latin typeface="Arial" charset="0"/>
        <a:ea typeface="+mn-ea"/>
        <a:cs typeface="+mn-cs"/>
      </a:defRPr>
    </a:lvl2pPr>
    <a:lvl3pPr marL="914400" algn="l" rtl="0" fontAlgn="base">
      <a:spcBef>
        <a:spcPct val="0"/>
      </a:spcBef>
      <a:spcAft>
        <a:spcPct val="0"/>
      </a:spcAft>
      <a:defRPr sz="3200" kern="1200">
        <a:solidFill>
          <a:srgbClr val="003399"/>
        </a:solidFill>
        <a:latin typeface="Arial" charset="0"/>
        <a:ea typeface="+mn-ea"/>
        <a:cs typeface="+mn-cs"/>
      </a:defRPr>
    </a:lvl3pPr>
    <a:lvl4pPr marL="1371600" algn="l" rtl="0" fontAlgn="base">
      <a:spcBef>
        <a:spcPct val="0"/>
      </a:spcBef>
      <a:spcAft>
        <a:spcPct val="0"/>
      </a:spcAft>
      <a:defRPr sz="3200" kern="1200">
        <a:solidFill>
          <a:srgbClr val="003399"/>
        </a:solidFill>
        <a:latin typeface="Arial" charset="0"/>
        <a:ea typeface="+mn-ea"/>
        <a:cs typeface="+mn-cs"/>
      </a:defRPr>
    </a:lvl4pPr>
    <a:lvl5pPr marL="1828800" algn="l" rtl="0" fontAlgn="base">
      <a:spcBef>
        <a:spcPct val="0"/>
      </a:spcBef>
      <a:spcAft>
        <a:spcPct val="0"/>
      </a:spcAft>
      <a:defRPr sz="3200" kern="1200">
        <a:solidFill>
          <a:srgbClr val="003399"/>
        </a:solidFill>
        <a:latin typeface="Arial" charset="0"/>
        <a:ea typeface="+mn-ea"/>
        <a:cs typeface="+mn-cs"/>
      </a:defRPr>
    </a:lvl5pPr>
    <a:lvl6pPr marL="2286000" algn="l" defTabSz="914400" rtl="0" eaLnBrk="1" latinLnBrk="0" hangingPunct="1">
      <a:defRPr sz="3200" kern="1200">
        <a:solidFill>
          <a:srgbClr val="003399"/>
        </a:solidFill>
        <a:latin typeface="Arial" charset="0"/>
        <a:ea typeface="+mn-ea"/>
        <a:cs typeface="+mn-cs"/>
      </a:defRPr>
    </a:lvl6pPr>
    <a:lvl7pPr marL="2743200" algn="l" defTabSz="914400" rtl="0" eaLnBrk="1" latinLnBrk="0" hangingPunct="1">
      <a:defRPr sz="3200" kern="1200">
        <a:solidFill>
          <a:srgbClr val="003399"/>
        </a:solidFill>
        <a:latin typeface="Arial" charset="0"/>
        <a:ea typeface="+mn-ea"/>
        <a:cs typeface="+mn-cs"/>
      </a:defRPr>
    </a:lvl7pPr>
    <a:lvl8pPr marL="3200400" algn="l" defTabSz="914400" rtl="0" eaLnBrk="1" latinLnBrk="0" hangingPunct="1">
      <a:defRPr sz="3200" kern="1200">
        <a:solidFill>
          <a:srgbClr val="003399"/>
        </a:solidFill>
        <a:latin typeface="Arial" charset="0"/>
        <a:ea typeface="+mn-ea"/>
        <a:cs typeface="+mn-cs"/>
      </a:defRPr>
    </a:lvl8pPr>
    <a:lvl9pPr marL="3657600" algn="l" defTabSz="914400" rtl="0" eaLnBrk="1" latinLnBrk="0" hangingPunct="1">
      <a:defRPr sz="3200" kern="1200">
        <a:solidFill>
          <a:srgbClr val="003399"/>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a:srgbClr val="0066CC"/>
    <a:srgbClr val="339933"/>
    <a:srgbClr val="3333CC"/>
    <a:srgbClr val="3333FF"/>
    <a:srgbClr val="0000FF"/>
    <a:srgbClr val="FFFFCC"/>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2BD8AA-E370-6B7E-F901-0DC91506F918}" v="4" dt="2026-01-13T13:33:29.215"/>
    <p1510:client id="{BE6146DF-D564-C2A6-ABD4-184E50FEAD4F}" v="6" dt="2026-01-13T13:33:13.9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6" d="100"/>
          <a:sy n="116" d="100"/>
        </p:scale>
        <p:origin x="3006" y="102"/>
      </p:cViewPr>
      <p:guideLst>
        <p:guide orient="horz" pos="2160"/>
        <p:guide pos="2880"/>
      </p:guideLst>
    </p:cSldViewPr>
  </p:slideViewPr>
  <p:notesTextViewPr>
    <p:cViewPr>
      <p:scale>
        <a:sx n="100" d="100"/>
        <a:sy n="100" d="100"/>
      </p:scale>
      <p:origin x="0" y="0"/>
    </p:cViewPr>
  </p:notesTextViewPr>
  <p:notesViewPr>
    <p:cSldViewPr>
      <p:cViewPr>
        <p:scale>
          <a:sx n="100" d="100"/>
          <a:sy n="100" d="100"/>
        </p:scale>
        <p:origin x="1628" y="-20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leb Bahatseyeu" userId="S::s35654@pjwstk.edu.pl::45ce028a-4162-4c44-b1ab-252c0984da51" providerId="AD" clId="Web-{2E2BD8AA-E370-6B7E-F901-0DC91506F918}"/>
    <pc:docChg chg="modSld">
      <pc:chgData name="Hleb Bahatseyeu" userId="S::s35654@pjwstk.edu.pl::45ce028a-4162-4c44-b1ab-252c0984da51" providerId="AD" clId="Web-{2E2BD8AA-E370-6B7E-F901-0DC91506F918}" dt="2026-01-13T13:33:28.965" v="2" actId="20577"/>
      <pc:docMkLst>
        <pc:docMk/>
      </pc:docMkLst>
      <pc:sldChg chg="modSp">
        <pc:chgData name="Hleb Bahatseyeu" userId="S::s35654@pjwstk.edu.pl::45ce028a-4162-4c44-b1ab-252c0984da51" providerId="AD" clId="Web-{2E2BD8AA-E370-6B7E-F901-0DC91506F918}" dt="2026-01-13T13:33:28.965" v="2" actId="20577"/>
        <pc:sldMkLst>
          <pc:docMk/>
          <pc:sldMk cId="0" sldId="258"/>
        </pc:sldMkLst>
        <pc:spChg chg="mod">
          <ac:chgData name="Hleb Bahatseyeu" userId="S::s35654@pjwstk.edu.pl::45ce028a-4162-4c44-b1ab-252c0984da51" providerId="AD" clId="Web-{2E2BD8AA-E370-6B7E-F901-0DC91506F918}" dt="2026-01-13T13:33:28.965" v="2" actId="20577"/>
          <ac:spMkLst>
            <pc:docMk/>
            <pc:sldMk cId="0" sldId="258"/>
            <ac:spMk id="5124" creationId="{00000000-0000-0000-0000-000000000000}"/>
          </ac:spMkLst>
        </pc:spChg>
      </pc:sldChg>
    </pc:docChg>
  </pc:docChgLst>
  <pc:docChgLst>
    <pc:chgData name="Azima Temirova" userId="S::s35941@pjwstk.edu.pl::2928fe4f-96aa-43ba-8e9f-f39f0114fe78" providerId="AD" clId="Web-{9573B43D-98D1-226F-C35C-000389CBC5E4}"/>
    <pc:docChg chg="modSld">
      <pc:chgData name="Azima Temirova" userId="S::s35941@pjwstk.edu.pl::2928fe4f-96aa-43ba-8e9f-f39f0114fe78" providerId="AD" clId="Web-{9573B43D-98D1-226F-C35C-000389CBC5E4}" dt="2026-01-04T19:34:26.957" v="3" actId="20577"/>
      <pc:docMkLst>
        <pc:docMk/>
      </pc:docMkLst>
      <pc:sldChg chg="modSp">
        <pc:chgData name="Azima Temirova" userId="S::s35941@pjwstk.edu.pl::2928fe4f-96aa-43ba-8e9f-f39f0114fe78" providerId="AD" clId="Web-{9573B43D-98D1-226F-C35C-000389CBC5E4}" dt="2026-01-04T19:09:52.035" v="1" actId="20577"/>
        <pc:sldMkLst>
          <pc:docMk/>
          <pc:sldMk cId="0" sldId="283"/>
        </pc:sldMkLst>
        <pc:spChg chg="mod">
          <ac:chgData name="Azima Temirova" userId="S::s35941@pjwstk.edu.pl::2928fe4f-96aa-43ba-8e9f-f39f0114fe78" providerId="AD" clId="Web-{9573B43D-98D1-226F-C35C-000389CBC5E4}" dt="2026-01-04T19:09:52.035" v="1" actId="20577"/>
          <ac:spMkLst>
            <pc:docMk/>
            <pc:sldMk cId="0" sldId="283"/>
            <ac:spMk id="132099" creationId="{00000000-0000-0000-0000-000000000000}"/>
          </ac:spMkLst>
        </pc:spChg>
      </pc:sldChg>
      <pc:sldChg chg="modSp">
        <pc:chgData name="Azima Temirova" userId="S::s35941@pjwstk.edu.pl::2928fe4f-96aa-43ba-8e9f-f39f0114fe78" providerId="AD" clId="Web-{9573B43D-98D1-226F-C35C-000389CBC5E4}" dt="2026-01-04T19:34:26.957" v="3" actId="20577"/>
        <pc:sldMkLst>
          <pc:docMk/>
          <pc:sldMk cId="1309354147" sldId="292"/>
        </pc:sldMkLst>
        <pc:spChg chg="mod">
          <ac:chgData name="Azima Temirova" userId="S::s35941@pjwstk.edu.pl::2928fe4f-96aa-43ba-8e9f-f39f0114fe78" providerId="AD" clId="Web-{9573B43D-98D1-226F-C35C-000389CBC5E4}" dt="2026-01-04T19:34:26.957" v="3" actId="20577"/>
          <ac:spMkLst>
            <pc:docMk/>
            <pc:sldMk cId="1309354147" sldId="292"/>
            <ac:spMk id="3" creationId="{00000000-0000-0000-0000-000000000000}"/>
          </ac:spMkLst>
        </pc:spChg>
      </pc:sldChg>
    </pc:docChg>
  </pc:docChgLst>
  <pc:docChgLst>
    <pc:chgData name="Hleb Bahatseyeu" userId="S::s35654@pjwstk.edu.pl::45ce028a-4162-4c44-b1ab-252c0984da51" providerId="AD" clId="Web-{BE6146DF-D564-C2A6-ABD4-184E50FEAD4F}"/>
    <pc:docChg chg="modSld">
      <pc:chgData name="Hleb Bahatseyeu" userId="S::s35654@pjwstk.edu.pl::45ce028a-4162-4c44-b1ab-252c0984da51" providerId="AD" clId="Web-{BE6146DF-D564-C2A6-ABD4-184E50FEAD4F}" dt="2026-01-13T13:33:13.221" v="4" actId="20577"/>
      <pc:docMkLst>
        <pc:docMk/>
      </pc:docMkLst>
      <pc:sldChg chg="modSp">
        <pc:chgData name="Hleb Bahatseyeu" userId="S::s35654@pjwstk.edu.pl::45ce028a-4162-4c44-b1ab-252c0984da51" providerId="AD" clId="Web-{BE6146DF-D564-C2A6-ABD4-184E50FEAD4F}" dt="2026-01-13T13:33:13.221" v="4" actId="20577"/>
        <pc:sldMkLst>
          <pc:docMk/>
          <pc:sldMk cId="0" sldId="258"/>
        </pc:sldMkLst>
        <pc:spChg chg="mod">
          <ac:chgData name="Hleb Bahatseyeu" userId="S::s35654@pjwstk.edu.pl::45ce028a-4162-4c44-b1ab-252c0984da51" providerId="AD" clId="Web-{BE6146DF-D564-C2A6-ABD4-184E50FEAD4F}" dt="2026-01-13T13:33:13.221" v="4" actId="20577"/>
          <ac:spMkLst>
            <pc:docMk/>
            <pc:sldMk cId="0" sldId="258"/>
            <ac:spMk id="5124"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smtClean="0"/>
            </a:lvl1pPr>
          </a:lstStyle>
          <a:p>
            <a:pPr>
              <a:defRPr/>
            </a:pPr>
            <a:endParaRPr lang="pl-PL"/>
          </a:p>
        </p:txBody>
      </p:sp>
      <p:sp>
        <p:nvSpPr>
          <p:cNvPr id="3" name="Symbol zastępczy daty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smtClean="0"/>
            </a:lvl1pPr>
          </a:lstStyle>
          <a:p>
            <a:pPr>
              <a:defRPr/>
            </a:pPr>
            <a:fld id="{DFE7F565-612C-4FE8-8CD0-73666596FD67}" type="datetimeFigureOut">
              <a:rPr lang="pl-PL"/>
              <a:pPr>
                <a:defRPr/>
              </a:pPr>
              <a:t>13.01.2026</a:t>
            </a:fld>
            <a:endParaRPr lang="pl-PL"/>
          </a:p>
        </p:txBody>
      </p:sp>
      <p:sp>
        <p:nvSpPr>
          <p:cNvPr id="4" name="Symbol zastępczy stopki 3"/>
          <p:cNvSpPr>
            <a:spLocks noGrp="1"/>
          </p:cNvSpPr>
          <p:nvPr>
            <p:ph type="ftr" sz="quarter" idx="2"/>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smtClean="0"/>
            </a:lvl1pPr>
          </a:lstStyle>
          <a:p>
            <a:pPr>
              <a:defRPr/>
            </a:pPr>
            <a:endParaRPr lang="pl-PL"/>
          </a:p>
        </p:txBody>
      </p:sp>
      <p:sp>
        <p:nvSpPr>
          <p:cNvPr id="5" name="Symbol zastępczy numeru slajdu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smtClean="0"/>
            </a:lvl1pPr>
          </a:lstStyle>
          <a:p>
            <a:pPr>
              <a:defRPr/>
            </a:pPr>
            <a:fld id="{0863622D-0E08-4919-9462-8D120B923B0E}" type="slidenum">
              <a:rPr lang="pl-PL"/>
              <a:pPr>
                <a:defRPr/>
              </a:pPr>
              <a:t>‹#›</a:t>
            </a:fld>
            <a:endParaRPr lang="pl-PL"/>
          </a:p>
        </p:txBody>
      </p:sp>
    </p:spTree>
    <p:extLst>
      <p:ext uri="{BB962C8B-B14F-4D97-AF65-F5344CB8AC3E}">
        <p14:creationId xmlns:p14="http://schemas.microsoft.com/office/powerpoint/2010/main" val="34734024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011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solidFill>
                  <a:schemeClr val="tx1"/>
                </a:solidFill>
              </a:defRPr>
            </a:lvl1pPr>
          </a:lstStyle>
          <a:p>
            <a:pPr>
              <a:defRPr/>
            </a:pPr>
            <a:endParaRPr lang="pl-PL"/>
          </a:p>
        </p:txBody>
      </p:sp>
      <p:sp>
        <p:nvSpPr>
          <p:cNvPr id="9011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solidFill>
                  <a:schemeClr val="tx1"/>
                </a:solidFill>
              </a:defRPr>
            </a:lvl1pPr>
          </a:lstStyle>
          <a:p>
            <a:pPr>
              <a:defRPr/>
            </a:pPr>
            <a:endParaRPr lang="pl-PL"/>
          </a:p>
        </p:txBody>
      </p:sp>
      <p:sp>
        <p:nvSpPr>
          <p:cNvPr id="3072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9011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pl-PL" noProof="0"/>
              <a:t>Kliknij, aby edytować style wzorca tekstu</a:t>
            </a:r>
          </a:p>
          <a:p>
            <a:pPr lvl="1"/>
            <a:r>
              <a:rPr lang="pl-PL" noProof="0"/>
              <a:t>Drugi poziom</a:t>
            </a:r>
          </a:p>
          <a:p>
            <a:pPr lvl="2"/>
            <a:r>
              <a:rPr lang="pl-PL" noProof="0"/>
              <a:t>Trzeci poziom</a:t>
            </a:r>
          </a:p>
          <a:p>
            <a:pPr lvl="3"/>
            <a:r>
              <a:rPr lang="pl-PL" noProof="0"/>
              <a:t>Czwarty poziom</a:t>
            </a:r>
          </a:p>
          <a:p>
            <a:pPr lvl="4"/>
            <a:r>
              <a:rPr lang="pl-PL" noProof="0"/>
              <a:t>Piąty poziom</a:t>
            </a:r>
          </a:p>
        </p:txBody>
      </p:sp>
      <p:sp>
        <p:nvSpPr>
          <p:cNvPr id="9011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solidFill>
                  <a:schemeClr val="tx1"/>
                </a:solidFill>
              </a:defRPr>
            </a:lvl1pPr>
          </a:lstStyle>
          <a:p>
            <a:pPr>
              <a:defRPr/>
            </a:pPr>
            <a:endParaRPr lang="pl-PL"/>
          </a:p>
        </p:txBody>
      </p:sp>
      <p:sp>
        <p:nvSpPr>
          <p:cNvPr id="9011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solidFill>
                  <a:schemeClr val="tx1"/>
                </a:solidFill>
              </a:defRPr>
            </a:lvl1pPr>
          </a:lstStyle>
          <a:p>
            <a:pPr>
              <a:defRPr/>
            </a:pPr>
            <a:fld id="{F72C7966-30D5-4273-A78C-C648E85BE5C9}" type="slidenum">
              <a:rPr lang="pl-PL"/>
              <a:pPr>
                <a:defRPr/>
              </a:pPr>
              <a:t>‹#›</a:t>
            </a:fld>
            <a:endParaRPr lang="pl-PL"/>
          </a:p>
        </p:txBody>
      </p:sp>
    </p:spTree>
    <p:extLst>
      <p:ext uri="{BB962C8B-B14F-4D97-AF65-F5344CB8AC3E}">
        <p14:creationId xmlns:p14="http://schemas.microsoft.com/office/powerpoint/2010/main" val="301431924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8" Type="http://schemas.openxmlformats.org/officeDocument/2006/relationships/hyperlink" Target="https://en.wikipedia.org/wiki/Coin_flipping" TargetMode="External"/><Relationship Id="rId3" Type="http://schemas.openxmlformats.org/officeDocument/2006/relationships/hyperlink" Target="https://en.wikipedia.org/wiki/Hand_game" TargetMode="External"/><Relationship Id="rId7" Type="http://schemas.openxmlformats.org/officeDocument/2006/relationships/hyperlink" Target="https://en.wikipedia.org/wiki/Rock%E2%80%93paper%E2%80%93scissors#cite_note-1" TargetMode="External"/><Relationship Id="rId2" Type="http://schemas.openxmlformats.org/officeDocument/2006/relationships/slide" Target="../slides/slide25.xml"/><Relationship Id="rId1" Type="http://schemas.openxmlformats.org/officeDocument/2006/relationships/notesMaster" Target="../notesMasters/notesMaster1.xml"/><Relationship Id="rId6" Type="http://schemas.openxmlformats.org/officeDocument/2006/relationships/hyperlink" Target="https://en.wikipedia.org/wiki/Zero-sum_game" TargetMode="External"/><Relationship Id="rId5" Type="http://schemas.openxmlformats.org/officeDocument/2006/relationships/hyperlink" Target="https://en.wikipedia.org/wiki/Simultaneous_game" TargetMode="External"/><Relationship Id="rId10" Type="http://schemas.openxmlformats.org/officeDocument/2006/relationships/hyperlink" Target="https://en.wikipedia.org/wiki/Dice" TargetMode="External"/><Relationship Id="rId4" Type="http://schemas.openxmlformats.org/officeDocument/2006/relationships/hyperlink" Target="https://en.wikipedia.org/wiki/V_sign" TargetMode="External"/><Relationship Id="rId9" Type="http://schemas.openxmlformats.org/officeDocument/2006/relationships/hyperlink" Target="https://en.wikipedia.org/wiki/Drawing_straws" TargetMode="Externa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037F1D63-8E5B-40C1-BDA6-0833653D2D9A}" type="slidenum">
              <a:rPr lang="pl-PL"/>
              <a:pPr/>
              <a:t>1</a:t>
            </a:fld>
            <a:endParaRPr lang="pl-PL"/>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917064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p>
            <a:fld id="{AFDFF561-91A0-4C78-83A0-8CC731885993}" type="slidenum">
              <a:rPr lang="pl-PL"/>
              <a:pPr/>
              <a:t>2</a:t>
            </a:fld>
            <a:endParaRPr lang="pl-PL"/>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p:spPr>
        <p:txBody>
          <a:bodyPr/>
          <a:lstStyle/>
          <a:p>
            <a:pPr eaLnBrk="1" hangingPunct="1"/>
            <a:r>
              <a:rPr lang="en-US" dirty="0"/>
              <a:t>Decision making process - the foundation of all management activities.</a:t>
            </a:r>
          </a:p>
        </p:txBody>
      </p:sp>
    </p:spTree>
    <p:extLst>
      <p:ext uri="{BB962C8B-B14F-4D97-AF65-F5344CB8AC3E}">
        <p14:creationId xmlns:p14="http://schemas.microsoft.com/office/powerpoint/2010/main" val="9294895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fld id="{81AAAAC1-30EF-4FBE-9BC2-634797700060}" type="slidenum">
              <a:rPr lang="pl-PL"/>
              <a:pPr/>
              <a:t>3</a:t>
            </a:fld>
            <a:endParaRPr lang="pl-PL"/>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a:lstStyle/>
          <a:p>
            <a:pPr eaLnBrk="1" hangingPunct="1"/>
            <a:endParaRPr lang="pl-PL" dirty="0"/>
          </a:p>
        </p:txBody>
      </p:sp>
    </p:spTree>
    <p:extLst>
      <p:ext uri="{BB962C8B-B14F-4D97-AF65-F5344CB8AC3E}">
        <p14:creationId xmlns:p14="http://schemas.microsoft.com/office/powerpoint/2010/main" val="297277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fld id="{8D6A75A9-19FD-458B-81B7-DC1E394DAD3E}" type="slidenum">
              <a:rPr lang="pl-PL"/>
              <a:pPr/>
              <a:t>4</a:t>
            </a:fld>
            <a:endParaRPr lang="pl-PL"/>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p:spPr>
        <p:txBody>
          <a:bodyPr/>
          <a:lstStyle/>
          <a:p>
            <a:pPr marL="0" indent="0">
              <a:buNone/>
            </a:pPr>
            <a:r>
              <a:rPr lang="pl-PL" b="1" dirty="0" err="1"/>
              <a:t>Programmed</a:t>
            </a:r>
            <a:r>
              <a:rPr lang="pl-PL" b="1" dirty="0"/>
              <a:t> </a:t>
            </a:r>
            <a:r>
              <a:rPr lang="pl-PL" b="1" dirty="0" err="1"/>
              <a:t>decision</a:t>
            </a:r>
            <a:r>
              <a:rPr lang="pl-PL" b="1" dirty="0"/>
              <a:t> </a:t>
            </a:r>
            <a:r>
              <a:rPr lang="pl-PL" dirty="0"/>
              <a:t>- a </a:t>
            </a:r>
            <a:r>
              <a:rPr lang="pl-PL" dirty="0" err="1"/>
              <a:t>decision</a:t>
            </a:r>
            <a:r>
              <a:rPr lang="pl-PL" dirty="0"/>
              <a:t> </a:t>
            </a:r>
            <a:r>
              <a:rPr lang="pl-PL" dirty="0" err="1"/>
              <a:t>that</a:t>
            </a:r>
            <a:r>
              <a:rPr lang="pl-PL" dirty="0"/>
              <a:t> </a:t>
            </a:r>
            <a:r>
              <a:rPr lang="pl-PL" dirty="0" err="1"/>
              <a:t>is</a:t>
            </a:r>
            <a:r>
              <a:rPr lang="pl-PL" dirty="0"/>
              <a:t> </a:t>
            </a:r>
            <a:r>
              <a:rPr lang="pl-PL" dirty="0" err="1"/>
              <a:t>relatively</a:t>
            </a:r>
            <a:r>
              <a:rPr lang="pl-PL" dirty="0"/>
              <a:t> </a:t>
            </a:r>
            <a:r>
              <a:rPr lang="pl-PL" dirty="0" err="1"/>
              <a:t>structured</a:t>
            </a:r>
            <a:r>
              <a:rPr lang="pl-PL" dirty="0"/>
              <a:t> </a:t>
            </a:r>
            <a:r>
              <a:rPr lang="pl-PL" dirty="0" err="1"/>
              <a:t>or</a:t>
            </a:r>
            <a:r>
              <a:rPr lang="pl-PL" dirty="0"/>
              <a:t> </a:t>
            </a:r>
            <a:r>
              <a:rPr lang="pl-PL" dirty="0" err="1"/>
              <a:t>recurs</a:t>
            </a:r>
            <a:r>
              <a:rPr lang="pl-PL" dirty="0"/>
              <a:t> with </a:t>
            </a:r>
            <a:r>
              <a:rPr lang="pl-PL" dirty="0" err="1"/>
              <a:t>some</a:t>
            </a:r>
            <a:r>
              <a:rPr lang="pl-PL" dirty="0"/>
              <a:t> </a:t>
            </a:r>
            <a:r>
              <a:rPr lang="pl-PL" dirty="0" err="1"/>
              <a:t>frequency</a:t>
            </a:r>
            <a:r>
              <a:rPr lang="pl-PL" dirty="0"/>
              <a:t>. </a:t>
            </a:r>
            <a:r>
              <a:rPr lang="en-US" dirty="0"/>
              <a:t>Many decisions regarding standard transactions and basic systems and procedures belong to this </a:t>
            </a:r>
            <a:r>
              <a:rPr lang="pl-PL" dirty="0" err="1"/>
              <a:t>category</a:t>
            </a:r>
            <a:r>
              <a:rPr lang="en-US" dirty="0"/>
              <a:t>. For example, a BMW dealer decided to support the youth soccer team every year. So when the club president calls him, he knows what to do.</a:t>
            </a:r>
          </a:p>
          <a:p>
            <a:pPr marL="0" indent="0">
              <a:buNone/>
            </a:pPr>
            <a:r>
              <a:rPr lang="en-US" b="1" dirty="0" err="1"/>
              <a:t>Unprogrammed</a:t>
            </a:r>
            <a:r>
              <a:rPr lang="en-US" b="1" dirty="0"/>
              <a:t> decision </a:t>
            </a:r>
            <a:r>
              <a:rPr lang="en-US" dirty="0"/>
              <a:t>- </a:t>
            </a:r>
            <a:r>
              <a:rPr lang="pl-PL" dirty="0">
                <a:solidFill>
                  <a:srgbClr val="003399"/>
                </a:solidFill>
              </a:rPr>
              <a:t>a </a:t>
            </a:r>
            <a:r>
              <a:rPr lang="pl-PL" dirty="0" err="1">
                <a:solidFill>
                  <a:srgbClr val="003399"/>
                </a:solidFill>
              </a:rPr>
              <a:t>decision</a:t>
            </a:r>
            <a:r>
              <a:rPr lang="pl-PL" dirty="0">
                <a:solidFill>
                  <a:srgbClr val="003399"/>
                </a:solidFill>
              </a:rPr>
              <a:t> </a:t>
            </a:r>
            <a:r>
              <a:rPr lang="pl-PL" dirty="0" err="1">
                <a:solidFill>
                  <a:srgbClr val="003399"/>
                </a:solidFill>
              </a:rPr>
              <a:t>that</a:t>
            </a:r>
            <a:r>
              <a:rPr lang="pl-PL" dirty="0">
                <a:solidFill>
                  <a:srgbClr val="003399"/>
                </a:solidFill>
              </a:rPr>
              <a:t> </a:t>
            </a:r>
            <a:r>
              <a:rPr lang="pl-PL" dirty="0" err="1">
                <a:solidFill>
                  <a:srgbClr val="003399"/>
                </a:solidFill>
              </a:rPr>
              <a:t>is</a:t>
            </a:r>
            <a:r>
              <a:rPr lang="pl-PL" dirty="0">
                <a:solidFill>
                  <a:srgbClr val="003399"/>
                </a:solidFill>
              </a:rPr>
              <a:t> </a:t>
            </a:r>
            <a:r>
              <a:rPr lang="pl-PL" dirty="0" err="1">
                <a:solidFill>
                  <a:srgbClr val="003399"/>
                </a:solidFill>
              </a:rPr>
              <a:t>relatively</a:t>
            </a:r>
            <a:r>
              <a:rPr lang="pl-PL" dirty="0">
                <a:solidFill>
                  <a:srgbClr val="003399"/>
                </a:solidFill>
              </a:rPr>
              <a:t> </a:t>
            </a:r>
            <a:r>
              <a:rPr lang="pl-PL" dirty="0" err="1">
                <a:solidFill>
                  <a:srgbClr val="003399"/>
                </a:solidFill>
              </a:rPr>
              <a:t>unstructured</a:t>
            </a:r>
            <a:r>
              <a:rPr lang="pl-PL" dirty="0">
                <a:solidFill>
                  <a:srgbClr val="003399"/>
                </a:solidFill>
              </a:rPr>
              <a:t> and </a:t>
            </a:r>
            <a:r>
              <a:rPr lang="pl-PL" dirty="0" err="1">
                <a:solidFill>
                  <a:srgbClr val="003399"/>
                </a:solidFill>
              </a:rPr>
              <a:t>occurs</a:t>
            </a:r>
            <a:r>
              <a:rPr lang="pl-PL" dirty="0">
                <a:solidFill>
                  <a:srgbClr val="003399"/>
                </a:solidFill>
              </a:rPr>
              <a:t> much less </a:t>
            </a:r>
            <a:r>
              <a:rPr lang="pl-PL" dirty="0" err="1">
                <a:solidFill>
                  <a:srgbClr val="003399"/>
                </a:solidFill>
              </a:rPr>
              <a:t>often</a:t>
            </a:r>
            <a:r>
              <a:rPr lang="pl-PL" dirty="0">
                <a:solidFill>
                  <a:srgbClr val="003399"/>
                </a:solidFill>
              </a:rPr>
              <a:t> </a:t>
            </a:r>
            <a:r>
              <a:rPr lang="pl-PL" dirty="0" err="1">
                <a:solidFill>
                  <a:srgbClr val="003399"/>
                </a:solidFill>
              </a:rPr>
              <a:t>than</a:t>
            </a:r>
            <a:r>
              <a:rPr lang="pl-PL" dirty="0">
                <a:solidFill>
                  <a:srgbClr val="003399"/>
                </a:solidFill>
              </a:rPr>
              <a:t> a </a:t>
            </a:r>
            <a:r>
              <a:rPr lang="pl-PL" dirty="0" err="1">
                <a:solidFill>
                  <a:srgbClr val="003399"/>
                </a:solidFill>
              </a:rPr>
              <a:t>programmed</a:t>
            </a:r>
            <a:r>
              <a:rPr lang="pl-PL" dirty="0">
                <a:solidFill>
                  <a:srgbClr val="003399"/>
                </a:solidFill>
              </a:rPr>
              <a:t> </a:t>
            </a:r>
            <a:r>
              <a:rPr lang="pl-PL" dirty="0" err="1">
                <a:solidFill>
                  <a:srgbClr val="003399"/>
                </a:solidFill>
              </a:rPr>
              <a:t>decision</a:t>
            </a:r>
            <a:r>
              <a:rPr lang="pl-PL" dirty="0">
                <a:solidFill>
                  <a:srgbClr val="003399"/>
                </a:solidFill>
              </a:rPr>
              <a:t>. </a:t>
            </a:r>
            <a:endParaRPr lang="en-US" dirty="0"/>
          </a:p>
          <a:p>
            <a:pPr marL="0" indent="0">
              <a:buNone/>
            </a:pPr>
            <a:r>
              <a:rPr lang="en-US" dirty="0"/>
              <a:t>They are treated as unique, consuming a lot of time, energy and resources. You need intuition and experience to take them. </a:t>
            </a:r>
            <a:r>
              <a:rPr lang="en-US" dirty="0" err="1"/>
              <a:t>Unprogrammed</a:t>
            </a:r>
            <a:r>
              <a:rPr lang="en-US" dirty="0"/>
              <a:t> decisions are usually decisions taken by top managers regarding strategies (mergers, acquisitions), organization design, new plants, new products, collective agreements, and legal problems.</a:t>
            </a:r>
            <a:endParaRPr lang="pl-PL" dirty="0"/>
          </a:p>
        </p:txBody>
      </p:sp>
    </p:spTree>
    <p:extLst>
      <p:ext uri="{BB962C8B-B14F-4D97-AF65-F5344CB8AC3E}">
        <p14:creationId xmlns:p14="http://schemas.microsoft.com/office/powerpoint/2010/main" val="32650562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fld id="{588DB8AD-39ED-4D44-AD9F-CEF6813F55E4}" type="slidenum">
              <a:rPr lang="pl-PL"/>
              <a:pPr/>
              <a:t>5</a:t>
            </a:fld>
            <a:endParaRPr lang="pl-PL"/>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p:spPr>
        <p:txBody>
          <a:bodyPr/>
          <a:lstStyle/>
          <a:p>
            <a:pPr eaLnBrk="1" hangingPunct="1"/>
            <a:endParaRPr lang="pl-PL" sz="1100" b="1" dirty="0"/>
          </a:p>
        </p:txBody>
      </p:sp>
    </p:spTree>
    <p:extLst>
      <p:ext uri="{BB962C8B-B14F-4D97-AF65-F5344CB8AC3E}">
        <p14:creationId xmlns:p14="http://schemas.microsoft.com/office/powerpoint/2010/main" val="13594019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sz="1200" b="0" i="0" u="none" strike="noStrike" kern="1200" baseline="0" dirty="0" err="1">
                <a:solidFill>
                  <a:schemeClr val="tx1"/>
                </a:solidFill>
                <a:latin typeface="Arial" charset="0"/>
                <a:ea typeface="+mn-ea"/>
                <a:cs typeface="+mn-cs"/>
              </a:rPr>
              <a:t>Suppose</a:t>
            </a:r>
            <a:r>
              <a:rPr lang="pl-PL" sz="1200" b="0" i="0" u="none" strike="noStrike" kern="1200" baseline="0" dirty="0">
                <a:solidFill>
                  <a:schemeClr val="tx1"/>
                </a:solidFill>
                <a:latin typeface="Arial" charset="0"/>
                <a:ea typeface="+mn-ea"/>
                <a:cs typeface="+mn-cs"/>
              </a:rPr>
              <a:t>, for </a:t>
            </a:r>
            <a:r>
              <a:rPr lang="pl-PL" sz="1200" b="0" i="0" u="none" strike="noStrike" kern="1200" baseline="0" dirty="0" err="1">
                <a:solidFill>
                  <a:schemeClr val="tx1"/>
                </a:solidFill>
                <a:latin typeface="Arial" charset="0"/>
                <a:ea typeface="+mn-ea"/>
                <a:cs typeface="+mn-cs"/>
              </a:rPr>
              <a:t>example</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that a labor contract negotiator for a company receives a “final” offer from the union</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right before a strike deadline. The negotiator will have two alternatives: to accept or to</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reject the offer. The risk centers on whether the union representatives are bluffing. If the</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company negotiator accepts the offer, she avoids a strike but commits to a relatively</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costly labor contract. If she rejects the contract, she may get a more favorable contract</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if the union is bluffing, but she may provoke a strike if it is not.</a:t>
            </a:r>
          </a:p>
          <a:p>
            <a:r>
              <a:rPr lang="en-US" sz="1200" b="0" i="0" u="none" strike="noStrike" kern="1200" baseline="0" dirty="0">
                <a:solidFill>
                  <a:schemeClr val="tx1"/>
                </a:solidFill>
                <a:latin typeface="Arial" charset="0"/>
                <a:ea typeface="+mn-ea"/>
                <a:cs typeface="+mn-cs"/>
              </a:rPr>
              <a:t>On the basis of past experiences, relevant information, the advice of others, and her</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own judgment, she may conclude that there is about a 75 percent chance that union</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representatives are bluffing and about a 25 percent chance that they will back up their</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threats. Thus, she can base a calculated decision on the two alternatives (accept or reject</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the contract demands) and the probable consequences of each. When making decisions</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under a state of risk, managers must reasonably estimate the probabilities associated with</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each alternative. For example, if the union negotiators are committed to a strike if their</a:t>
            </a:r>
          </a:p>
          <a:p>
            <a:r>
              <a:rPr lang="en-US" sz="1200" b="0" i="0" u="none" strike="noStrike" kern="1200" baseline="0" dirty="0">
                <a:solidFill>
                  <a:schemeClr val="tx1"/>
                </a:solidFill>
                <a:latin typeface="Arial" charset="0"/>
                <a:ea typeface="+mn-ea"/>
                <a:cs typeface="+mn-cs"/>
              </a:rPr>
              <a:t>demands are not met, and the company negotiator rejects their demands because she</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guesses they will not strike, her miscalculation will prove costly.</a:t>
            </a:r>
            <a:r>
              <a:rPr lang="pl-PL" sz="1200" b="0" i="0" u="none" strike="noStrike" kern="1200" baseline="0" dirty="0">
                <a:solidFill>
                  <a:schemeClr val="tx1"/>
                </a:solidFill>
                <a:latin typeface="Arial" charset="0"/>
                <a:ea typeface="+mn-ea"/>
                <a:cs typeface="+mn-cs"/>
              </a:rPr>
              <a:t> [Griffin]</a:t>
            </a:r>
            <a:endParaRPr lang="pl-PL" dirty="0"/>
          </a:p>
        </p:txBody>
      </p:sp>
      <p:sp>
        <p:nvSpPr>
          <p:cNvPr id="4" name="Symbol zastępczy numeru slajdu 3"/>
          <p:cNvSpPr>
            <a:spLocks noGrp="1"/>
          </p:cNvSpPr>
          <p:nvPr>
            <p:ph type="sldNum" sz="quarter" idx="10"/>
          </p:nvPr>
        </p:nvSpPr>
        <p:spPr/>
        <p:txBody>
          <a:bodyPr/>
          <a:lstStyle/>
          <a:p>
            <a:pPr>
              <a:defRPr/>
            </a:pPr>
            <a:fld id="{F72C7966-30D5-4273-A78C-C648E85BE5C9}" type="slidenum">
              <a:rPr lang="pl-PL" smtClean="0"/>
              <a:pPr>
                <a:defRPr/>
              </a:pPr>
              <a:t>7</a:t>
            </a:fld>
            <a:endParaRPr lang="pl-PL"/>
          </a:p>
        </p:txBody>
      </p:sp>
    </p:spTree>
    <p:extLst>
      <p:ext uri="{BB962C8B-B14F-4D97-AF65-F5344CB8AC3E}">
        <p14:creationId xmlns:p14="http://schemas.microsoft.com/office/powerpoint/2010/main" val="37501178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en-US" sz="1200" b="0" i="0" u="none" strike="noStrike" kern="1200" baseline="0" dirty="0">
                <a:solidFill>
                  <a:schemeClr val="tx1"/>
                </a:solidFill>
                <a:latin typeface="Arial" charset="0"/>
                <a:ea typeface="+mn-ea"/>
                <a:cs typeface="+mn-cs"/>
              </a:rPr>
              <a:t>Most of the major decision making in contemporary</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organizations is done under </a:t>
            </a:r>
            <a:r>
              <a:rPr lang="en-US" sz="1200" b="1" i="0" u="none" strike="noStrike" kern="1200" baseline="0" dirty="0">
                <a:solidFill>
                  <a:schemeClr val="tx1"/>
                </a:solidFill>
                <a:latin typeface="Arial" charset="0"/>
                <a:ea typeface="+mn-ea"/>
                <a:cs typeface="+mn-cs"/>
              </a:rPr>
              <a:t>a state of uncertainty</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Intuition, judgment, and experience always play major</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roles in the decision-making process under conditions of uncertainty.</a:t>
            </a:r>
            <a:endParaRPr lang="pl-PL" dirty="0"/>
          </a:p>
        </p:txBody>
      </p:sp>
      <p:sp>
        <p:nvSpPr>
          <p:cNvPr id="4" name="Symbol zastępczy numeru slajdu 3"/>
          <p:cNvSpPr>
            <a:spLocks noGrp="1"/>
          </p:cNvSpPr>
          <p:nvPr>
            <p:ph type="sldNum" sz="quarter" idx="10"/>
          </p:nvPr>
        </p:nvSpPr>
        <p:spPr/>
        <p:txBody>
          <a:bodyPr/>
          <a:lstStyle/>
          <a:p>
            <a:pPr>
              <a:defRPr/>
            </a:pPr>
            <a:fld id="{F72C7966-30D5-4273-A78C-C648E85BE5C9}" type="slidenum">
              <a:rPr lang="pl-PL" smtClean="0"/>
              <a:pPr>
                <a:defRPr/>
              </a:pPr>
              <a:t>8</a:t>
            </a:fld>
            <a:endParaRPr lang="pl-PL"/>
          </a:p>
        </p:txBody>
      </p:sp>
    </p:spTree>
    <p:extLst>
      <p:ext uri="{BB962C8B-B14F-4D97-AF65-F5344CB8AC3E}">
        <p14:creationId xmlns:p14="http://schemas.microsoft.com/office/powerpoint/2010/main" val="28463076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p>
            <a:fld id="{E203EFA6-C3CE-4C09-B127-E0F4B524A689}" type="slidenum">
              <a:rPr lang="pl-PL"/>
              <a:pPr/>
              <a:t>9</a:t>
            </a:fld>
            <a:endParaRPr lang="pl-PL"/>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p:spPr>
        <p:txBody>
          <a:bodyPr/>
          <a:lstStyle/>
          <a:p>
            <a:pPr eaLnBrk="1" hangingPunct="1"/>
            <a:r>
              <a:rPr lang="pl-PL" baseline="0" dirty="0"/>
              <a:t> </a:t>
            </a:r>
            <a:r>
              <a:rPr lang="en-US" sz="1200" b="0" i="0" kern="1200" dirty="0">
                <a:solidFill>
                  <a:schemeClr val="tx1"/>
                </a:solidFill>
                <a:effectLst/>
                <a:latin typeface="Arial" charset="0"/>
                <a:ea typeface="+mn-ea"/>
                <a:cs typeface="+mn-cs"/>
              </a:rPr>
              <a:t>An </a:t>
            </a:r>
            <a:r>
              <a:rPr lang="en-US" sz="1200" b="1" i="0" kern="1200" dirty="0">
                <a:solidFill>
                  <a:schemeClr val="tx1"/>
                </a:solidFill>
                <a:effectLst/>
                <a:latin typeface="Arial" charset="0"/>
                <a:ea typeface="+mn-ea"/>
                <a:cs typeface="+mn-cs"/>
              </a:rPr>
              <a:t>algorithm</a:t>
            </a:r>
            <a:r>
              <a:rPr lang="en-US" sz="1200" b="0" i="0" kern="1200" dirty="0">
                <a:solidFill>
                  <a:schemeClr val="tx1"/>
                </a:solidFill>
                <a:effectLst/>
                <a:latin typeface="Arial" charset="0"/>
                <a:ea typeface="+mn-ea"/>
                <a:cs typeface="+mn-cs"/>
              </a:rPr>
              <a:t> is a step by step method of solving a problem</a:t>
            </a:r>
            <a:r>
              <a:rPr lang="pl-PL" sz="1200" b="0" i="0" kern="1200" dirty="0">
                <a:solidFill>
                  <a:schemeClr val="tx1"/>
                </a:solidFill>
                <a:effectLst/>
                <a:latin typeface="Arial" charset="0"/>
                <a:ea typeface="+mn-ea"/>
                <a:cs typeface="+mn-cs"/>
              </a:rPr>
              <a:t>.  Or: </a:t>
            </a:r>
            <a:r>
              <a:rPr lang="en-US" sz="1200" b="0" i="0" kern="1200" dirty="0">
                <a:solidFill>
                  <a:schemeClr val="tx1"/>
                </a:solidFill>
                <a:effectLst/>
                <a:latin typeface="Arial" charset="0"/>
                <a:ea typeface="+mn-ea"/>
                <a:cs typeface="+mn-cs"/>
              </a:rPr>
              <a:t>is a procedure or formula for solving a problem, based on conducting a sequence of specified actions</a:t>
            </a:r>
            <a:r>
              <a:rPr lang="pl-PL" sz="1200" b="0" i="0" kern="1200" dirty="0">
                <a:solidFill>
                  <a:schemeClr val="tx1"/>
                </a:solidFill>
                <a:effectLst/>
                <a:latin typeface="Arial" charset="0"/>
                <a:ea typeface="+mn-ea"/>
                <a:cs typeface="+mn-cs"/>
              </a:rPr>
              <a:t>. </a:t>
            </a:r>
            <a:r>
              <a:rPr lang="en-US" dirty="0"/>
              <a:t>Algorithmic process - a decision-making process in which all its stages are defined. Algorithm (a set of rules of operation, specifying how to solve a given problem in a finite number of steps, e.g. withdrawing money from an ATM) - the way it is implemented. Heuristic methods - methods of creative thinking, methods of incomplete information. They need the ability to detect facts and relationships between them. Most of the discoveries and inventions were achieved thanks to heuristic methods of solving problems.</a:t>
            </a:r>
            <a:endParaRPr lang="pl-PL" dirty="0"/>
          </a:p>
          <a:p>
            <a:pPr eaLnBrk="1" hangingPunct="1"/>
            <a:endParaRPr lang="pl-PL" dirty="0"/>
          </a:p>
        </p:txBody>
      </p:sp>
    </p:spTree>
    <p:extLst>
      <p:ext uri="{BB962C8B-B14F-4D97-AF65-F5344CB8AC3E}">
        <p14:creationId xmlns:p14="http://schemas.microsoft.com/office/powerpoint/2010/main" val="32897262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0D4208A3-F64D-4FBE-B06A-A4EF30D76B57}" type="slidenum">
              <a:rPr lang="pl-PL"/>
              <a:pPr/>
              <a:t>10</a:t>
            </a:fld>
            <a:endParaRPr lang="pl-PL"/>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endParaRPr lang="pl-PL" dirty="0"/>
          </a:p>
        </p:txBody>
      </p:sp>
    </p:spTree>
    <p:extLst>
      <p:ext uri="{BB962C8B-B14F-4D97-AF65-F5344CB8AC3E}">
        <p14:creationId xmlns:p14="http://schemas.microsoft.com/office/powerpoint/2010/main" val="26851738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1514F682-9E93-4FA2-B48F-51C1AEA68E79}" type="slidenum">
              <a:rPr lang="pl-PL"/>
              <a:pPr/>
              <a:t>11</a:t>
            </a:fld>
            <a:endParaRPr lang="pl-PL"/>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p:spPr>
        <p:txBody>
          <a:bodyPr/>
          <a:lstStyle/>
          <a:p>
            <a:pPr marL="228600" indent="-228600" eaLnBrk="1" hangingPunct="1"/>
            <a:endParaRPr lang="pl-PL" dirty="0"/>
          </a:p>
        </p:txBody>
      </p:sp>
    </p:spTree>
    <p:extLst>
      <p:ext uri="{BB962C8B-B14F-4D97-AF65-F5344CB8AC3E}">
        <p14:creationId xmlns:p14="http://schemas.microsoft.com/office/powerpoint/2010/main" val="23769006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6B3F3389-D40D-4EC2-9D75-04599D8F63A6}" type="slidenum">
              <a:rPr lang="pl-PL"/>
              <a:pPr/>
              <a:t>12</a:t>
            </a:fld>
            <a:endParaRPr lang="pl-PL"/>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p:spPr>
        <p:txBody>
          <a:bodyPr/>
          <a:lstStyle/>
          <a:p>
            <a:r>
              <a:rPr lang="en-US" sz="1200" b="0" i="0" u="none" strike="noStrike" kern="1200" baseline="0" dirty="0">
                <a:solidFill>
                  <a:schemeClr val="tx1"/>
                </a:solidFill>
                <a:latin typeface="Arial" charset="0"/>
                <a:ea typeface="+mn-ea"/>
                <a:cs typeface="+mn-cs"/>
              </a:rPr>
              <a:t>Herbert A. Simon was one of the first experts to recognize that decisions are not always</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made with rationality and logic. Simon was subsequently awarded the Nobel Prize in</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Economics. Rather than prescribing how decisions should be made, his view of decision</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making, now called the </a:t>
            </a:r>
            <a:r>
              <a:rPr lang="en-US" sz="1200" b="1" i="0" u="none" strike="noStrike" kern="1200" baseline="0" dirty="0">
                <a:solidFill>
                  <a:schemeClr val="tx1"/>
                </a:solidFill>
                <a:latin typeface="Arial" charset="0"/>
                <a:ea typeface="+mn-ea"/>
                <a:cs typeface="+mn-cs"/>
              </a:rPr>
              <a:t>administrative model</a:t>
            </a:r>
            <a:r>
              <a:rPr lang="en-US" sz="1200" b="0" i="0" u="none" strike="noStrike" kern="1200" baseline="0" dirty="0">
                <a:solidFill>
                  <a:schemeClr val="tx1"/>
                </a:solidFill>
                <a:latin typeface="Arial" charset="0"/>
                <a:ea typeface="+mn-ea"/>
                <a:cs typeface="+mn-cs"/>
              </a:rPr>
              <a:t>, describes how decisions often actually are</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made. </a:t>
            </a:r>
            <a:r>
              <a:rPr lang="pl-PL" sz="1200" b="0" i="0" u="none" strike="noStrike" kern="1200" baseline="0" dirty="0">
                <a:solidFill>
                  <a:schemeClr val="tx1"/>
                </a:solidFill>
                <a:latin typeface="Arial" charset="0"/>
                <a:ea typeface="+mn-ea"/>
                <a:cs typeface="+mn-cs"/>
              </a:rPr>
              <a:t>T</a:t>
            </a:r>
            <a:r>
              <a:rPr lang="en-US" sz="1200" b="0" i="0" u="none" strike="noStrike" kern="1200" baseline="0" dirty="0">
                <a:solidFill>
                  <a:schemeClr val="tx1"/>
                </a:solidFill>
                <a:latin typeface="Arial" charset="0"/>
                <a:ea typeface="+mn-ea"/>
                <a:cs typeface="+mn-cs"/>
              </a:rPr>
              <a:t>he model holds that decision makers (1) use incomplete</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and imperfect information, (2) are constrained by bounded rationality, and (3) tend</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to “satisfice” when making decisions</a:t>
            </a:r>
            <a:r>
              <a:rPr lang="pl-PL" sz="1200" b="0" i="0" u="none" strike="noStrike" kern="1200" baseline="0" dirty="0">
                <a:solidFill>
                  <a:schemeClr val="tx1"/>
                </a:solidFill>
                <a:latin typeface="Arial" charset="0"/>
                <a:ea typeface="+mn-ea"/>
                <a:cs typeface="+mn-cs"/>
              </a:rPr>
              <a:t>.</a:t>
            </a:r>
            <a:endParaRPr lang="pl-PL" dirty="0"/>
          </a:p>
        </p:txBody>
      </p:sp>
    </p:spTree>
    <p:extLst>
      <p:ext uri="{BB962C8B-B14F-4D97-AF65-F5344CB8AC3E}">
        <p14:creationId xmlns:p14="http://schemas.microsoft.com/office/powerpoint/2010/main" val="13351244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3FC9CE4F-D760-44E9-B1A7-60DC85AAE153}" type="slidenum">
              <a:rPr lang="pl-PL"/>
              <a:pPr/>
              <a:t>13</a:t>
            </a:fld>
            <a:endParaRPr lang="pl-PL"/>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p:spPr>
        <p:txBody>
          <a:bodyPr/>
          <a:lstStyle/>
          <a:p>
            <a:pPr algn="just"/>
            <a:r>
              <a:rPr lang="en-US" sz="1200" b="1" i="0" u="none" strike="noStrike" kern="1200" baseline="0" dirty="0">
                <a:solidFill>
                  <a:schemeClr val="tx1"/>
                </a:solidFill>
                <a:latin typeface="Arial" charset="0"/>
                <a:ea typeface="+mn-ea"/>
                <a:cs typeface="+mn-cs"/>
              </a:rPr>
              <a:t>Bounded rationality </a:t>
            </a:r>
            <a:r>
              <a:rPr lang="en-US" sz="1200" b="0" i="0" u="none" strike="noStrike" kern="1200" baseline="0" dirty="0">
                <a:solidFill>
                  <a:schemeClr val="tx1"/>
                </a:solidFill>
                <a:latin typeface="Arial" charset="0"/>
                <a:ea typeface="+mn-ea"/>
                <a:cs typeface="+mn-cs"/>
              </a:rPr>
              <a:t>suggests that decision makers are limited by their values and</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unconscious reflexes, skills, and habits. They are also limited by less-than-complete</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information and knowledge. Bounded rationality partially explains how U.S. auto executives</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allowed Japanese automakers to get such a strong foothold in the U.S. domestic</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market. For years, executives at GM, Ford, and Chrysler compared their companies’ performance</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only to one another’s and essentially ignored foreign imports. The foreign</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“threat” was not acknowledged until the domestic auto market had been changed forever.</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If managers had gathered—and acknowledged—complete information from the</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beginning, they might have been better able to thwart foreign competitors. </a:t>
            </a:r>
            <a:endParaRPr lang="pl-PL" sz="1200" b="0" i="0" u="none" strike="noStrike" kern="1200" baseline="0" dirty="0">
              <a:solidFill>
                <a:schemeClr val="tx1"/>
              </a:solidFill>
              <a:latin typeface="Arial" charset="0"/>
              <a:ea typeface="+mn-ea"/>
              <a:cs typeface="+mn-cs"/>
            </a:endParaRPr>
          </a:p>
          <a:p>
            <a:r>
              <a:rPr lang="pl-PL" sz="1200" b="1" i="0" u="none" strike="noStrike" kern="1200" baseline="0" dirty="0" err="1">
                <a:solidFill>
                  <a:schemeClr val="tx1"/>
                </a:solidFill>
                <a:latin typeface="Arial" charset="0"/>
                <a:ea typeface="+mn-ea"/>
                <a:cs typeface="+mn-cs"/>
              </a:rPr>
              <a:t>Satisficing</a:t>
            </a:r>
            <a:r>
              <a:rPr lang="pl-PL" sz="1200" b="1" i="0" u="none" strike="noStrike" kern="1200" baseline="0" dirty="0">
                <a:solidFill>
                  <a:schemeClr val="tx1"/>
                </a:solidFill>
                <a:latin typeface="Arial" charset="0"/>
                <a:ea typeface="+mn-ea"/>
                <a:cs typeface="+mn-cs"/>
              </a:rPr>
              <a:t> </a:t>
            </a:r>
            <a:r>
              <a:rPr lang="pl-PL" sz="1200" b="0" i="0" u="none" strike="noStrike" kern="1200" baseline="0" dirty="0">
                <a:solidFill>
                  <a:schemeClr val="tx1"/>
                </a:solidFill>
                <a:latin typeface="Arial" charset="0"/>
                <a:ea typeface="+mn-ea"/>
                <a:cs typeface="+mn-cs"/>
              </a:rPr>
              <a:t>- the </a:t>
            </a:r>
            <a:r>
              <a:rPr lang="pl-PL" sz="1200" b="0" i="0" u="none" strike="noStrike" kern="1200" baseline="0" dirty="0" err="1">
                <a:solidFill>
                  <a:schemeClr val="tx1"/>
                </a:solidFill>
                <a:latin typeface="Arial" charset="0"/>
                <a:ea typeface="+mn-ea"/>
                <a:cs typeface="+mn-cs"/>
              </a:rPr>
              <a:t>tendency</a:t>
            </a:r>
            <a:r>
              <a:rPr lang="pl-PL" sz="1200" b="0" i="0" u="none" strike="noStrike" kern="1200" baseline="0" dirty="0">
                <a:solidFill>
                  <a:schemeClr val="tx1"/>
                </a:solidFill>
                <a:latin typeface="Arial" charset="0"/>
                <a:ea typeface="+mn-ea"/>
                <a:cs typeface="+mn-cs"/>
              </a:rPr>
              <a:t> to </a:t>
            </a:r>
            <a:r>
              <a:rPr lang="pl-PL" sz="1200" b="0" i="0" u="none" strike="noStrike" kern="1200" baseline="0" dirty="0" err="1">
                <a:solidFill>
                  <a:schemeClr val="tx1"/>
                </a:solidFill>
                <a:latin typeface="Arial" charset="0"/>
                <a:ea typeface="+mn-ea"/>
                <a:cs typeface="+mn-cs"/>
              </a:rPr>
              <a:t>search</a:t>
            </a:r>
            <a:r>
              <a:rPr lang="pl-PL" sz="1200" b="0" i="0" u="none" strike="noStrike" kern="1200" baseline="0" dirty="0">
                <a:solidFill>
                  <a:schemeClr val="tx1"/>
                </a:solidFill>
                <a:latin typeface="Arial" charset="0"/>
                <a:ea typeface="+mn-ea"/>
                <a:cs typeface="+mn-cs"/>
              </a:rPr>
              <a:t> for </a:t>
            </a:r>
            <a:r>
              <a:rPr lang="pl-PL" sz="1200" b="0" i="0" u="none" strike="noStrike" kern="1200" baseline="0" dirty="0" err="1">
                <a:solidFill>
                  <a:schemeClr val="tx1"/>
                </a:solidFill>
                <a:latin typeface="Arial" charset="0"/>
                <a:ea typeface="+mn-ea"/>
                <a:cs typeface="+mn-cs"/>
              </a:rPr>
              <a:t>alternatives</a:t>
            </a:r>
            <a:r>
              <a:rPr lang="pl-PL" sz="1200" b="0" i="0" u="none" strike="noStrike" kern="1200" baseline="0" dirty="0">
                <a:solidFill>
                  <a:schemeClr val="tx1"/>
                </a:solidFill>
                <a:latin typeface="Arial" charset="0"/>
                <a:ea typeface="+mn-ea"/>
                <a:cs typeface="+mn-cs"/>
              </a:rPr>
              <a:t> </a:t>
            </a:r>
            <a:r>
              <a:rPr lang="pl-PL" sz="1200" b="0" i="0" u="none" strike="noStrike" kern="1200" baseline="0" dirty="0" err="1">
                <a:solidFill>
                  <a:schemeClr val="tx1"/>
                </a:solidFill>
                <a:latin typeface="Arial" charset="0"/>
                <a:ea typeface="+mn-ea"/>
                <a:cs typeface="+mn-cs"/>
              </a:rPr>
              <a:t>only</a:t>
            </a:r>
            <a:r>
              <a:rPr lang="pl-PL" sz="1200" b="0" i="0" u="none" strike="noStrike" kern="1200" baseline="0" dirty="0">
                <a:solidFill>
                  <a:schemeClr val="tx1"/>
                </a:solidFill>
                <a:latin typeface="Arial" charset="0"/>
                <a:ea typeface="+mn-ea"/>
                <a:cs typeface="+mn-cs"/>
              </a:rPr>
              <a:t> </a:t>
            </a:r>
            <a:r>
              <a:rPr lang="pl-PL" sz="1200" b="0" i="0" u="none" strike="noStrike" kern="1200" baseline="0" dirty="0" err="1">
                <a:solidFill>
                  <a:schemeClr val="tx1"/>
                </a:solidFill>
                <a:latin typeface="Arial" charset="0"/>
                <a:ea typeface="+mn-ea"/>
                <a:cs typeface="+mn-cs"/>
              </a:rPr>
              <a:t>until</a:t>
            </a:r>
            <a:r>
              <a:rPr lang="pl-PL" sz="1200" b="0" i="0" u="none" strike="noStrike" kern="1200" baseline="0" dirty="0">
                <a:solidFill>
                  <a:schemeClr val="tx1"/>
                </a:solidFill>
                <a:latin typeface="Arial" charset="0"/>
                <a:ea typeface="+mn-ea"/>
                <a:cs typeface="+mn-cs"/>
              </a:rPr>
              <a:t> one </a:t>
            </a:r>
            <a:r>
              <a:rPr lang="pl-PL" sz="1200" b="0" i="0" u="none" strike="noStrike" kern="1200" baseline="0" dirty="0" err="1">
                <a:solidFill>
                  <a:schemeClr val="tx1"/>
                </a:solidFill>
                <a:latin typeface="Arial" charset="0"/>
                <a:ea typeface="+mn-ea"/>
                <a:cs typeface="+mn-cs"/>
              </a:rPr>
              <a:t>is</a:t>
            </a:r>
            <a:r>
              <a:rPr lang="pl-PL" sz="1200" b="0" i="0" u="none" strike="noStrike" kern="1200" baseline="0" dirty="0">
                <a:solidFill>
                  <a:schemeClr val="tx1"/>
                </a:solidFill>
                <a:latin typeface="Arial" charset="0"/>
                <a:ea typeface="+mn-ea"/>
                <a:cs typeface="+mn-cs"/>
              </a:rPr>
              <a:t> </a:t>
            </a:r>
            <a:r>
              <a:rPr lang="pl-PL" sz="1200" b="0" i="0" u="none" strike="noStrike" kern="1200" baseline="0" dirty="0" err="1">
                <a:solidFill>
                  <a:schemeClr val="tx1"/>
                </a:solidFill>
                <a:latin typeface="Arial" charset="0"/>
                <a:ea typeface="+mn-ea"/>
                <a:cs typeface="+mn-cs"/>
              </a:rPr>
              <a:t>found</a:t>
            </a:r>
            <a:r>
              <a:rPr lang="pl-PL" sz="1200" b="0" i="0" u="none" strike="noStrike" kern="1200" baseline="0" dirty="0">
                <a:solidFill>
                  <a:schemeClr val="tx1"/>
                </a:solidFill>
                <a:latin typeface="Arial" charset="0"/>
                <a:ea typeface="+mn-ea"/>
                <a:cs typeface="+mn-cs"/>
              </a:rPr>
              <a:t> </a:t>
            </a:r>
            <a:r>
              <a:rPr lang="pl-PL" sz="1200" b="0" i="0" u="none" strike="noStrike" kern="1200" baseline="0" dirty="0" err="1">
                <a:solidFill>
                  <a:schemeClr val="tx1"/>
                </a:solidFill>
                <a:latin typeface="Arial" charset="0"/>
                <a:ea typeface="+mn-ea"/>
                <a:cs typeface="+mn-cs"/>
              </a:rPr>
              <a:t>that</a:t>
            </a:r>
            <a:r>
              <a:rPr lang="pl-PL" sz="1200" b="0" i="0" u="none" strike="noStrike" kern="1200" baseline="0" dirty="0">
                <a:solidFill>
                  <a:schemeClr val="tx1"/>
                </a:solidFill>
                <a:latin typeface="Arial" charset="0"/>
                <a:ea typeface="+mn-ea"/>
                <a:cs typeface="+mn-cs"/>
              </a:rPr>
              <a:t> </a:t>
            </a:r>
            <a:r>
              <a:rPr lang="pl-PL" sz="1200" b="0" i="0" u="none" strike="noStrike" kern="1200" baseline="0" dirty="0" err="1">
                <a:solidFill>
                  <a:schemeClr val="tx1"/>
                </a:solidFill>
                <a:latin typeface="Arial" charset="0"/>
                <a:ea typeface="+mn-ea"/>
                <a:cs typeface="+mn-cs"/>
              </a:rPr>
              <a:t>meets</a:t>
            </a:r>
            <a:r>
              <a:rPr lang="pl-PL" sz="1200" b="0" i="0" u="none" strike="noStrike" kern="1200" baseline="0" dirty="0">
                <a:solidFill>
                  <a:schemeClr val="tx1"/>
                </a:solidFill>
                <a:latin typeface="Arial" charset="0"/>
                <a:ea typeface="+mn-ea"/>
                <a:cs typeface="+mn-cs"/>
              </a:rPr>
              <a:t> </a:t>
            </a:r>
            <a:r>
              <a:rPr lang="pl-PL" sz="1200" b="0" i="0" u="none" strike="noStrike" kern="1200" baseline="0" dirty="0" err="1">
                <a:solidFill>
                  <a:schemeClr val="tx1"/>
                </a:solidFill>
                <a:latin typeface="Arial" charset="0"/>
                <a:ea typeface="+mn-ea"/>
                <a:cs typeface="+mn-cs"/>
              </a:rPr>
              <a:t>some</a:t>
            </a:r>
            <a:r>
              <a:rPr lang="pl-PL" sz="1200" b="0" i="0" u="none" strike="noStrike" kern="1200" baseline="0" dirty="0">
                <a:solidFill>
                  <a:schemeClr val="tx1"/>
                </a:solidFill>
                <a:latin typeface="Arial" charset="0"/>
                <a:ea typeface="+mn-ea"/>
                <a:cs typeface="+mn-cs"/>
              </a:rPr>
              <a:t> minimum standard of </a:t>
            </a:r>
            <a:r>
              <a:rPr lang="pl-PL" sz="1200" b="0" i="0" u="none" strike="noStrike" kern="1200" baseline="0" dirty="0" err="1">
                <a:solidFill>
                  <a:schemeClr val="tx1"/>
                </a:solidFill>
                <a:latin typeface="Arial" charset="0"/>
                <a:ea typeface="+mn-ea"/>
                <a:cs typeface="+mn-cs"/>
              </a:rPr>
              <a:t>sufficiency</a:t>
            </a:r>
            <a:r>
              <a:rPr lang="pl-PL" sz="1200" b="0" i="0" u="none" strike="noStrike" kern="1200" baseline="0" dirty="0">
                <a:solidFill>
                  <a:schemeClr val="tx1"/>
                </a:solidFill>
                <a:latin typeface="Arial" charset="0"/>
                <a:ea typeface="+mn-ea"/>
                <a:cs typeface="+mn-cs"/>
              </a:rPr>
              <a:t>.</a:t>
            </a:r>
          </a:p>
          <a:p>
            <a:r>
              <a:rPr lang="pl-PL" sz="1200" b="1" i="0" u="none" strike="noStrike" kern="1200" baseline="0" dirty="0" err="1">
                <a:solidFill>
                  <a:schemeClr val="tx1"/>
                </a:solidFill>
                <a:latin typeface="Arial" charset="0"/>
                <a:ea typeface="+mn-ea"/>
                <a:cs typeface="+mn-cs"/>
              </a:rPr>
              <a:t>Coalition</a:t>
            </a:r>
            <a:r>
              <a:rPr lang="pl-PL" sz="1200" b="1" i="0" u="none" strike="noStrike" kern="1200" baseline="0" dirty="0">
                <a:solidFill>
                  <a:schemeClr val="tx1"/>
                </a:solidFill>
                <a:latin typeface="Arial" charset="0"/>
                <a:ea typeface="+mn-ea"/>
                <a:cs typeface="+mn-cs"/>
              </a:rPr>
              <a:t> - </a:t>
            </a:r>
            <a:r>
              <a:rPr lang="pl-PL" sz="1200" b="0" i="0" u="none" strike="noStrike" kern="1200" baseline="0" dirty="0" err="1">
                <a:solidFill>
                  <a:schemeClr val="tx1"/>
                </a:solidFill>
                <a:latin typeface="Arial" charset="0"/>
                <a:ea typeface="+mn-ea"/>
                <a:cs typeface="+mn-cs"/>
              </a:rPr>
              <a:t>an</a:t>
            </a:r>
            <a:r>
              <a:rPr lang="pl-PL" sz="1200" b="0" i="0" u="none" strike="noStrike" kern="1200" baseline="0" dirty="0">
                <a:solidFill>
                  <a:schemeClr val="tx1"/>
                </a:solidFill>
                <a:latin typeface="Arial" charset="0"/>
                <a:ea typeface="+mn-ea"/>
                <a:cs typeface="+mn-cs"/>
              </a:rPr>
              <a:t> </a:t>
            </a:r>
            <a:r>
              <a:rPr lang="pl-PL" sz="1200" b="0" i="0" u="none" strike="noStrike" kern="1200" baseline="0" dirty="0" err="1">
                <a:solidFill>
                  <a:schemeClr val="tx1"/>
                </a:solidFill>
                <a:latin typeface="Arial" charset="0"/>
                <a:ea typeface="+mn-ea"/>
                <a:cs typeface="+mn-cs"/>
              </a:rPr>
              <a:t>informal</a:t>
            </a:r>
            <a:r>
              <a:rPr lang="pl-PL" sz="1200" b="0" i="0" u="none" strike="noStrike" kern="1200" baseline="0" dirty="0">
                <a:solidFill>
                  <a:schemeClr val="tx1"/>
                </a:solidFill>
                <a:latin typeface="Arial" charset="0"/>
                <a:ea typeface="+mn-ea"/>
                <a:cs typeface="+mn-cs"/>
              </a:rPr>
              <a:t> </a:t>
            </a:r>
            <a:r>
              <a:rPr lang="pl-PL" sz="1200" b="0" i="0" u="none" strike="noStrike" kern="1200" baseline="0" dirty="0" err="1">
                <a:solidFill>
                  <a:schemeClr val="tx1"/>
                </a:solidFill>
                <a:latin typeface="Arial" charset="0"/>
                <a:ea typeface="+mn-ea"/>
                <a:cs typeface="+mn-cs"/>
              </a:rPr>
              <a:t>alliance</a:t>
            </a:r>
            <a:r>
              <a:rPr lang="pl-PL" sz="1200" b="0" i="0" u="none" strike="noStrike" kern="1200" baseline="0" dirty="0">
                <a:solidFill>
                  <a:schemeClr val="tx1"/>
                </a:solidFill>
                <a:latin typeface="Arial" charset="0"/>
                <a:ea typeface="+mn-ea"/>
                <a:cs typeface="+mn-cs"/>
              </a:rPr>
              <a:t> of </a:t>
            </a:r>
            <a:r>
              <a:rPr lang="pl-PL" sz="1200" b="0" i="0" u="none" strike="noStrike" kern="1200" baseline="0" dirty="0" err="1">
                <a:solidFill>
                  <a:schemeClr val="tx1"/>
                </a:solidFill>
                <a:latin typeface="Arial" charset="0"/>
                <a:ea typeface="+mn-ea"/>
                <a:cs typeface="+mn-cs"/>
              </a:rPr>
              <a:t>individuals</a:t>
            </a:r>
            <a:r>
              <a:rPr lang="pl-PL" sz="1200" b="0" i="0" u="none" strike="noStrike" kern="1200" baseline="0" dirty="0">
                <a:solidFill>
                  <a:schemeClr val="tx1"/>
                </a:solidFill>
                <a:latin typeface="Arial" charset="0"/>
                <a:ea typeface="+mn-ea"/>
                <a:cs typeface="+mn-cs"/>
              </a:rPr>
              <a:t> </a:t>
            </a:r>
            <a:r>
              <a:rPr lang="pl-PL" sz="1200" b="0" i="0" u="none" strike="noStrike" kern="1200" baseline="0" dirty="0" err="1">
                <a:solidFill>
                  <a:schemeClr val="tx1"/>
                </a:solidFill>
                <a:latin typeface="Arial" charset="0"/>
                <a:ea typeface="+mn-ea"/>
                <a:cs typeface="+mn-cs"/>
              </a:rPr>
              <a:t>or</a:t>
            </a:r>
            <a:r>
              <a:rPr lang="pl-PL" sz="1200" b="0" i="0" u="none" strike="noStrike" kern="1200" baseline="0" dirty="0">
                <a:solidFill>
                  <a:schemeClr val="tx1"/>
                </a:solidFill>
                <a:latin typeface="Arial" charset="0"/>
                <a:ea typeface="+mn-ea"/>
                <a:cs typeface="+mn-cs"/>
              </a:rPr>
              <a:t> </a:t>
            </a:r>
            <a:r>
              <a:rPr lang="pl-PL" sz="1200" b="0" i="0" u="none" strike="noStrike" kern="1200" baseline="0" dirty="0" err="1">
                <a:solidFill>
                  <a:schemeClr val="tx1"/>
                </a:solidFill>
                <a:latin typeface="Arial" charset="0"/>
                <a:ea typeface="+mn-ea"/>
                <a:cs typeface="+mn-cs"/>
              </a:rPr>
              <a:t>groups</a:t>
            </a:r>
            <a:r>
              <a:rPr lang="pl-PL" sz="1200" b="0" i="0" u="none" strike="noStrike" kern="1200" baseline="0" dirty="0">
                <a:solidFill>
                  <a:schemeClr val="tx1"/>
                </a:solidFill>
                <a:latin typeface="Arial" charset="0"/>
                <a:ea typeface="+mn-ea"/>
                <a:cs typeface="+mn-cs"/>
              </a:rPr>
              <a:t> </a:t>
            </a:r>
            <a:r>
              <a:rPr lang="pl-PL" sz="1200" b="0" i="0" u="none" strike="noStrike" kern="1200" baseline="0" dirty="0" err="1">
                <a:solidFill>
                  <a:schemeClr val="tx1"/>
                </a:solidFill>
                <a:latin typeface="Arial" charset="0"/>
                <a:ea typeface="+mn-ea"/>
                <a:cs typeface="+mn-cs"/>
              </a:rPr>
              <a:t>formed</a:t>
            </a:r>
            <a:r>
              <a:rPr lang="pl-PL" sz="1200" b="0" i="0" u="none" strike="noStrike" kern="1200" baseline="0" dirty="0">
                <a:solidFill>
                  <a:schemeClr val="tx1"/>
                </a:solidFill>
                <a:latin typeface="Arial" charset="0"/>
                <a:ea typeface="+mn-ea"/>
                <a:cs typeface="+mn-cs"/>
              </a:rPr>
              <a:t> to </a:t>
            </a:r>
            <a:r>
              <a:rPr lang="pl-PL" sz="1200" b="0" i="0" u="none" strike="noStrike" kern="1200" baseline="0" dirty="0" err="1">
                <a:solidFill>
                  <a:schemeClr val="tx1"/>
                </a:solidFill>
                <a:latin typeface="Arial" charset="0"/>
                <a:ea typeface="+mn-ea"/>
                <a:cs typeface="+mn-cs"/>
              </a:rPr>
              <a:t>achieve</a:t>
            </a:r>
            <a:r>
              <a:rPr lang="pl-PL" sz="1200" b="0" i="0" u="none" strike="noStrike" kern="1200" baseline="0" dirty="0">
                <a:solidFill>
                  <a:schemeClr val="tx1"/>
                </a:solidFill>
                <a:latin typeface="Arial" charset="0"/>
                <a:ea typeface="+mn-ea"/>
                <a:cs typeface="+mn-cs"/>
              </a:rPr>
              <a:t> a </a:t>
            </a:r>
            <a:r>
              <a:rPr lang="pl-PL" sz="1200" b="0" i="0" u="none" strike="noStrike" kern="1200" baseline="0" dirty="0" err="1">
                <a:solidFill>
                  <a:schemeClr val="tx1"/>
                </a:solidFill>
                <a:latin typeface="Arial" charset="0"/>
                <a:ea typeface="+mn-ea"/>
                <a:cs typeface="+mn-cs"/>
              </a:rPr>
              <a:t>common</a:t>
            </a:r>
            <a:r>
              <a:rPr lang="pl-PL" sz="1200" b="0" i="0" u="none" strike="noStrike" kern="1200" baseline="0" dirty="0">
                <a:solidFill>
                  <a:schemeClr val="tx1"/>
                </a:solidFill>
                <a:latin typeface="Arial" charset="0"/>
                <a:ea typeface="+mn-ea"/>
                <a:cs typeface="+mn-cs"/>
              </a:rPr>
              <a:t> </a:t>
            </a:r>
            <a:r>
              <a:rPr lang="pl-PL" sz="1200" b="0" i="0" u="none" strike="noStrike" kern="1200" baseline="0" dirty="0" err="1">
                <a:solidFill>
                  <a:schemeClr val="tx1"/>
                </a:solidFill>
                <a:latin typeface="Arial" charset="0"/>
                <a:ea typeface="+mn-ea"/>
                <a:cs typeface="+mn-cs"/>
              </a:rPr>
              <a:t>goal</a:t>
            </a:r>
            <a:r>
              <a:rPr lang="pl-PL" sz="1200" b="0" i="0" u="none" strike="noStrike" kern="1200" baseline="0" dirty="0">
                <a:solidFill>
                  <a:schemeClr val="tx1"/>
                </a:solidFill>
                <a:latin typeface="Arial" charset="0"/>
                <a:ea typeface="+mn-ea"/>
                <a:cs typeface="+mn-cs"/>
              </a:rPr>
              <a:t>.</a:t>
            </a:r>
          </a:p>
          <a:p>
            <a:r>
              <a:rPr lang="pl-PL" sz="1200" b="1" i="0" u="none" strike="noStrike" kern="1200" baseline="0" dirty="0" err="1">
                <a:solidFill>
                  <a:schemeClr val="tx1"/>
                </a:solidFill>
                <a:latin typeface="Arial" charset="0"/>
                <a:ea typeface="+mn-ea"/>
                <a:cs typeface="+mn-cs"/>
              </a:rPr>
              <a:t>Intuition</a:t>
            </a:r>
            <a:r>
              <a:rPr lang="pl-PL" sz="1200" b="1" i="0" u="none" strike="noStrike" kern="1200" baseline="0" dirty="0">
                <a:solidFill>
                  <a:schemeClr val="tx1"/>
                </a:solidFill>
                <a:latin typeface="Arial" charset="0"/>
                <a:ea typeface="+mn-ea"/>
                <a:cs typeface="+mn-cs"/>
              </a:rPr>
              <a:t> - </a:t>
            </a:r>
            <a:r>
              <a:rPr lang="pl-PL" sz="1200" b="0" i="0" u="none" strike="noStrike" kern="1200" baseline="0" dirty="0" err="1">
                <a:solidFill>
                  <a:schemeClr val="tx1"/>
                </a:solidFill>
                <a:latin typeface="Arial" charset="0"/>
                <a:ea typeface="+mn-ea"/>
                <a:cs typeface="+mn-cs"/>
              </a:rPr>
              <a:t>an</a:t>
            </a:r>
            <a:r>
              <a:rPr lang="pl-PL" sz="1200" b="0" i="0" u="none" strike="noStrike" kern="1200" baseline="0" dirty="0">
                <a:solidFill>
                  <a:schemeClr val="tx1"/>
                </a:solidFill>
                <a:latin typeface="Arial" charset="0"/>
                <a:ea typeface="+mn-ea"/>
                <a:cs typeface="+mn-cs"/>
              </a:rPr>
              <a:t> </a:t>
            </a:r>
            <a:r>
              <a:rPr lang="pl-PL" sz="1200" b="0" i="0" u="none" strike="noStrike" kern="1200" baseline="0" dirty="0" err="1">
                <a:solidFill>
                  <a:schemeClr val="tx1"/>
                </a:solidFill>
                <a:latin typeface="Arial" charset="0"/>
                <a:ea typeface="+mn-ea"/>
                <a:cs typeface="+mn-cs"/>
              </a:rPr>
              <a:t>innate</a:t>
            </a:r>
            <a:r>
              <a:rPr lang="pl-PL" sz="1200" b="0" i="0" u="none" strike="noStrike" kern="1200" baseline="0" dirty="0">
                <a:solidFill>
                  <a:schemeClr val="tx1"/>
                </a:solidFill>
                <a:latin typeface="Arial" charset="0"/>
                <a:ea typeface="+mn-ea"/>
                <a:cs typeface="+mn-cs"/>
              </a:rPr>
              <a:t> </a:t>
            </a:r>
            <a:r>
              <a:rPr lang="pl-PL" sz="1200" b="0" i="0" u="none" strike="noStrike" kern="1200" baseline="0" dirty="0" err="1">
                <a:solidFill>
                  <a:schemeClr val="tx1"/>
                </a:solidFill>
                <a:latin typeface="Arial" charset="0"/>
                <a:ea typeface="+mn-ea"/>
                <a:cs typeface="+mn-cs"/>
              </a:rPr>
              <a:t>belief</a:t>
            </a:r>
            <a:r>
              <a:rPr lang="pl-PL" sz="1200" b="0" i="0" u="none" strike="noStrike" kern="1200" baseline="0" dirty="0">
                <a:solidFill>
                  <a:schemeClr val="tx1"/>
                </a:solidFill>
                <a:latin typeface="Arial" charset="0"/>
                <a:ea typeface="+mn-ea"/>
                <a:cs typeface="+mn-cs"/>
              </a:rPr>
              <a:t> </a:t>
            </a:r>
            <a:r>
              <a:rPr lang="pl-PL" sz="1200" b="0" i="0" u="none" strike="noStrike" kern="1200" baseline="0" dirty="0" err="1">
                <a:solidFill>
                  <a:schemeClr val="tx1"/>
                </a:solidFill>
                <a:latin typeface="Arial" charset="0"/>
                <a:ea typeface="+mn-ea"/>
                <a:cs typeface="+mn-cs"/>
              </a:rPr>
              <a:t>about</a:t>
            </a:r>
            <a:r>
              <a:rPr lang="pl-PL" sz="1200" b="0" i="0" u="none" strike="noStrike" kern="1200" baseline="0" dirty="0">
                <a:solidFill>
                  <a:schemeClr val="tx1"/>
                </a:solidFill>
                <a:latin typeface="Arial" charset="0"/>
                <a:ea typeface="+mn-ea"/>
                <a:cs typeface="+mn-cs"/>
              </a:rPr>
              <a:t> </a:t>
            </a:r>
            <a:r>
              <a:rPr lang="pl-PL" sz="1200" b="0" i="0" u="none" strike="noStrike" kern="1200" baseline="0" dirty="0" err="1">
                <a:solidFill>
                  <a:schemeClr val="tx1"/>
                </a:solidFill>
                <a:latin typeface="Arial" charset="0"/>
                <a:ea typeface="+mn-ea"/>
                <a:cs typeface="+mn-cs"/>
              </a:rPr>
              <a:t>something</a:t>
            </a:r>
            <a:r>
              <a:rPr lang="pl-PL" sz="1200" b="0" i="0" u="none" strike="noStrike" kern="1200" baseline="0" dirty="0">
                <a:solidFill>
                  <a:schemeClr val="tx1"/>
                </a:solidFill>
                <a:latin typeface="Arial" charset="0"/>
                <a:ea typeface="+mn-ea"/>
                <a:cs typeface="+mn-cs"/>
              </a:rPr>
              <a:t>, </a:t>
            </a:r>
            <a:r>
              <a:rPr lang="pl-PL" sz="1200" b="0" i="0" u="none" strike="noStrike" kern="1200" baseline="0" dirty="0" err="1">
                <a:solidFill>
                  <a:schemeClr val="tx1"/>
                </a:solidFill>
                <a:latin typeface="Arial" charset="0"/>
                <a:ea typeface="+mn-ea"/>
                <a:cs typeface="+mn-cs"/>
              </a:rPr>
              <a:t>without</a:t>
            </a:r>
            <a:r>
              <a:rPr lang="pl-PL" sz="1200" b="0" i="0" u="none" strike="noStrike" kern="1200" baseline="0" dirty="0">
                <a:solidFill>
                  <a:schemeClr val="tx1"/>
                </a:solidFill>
                <a:latin typeface="Arial" charset="0"/>
                <a:ea typeface="+mn-ea"/>
                <a:cs typeface="+mn-cs"/>
              </a:rPr>
              <a:t> </a:t>
            </a:r>
            <a:r>
              <a:rPr lang="pl-PL" sz="1200" b="0" i="0" u="none" strike="noStrike" kern="1200" baseline="0" dirty="0" err="1">
                <a:solidFill>
                  <a:schemeClr val="tx1"/>
                </a:solidFill>
                <a:latin typeface="Arial" charset="0"/>
                <a:ea typeface="+mn-ea"/>
                <a:cs typeface="+mn-cs"/>
              </a:rPr>
              <a:t>conscious</a:t>
            </a:r>
            <a:r>
              <a:rPr lang="pl-PL" sz="1200" b="0" i="0" u="none" strike="noStrike" kern="1200" baseline="0" dirty="0">
                <a:solidFill>
                  <a:schemeClr val="tx1"/>
                </a:solidFill>
                <a:latin typeface="Arial" charset="0"/>
                <a:ea typeface="+mn-ea"/>
                <a:cs typeface="+mn-cs"/>
              </a:rPr>
              <a:t> </a:t>
            </a:r>
            <a:r>
              <a:rPr lang="pl-PL" sz="1200" b="0" i="0" u="none" strike="noStrike" kern="1200" baseline="0" dirty="0" err="1">
                <a:solidFill>
                  <a:schemeClr val="tx1"/>
                </a:solidFill>
                <a:latin typeface="Arial" charset="0"/>
                <a:ea typeface="+mn-ea"/>
                <a:cs typeface="+mn-cs"/>
              </a:rPr>
              <a:t>consideration</a:t>
            </a:r>
            <a:r>
              <a:rPr lang="pl-PL" sz="1200" b="0" i="0" u="none" strike="noStrike" kern="1200" baseline="0" dirty="0">
                <a:solidFill>
                  <a:schemeClr val="tx1"/>
                </a:solidFill>
                <a:latin typeface="Arial" charset="0"/>
                <a:ea typeface="+mn-ea"/>
                <a:cs typeface="+mn-cs"/>
              </a:rPr>
              <a:t>.</a:t>
            </a:r>
          </a:p>
          <a:p>
            <a:r>
              <a:rPr lang="pl-PL" sz="1200" b="1" i="0" u="none" strike="noStrike" kern="1200" baseline="0" dirty="0" err="1">
                <a:solidFill>
                  <a:schemeClr val="tx1"/>
                </a:solidFill>
                <a:latin typeface="Arial" charset="0"/>
                <a:ea typeface="+mn-ea"/>
                <a:cs typeface="+mn-cs"/>
              </a:rPr>
              <a:t>Escalation</a:t>
            </a:r>
            <a:r>
              <a:rPr lang="pl-PL" sz="1200" b="1" i="0" u="none" strike="noStrike" kern="1200" baseline="0" dirty="0">
                <a:solidFill>
                  <a:schemeClr val="tx1"/>
                </a:solidFill>
                <a:latin typeface="Arial" charset="0"/>
                <a:ea typeface="+mn-ea"/>
                <a:cs typeface="+mn-cs"/>
              </a:rPr>
              <a:t> of </a:t>
            </a:r>
            <a:r>
              <a:rPr lang="pl-PL" sz="1200" b="1" i="0" u="none" strike="noStrike" kern="1200" baseline="0" dirty="0" err="1">
                <a:solidFill>
                  <a:schemeClr val="tx1"/>
                </a:solidFill>
                <a:latin typeface="Arial" charset="0"/>
                <a:ea typeface="+mn-ea"/>
                <a:cs typeface="+mn-cs"/>
              </a:rPr>
              <a:t>commitment</a:t>
            </a:r>
            <a:r>
              <a:rPr lang="pl-PL" sz="1200" b="1" i="0" u="none" strike="noStrike" kern="1200" baseline="0" dirty="0">
                <a:solidFill>
                  <a:schemeClr val="tx1"/>
                </a:solidFill>
                <a:latin typeface="Arial" charset="0"/>
                <a:ea typeface="+mn-ea"/>
                <a:cs typeface="+mn-cs"/>
              </a:rPr>
              <a:t>  </a:t>
            </a:r>
            <a:r>
              <a:rPr lang="pl-PL" sz="1200" b="0" i="0" u="none" strike="noStrike" kern="1200" baseline="0" dirty="0">
                <a:solidFill>
                  <a:schemeClr val="tx1"/>
                </a:solidFill>
                <a:latin typeface="Arial" charset="0"/>
                <a:ea typeface="+mn-ea"/>
                <a:cs typeface="+mn-cs"/>
              </a:rPr>
              <a:t>- </a:t>
            </a:r>
            <a:r>
              <a:rPr lang="pl-PL" sz="1200" b="0" i="0" u="none" strike="noStrike" kern="1200" baseline="0" dirty="0" err="1">
                <a:solidFill>
                  <a:schemeClr val="tx1"/>
                </a:solidFill>
                <a:latin typeface="Arial" charset="0"/>
                <a:ea typeface="+mn-ea"/>
                <a:cs typeface="+mn-cs"/>
              </a:rPr>
              <a:t>when</a:t>
            </a:r>
            <a:r>
              <a:rPr lang="pl-PL" sz="1200" b="0" i="0" u="none" strike="noStrike" kern="1200" baseline="0" dirty="0">
                <a:solidFill>
                  <a:schemeClr val="tx1"/>
                </a:solidFill>
                <a:latin typeface="Arial" charset="0"/>
                <a:ea typeface="+mn-ea"/>
                <a:cs typeface="+mn-cs"/>
              </a:rPr>
              <a:t> a </a:t>
            </a:r>
            <a:r>
              <a:rPr lang="pl-PL" sz="1200" b="0" i="0" u="none" strike="noStrike" kern="1200" baseline="0" dirty="0" err="1">
                <a:solidFill>
                  <a:schemeClr val="tx1"/>
                </a:solidFill>
                <a:latin typeface="Arial" charset="0"/>
                <a:ea typeface="+mn-ea"/>
                <a:cs typeface="+mn-cs"/>
              </a:rPr>
              <a:t>decision</a:t>
            </a:r>
            <a:r>
              <a:rPr lang="pl-PL" sz="1200" b="0" i="0" u="none" strike="noStrike" kern="1200" baseline="0" dirty="0">
                <a:solidFill>
                  <a:schemeClr val="tx1"/>
                </a:solidFill>
                <a:latin typeface="Arial" charset="0"/>
                <a:ea typeface="+mn-ea"/>
                <a:cs typeface="+mn-cs"/>
              </a:rPr>
              <a:t> </a:t>
            </a:r>
            <a:r>
              <a:rPr lang="pl-PL" sz="1200" b="0" i="0" u="none" strike="noStrike" kern="1200" baseline="0" dirty="0" err="1">
                <a:solidFill>
                  <a:schemeClr val="tx1"/>
                </a:solidFill>
                <a:latin typeface="Arial" charset="0"/>
                <a:ea typeface="+mn-ea"/>
                <a:cs typeface="+mn-cs"/>
              </a:rPr>
              <a:t>maker</a:t>
            </a:r>
            <a:r>
              <a:rPr lang="pl-PL" sz="1200" b="0" i="0" u="none" strike="noStrike" kern="1200" baseline="0" dirty="0">
                <a:solidFill>
                  <a:schemeClr val="tx1"/>
                </a:solidFill>
                <a:latin typeface="Arial" charset="0"/>
                <a:ea typeface="+mn-ea"/>
                <a:cs typeface="+mn-cs"/>
              </a:rPr>
              <a:t> </a:t>
            </a:r>
            <a:r>
              <a:rPr lang="pl-PL" sz="1200" b="0" i="0" u="none" strike="noStrike" kern="1200" baseline="0" dirty="0" err="1">
                <a:solidFill>
                  <a:schemeClr val="tx1"/>
                </a:solidFill>
                <a:latin typeface="Arial" charset="0"/>
                <a:ea typeface="+mn-ea"/>
                <a:cs typeface="+mn-cs"/>
              </a:rPr>
              <a:t>stays</a:t>
            </a:r>
            <a:r>
              <a:rPr lang="pl-PL" sz="1200" b="0" i="0" u="none" strike="noStrike" kern="1200" baseline="0" dirty="0">
                <a:solidFill>
                  <a:schemeClr val="tx1"/>
                </a:solidFill>
                <a:latin typeface="Arial" charset="0"/>
                <a:ea typeface="+mn-ea"/>
                <a:cs typeface="+mn-cs"/>
              </a:rPr>
              <a:t> with a </a:t>
            </a:r>
            <a:r>
              <a:rPr lang="pl-PL" sz="1200" b="0" i="0" u="none" strike="noStrike" kern="1200" baseline="0" dirty="0" err="1">
                <a:solidFill>
                  <a:schemeClr val="tx1"/>
                </a:solidFill>
                <a:latin typeface="Arial" charset="0"/>
                <a:ea typeface="+mn-ea"/>
                <a:cs typeface="+mn-cs"/>
              </a:rPr>
              <a:t>decision</a:t>
            </a:r>
            <a:r>
              <a:rPr lang="pl-PL" sz="1200" b="0" i="0" u="none" strike="noStrike" kern="1200" baseline="0" dirty="0">
                <a:solidFill>
                  <a:schemeClr val="tx1"/>
                </a:solidFill>
                <a:latin typeface="Arial" charset="0"/>
                <a:ea typeface="+mn-ea"/>
                <a:cs typeface="+mn-cs"/>
              </a:rPr>
              <a:t> </a:t>
            </a:r>
            <a:r>
              <a:rPr lang="pl-PL" sz="1200" b="0" i="0" u="none" strike="noStrike" kern="1200" baseline="0" dirty="0" err="1">
                <a:solidFill>
                  <a:schemeClr val="tx1"/>
                </a:solidFill>
                <a:latin typeface="Arial" charset="0"/>
                <a:ea typeface="+mn-ea"/>
                <a:cs typeface="+mn-cs"/>
              </a:rPr>
              <a:t>even</a:t>
            </a:r>
            <a:r>
              <a:rPr lang="pl-PL" sz="1200" b="0" i="0" u="none" strike="noStrike" kern="1200" baseline="0" dirty="0">
                <a:solidFill>
                  <a:schemeClr val="tx1"/>
                </a:solidFill>
                <a:latin typeface="Arial" charset="0"/>
                <a:ea typeface="+mn-ea"/>
                <a:cs typeface="+mn-cs"/>
              </a:rPr>
              <a:t> </a:t>
            </a:r>
            <a:r>
              <a:rPr lang="pl-PL" sz="1200" b="0" i="0" u="none" strike="noStrike" kern="1200" baseline="0" dirty="0" err="1">
                <a:solidFill>
                  <a:schemeClr val="tx1"/>
                </a:solidFill>
                <a:latin typeface="Arial" charset="0"/>
                <a:ea typeface="+mn-ea"/>
                <a:cs typeface="+mn-cs"/>
              </a:rPr>
              <a:t>when</a:t>
            </a:r>
            <a:r>
              <a:rPr lang="pl-PL" sz="1200" b="0" i="0" u="none" strike="noStrike" kern="1200" baseline="0" dirty="0">
                <a:solidFill>
                  <a:schemeClr val="tx1"/>
                </a:solidFill>
                <a:latin typeface="Arial" charset="0"/>
                <a:ea typeface="+mn-ea"/>
                <a:cs typeface="+mn-cs"/>
              </a:rPr>
              <a:t> </a:t>
            </a:r>
            <a:r>
              <a:rPr lang="pl-PL" sz="1200" b="0" i="0" u="none" strike="noStrike" kern="1200" baseline="0" dirty="0" err="1">
                <a:solidFill>
                  <a:schemeClr val="tx1"/>
                </a:solidFill>
                <a:latin typeface="Arial" charset="0"/>
                <a:ea typeface="+mn-ea"/>
                <a:cs typeface="+mn-cs"/>
              </a:rPr>
              <a:t>it</a:t>
            </a:r>
            <a:r>
              <a:rPr lang="pl-PL" sz="1200" b="0" i="0" u="none" strike="noStrike" kern="1200" baseline="0" dirty="0">
                <a:solidFill>
                  <a:schemeClr val="tx1"/>
                </a:solidFill>
                <a:latin typeface="Arial" charset="0"/>
                <a:ea typeface="+mn-ea"/>
                <a:cs typeface="+mn-cs"/>
              </a:rPr>
              <a:t> </a:t>
            </a:r>
            <a:r>
              <a:rPr lang="pl-PL" sz="1200" b="0" i="0" u="none" strike="noStrike" kern="1200" baseline="0" dirty="0" err="1">
                <a:solidFill>
                  <a:schemeClr val="tx1"/>
                </a:solidFill>
                <a:latin typeface="Arial" charset="0"/>
                <a:ea typeface="+mn-ea"/>
                <a:cs typeface="+mn-cs"/>
              </a:rPr>
              <a:t>appears</a:t>
            </a:r>
            <a:r>
              <a:rPr lang="pl-PL" sz="1200" b="0" i="0" u="none" strike="noStrike" kern="1200" baseline="0" dirty="0">
                <a:solidFill>
                  <a:schemeClr val="tx1"/>
                </a:solidFill>
                <a:latin typeface="Arial" charset="0"/>
                <a:ea typeface="+mn-ea"/>
                <a:cs typeface="+mn-cs"/>
              </a:rPr>
              <a:t> to be </a:t>
            </a:r>
            <a:r>
              <a:rPr lang="pl-PL" sz="1200" b="0" i="0" u="none" strike="noStrike" kern="1200" baseline="0" dirty="0" err="1">
                <a:solidFill>
                  <a:schemeClr val="tx1"/>
                </a:solidFill>
                <a:latin typeface="Arial" charset="0"/>
                <a:ea typeface="+mn-ea"/>
                <a:cs typeface="+mn-cs"/>
              </a:rPr>
              <a:t>wrong</a:t>
            </a:r>
            <a:r>
              <a:rPr lang="pl-PL" sz="1200" b="0" i="0" u="none" strike="noStrike" kern="1200" baseline="0" dirty="0">
                <a:solidFill>
                  <a:schemeClr val="tx1"/>
                </a:solidFill>
                <a:latin typeface="Arial" charset="0"/>
                <a:ea typeface="+mn-ea"/>
                <a:cs typeface="+mn-cs"/>
              </a:rPr>
              <a:t>.</a:t>
            </a:r>
          </a:p>
          <a:p>
            <a:r>
              <a:rPr lang="pl-PL" sz="1200" b="1" i="0" u="none" strike="noStrike" kern="1200" baseline="0" dirty="0" err="1">
                <a:solidFill>
                  <a:schemeClr val="tx1"/>
                </a:solidFill>
                <a:latin typeface="Arial" charset="0"/>
                <a:ea typeface="+mn-ea"/>
                <a:cs typeface="+mn-cs"/>
              </a:rPr>
              <a:t>Risk</a:t>
            </a:r>
            <a:r>
              <a:rPr lang="pl-PL" sz="1200" b="1" i="0" u="none" strike="noStrike" kern="1200" baseline="0" dirty="0">
                <a:solidFill>
                  <a:schemeClr val="tx1"/>
                </a:solidFill>
                <a:latin typeface="Arial" charset="0"/>
                <a:ea typeface="+mn-ea"/>
                <a:cs typeface="+mn-cs"/>
              </a:rPr>
              <a:t> </a:t>
            </a:r>
            <a:r>
              <a:rPr lang="pl-PL" sz="1200" b="1" i="0" u="none" strike="noStrike" kern="1200" baseline="0" dirty="0" err="1">
                <a:solidFill>
                  <a:schemeClr val="tx1"/>
                </a:solidFill>
                <a:latin typeface="Arial" charset="0"/>
                <a:ea typeface="+mn-ea"/>
                <a:cs typeface="+mn-cs"/>
              </a:rPr>
              <a:t>propensity</a:t>
            </a:r>
            <a:r>
              <a:rPr lang="pl-PL" sz="1200" b="1" i="0" u="none" strike="noStrike" kern="1200" baseline="0" dirty="0">
                <a:solidFill>
                  <a:schemeClr val="tx1"/>
                </a:solidFill>
                <a:latin typeface="Arial" charset="0"/>
                <a:ea typeface="+mn-ea"/>
                <a:cs typeface="+mn-cs"/>
              </a:rPr>
              <a:t> </a:t>
            </a:r>
            <a:r>
              <a:rPr lang="pl-PL" sz="1200" b="0" i="0" u="none" strike="noStrike" kern="1200" baseline="0" dirty="0">
                <a:solidFill>
                  <a:schemeClr val="tx1"/>
                </a:solidFill>
                <a:latin typeface="Arial" charset="0"/>
                <a:ea typeface="+mn-ea"/>
                <a:cs typeface="+mn-cs"/>
              </a:rPr>
              <a:t>- t</a:t>
            </a:r>
            <a:r>
              <a:rPr lang="en-US" sz="1200" b="0" i="0" u="none" strike="noStrike" kern="1200" baseline="0" dirty="0">
                <a:solidFill>
                  <a:schemeClr val="tx1"/>
                </a:solidFill>
                <a:latin typeface="Arial" charset="0"/>
                <a:ea typeface="+mn-ea"/>
                <a:cs typeface="+mn-cs"/>
              </a:rPr>
              <a:t>he extent to which a</a:t>
            </a:r>
            <a:r>
              <a:rPr lang="pl-PL" sz="1200" b="0" i="0" u="none" strike="noStrike" kern="1200" baseline="0" dirty="0">
                <a:solidFill>
                  <a:schemeClr val="tx1"/>
                </a:solidFill>
                <a:latin typeface="Arial" charset="0"/>
                <a:ea typeface="+mn-ea"/>
                <a:cs typeface="+mn-cs"/>
              </a:rPr>
              <a:t> </a:t>
            </a:r>
            <a:r>
              <a:rPr lang="pl-PL" sz="1200" b="0" i="0" u="none" strike="noStrike" kern="1200" baseline="0" dirty="0" err="1">
                <a:solidFill>
                  <a:schemeClr val="tx1"/>
                </a:solidFill>
                <a:latin typeface="Arial" charset="0"/>
                <a:ea typeface="+mn-ea"/>
                <a:cs typeface="+mn-cs"/>
              </a:rPr>
              <a:t>decision</a:t>
            </a:r>
            <a:r>
              <a:rPr lang="pl-PL" sz="1200" b="0" i="0" u="none" strike="noStrike" kern="1200" baseline="0" dirty="0">
                <a:solidFill>
                  <a:schemeClr val="tx1"/>
                </a:solidFill>
                <a:latin typeface="Arial" charset="0"/>
                <a:ea typeface="+mn-ea"/>
                <a:cs typeface="+mn-cs"/>
              </a:rPr>
              <a:t> </a:t>
            </a:r>
            <a:r>
              <a:rPr lang="pl-PL" sz="1200" b="0" i="0" u="none" strike="noStrike" kern="1200" baseline="0" dirty="0" err="1">
                <a:solidFill>
                  <a:schemeClr val="tx1"/>
                </a:solidFill>
                <a:latin typeface="Arial" charset="0"/>
                <a:ea typeface="+mn-ea"/>
                <a:cs typeface="+mn-cs"/>
              </a:rPr>
              <a:t>maker</a:t>
            </a:r>
            <a:r>
              <a:rPr lang="pl-PL" sz="1200" b="0" i="0" u="none" strike="noStrike" kern="1200" baseline="0" dirty="0">
                <a:solidFill>
                  <a:schemeClr val="tx1"/>
                </a:solidFill>
                <a:latin typeface="Arial" charset="0"/>
                <a:ea typeface="+mn-ea"/>
                <a:cs typeface="+mn-cs"/>
              </a:rPr>
              <a:t> </a:t>
            </a:r>
            <a:r>
              <a:rPr lang="pl-PL" sz="1200" b="0" i="0" u="none" strike="noStrike" kern="1200" baseline="0" dirty="0" err="1">
                <a:solidFill>
                  <a:schemeClr val="tx1"/>
                </a:solidFill>
                <a:latin typeface="Arial" charset="0"/>
                <a:ea typeface="+mn-ea"/>
                <a:cs typeface="+mn-cs"/>
              </a:rPr>
              <a:t>is</a:t>
            </a:r>
            <a:r>
              <a:rPr lang="pl-PL" sz="1200" b="0" i="0" u="none" strike="noStrike" kern="1200" baseline="0" dirty="0">
                <a:solidFill>
                  <a:schemeClr val="tx1"/>
                </a:solidFill>
                <a:latin typeface="Arial" charset="0"/>
                <a:ea typeface="+mn-ea"/>
                <a:cs typeface="+mn-cs"/>
              </a:rPr>
              <a:t> </a:t>
            </a:r>
            <a:r>
              <a:rPr lang="pl-PL" sz="1200" b="0" i="0" u="none" strike="noStrike" kern="1200" baseline="0" dirty="0" err="1">
                <a:solidFill>
                  <a:schemeClr val="tx1"/>
                </a:solidFill>
                <a:latin typeface="Arial" charset="0"/>
                <a:ea typeface="+mn-ea"/>
                <a:cs typeface="+mn-cs"/>
              </a:rPr>
              <a:t>willing</a:t>
            </a:r>
            <a:r>
              <a:rPr lang="pl-PL" sz="1200" b="0" i="0" u="none" strike="noStrike" kern="1200" baseline="0" dirty="0">
                <a:solidFill>
                  <a:schemeClr val="tx1"/>
                </a:solidFill>
                <a:latin typeface="Arial" charset="0"/>
                <a:ea typeface="+mn-ea"/>
                <a:cs typeface="+mn-cs"/>
              </a:rPr>
              <a:t> to </a:t>
            </a:r>
            <a:r>
              <a:rPr lang="pl-PL" sz="1200" b="0" i="0" u="none" strike="noStrike" kern="1200" baseline="0" dirty="0" err="1">
                <a:solidFill>
                  <a:schemeClr val="tx1"/>
                </a:solidFill>
                <a:latin typeface="Arial" charset="0"/>
                <a:ea typeface="+mn-ea"/>
                <a:cs typeface="+mn-cs"/>
              </a:rPr>
              <a:t>gamble</a:t>
            </a:r>
            <a:r>
              <a:rPr lang="pl-PL" sz="1200" b="0" i="0" u="none" strike="noStrike" kern="1200" baseline="0" dirty="0">
                <a:solidFill>
                  <a:schemeClr val="tx1"/>
                </a:solidFill>
                <a:latin typeface="Arial" charset="0"/>
                <a:ea typeface="+mn-ea"/>
                <a:cs typeface="+mn-cs"/>
              </a:rPr>
              <a:t> </a:t>
            </a:r>
            <a:r>
              <a:rPr lang="pl-PL" sz="1200" b="0" i="0" u="none" strike="noStrike" kern="1200" baseline="0" dirty="0" err="1">
                <a:solidFill>
                  <a:schemeClr val="tx1"/>
                </a:solidFill>
                <a:latin typeface="Arial" charset="0"/>
                <a:ea typeface="+mn-ea"/>
                <a:cs typeface="+mn-cs"/>
              </a:rPr>
              <a:t>when</a:t>
            </a:r>
            <a:r>
              <a:rPr lang="pl-PL" sz="1200" b="0" i="0" u="none" strike="noStrike" kern="1200" baseline="0" dirty="0">
                <a:solidFill>
                  <a:schemeClr val="tx1"/>
                </a:solidFill>
                <a:latin typeface="Arial" charset="0"/>
                <a:ea typeface="+mn-ea"/>
                <a:cs typeface="+mn-cs"/>
              </a:rPr>
              <a:t> </a:t>
            </a:r>
            <a:r>
              <a:rPr lang="pl-PL" sz="1200" b="0" i="0" u="none" strike="noStrike" kern="1200" baseline="0" dirty="0" err="1">
                <a:solidFill>
                  <a:schemeClr val="tx1"/>
                </a:solidFill>
                <a:latin typeface="Arial" charset="0"/>
                <a:ea typeface="+mn-ea"/>
                <a:cs typeface="+mn-cs"/>
              </a:rPr>
              <a:t>making</a:t>
            </a:r>
            <a:r>
              <a:rPr lang="pl-PL" sz="1200" b="0" i="0" u="none" strike="noStrike" kern="1200" baseline="0" dirty="0">
                <a:solidFill>
                  <a:schemeClr val="tx1"/>
                </a:solidFill>
                <a:latin typeface="Arial" charset="0"/>
                <a:ea typeface="+mn-ea"/>
                <a:cs typeface="+mn-cs"/>
              </a:rPr>
              <a:t> a </a:t>
            </a:r>
            <a:r>
              <a:rPr lang="pl-PL" sz="1200" b="0" i="0" u="none" strike="noStrike" kern="1200" baseline="0" dirty="0" err="1">
                <a:solidFill>
                  <a:schemeClr val="tx1"/>
                </a:solidFill>
                <a:latin typeface="Arial" charset="0"/>
                <a:ea typeface="+mn-ea"/>
                <a:cs typeface="+mn-cs"/>
              </a:rPr>
              <a:t>decision</a:t>
            </a:r>
            <a:r>
              <a:rPr lang="pl-PL" sz="1200" b="0" i="0" u="none" strike="noStrike" kern="1200" baseline="0" dirty="0">
                <a:solidFill>
                  <a:schemeClr val="tx1"/>
                </a:solidFill>
                <a:latin typeface="Arial" charset="0"/>
                <a:ea typeface="+mn-ea"/>
                <a:cs typeface="+mn-cs"/>
              </a:rPr>
              <a:t>.</a:t>
            </a:r>
          </a:p>
          <a:p>
            <a:endParaRPr lang="pl-PL" sz="800" dirty="0"/>
          </a:p>
        </p:txBody>
      </p:sp>
    </p:spTree>
    <p:extLst>
      <p:ext uri="{BB962C8B-B14F-4D97-AF65-F5344CB8AC3E}">
        <p14:creationId xmlns:p14="http://schemas.microsoft.com/office/powerpoint/2010/main" val="32698227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988615DB-AFC0-4AB3-8AE7-3A2F3EA72653}" type="slidenum">
              <a:rPr lang="pl-PL"/>
              <a:pPr/>
              <a:t>14</a:t>
            </a:fld>
            <a:endParaRPr lang="pl-PL"/>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p:spPr>
        <p:txBody>
          <a:bodyPr/>
          <a:lstStyle/>
          <a:p>
            <a:r>
              <a:rPr lang="en-US" sz="1200" b="1" i="1" u="none" strike="noStrike" kern="1200" baseline="0" dirty="0">
                <a:solidFill>
                  <a:schemeClr val="tx1"/>
                </a:solidFill>
                <a:latin typeface="Arial" charset="0"/>
                <a:ea typeface="+mn-ea"/>
                <a:cs typeface="+mn-cs"/>
              </a:rPr>
              <a:t>Nominal Groups </a:t>
            </a:r>
            <a:r>
              <a:rPr lang="en-US" sz="1200" b="0" i="0" u="none" strike="noStrike" kern="1200" baseline="0" dirty="0">
                <a:solidFill>
                  <a:schemeClr val="tx1"/>
                </a:solidFill>
                <a:latin typeface="Arial" charset="0"/>
                <a:ea typeface="+mn-ea"/>
                <a:cs typeface="+mn-cs"/>
              </a:rPr>
              <a:t>Another useful group and team decision-making technique that is</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occasionally used is the </a:t>
            </a:r>
            <a:r>
              <a:rPr lang="en-US" sz="1200" b="1" i="0" u="none" strike="noStrike" kern="1200" baseline="0" dirty="0">
                <a:solidFill>
                  <a:schemeClr val="tx1"/>
                </a:solidFill>
                <a:latin typeface="Arial" charset="0"/>
                <a:ea typeface="+mn-ea"/>
                <a:cs typeface="+mn-cs"/>
              </a:rPr>
              <a:t>nominal group</a:t>
            </a:r>
            <a:r>
              <a:rPr lang="en-US" sz="1200" b="0" i="0" u="none" strike="noStrike" kern="1200" baseline="0" dirty="0">
                <a:solidFill>
                  <a:schemeClr val="tx1"/>
                </a:solidFill>
                <a:latin typeface="Arial" charset="0"/>
                <a:ea typeface="+mn-ea"/>
                <a:cs typeface="+mn-cs"/>
              </a:rPr>
              <a:t>. Unlike the Delphi method, in which group</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members do not see one another, nominal group members are brought together in a</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face-to-face setting. The members represent a group in name only, however; they do</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not talk to one another freely like the members of interacting groups. Nominal groups</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are used most often to generate creative and innovative alternatives or ideas. To begin,</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the manager assembles a group of knowledgeable experts and outlines the problem to</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them. The group members are then asked to individually write down as many alternatives</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as they can think of. The members then take turns stating their ideas, which are</a:t>
            </a:r>
          </a:p>
          <a:p>
            <a:r>
              <a:rPr lang="en-US" sz="1200" b="0" i="0" u="none" strike="noStrike" kern="1200" baseline="0" dirty="0">
                <a:solidFill>
                  <a:schemeClr val="tx1"/>
                </a:solidFill>
                <a:latin typeface="Arial" charset="0"/>
                <a:ea typeface="+mn-ea"/>
                <a:cs typeface="+mn-cs"/>
              </a:rPr>
              <a:t>recorded on a flip chart or board at the front of the room. Discussion is limited to simple</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clarification. After all alternatives have been listed, more open discussion takes place.</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Group members then vote, usually by rank, ordering the various alternatives. The</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highest-ranking alternative represents the decision of the group. </a:t>
            </a:r>
            <a:r>
              <a:rPr lang="pl-PL" sz="1200" b="0" i="0" u="none" strike="noStrike" kern="1200" baseline="0" dirty="0">
                <a:solidFill>
                  <a:schemeClr val="tx1"/>
                </a:solidFill>
                <a:latin typeface="Arial" charset="0"/>
                <a:ea typeface="+mn-ea"/>
                <a:cs typeface="+mn-cs"/>
              </a:rPr>
              <a:t>Of </a:t>
            </a:r>
            <a:r>
              <a:rPr lang="pl-PL" sz="1200" b="0" i="0" u="none" strike="noStrike" kern="1200" baseline="0" dirty="0" err="1">
                <a:solidFill>
                  <a:schemeClr val="tx1"/>
                </a:solidFill>
                <a:latin typeface="Arial" charset="0"/>
                <a:ea typeface="+mn-ea"/>
                <a:cs typeface="+mn-cs"/>
              </a:rPr>
              <a:t>course</a:t>
            </a:r>
            <a:r>
              <a:rPr lang="pl-PL" sz="1200" b="0" i="0" u="none" strike="noStrike" kern="1200" baseline="0" dirty="0">
                <a:solidFill>
                  <a:schemeClr val="tx1"/>
                </a:solidFill>
                <a:latin typeface="Arial" charset="0"/>
                <a:ea typeface="+mn-ea"/>
                <a:cs typeface="+mn-cs"/>
              </a:rPr>
              <a:t>, the manager </a:t>
            </a:r>
            <a:r>
              <a:rPr lang="en-US" sz="1200" b="0" i="0" u="none" strike="noStrike" kern="1200" baseline="0" dirty="0">
                <a:solidFill>
                  <a:schemeClr val="tx1"/>
                </a:solidFill>
                <a:latin typeface="Arial" charset="0"/>
                <a:ea typeface="+mn-ea"/>
                <a:cs typeface="+mn-cs"/>
              </a:rPr>
              <a:t>in charge may retain the authority to accept or reject the group decision</a:t>
            </a:r>
            <a:endParaRPr lang="pl-PL" dirty="0"/>
          </a:p>
        </p:txBody>
      </p:sp>
    </p:spTree>
    <p:extLst>
      <p:ext uri="{BB962C8B-B14F-4D97-AF65-F5344CB8AC3E}">
        <p14:creationId xmlns:p14="http://schemas.microsoft.com/office/powerpoint/2010/main" val="18294200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9C02EC20-D6F3-4DAB-BF7E-4843B4E0BE0C}" type="slidenum">
              <a:rPr lang="pl-PL"/>
              <a:pPr/>
              <a:t>15</a:t>
            </a:fld>
            <a:endParaRPr lang="pl-PL"/>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p:spPr>
        <p:txBody>
          <a:bodyPr/>
          <a:lstStyle/>
          <a:p>
            <a:pPr eaLnBrk="1" hangingPunct="1"/>
            <a:endParaRPr lang="pl-PL" dirty="0"/>
          </a:p>
        </p:txBody>
      </p:sp>
    </p:spTree>
    <p:extLst>
      <p:ext uri="{BB962C8B-B14F-4D97-AF65-F5344CB8AC3E}">
        <p14:creationId xmlns:p14="http://schemas.microsoft.com/office/powerpoint/2010/main" val="29120950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900321FA-3986-4B02-B204-8639C9603293}" type="slidenum">
              <a:rPr lang="pl-PL"/>
              <a:pPr/>
              <a:t>16</a:t>
            </a:fld>
            <a:endParaRPr lang="pl-PL"/>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p:spPr>
        <p:txBody>
          <a:bodyPr/>
          <a:lstStyle/>
          <a:p>
            <a:r>
              <a:rPr lang="en-US" sz="1200" b="0" i="0" u="none" strike="noStrike" kern="1200" baseline="0" dirty="0">
                <a:solidFill>
                  <a:schemeClr val="tx1"/>
                </a:solidFill>
                <a:latin typeface="Arial" charset="0"/>
                <a:ea typeface="+mn-ea"/>
                <a:cs typeface="+mn-cs"/>
              </a:rPr>
              <a:t>One of the most clearly documented</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examples of groupthink involved the space shuttle Challenger disaster. As NASA was preparing</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to launch the shuttle, numerous problems and questions arose. At each step of the</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way, however, decision makers argued that there was no reason to delay and that everything</a:t>
            </a:r>
          </a:p>
          <a:p>
            <a:r>
              <a:rPr lang="en-US" sz="1200" b="0" i="0" u="none" strike="noStrike" kern="1200" baseline="0" dirty="0">
                <a:solidFill>
                  <a:schemeClr val="tx1"/>
                </a:solidFill>
                <a:latin typeface="Arial" charset="0"/>
                <a:ea typeface="+mn-ea"/>
                <a:cs typeface="+mn-cs"/>
              </a:rPr>
              <a:t>would be fine. Shortly after its launch, the shuttle exploded, killing all seven crew</a:t>
            </a:r>
            <a:r>
              <a:rPr lang="pl-PL" sz="1200" b="0" i="0" u="none" strike="noStrike" kern="1200" baseline="0" dirty="0">
                <a:solidFill>
                  <a:schemeClr val="tx1"/>
                </a:solidFill>
                <a:latin typeface="Arial" charset="0"/>
                <a:ea typeface="+mn-ea"/>
                <a:cs typeface="+mn-cs"/>
              </a:rPr>
              <a:t> </a:t>
            </a:r>
            <a:r>
              <a:rPr lang="pl-PL" sz="1200" b="0" i="0" u="none" strike="noStrike" kern="1200" baseline="0" dirty="0" err="1">
                <a:solidFill>
                  <a:schemeClr val="tx1"/>
                </a:solidFill>
                <a:latin typeface="Arial" charset="0"/>
                <a:ea typeface="+mn-ea"/>
                <a:cs typeface="+mn-cs"/>
              </a:rPr>
              <a:t>members</a:t>
            </a:r>
            <a:r>
              <a:rPr lang="pl-PL" sz="1200" b="0" i="0" u="none" strike="noStrike" kern="1200" baseline="0" dirty="0">
                <a:solidFill>
                  <a:schemeClr val="tx1"/>
                </a:solidFill>
                <a:latin typeface="Arial" charset="0"/>
                <a:ea typeface="+mn-ea"/>
                <a:cs typeface="+mn-cs"/>
              </a:rPr>
              <a:t>.</a:t>
            </a:r>
            <a:endParaRPr lang="pl-PL" dirty="0"/>
          </a:p>
        </p:txBody>
      </p:sp>
    </p:spTree>
    <p:extLst>
      <p:ext uri="{BB962C8B-B14F-4D97-AF65-F5344CB8AC3E}">
        <p14:creationId xmlns:p14="http://schemas.microsoft.com/office/powerpoint/2010/main" val="39250328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06389CAB-2B16-4962-B3DF-FCA8305ED49F}" type="slidenum">
              <a:rPr lang="pl-PL"/>
              <a:pPr/>
              <a:t>17</a:t>
            </a:fld>
            <a:endParaRPr lang="pl-PL"/>
          </a:p>
        </p:txBody>
      </p:sp>
      <p:sp>
        <p:nvSpPr>
          <p:cNvPr id="46083" name="Rectangle 2"/>
          <p:cNvSpPr>
            <a:spLocks noGrp="1" noRot="1" noChangeAspect="1" noChangeArrowheads="1" noTextEdit="1"/>
          </p:cNvSpPr>
          <p:nvPr>
            <p:ph type="sldImg"/>
          </p:nvPr>
        </p:nvSpPr>
        <p:spPr>
          <a:xfrm>
            <a:off x="1143000" y="539750"/>
            <a:ext cx="4572000" cy="3429000"/>
          </a:xfrm>
          <a:ln/>
        </p:spPr>
      </p:sp>
      <p:sp>
        <p:nvSpPr>
          <p:cNvPr id="46084" name="Rectangle 3"/>
          <p:cNvSpPr>
            <a:spLocks noGrp="1" noChangeArrowheads="1"/>
          </p:cNvSpPr>
          <p:nvPr>
            <p:ph type="body" idx="1"/>
          </p:nvPr>
        </p:nvSpPr>
        <p:spPr>
          <a:noFill/>
          <a:ln/>
        </p:spPr>
        <p:txBody>
          <a:bodyPr/>
          <a:lstStyle/>
          <a:p>
            <a:pPr eaLnBrk="1" hangingPunct="1"/>
            <a:r>
              <a:rPr lang="en-US" dirty="0"/>
              <a:t>Senators are good men, but the Senate </a:t>
            </a:r>
            <a:r>
              <a:rPr lang="pl-PL" dirty="0"/>
              <a:t>as a </a:t>
            </a:r>
            <a:r>
              <a:rPr lang="pl-PL" dirty="0" err="1"/>
              <a:t>whole</a:t>
            </a:r>
            <a:r>
              <a:rPr lang="pl-PL" dirty="0"/>
              <a:t> </a:t>
            </a:r>
            <a:r>
              <a:rPr lang="pl-PL" dirty="0" err="1"/>
              <a:t>is</a:t>
            </a:r>
            <a:r>
              <a:rPr lang="pl-PL" dirty="0"/>
              <a:t> a </a:t>
            </a:r>
            <a:r>
              <a:rPr lang="en-US" dirty="0"/>
              <a:t>beast</a:t>
            </a:r>
            <a:r>
              <a:rPr lang="pl-PL" dirty="0"/>
              <a:t> (</a:t>
            </a:r>
            <a:r>
              <a:rPr lang="pl-PL" dirty="0" err="1"/>
              <a:t>Latin</a:t>
            </a:r>
            <a:r>
              <a:rPr lang="pl-PL" dirty="0"/>
              <a:t>)</a:t>
            </a:r>
          </a:p>
        </p:txBody>
      </p:sp>
    </p:spTree>
    <p:extLst>
      <p:ext uri="{BB962C8B-B14F-4D97-AF65-F5344CB8AC3E}">
        <p14:creationId xmlns:p14="http://schemas.microsoft.com/office/powerpoint/2010/main" val="39400232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06389CAB-2B16-4962-B3DF-FCA8305ED49F}" type="slidenum">
              <a:rPr lang="pl-PL"/>
              <a:pPr/>
              <a:t>18</a:t>
            </a:fld>
            <a:endParaRPr lang="pl-PL"/>
          </a:p>
        </p:txBody>
      </p:sp>
      <p:sp>
        <p:nvSpPr>
          <p:cNvPr id="46083" name="Rectangle 2"/>
          <p:cNvSpPr>
            <a:spLocks noGrp="1" noRot="1" noChangeAspect="1" noChangeArrowheads="1" noTextEdit="1"/>
          </p:cNvSpPr>
          <p:nvPr>
            <p:ph type="sldImg"/>
          </p:nvPr>
        </p:nvSpPr>
        <p:spPr>
          <a:xfrm>
            <a:off x="1143000" y="539750"/>
            <a:ext cx="4572000" cy="3429000"/>
          </a:xfrm>
          <a:ln/>
        </p:spPr>
      </p:sp>
      <p:sp>
        <p:nvSpPr>
          <p:cNvPr id="46084" name="Rectangle 3"/>
          <p:cNvSpPr>
            <a:spLocks noGrp="1" noChangeArrowheads="1"/>
          </p:cNvSpPr>
          <p:nvPr>
            <p:ph type="body" idx="1"/>
          </p:nvPr>
        </p:nvSpPr>
        <p:spPr>
          <a:noFill/>
          <a:ln/>
        </p:spPr>
        <p:txBody>
          <a:bodyPr/>
          <a:lstStyle/>
          <a:p>
            <a:pPr eaLnBrk="1" hangingPunct="1"/>
            <a:r>
              <a:rPr lang="en-US" sz="1200" b="0" i="0" u="none" kern="1200" dirty="0">
                <a:solidFill>
                  <a:schemeClr val="tx1"/>
                </a:solidFill>
                <a:effectLst/>
                <a:latin typeface="Arial" charset="0"/>
                <a:ea typeface="+mn-ea"/>
                <a:cs typeface="+mn-cs"/>
              </a:rPr>
              <a:t>A </a:t>
            </a:r>
            <a:r>
              <a:rPr lang="en-US" sz="1200" b="1" i="0" u="none" kern="1200" dirty="0" err="1">
                <a:solidFill>
                  <a:schemeClr val="tx1"/>
                </a:solidFill>
                <a:effectLst/>
                <a:latin typeface="Arial" charset="0"/>
                <a:ea typeface="+mn-ea"/>
                <a:cs typeface="+mn-cs"/>
              </a:rPr>
              <a:t>mindguard</a:t>
            </a:r>
            <a:r>
              <a:rPr lang="en-US" sz="1200" b="0" i="0" u="none" kern="1200" dirty="0">
                <a:solidFill>
                  <a:schemeClr val="tx1"/>
                </a:solidFill>
                <a:effectLst/>
                <a:latin typeface="Arial" charset="0"/>
                <a:ea typeface="+mn-ea"/>
                <a:cs typeface="+mn-cs"/>
              </a:rPr>
              <a:t> is a member of a group who serves as an informational filter, providing limited information to the group and, consciously or subconsciously, utilizing a variety of strategies to control dissent and to direct the decision-making process toward a specific, limited range of possibilities</a:t>
            </a:r>
            <a:r>
              <a:rPr lang="en-US" sz="1200" b="0" i="0" kern="1200" dirty="0">
                <a:solidFill>
                  <a:schemeClr val="tx1"/>
                </a:solidFill>
                <a:effectLst/>
                <a:latin typeface="Arial" charset="0"/>
                <a:ea typeface="+mn-ea"/>
                <a:cs typeface="+mn-cs"/>
              </a:rPr>
              <a:t>. </a:t>
            </a:r>
            <a:endParaRPr lang="pl-PL" dirty="0"/>
          </a:p>
        </p:txBody>
      </p:sp>
    </p:spTree>
    <p:extLst>
      <p:ext uri="{BB962C8B-B14F-4D97-AF65-F5344CB8AC3E}">
        <p14:creationId xmlns:p14="http://schemas.microsoft.com/office/powerpoint/2010/main" val="377488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p>
            <a:fld id="{0F0BD874-49BD-446E-AFF8-423EFCABFCBF}" type="slidenum">
              <a:rPr lang="pl-PL"/>
              <a:pPr/>
              <a:t>19</a:t>
            </a:fld>
            <a:endParaRPr lang="pl-PL"/>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39761769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p>
            <a:fld id="{296B560D-96C4-4C46-A8D4-13EF13A7D21A}" type="slidenum">
              <a:rPr lang="pl-PL"/>
              <a:pPr/>
              <a:t>20</a:t>
            </a:fld>
            <a:endParaRPr lang="pl-PL"/>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p:spPr>
        <p:txBody>
          <a:bodyPr/>
          <a:lstStyle/>
          <a:p>
            <a:pPr eaLnBrk="1" hangingPunct="1"/>
            <a:endParaRPr lang="pl-PL" dirty="0"/>
          </a:p>
        </p:txBody>
      </p:sp>
    </p:spTree>
    <p:extLst>
      <p:ext uri="{BB962C8B-B14F-4D97-AF65-F5344CB8AC3E}">
        <p14:creationId xmlns:p14="http://schemas.microsoft.com/office/powerpoint/2010/main" val="20761162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E5598FAE-34DE-458F-9D64-25FC6A2AE692}" type="slidenum">
              <a:rPr lang="pl-PL"/>
              <a:pPr/>
              <a:t>21</a:t>
            </a:fld>
            <a:endParaRPr lang="pl-PL"/>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p:spPr>
        <p:txBody>
          <a:bodyPr/>
          <a:lstStyle/>
          <a:p>
            <a:pPr eaLnBrk="1" hangingPunct="1"/>
            <a:r>
              <a:rPr lang="pl-PL" dirty="0"/>
              <a:t> </a:t>
            </a:r>
          </a:p>
        </p:txBody>
      </p:sp>
    </p:spTree>
    <p:extLst>
      <p:ext uri="{BB962C8B-B14F-4D97-AF65-F5344CB8AC3E}">
        <p14:creationId xmlns:p14="http://schemas.microsoft.com/office/powerpoint/2010/main" val="19667133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p>
            <a:fld id="{712088E6-4A38-4628-9987-AFD13070C0D3}" type="slidenum">
              <a:rPr lang="pl-PL"/>
              <a:pPr/>
              <a:t>22</a:t>
            </a:fld>
            <a:endParaRPr lang="pl-PL"/>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p:spPr>
        <p:txBody>
          <a:bodyPr/>
          <a:lstStyle/>
          <a:p>
            <a:r>
              <a:rPr lang="en-US" sz="1200" b="1" i="1" u="none" strike="noStrike" kern="1200" baseline="0" dirty="0">
                <a:solidFill>
                  <a:schemeClr val="tx1"/>
                </a:solidFill>
                <a:latin typeface="Arial" charset="0"/>
                <a:ea typeface="+mn-ea"/>
                <a:cs typeface="+mn-cs"/>
              </a:rPr>
              <a:t>Delphi Groups</a:t>
            </a:r>
            <a:r>
              <a:rPr lang="pl-PL" sz="1200" b="1" i="1" u="none" strike="noStrike" kern="1200" baseline="0" dirty="0">
                <a:solidFill>
                  <a:schemeClr val="tx1"/>
                </a:solidFill>
                <a:latin typeface="Arial" charset="0"/>
                <a:ea typeface="+mn-ea"/>
                <a:cs typeface="+mn-cs"/>
              </a:rPr>
              <a:t>.</a:t>
            </a:r>
            <a:r>
              <a:rPr lang="en-US" sz="1200" b="1" i="1"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A </a:t>
            </a:r>
            <a:r>
              <a:rPr lang="en-US" sz="1200" b="1" i="0" u="none" strike="noStrike" kern="1200" baseline="0" dirty="0">
                <a:solidFill>
                  <a:schemeClr val="tx1"/>
                </a:solidFill>
                <a:latin typeface="Arial" charset="0"/>
                <a:ea typeface="+mn-ea"/>
                <a:cs typeface="+mn-cs"/>
              </a:rPr>
              <a:t>Delphi group </a:t>
            </a:r>
            <a:r>
              <a:rPr lang="en-US" sz="1200" b="0" i="0" u="none" strike="noStrike" kern="1200" baseline="0" dirty="0">
                <a:solidFill>
                  <a:schemeClr val="tx1"/>
                </a:solidFill>
                <a:latin typeface="Arial" charset="0"/>
                <a:ea typeface="+mn-ea"/>
                <a:cs typeface="+mn-cs"/>
              </a:rPr>
              <a:t>is sometimes used to arrive at a consensus of expert</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opinion. Developed by the Rand Corporation, the Delphi procedure solicits input from a</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panel of experts who contribute individually. Their opinions are combined and, in effect,</a:t>
            </a:r>
            <a:r>
              <a:rPr lang="pl-PL" sz="1200" b="0" i="0" u="none" strike="noStrike" kern="1200" baseline="0" dirty="0">
                <a:solidFill>
                  <a:schemeClr val="tx1"/>
                </a:solidFill>
                <a:latin typeface="Arial" charset="0"/>
                <a:ea typeface="+mn-ea"/>
                <a:cs typeface="+mn-cs"/>
              </a:rPr>
              <a:t> </a:t>
            </a:r>
            <a:r>
              <a:rPr lang="en-US" sz="1200" b="0" i="0" u="none" strike="noStrike" kern="1200" baseline="0" dirty="0">
                <a:solidFill>
                  <a:schemeClr val="tx1"/>
                </a:solidFill>
                <a:latin typeface="Arial" charset="0"/>
                <a:ea typeface="+mn-ea"/>
                <a:cs typeface="+mn-cs"/>
              </a:rPr>
              <a:t>averaged. </a:t>
            </a:r>
            <a:r>
              <a:rPr lang="pl-PL" sz="1200" b="0" i="0" u="none" strike="noStrike" kern="1200" baseline="0" dirty="0">
                <a:solidFill>
                  <a:schemeClr val="tx1"/>
                </a:solidFill>
                <a:latin typeface="Arial" charset="0"/>
                <a:ea typeface="+mn-ea"/>
                <a:cs typeface="+mn-cs"/>
              </a:rPr>
              <a:t>The </a:t>
            </a:r>
            <a:r>
              <a:rPr lang="pl-PL" sz="1200" b="0" i="0" u="none" strike="noStrike" kern="1200" baseline="0" dirty="0" err="1">
                <a:solidFill>
                  <a:schemeClr val="tx1"/>
                </a:solidFill>
                <a:latin typeface="Arial" charset="0"/>
                <a:ea typeface="+mn-ea"/>
                <a:cs typeface="+mn-cs"/>
              </a:rPr>
              <a:t>experts</a:t>
            </a:r>
            <a:r>
              <a:rPr lang="pl-PL" sz="1200" b="0" i="0" u="none" strike="noStrike" kern="1200" baseline="0" dirty="0">
                <a:solidFill>
                  <a:schemeClr val="tx1"/>
                </a:solidFill>
                <a:latin typeface="Arial" charset="0"/>
                <a:ea typeface="+mn-ea"/>
                <a:cs typeface="+mn-cs"/>
              </a:rPr>
              <a:t> do not </a:t>
            </a:r>
            <a:r>
              <a:rPr lang="pl-PL" sz="1200" b="0" i="0" u="none" strike="noStrike" kern="1200" baseline="0" dirty="0" err="1">
                <a:solidFill>
                  <a:schemeClr val="tx1"/>
                </a:solidFill>
                <a:latin typeface="Arial" charset="0"/>
                <a:ea typeface="+mn-ea"/>
                <a:cs typeface="+mn-cs"/>
              </a:rPr>
              <a:t>see</a:t>
            </a:r>
            <a:r>
              <a:rPr lang="pl-PL" sz="1200" b="0" i="0" u="none" strike="noStrike" kern="1200" baseline="0" dirty="0">
                <a:solidFill>
                  <a:schemeClr val="tx1"/>
                </a:solidFill>
                <a:latin typeface="Arial" charset="0"/>
                <a:ea typeface="+mn-ea"/>
                <a:cs typeface="+mn-cs"/>
              </a:rPr>
              <a:t> </a:t>
            </a:r>
            <a:r>
              <a:rPr lang="pl-PL" sz="1200" b="0" i="0" u="none" strike="noStrike" kern="1200" baseline="0" dirty="0" err="1">
                <a:solidFill>
                  <a:schemeClr val="tx1"/>
                </a:solidFill>
                <a:latin typeface="Arial" charset="0"/>
                <a:ea typeface="+mn-ea"/>
                <a:cs typeface="+mn-cs"/>
              </a:rPr>
              <a:t>each</a:t>
            </a:r>
            <a:r>
              <a:rPr lang="pl-PL" sz="1200" b="0" i="0" u="none" strike="noStrike" kern="1200" baseline="0" dirty="0">
                <a:solidFill>
                  <a:schemeClr val="tx1"/>
                </a:solidFill>
                <a:latin typeface="Arial" charset="0"/>
                <a:ea typeface="+mn-ea"/>
                <a:cs typeface="+mn-cs"/>
              </a:rPr>
              <a:t> </a:t>
            </a:r>
            <a:r>
              <a:rPr lang="pl-PL" sz="1200" b="0" i="0" u="none" strike="noStrike" kern="1200" baseline="0" dirty="0" err="1">
                <a:solidFill>
                  <a:schemeClr val="tx1"/>
                </a:solidFill>
                <a:latin typeface="Arial" charset="0"/>
                <a:ea typeface="+mn-ea"/>
                <a:cs typeface="+mn-cs"/>
              </a:rPr>
              <a:t>other</a:t>
            </a:r>
            <a:r>
              <a:rPr lang="pl-PL" sz="1200" b="0" i="0" u="none" strike="noStrike" kern="1200" baseline="0" dirty="0">
                <a:solidFill>
                  <a:schemeClr val="tx1"/>
                </a:solidFill>
                <a:latin typeface="Arial" charset="0"/>
                <a:ea typeface="+mn-ea"/>
                <a:cs typeface="+mn-cs"/>
              </a:rPr>
              <a:t>. </a:t>
            </a:r>
            <a:endParaRPr lang="pl-PL" dirty="0"/>
          </a:p>
        </p:txBody>
      </p:sp>
    </p:spTree>
    <p:extLst>
      <p:ext uri="{BB962C8B-B14F-4D97-AF65-F5344CB8AC3E}">
        <p14:creationId xmlns:p14="http://schemas.microsoft.com/office/powerpoint/2010/main" val="21922513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p>
            <a:fld id="{A5A38E57-1A9B-4B7F-977C-7F978F9E362C}" type="slidenum">
              <a:rPr lang="pl-PL"/>
              <a:pPr/>
              <a:t>23</a:t>
            </a:fld>
            <a:endParaRPr lang="pl-PL"/>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p:spPr>
        <p:txBody>
          <a:bodyPr/>
          <a:lstStyle/>
          <a:p>
            <a:pPr eaLnBrk="1" hangingPunct="1"/>
            <a:endParaRPr lang="pl-PL" dirty="0"/>
          </a:p>
        </p:txBody>
      </p:sp>
    </p:spTree>
    <p:extLst>
      <p:ext uri="{BB962C8B-B14F-4D97-AF65-F5344CB8AC3E}">
        <p14:creationId xmlns:p14="http://schemas.microsoft.com/office/powerpoint/2010/main" val="32893691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38D072C4-8058-47ED-A267-457CF165ACB1}" type="slidenum">
              <a:rPr lang="pl-PL"/>
              <a:pPr/>
              <a:t>24</a:t>
            </a:fld>
            <a:endParaRPr lang="pl-PL"/>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pPr eaLnBrk="1" hangingPunct="1"/>
            <a:r>
              <a:rPr lang="en-US" sz="1200" b="0" i="0" kern="1200" dirty="0">
                <a:solidFill>
                  <a:schemeClr val="tx1"/>
                </a:solidFill>
                <a:effectLst/>
                <a:latin typeface="Arial" charset="0"/>
                <a:ea typeface="+mn-ea"/>
                <a:cs typeface="+mn-cs"/>
              </a:rPr>
              <a:t>A </a:t>
            </a:r>
            <a:r>
              <a:rPr lang="en-US" sz="1200" b="1" i="0" kern="1200" dirty="0">
                <a:solidFill>
                  <a:schemeClr val="tx1"/>
                </a:solidFill>
                <a:effectLst/>
                <a:latin typeface="Arial" charset="0"/>
                <a:ea typeface="+mn-ea"/>
                <a:cs typeface="+mn-cs"/>
              </a:rPr>
              <a:t>game</a:t>
            </a:r>
            <a:r>
              <a:rPr lang="en-US" sz="1200" b="0" i="0" kern="1200" dirty="0">
                <a:solidFill>
                  <a:schemeClr val="tx1"/>
                </a:solidFill>
                <a:effectLst/>
                <a:latin typeface="Arial" charset="0"/>
                <a:ea typeface="+mn-ea"/>
                <a:cs typeface="+mn-cs"/>
              </a:rPr>
              <a:t> played by </a:t>
            </a:r>
            <a:r>
              <a:rPr lang="en-US" sz="1200" b="1" i="0" kern="1200" dirty="0">
                <a:solidFill>
                  <a:schemeClr val="tx1"/>
                </a:solidFill>
                <a:effectLst/>
                <a:latin typeface="Arial" charset="0"/>
                <a:ea typeface="+mn-ea"/>
                <a:cs typeface="+mn-cs"/>
              </a:rPr>
              <a:t>two</a:t>
            </a:r>
            <a:r>
              <a:rPr lang="en-US" sz="1200" b="0" i="0" kern="1200" dirty="0">
                <a:solidFill>
                  <a:schemeClr val="tx1"/>
                </a:solidFill>
                <a:effectLst/>
                <a:latin typeface="Arial" charset="0"/>
                <a:ea typeface="+mn-ea"/>
                <a:cs typeface="+mn-cs"/>
              </a:rPr>
              <a:t> rational </a:t>
            </a:r>
            <a:r>
              <a:rPr lang="en-US" sz="1200" b="1" i="0" kern="1200" dirty="0">
                <a:solidFill>
                  <a:schemeClr val="tx1"/>
                </a:solidFill>
                <a:effectLst/>
                <a:latin typeface="Arial" charset="0"/>
                <a:ea typeface="+mn-ea"/>
                <a:cs typeface="+mn-cs"/>
              </a:rPr>
              <a:t>players</a:t>
            </a:r>
            <a:r>
              <a:rPr lang="en-US" sz="1200" b="0" i="0" kern="1200" dirty="0">
                <a:solidFill>
                  <a:schemeClr val="tx1"/>
                </a:solidFill>
                <a:effectLst/>
                <a:latin typeface="Arial" charset="0"/>
                <a:ea typeface="+mn-ea"/>
                <a:cs typeface="+mn-cs"/>
              </a:rPr>
              <a:t> is called </a:t>
            </a:r>
            <a:r>
              <a:rPr lang="en-US" sz="1200" b="1" i="0" kern="1200" dirty="0">
                <a:solidFill>
                  <a:schemeClr val="tx1"/>
                </a:solidFill>
                <a:effectLst/>
                <a:latin typeface="Arial" charset="0"/>
                <a:ea typeface="+mn-ea"/>
                <a:cs typeface="+mn-cs"/>
              </a:rPr>
              <a:t>zero</a:t>
            </a:r>
            <a:r>
              <a:rPr lang="en-US" sz="1200" b="0" i="0" kern="1200" dirty="0">
                <a:solidFill>
                  <a:schemeClr val="tx1"/>
                </a:solidFill>
                <a:effectLst/>
                <a:latin typeface="Arial" charset="0"/>
                <a:ea typeface="+mn-ea"/>
                <a:cs typeface="+mn-cs"/>
              </a:rPr>
              <a:t>-sum if one </a:t>
            </a:r>
            <a:r>
              <a:rPr lang="en-US" sz="1200" b="1" i="0" kern="1200" dirty="0">
                <a:solidFill>
                  <a:schemeClr val="tx1"/>
                </a:solidFill>
                <a:effectLst/>
                <a:latin typeface="Arial" charset="0"/>
                <a:ea typeface="+mn-ea"/>
                <a:cs typeface="+mn-cs"/>
              </a:rPr>
              <a:t>player's</a:t>
            </a:r>
            <a:r>
              <a:rPr lang="en-US" sz="1200" b="0" i="0" kern="1200" dirty="0">
                <a:solidFill>
                  <a:schemeClr val="tx1"/>
                </a:solidFill>
                <a:effectLst/>
                <a:latin typeface="Arial" charset="0"/>
                <a:ea typeface="+mn-ea"/>
                <a:cs typeface="+mn-cs"/>
              </a:rPr>
              <a:t> gain is the other </a:t>
            </a:r>
            <a:r>
              <a:rPr lang="en-US" sz="1200" b="1" i="0" kern="1200" dirty="0">
                <a:solidFill>
                  <a:schemeClr val="tx1"/>
                </a:solidFill>
                <a:effectLst/>
                <a:latin typeface="Arial" charset="0"/>
                <a:ea typeface="+mn-ea"/>
                <a:cs typeface="+mn-cs"/>
              </a:rPr>
              <a:t>player's</a:t>
            </a:r>
            <a:r>
              <a:rPr lang="en-US" sz="1200" b="0" i="0" kern="1200" dirty="0">
                <a:solidFill>
                  <a:schemeClr val="tx1"/>
                </a:solidFill>
                <a:effectLst/>
                <a:latin typeface="Arial" charset="0"/>
                <a:ea typeface="+mn-ea"/>
                <a:cs typeface="+mn-cs"/>
              </a:rPr>
              <a:t> loss. Chess, Checker</a:t>
            </a:r>
            <a:endParaRPr lang="pl-PL" sz="1200" b="0" i="0" kern="1200" dirty="0">
              <a:solidFill>
                <a:schemeClr val="tx1"/>
              </a:solidFill>
              <a:effectLst/>
              <a:latin typeface="Arial" charset="0"/>
              <a:ea typeface="+mn-ea"/>
              <a:cs typeface="+mn-cs"/>
            </a:endParaRPr>
          </a:p>
          <a:p>
            <a:pPr eaLnBrk="1" hangingPunct="1"/>
            <a:r>
              <a:rPr lang="en-US" sz="1200" b="0" i="0" kern="1200" dirty="0">
                <a:solidFill>
                  <a:schemeClr val="tx1"/>
                </a:solidFill>
                <a:effectLst/>
                <a:latin typeface="Arial" charset="0"/>
                <a:ea typeface="+mn-ea"/>
                <a:cs typeface="+mn-cs"/>
              </a:rPr>
              <a:t>Cooperative games are the one in which players are convinced to adopt a particular strategy through negotiations and agreements between players. </a:t>
            </a:r>
            <a:endParaRPr lang="pl-PL" dirty="0"/>
          </a:p>
        </p:txBody>
      </p:sp>
    </p:spTree>
    <p:extLst>
      <p:ext uri="{BB962C8B-B14F-4D97-AF65-F5344CB8AC3E}">
        <p14:creationId xmlns:p14="http://schemas.microsoft.com/office/powerpoint/2010/main" val="1199952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en-US" sz="1200" b="1" i="0" u="none" kern="1200" dirty="0">
                <a:solidFill>
                  <a:schemeClr val="tx1"/>
                </a:solidFill>
                <a:effectLst/>
                <a:latin typeface="Arial" charset="0"/>
                <a:ea typeface="+mn-ea"/>
                <a:cs typeface="+mn-cs"/>
              </a:rPr>
              <a:t>Rock-paper-scissors</a:t>
            </a:r>
            <a:r>
              <a:rPr lang="en-US" sz="1200" b="0" i="0" u="none" kern="1200" dirty="0">
                <a:solidFill>
                  <a:schemeClr val="tx1"/>
                </a:solidFill>
                <a:effectLst/>
                <a:latin typeface="Arial" charset="0"/>
                <a:ea typeface="+mn-ea"/>
                <a:cs typeface="+mn-cs"/>
              </a:rPr>
              <a:t> (also known as </a:t>
            </a:r>
            <a:r>
              <a:rPr lang="en-US" sz="1200" b="1" i="0" u="none" kern="1200" dirty="0">
                <a:solidFill>
                  <a:schemeClr val="tx1"/>
                </a:solidFill>
                <a:effectLst/>
                <a:latin typeface="Arial" charset="0"/>
                <a:ea typeface="+mn-ea"/>
                <a:cs typeface="+mn-cs"/>
              </a:rPr>
              <a:t>scissors-rock-paper</a:t>
            </a:r>
            <a:r>
              <a:rPr lang="en-US" sz="1200" b="0" i="0" u="none" kern="1200" dirty="0">
                <a:solidFill>
                  <a:schemeClr val="tx1"/>
                </a:solidFill>
                <a:effectLst/>
                <a:latin typeface="Arial" charset="0"/>
                <a:ea typeface="+mn-ea"/>
                <a:cs typeface="+mn-cs"/>
              </a:rPr>
              <a:t> and </a:t>
            </a:r>
            <a:r>
              <a:rPr lang="en-US" sz="1200" b="1" i="0" u="none" kern="1200" dirty="0">
                <a:solidFill>
                  <a:schemeClr val="tx1"/>
                </a:solidFill>
                <a:effectLst/>
                <a:latin typeface="Arial" charset="0"/>
                <a:ea typeface="+mn-ea"/>
                <a:cs typeface="+mn-cs"/>
              </a:rPr>
              <a:t>scissors-paper-stone</a:t>
            </a:r>
            <a:r>
              <a:rPr lang="en-US" sz="1200" b="0" i="0" u="none" kern="1200" dirty="0">
                <a:solidFill>
                  <a:schemeClr val="tx1"/>
                </a:solidFill>
                <a:effectLst/>
                <a:latin typeface="Arial" charset="0"/>
                <a:ea typeface="+mn-ea"/>
                <a:cs typeface="+mn-cs"/>
              </a:rPr>
              <a:t>) is a </a:t>
            </a:r>
            <a:r>
              <a:rPr lang="en-US" sz="1200" b="0" i="0" u="none" strike="noStrike" kern="1200" dirty="0">
                <a:solidFill>
                  <a:schemeClr val="tx1"/>
                </a:solidFill>
                <a:effectLst/>
                <a:latin typeface="Arial" charset="0"/>
                <a:ea typeface="+mn-ea"/>
                <a:cs typeface="+mn-cs"/>
                <a:hlinkClick r:id="rId3" tooltip="Hand game"/>
              </a:rPr>
              <a:t>hand game</a:t>
            </a:r>
            <a:r>
              <a:rPr lang="en-US" sz="1200" b="0" i="0" u="none" kern="1200" dirty="0">
                <a:solidFill>
                  <a:schemeClr val="tx1"/>
                </a:solidFill>
                <a:effectLst/>
                <a:latin typeface="Arial" charset="0"/>
                <a:ea typeface="+mn-ea"/>
                <a:cs typeface="+mn-cs"/>
              </a:rPr>
              <a:t> usually played between two people, in which each player simultaneously forms one of three shapes with an outstretched hand. These shapes are "rock" (a closed fist), "paper" (a flat hand), and "scissors" (a fist with the index finger and middle finger extended, forming a V). "Scissors" is identical to the two-fingered </a:t>
            </a:r>
            <a:r>
              <a:rPr lang="en-US" sz="1200" b="0" i="0" u="none" strike="noStrike" kern="1200" dirty="0">
                <a:solidFill>
                  <a:schemeClr val="tx1"/>
                </a:solidFill>
                <a:effectLst/>
                <a:latin typeface="Arial" charset="0"/>
                <a:ea typeface="+mn-ea"/>
                <a:cs typeface="+mn-cs"/>
                <a:hlinkClick r:id="rId4" tooltip="V sign"/>
              </a:rPr>
              <a:t>V sign</a:t>
            </a:r>
            <a:r>
              <a:rPr lang="en-US" sz="1200" b="0" i="0" u="none" kern="1200" dirty="0">
                <a:solidFill>
                  <a:schemeClr val="tx1"/>
                </a:solidFill>
                <a:effectLst/>
                <a:latin typeface="Arial" charset="0"/>
                <a:ea typeface="+mn-ea"/>
                <a:cs typeface="+mn-cs"/>
              </a:rPr>
              <a:t> (also indicating "victory" or "peace") except that it is pointed horizontally instead of being held upright in the air. A </a:t>
            </a:r>
            <a:r>
              <a:rPr lang="en-US" sz="1200" b="0" i="0" u="none" strike="noStrike" kern="1200" dirty="0">
                <a:solidFill>
                  <a:schemeClr val="tx1"/>
                </a:solidFill>
                <a:effectLst/>
                <a:latin typeface="Arial" charset="0"/>
                <a:ea typeface="+mn-ea"/>
                <a:cs typeface="+mn-cs"/>
                <a:hlinkClick r:id="rId5" tooltip="Simultaneous game"/>
              </a:rPr>
              <a:t>simultaneous</a:t>
            </a:r>
            <a:r>
              <a:rPr lang="en-US" sz="1200" b="0" i="0" u="none" kern="1200" dirty="0">
                <a:solidFill>
                  <a:schemeClr val="tx1"/>
                </a:solidFill>
                <a:effectLst/>
                <a:latin typeface="Arial" charset="0"/>
                <a:ea typeface="+mn-ea"/>
                <a:cs typeface="+mn-cs"/>
              </a:rPr>
              <a:t>, </a:t>
            </a:r>
            <a:r>
              <a:rPr lang="en-US" sz="1200" b="0" i="0" u="none" strike="noStrike" kern="1200" dirty="0">
                <a:solidFill>
                  <a:schemeClr val="tx1"/>
                </a:solidFill>
                <a:effectLst/>
                <a:latin typeface="Arial" charset="0"/>
                <a:ea typeface="+mn-ea"/>
                <a:cs typeface="+mn-cs"/>
                <a:hlinkClick r:id="rId6" tooltip="Zero-sum game"/>
              </a:rPr>
              <a:t>zero-sum game</a:t>
            </a:r>
            <a:r>
              <a:rPr lang="en-US" sz="1200" b="0" i="0" u="none" kern="1200" dirty="0">
                <a:solidFill>
                  <a:schemeClr val="tx1"/>
                </a:solidFill>
                <a:effectLst/>
                <a:latin typeface="Arial" charset="0"/>
                <a:ea typeface="+mn-ea"/>
                <a:cs typeface="+mn-cs"/>
              </a:rPr>
              <a:t>, it has only two possible outcomes: a draw, or a win for one player and a loss for the other.</a:t>
            </a:r>
          </a:p>
          <a:p>
            <a:r>
              <a:rPr lang="en-US" sz="1200" b="0" i="0" u="none" kern="1200" dirty="0">
                <a:solidFill>
                  <a:schemeClr val="tx1"/>
                </a:solidFill>
                <a:effectLst/>
                <a:latin typeface="Arial" charset="0"/>
                <a:ea typeface="+mn-ea"/>
                <a:cs typeface="+mn-cs"/>
              </a:rPr>
              <a:t>A player who decides to play rock will beat another player who has chosen scissors ("rock crushes scissors" or sometimes "blunts scissors"</a:t>
            </a:r>
            <a:r>
              <a:rPr lang="en-US" sz="1200" b="0" i="0" u="none" strike="noStrike" kern="1200" baseline="30000" dirty="0">
                <a:solidFill>
                  <a:schemeClr val="tx1"/>
                </a:solidFill>
                <a:effectLst/>
                <a:latin typeface="Arial" charset="0"/>
                <a:ea typeface="+mn-ea"/>
                <a:cs typeface="+mn-cs"/>
                <a:hlinkClick r:id="rId7"/>
              </a:rPr>
              <a:t>[1]</a:t>
            </a:r>
            <a:r>
              <a:rPr lang="en-US" sz="1200" b="0" i="0" u="none" kern="1200" dirty="0">
                <a:solidFill>
                  <a:schemeClr val="tx1"/>
                </a:solidFill>
                <a:effectLst/>
                <a:latin typeface="Arial" charset="0"/>
                <a:ea typeface="+mn-ea"/>
                <a:cs typeface="+mn-cs"/>
              </a:rPr>
              <a:t>), but will lose to one who has played paper ("paper covers rock"); a play of paper will lose to a play of scissors ("scissors cuts paper"). If both players choose the same shape, the game is tied and is usually immediately replayed to break the tie. The type of game originated in China and spread with increased contact with East Asia, while developing different variants in signs over time. Other names for the game in the English-speaking world include </a:t>
            </a:r>
            <a:r>
              <a:rPr lang="en-US" sz="1200" b="1" i="0" u="none" kern="1200" dirty="0" err="1">
                <a:solidFill>
                  <a:schemeClr val="tx1"/>
                </a:solidFill>
                <a:effectLst/>
                <a:latin typeface="Arial" charset="0"/>
                <a:ea typeface="+mn-ea"/>
                <a:cs typeface="+mn-cs"/>
              </a:rPr>
              <a:t>roshambo</a:t>
            </a:r>
            <a:r>
              <a:rPr lang="en-US" sz="1200" b="0" i="0" u="none" kern="1200" dirty="0">
                <a:solidFill>
                  <a:schemeClr val="tx1"/>
                </a:solidFill>
                <a:effectLst/>
                <a:latin typeface="Arial" charset="0"/>
                <a:ea typeface="+mn-ea"/>
                <a:cs typeface="+mn-cs"/>
              </a:rPr>
              <a:t> and other orderings of the three items, with "rock" sometimes being called "stone".</a:t>
            </a:r>
          </a:p>
          <a:p>
            <a:r>
              <a:rPr lang="en-US" sz="1200" b="0" i="0" u="none" kern="1200" dirty="0">
                <a:solidFill>
                  <a:schemeClr val="tx1"/>
                </a:solidFill>
                <a:effectLst/>
                <a:latin typeface="Arial" charset="0"/>
                <a:ea typeface="+mn-ea"/>
                <a:cs typeface="+mn-cs"/>
              </a:rPr>
              <a:t>Rock-paper-scissors is often used as a fair choosing method between two people, similar to </a:t>
            </a:r>
            <a:r>
              <a:rPr lang="en-US" sz="1200" b="0" i="0" u="none" strike="noStrike" kern="1200" dirty="0">
                <a:solidFill>
                  <a:schemeClr val="tx1"/>
                </a:solidFill>
                <a:effectLst/>
                <a:latin typeface="Arial" charset="0"/>
                <a:ea typeface="+mn-ea"/>
                <a:cs typeface="+mn-cs"/>
                <a:hlinkClick r:id="rId8" tooltip="Coin flipping"/>
              </a:rPr>
              <a:t>coin flipping</a:t>
            </a:r>
            <a:r>
              <a:rPr lang="en-US" sz="1200" b="0" i="0" u="none" kern="1200" dirty="0">
                <a:solidFill>
                  <a:schemeClr val="tx1"/>
                </a:solidFill>
                <a:effectLst/>
                <a:latin typeface="Arial" charset="0"/>
                <a:ea typeface="+mn-ea"/>
                <a:cs typeface="+mn-cs"/>
              </a:rPr>
              <a:t>, </a:t>
            </a:r>
            <a:r>
              <a:rPr lang="en-US" sz="1200" b="0" i="0" u="none" strike="noStrike" kern="1200" dirty="0">
                <a:solidFill>
                  <a:schemeClr val="tx1"/>
                </a:solidFill>
                <a:effectLst/>
                <a:latin typeface="Arial" charset="0"/>
                <a:ea typeface="+mn-ea"/>
                <a:cs typeface="+mn-cs"/>
                <a:hlinkClick r:id="rId9" tooltip="Drawing straws"/>
              </a:rPr>
              <a:t>drawing straws</a:t>
            </a:r>
            <a:r>
              <a:rPr lang="en-US" sz="1200" b="0" i="0" u="none" kern="1200" dirty="0">
                <a:solidFill>
                  <a:schemeClr val="tx1"/>
                </a:solidFill>
                <a:effectLst/>
                <a:latin typeface="Arial" charset="0"/>
                <a:ea typeface="+mn-ea"/>
                <a:cs typeface="+mn-cs"/>
              </a:rPr>
              <a:t>, or throwing </a:t>
            </a:r>
            <a:r>
              <a:rPr lang="en-US" sz="1200" b="0" i="0" u="none" strike="noStrike" kern="1200" dirty="0">
                <a:solidFill>
                  <a:schemeClr val="tx1"/>
                </a:solidFill>
                <a:effectLst/>
                <a:latin typeface="Arial" charset="0"/>
                <a:ea typeface="+mn-ea"/>
                <a:cs typeface="+mn-cs"/>
                <a:hlinkClick r:id="rId10" tooltip="Dice"/>
              </a:rPr>
              <a:t>dice</a:t>
            </a:r>
            <a:r>
              <a:rPr lang="en-US" sz="1200" b="0" i="0" u="none" kern="1200" dirty="0">
                <a:solidFill>
                  <a:schemeClr val="tx1"/>
                </a:solidFill>
                <a:effectLst/>
                <a:latin typeface="Arial" charset="0"/>
                <a:ea typeface="+mn-ea"/>
                <a:cs typeface="+mn-cs"/>
              </a:rPr>
              <a:t> in order to settle a dispute or make an unbiased group decision</a:t>
            </a:r>
          </a:p>
          <a:p>
            <a:endParaRPr lang="pl-PL" u="none" dirty="0">
              <a:solidFill>
                <a:schemeClr val="tx1"/>
              </a:solidFill>
            </a:endParaRPr>
          </a:p>
        </p:txBody>
      </p:sp>
      <p:sp>
        <p:nvSpPr>
          <p:cNvPr id="4" name="Symbol zastępczy numeru slajdu 3"/>
          <p:cNvSpPr>
            <a:spLocks noGrp="1"/>
          </p:cNvSpPr>
          <p:nvPr>
            <p:ph type="sldNum" sz="quarter" idx="10"/>
          </p:nvPr>
        </p:nvSpPr>
        <p:spPr/>
        <p:txBody>
          <a:bodyPr/>
          <a:lstStyle/>
          <a:p>
            <a:pPr>
              <a:defRPr/>
            </a:pPr>
            <a:fld id="{F72C7966-30D5-4273-A78C-C648E85BE5C9}" type="slidenum">
              <a:rPr lang="pl-PL" smtClean="0"/>
              <a:pPr>
                <a:defRPr/>
              </a:pPr>
              <a:t>25</a:t>
            </a:fld>
            <a:endParaRPr lang="pl-PL"/>
          </a:p>
        </p:txBody>
      </p:sp>
    </p:spTree>
    <p:extLst>
      <p:ext uri="{BB962C8B-B14F-4D97-AF65-F5344CB8AC3E}">
        <p14:creationId xmlns:p14="http://schemas.microsoft.com/office/powerpoint/2010/main" val="41673895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796D614A-9E69-4166-A88D-6024FA1C3389}" type="slidenum">
              <a:rPr lang="pl-PL"/>
              <a:pPr/>
              <a:t>27</a:t>
            </a:fld>
            <a:endParaRPr lang="pl-PL"/>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pPr eaLnBrk="1" hangingPunct="1"/>
            <a:r>
              <a:rPr lang="pl-PL" sz="1200" b="0" i="0" kern="1200" dirty="0">
                <a:solidFill>
                  <a:schemeClr val="tx1"/>
                </a:solidFill>
                <a:effectLst/>
                <a:latin typeface="Arial" charset="0"/>
                <a:ea typeface="+mn-ea"/>
                <a:cs typeface="+mn-cs"/>
              </a:rPr>
              <a:t>T</a:t>
            </a:r>
            <a:r>
              <a:rPr lang="en-US" sz="1200" b="0" i="0" kern="1200" dirty="0">
                <a:solidFill>
                  <a:schemeClr val="tx1"/>
                </a:solidFill>
                <a:effectLst/>
                <a:latin typeface="Arial" charset="0"/>
                <a:ea typeface="+mn-ea"/>
                <a:cs typeface="+mn-cs"/>
              </a:rPr>
              <a:t>asks – they are presented in the form of </a:t>
            </a:r>
            <a:r>
              <a:rPr lang="en-US" sz="1200" b="1" i="0" kern="1200" dirty="0">
                <a:solidFill>
                  <a:schemeClr val="tx1"/>
                </a:solidFill>
                <a:effectLst/>
                <a:latin typeface="Arial" charset="0"/>
                <a:ea typeface="+mn-ea"/>
                <a:cs typeface="+mn-cs"/>
              </a:rPr>
              <a:t>horizontal lines</a:t>
            </a:r>
            <a:r>
              <a:rPr lang="en-US" sz="1200" b="0" i="0" kern="1200" dirty="0">
                <a:solidFill>
                  <a:schemeClr val="tx1"/>
                </a:solidFill>
                <a:effectLst/>
                <a:latin typeface="Arial" charset="0"/>
                <a:ea typeface="+mn-ea"/>
                <a:cs typeface="+mn-cs"/>
              </a:rPr>
              <a:t>, and the length of every such </a:t>
            </a:r>
            <a:r>
              <a:rPr lang="en-US" sz="1200" b="1" i="0" kern="1200" dirty="0">
                <a:solidFill>
                  <a:schemeClr val="tx1"/>
                </a:solidFill>
                <a:effectLst/>
                <a:latin typeface="Arial" charset="0"/>
                <a:ea typeface="+mn-ea"/>
                <a:cs typeface="+mn-cs"/>
              </a:rPr>
              <a:t>line</a:t>
            </a:r>
            <a:r>
              <a:rPr lang="en-US" sz="1200" b="0" i="0" kern="1200" dirty="0">
                <a:solidFill>
                  <a:schemeClr val="tx1"/>
                </a:solidFill>
                <a:effectLst/>
                <a:latin typeface="Arial" charset="0"/>
                <a:ea typeface="+mn-ea"/>
                <a:cs typeface="+mn-cs"/>
              </a:rPr>
              <a:t> depends on the duration of the task execution.</a:t>
            </a:r>
            <a:endParaRPr lang="pl-PL" sz="1200" b="0" i="0" kern="1200" dirty="0">
              <a:solidFill>
                <a:schemeClr val="tx1"/>
              </a:solidFill>
              <a:effectLst/>
              <a:latin typeface="Arial" charset="0"/>
              <a:ea typeface="+mn-ea"/>
              <a:cs typeface="+mn-cs"/>
            </a:endParaRPr>
          </a:p>
          <a:p>
            <a:pPr eaLnBrk="1" hangingPunct="1"/>
            <a:r>
              <a:rPr lang="en-US" sz="1200" b="1" i="0" kern="1200" dirty="0">
                <a:solidFill>
                  <a:schemeClr val="tx1"/>
                </a:solidFill>
                <a:effectLst/>
                <a:latin typeface="Arial" charset="0"/>
                <a:ea typeface="+mn-ea"/>
                <a:cs typeface="+mn-cs"/>
              </a:rPr>
              <a:t>Milestones</a:t>
            </a:r>
            <a:r>
              <a:rPr lang="en-US" sz="1200" b="0" i="0" kern="1200" dirty="0">
                <a:solidFill>
                  <a:schemeClr val="tx1"/>
                </a:solidFill>
                <a:effectLst/>
                <a:latin typeface="Arial" charset="0"/>
                <a:ea typeface="+mn-ea"/>
                <a:cs typeface="+mn-cs"/>
              </a:rPr>
              <a:t> are generally used to indicate important dates on the project plan, often key events or goals. For example, you might use </a:t>
            </a:r>
            <a:r>
              <a:rPr lang="en-US" sz="1200" b="1" i="0" kern="1200" dirty="0">
                <a:solidFill>
                  <a:schemeClr val="tx1"/>
                </a:solidFill>
                <a:effectLst/>
                <a:latin typeface="Arial" charset="0"/>
                <a:ea typeface="+mn-ea"/>
                <a:cs typeface="+mn-cs"/>
              </a:rPr>
              <a:t>milestones</a:t>
            </a:r>
            <a:r>
              <a:rPr lang="en-US" sz="1200" b="0" i="0" kern="1200" dirty="0">
                <a:solidFill>
                  <a:schemeClr val="tx1"/>
                </a:solidFill>
                <a:effectLst/>
                <a:latin typeface="Arial" charset="0"/>
                <a:ea typeface="+mn-ea"/>
                <a:cs typeface="+mn-cs"/>
              </a:rPr>
              <a:t> to mark desired completion dates, or project review meetings.</a:t>
            </a:r>
            <a:endParaRPr lang="pl-PL" sz="1200" b="0" i="0" kern="1200" dirty="0">
              <a:solidFill>
                <a:schemeClr val="tx1"/>
              </a:solidFill>
              <a:effectLst/>
              <a:latin typeface="Arial" charset="0"/>
              <a:ea typeface="+mn-ea"/>
              <a:cs typeface="+mn-cs"/>
            </a:endParaRPr>
          </a:p>
        </p:txBody>
      </p:sp>
    </p:spTree>
    <p:extLst>
      <p:ext uri="{BB962C8B-B14F-4D97-AF65-F5344CB8AC3E}">
        <p14:creationId xmlns:p14="http://schemas.microsoft.com/office/powerpoint/2010/main" val="1864713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1C3C0409-FAF6-41C4-84BA-8BC5F60DE0B2}" type="slidenum">
              <a:rPr lang="pl-PL"/>
              <a:pPr/>
              <a:t>28</a:t>
            </a:fld>
            <a:endParaRPr lang="pl-PL"/>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29363891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F07ACEC6-4634-4A77-9AB2-B98832157482}" type="slidenum">
              <a:rPr lang="pl-PL"/>
              <a:pPr/>
              <a:t>29</a:t>
            </a:fld>
            <a:endParaRPr lang="pl-PL"/>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p:spPr>
        <p:txBody>
          <a:bodyPr/>
          <a:lstStyle/>
          <a:p>
            <a:pPr eaLnBrk="1" hangingPunct="1"/>
            <a:r>
              <a:rPr lang="en-US" sz="1200" b="0" i="0" kern="1200" dirty="0">
                <a:solidFill>
                  <a:schemeClr val="tx1"/>
                </a:solidFill>
                <a:effectLst/>
                <a:latin typeface="Arial" charset="0"/>
                <a:ea typeface="+mn-ea"/>
                <a:cs typeface="+mn-cs"/>
              </a:rPr>
              <a:t>PERT and CPM are techniques of project management useful in the basic managerial functions of planning, scheduling and control. PERT stands for “</a:t>
            </a:r>
            <a:r>
              <a:rPr lang="en-US" sz="1200" b="0" i="0" kern="1200" dirty="0" err="1">
                <a:solidFill>
                  <a:schemeClr val="tx1"/>
                </a:solidFill>
                <a:effectLst/>
                <a:latin typeface="Arial" charset="0"/>
                <a:ea typeface="+mn-ea"/>
                <a:cs typeface="+mn-cs"/>
              </a:rPr>
              <a:t>Programme</a:t>
            </a:r>
            <a:r>
              <a:rPr lang="en-US" sz="1200" b="0" i="0" kern="1200" dirty="0">
                <a:solidFill>
                  <a:schemeClr val="tx1"/>
                </a:solidFill>
                <a:effectLst/>
                <a:latin typeface="Arial" charset="0"/>
                <a:ea typeface="+mn-ea"/>
                <a:cs typeface="+mn-cs"/>
              </a:rPr>
              <a:t> Evaluation &amp; Review Technique” and CPM are the abbreviation for “Critical Path Method”. These days the projects undertaken by business houses are very large and take a number of years before commercial production can start.</a:t>
            </a:r>
            <a:r>
              <a:rPr lang="pl-PL" sz="1200" b="0" i="0" kern="1200" dirty="0">
                <a:solidFill>
                  <a:schemeClr val="tx1"/>
                </a:solidFill>
                <a:effectLst/>
                <a:latin typeface="Arial" charset="0"/>
                <a:ea typeface="+mn-ea"/>
                <a:cs typeface="+mn-cs"/>
              </a:rPr>
              <a:t> </a:t>
            </a:r>
            <a:r>
              <a:rPr lang="en-US" sz="1200" b="1" i="0" kern="1200" dirty="0">
                <a:solidFill>
                  <a:schemeClr val="tx1"/>
                </a:solidFill>
                <a:effectLst/>
                <a:latin typeface="Arial" charset="0"/>
                <a:ea typeface="+mn-ea"/>
                <a:cs typeface="+mn-cs"/>
              </a:rPr>
              <a:t>Program evaluation and review technique (PERT)</a:t>
            </a:r>
            <a:r>
              <a:rPr lang="en-US" sz="1200" b="0" i="0" kern="1200" dirty="0">
                <a:solidFill>
                  <a:schemeClr val="tx1"/>
                </a:solidFill>
                <a:effectLst/>
                <a:latin typeface="Arial" charset="0"/>
                <a:ea typeface="+mn-ea"/>
                <a:cs typeface="+mn-cs"/>
              </a:rPr>
              <a:t> and </a:t>
            </a:r>
            <a:r>
              <a:rPr lang="en-US" sz="1200" b="1" i="0" kern="1200" dirty="0">
                <a:solidFill>
                  <a:schemeClr val="tx1"/>
                </a:solidFill>
                <a:effectLst/>
                <a:latin typeface="Arial" charset="0"/>
                <a:ea typeface="+mn-ea"/>
                <a:cs typeface="+mn-cs"/>
              </a:rPr>
              <a:t>critical path method (CPM)</a:t>
            </a:r>
            <a:r>
              <a:rPr lang="en-US" sz="1200" b="0" i="0" kern="1200" dirty="0">
                <a:solidFill>
                  <a:schemeClr val="tx1"/>
                </a:solidFill>
                <a:effectLst/>
                <a:latin typeface="Arial" charset="0"/>
                <a:ea typeface="+mn-ea"/>
                <a:cs typeface="+mn-cs"/>
              </a:rPr>
              <a:t> date back to the 1950s. PERT was originally developed to plan and monitor the Polaris missile, an extremely large project using over 3000 contractors and involving thousands of activities. PERT is credited with reducing the project duration by two years. Because of its success, most government contracts still require the use of PERT or a similar technique. CPM was initially developed to plan and coordinate maintenance projects in chemical plants.</a:t>
            </a:r>
            <a:endParaRPr lang="pl-PL" sz="1200" b="0" i="0" kern="1200" dirty="0">
              <a:solidFill>
                <a:schemeClr val="tx1"/>
              </a:solidFill>
              <a:effectLst/>
              <a:latin typeface="Arial" charset="0"/>
              <a:ea typeface="+mn-ea"/>
              <a:cs typeface="+mn-cs"/>
            </a:endParaRPr>
          </a:p>
          <a:p>
            <a:pPr eaLnBrk="1" hangingPunct="1"/>
            <a:r>
              <a:rPr lang="en-US" sz="1200" b="0" i="0" kern="1200" dirty="0">
                <a:solidFill>
                  <a:schemeClr val="tx1"/>
                </a:solidFill>
                <a:effectLst/>
                <a:latin typeface="Arial" charset="0"/>
                <a:ea typeface="+mn-ea"/>
                <a:cs typeface="+mn-cs"/>
              </a:rPr>
              <a:t>PERT is a sophisticated tool used in planning, scheduling and controlling large projects consisting of a number of activities independent of one another and with uncertain completion times. It is commonly used in research and development projects.</a:t>
            </a:r>
            <a:endParaRPr lang="pl-PL" sz="1200" b="0" i="0" kern="1200" dirty="0">
              <a:solidFill>
                <a:schemeClr val="tx1"/>
              </a:solidFill>
              <a:effectLst/>
              <a:latin typeface="Arial" charset="0"/>
              <a:ea typeface="+mn-ea"/>
              <a:cs typeface="+mn-cs"/>
            </a:endParaRPr>
          </a:p>
          <a:p>
            <a:pPr eaLnBrk="1" hangingPunct="1"/>
            <a:r>
              <a:rPr lang="en-US" sz="1200" b="1" i="0" kern="1200" dirty="0">
                <a:solidFill>
                  <a:schemeClr val="tx1"/>
                </a:solidFill>
                <a:effectLst/>
                <a:latin typeface="Arial" charset="0"/>
                <a:ea typeface="+mn-ea"/>
                <a:cs typeface="+mn-cs"/>
              </a:rPr>
              <a:t>Critical path</a:t>
            </a:r>
            <a:r>
              <a:rPr lang="en-US" sz="1200" b="0" i="0" kern="1200" dirty="0">
                <a:solidFill>
                  <a:schemeClr val="tx1"/>
                </a:solidFill>
                <a:effectLst/>
                <a:latin typeface="Arial" charset="0"/>
                <a:ea typeface="+mn-ea"/>
                <a:cs typeface="+mn-cs"/>
              </a:rPr>
              <a:t> method (</a:t>
            </a:r>
            <a:r>
              <a:rPr lang="en-US" sz="1200" b="1" i="0" kern="1200" dirty="0">
                <a:solidFill>
                  <a:schemeClr val="tx1"/>
                </a:solidFill>
                <a:effectLst/>
                <a:latin typeface="Arial" charset="0"/>
                <a:ea typeface="+mn-ea"/>
                <a:cs typeface="+mn-cs"/>
              </a:rPr>
              <a:t>CPM</a:t>
            </a:r>
            <a:r>
              <a:rPr lang="en-US" sz="1200" b="0" i="0" kern="1200" dirty="0">
                <a:solidFill>
                  <a:schemeClr val="tx1"/>
                </a:solidFill>
                <a:effectLst/>
                <a:latin typeface="Arial" charset="0"/>
                <a:ea typeface="+mn-ea"/>
                <a:cs typeface="+mn-cs"/>
              </a:rPr>
              <a:t>): The </a:t>
            </a:r>
            <a:r>
              <a:rPr lang="en-US" sz="1200" b="1" i="0" kern="1200" dirty="0">
                <a:solidFill>
                  <a:schemeClr val="tx1"/>
                </a:solidFill>
                <a:effectLst/>
                <a:latin typeface="Arial" charset="0"/>
                <a:ea typeface="+mn-ea"/>
                <a:cs typeface="+mn-cs"/>
              </a:rPr>
              <a:t>critical path</a:t>
            </a:r>
            <a:r>
              <a:rPr lang="en-US" sz="1200" b="0" i="0" kern="1200" dirty="0">
                <a:solidFill>
                  <a:schemeClr val="tx1"/>
                </a:solidFill>
                <a:effectLst/>
                <a:latin typeface="Arial" charset="0"/>
                <a:ea typeface="+mn-ea"/>
                <a:cs typeface="+mn-cs"/>
              </a:rPr>
              <a:t> method is a step-by-step project management technique for process planning that identifies </a:t>
            </a:r>
            <a:r>
              <a:rPr lang="en-US" sz="1200" b="1" i="0" kern="1200" dirty="0">
                <a:solidFill>
                  <a:schemeClr val="tx1"/>
                </a:solidFill>
                <a:effectLst/>
                <a:latin typeface="Arial" charset="0"/>
                <a:ea typeface="+mn-ea"/>
                <a:cs typeface="+mn-cs"/>
              </a:rPr>
              <a:t>critical</a:t>
            </a:r>
            <a:r>
              <a:rPr lang="en-US" sz="1200" b="0" i="0" kern="1200" dirty="0">
                <a:solidFill>
                  <a:schemeClr val="tx1"/>
                </a:solidFill>
                <a:effectLst/>
                <a:latin typeface="Arial" charset="0"/>
                <a:ea typeface="+mn-ea"/>
                <a:cs typeface="+mn-cs"/>
              </a:rPr>
              <a:t> and noncritical tasks, preventing timeframe problems and process bottlenecks.</a:t>
            </a:r>
            <a:endParaRPr lang="pl-PL" sz="1200" b="0" i="0" kern="1200" dirty="0">
              <a:solidFill>
                <a:schemeClr val="tx1"/>
              </a:solidFill>
              <a:effectLst/>
              <a:latin typeface="Arial" charset="0"/>
              <a:ea typeface="+mn-ea"/>
              <a:cs typeface="+mn-cs"/>
            </a:endParaRPr>
          </a:p>
        </p:txBody>
      </p:sp>
    </p:spTree>
    <p:extLst>
      <p:ext uri="{BB962C8B-B14F-4D97-AF65-F5344CB8AC3E}">
        <p14:creationId xmlns:p14="http://schemas.microsoft.com/office/powerpoint/2010/main" val="7148627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algn="just" fontAlgn="base"/>
            <a:r>
              <a:rPr lang="pl-PL" sz="1200" b="0" i="0" kern="1200" dirty="0">
                <a:solidFill>
                  <a:schemeClr val="tx1"/>
                </a:solidFill>
                <a:effectLst/>
                <a:latin typeface="Arial" charset="0"/>
                <a:ea typeface="+mn-ea"/>
                <a:cs typeface="+mn-cs"/>
              </a:rPr>
              <a:t>T</a:t>
            </a:r>
            <a:r>
              <a:rPr lang="en-US" sz="1200" b="0" i="0" kern="1200" dirty="0">
                <a:solidFill>
                  <a:schemeClr val="tx1"/>
                </a:solidFill>
                <a:effectLst/>
                <a:latin typeface="Arial" charset="0"/>
                <a:ea typeface="+mn-ea"/>
                <a:cs typeface="+mn-cs"/>
              </a:rPr>
              <a:t>he critical path is a sequence of tasks that must be completed on schedule in order for the project to be completed on time. Let’s take making breakfast as an example. In this case, the scope of the project will be to deliver a hearty meal of coffee, toast and two boiled eggs. Such a project can be illustrated by means of a Gantt chart. The bars represent the length of time needed for each task. What we can see is that the breakfast will not be ready until the eggs are ready. All that egg work of boiling them and peeling them takes the longest time of any of the breakfast making tasks. Additionally, the acts of boiling and peeling the eggs must be done in series. We cannot peel the egg until it has been boiled. This sequence of tasks, the boiling and peeling, represent the critical path for the breakfast project. The addition of those two task durations determine the minimum overall project duration.</a:t>
            </a:r>
            <a:r>
              <a:rPr lang="pl-PL" sz="1200" b="0" i="0" kern="1200" dirty="0">
                <a:solidFill>
                  <a:schemeClr val="tx1"/>
                </a:solidFill>
                <a:effectLst/>
                <a:latin typeface="Arial" charset="0"/>
                <a:ea typeface="+mn-ea"/>
                <a:cs typeface="+mn-cs"/>
              </a:rPr>
              <a:t> </a:t>
            </a:r>
            <a:r>
              <a:rPr lang="en-US" sz="1200" b="0" i="0" kern="1200" dirty="0">
                <a:solidFill>
                  <a:schemeClr val="tx1"/>
                </a:solidFill>
                <a:effectLst/>
                <a:latin typeface="Arial" charset="0"/>
                <a:ea typeface="+mn-ea"/>
                <a:cs typeface="+mn-cs"/>
              </a:rPr>
              <a:t>The making of the coffee and toast are not critical path items. That means,</a:t>
            </a:r>
            <a:r>
              <a:rPr lang="pl-PL" sz="1200" b="0" i="0" kern="1200" dirty="0">
                <a:solidFill>
                  <a:schemeClr val="tx1"/>
                </a:solidFill>
                <a:effectLst/>
                <a:latin typeface="Arial" charset="0"/>
                <a:ea typeface="+mn-ea"/>
                <a:cs typeface="+mn-cs"/>
              </a:rPr>
              <a:t> </a:t>
            </a:r>
            <a:r>
              <a:rPr lang="en-US" sz="1200" b="0" i="0" kern="1200" dirty="0">
                <a:solidFill>
                  <a:schemeClr val="tx1"/>
                </a:solidFill>
                <a:effectLst/>
                <a:latin typeface="Arial" charset="0"/>
                <a:ea typeface="+mn-ea"/>
                <a:cs typeface="+mn-cs"/>
              </a:rPr>
              <a:t>It would be possible to delay or extend the making of either the coffee or toast and still have </a:t>
            </a:r>
            <a:r>
              <a:rPr lang="pl-PL" sz="1200" b="0" i="0" kern="1200" dirty="0">
                <a:solidFill>
                  <a:schemeClr val="tx1"/>
                </a:solidFill>
                <a:effectLst/>
                <a:latin typeface="Arial" charset="0"/>
                <a:ea typeface="+mn-ea"/>
                <a:cs typeface="+mn-cs"/>
              </a:rPr>
              <a:t>the</a:t>
            </a:r>
            <a:r>
              <a:rPr lang="en-US" sz="1200" b="0" i="0" kern="1200" dirty="0">
                <a:solidFill>
                  <a:schemeClr val="tx1"/>
                </a:solidFill>
                <a:effectLst/>
                <a:latin typeface="Arial" charset="0"/>
                <a:ea typeface="+mn-ea"/>
                <a:cs typeface="+mn-cs"/>
              </a:rPr>
              <a:t> breakfast ready on time.</a:t>
            </a:r>
          </a:p>
          <a:p>
            <a:endParaRPr lang="pl-PL" dirty="0"/>
          </a:p>
        </p:txBody>
      </p:sp>
      <p:sp>
        <p:nvSpPr>
          <p:cNvPr id="4" name="Symbol zastępczy numeru slajdu 3"/>
          <p:cNvSpPr>
            <a:spLocks noGrp="1"/>
          </p:cNvSpPr>
          <p:nvPr>
            <p:ph type="sldNum" sz="quarter" idx="10"/>
          </p:nvPr>
        </p:nvSpPr>
        <p:spPr/>
        <p:txBody>
          <a:bodyPr/>
          <a:lstStyle/>
          <a:p>
            <a:pPr>
              <a:defRPr/>
            </a:pPr>
            <a:fld id="{F72C7966-30D5-4273-A78C-C648E85BE5C9}" type="slidenum">
              <a:rPr lang="pl-PL" smtClean="0"/>
              <a:pPr>
                <a:defRPr/>
              </a:pPr>
              <a:t>31</a:t>
            </a:fld>
            <a:endParaRPr lang="pl-PL"/>
          </a:p>
        </p:txBody>
      </p:sp>
    </p:spTree>
    <p:extLst>
      <p:ext uri="{BB962C8B-B14F-4D97-AF65-F5344CB8AC3E}">
        <p14:creationId xmlns:p14="http://schemas.microsoft.com/office/powerpoint/2010/main" val="5501232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9B4A4BEC-3C41-48BA-BE29-8178775C0B12}" type="slidenum">
              <a:rPr lang="pl-PL"/>
              <a:pPr/>
              <a:t>32</a:t>
            </a:fld>
            <a:endParaRPr lang="pl-PL"/>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p:spPr>
        <p:txBody>
          <a:bodyPr/>
          <a:lstStyle/>
          <a:p>
            <a:pPr eaLnBrk="1" hangingPunct="1"/>
            <a:r>
              <a:rPr lang="en-US" dirty="0"/>
              <a:t>The human factor - decision makers must be prepared to use modern planning techniques; if they do not have such qualifications, they will not apply them Information factor - you can slightly improve and </a:t>
            </a:r>
            <a:r>
              <a:rPr lang="pl-PL" dirty="0" err="1"/>
              <a:t>organize</a:t>
            </a:r>
            <a:r>
              <a:rPr lang="en-US" dirty="0"/>
              <a:t> the data and make decisions in the conditions of incomplete information, but</a:t>
            </a:r>
            <a:r>
              <a:rPr lang="pl-PL" dirty="0"/>
              <a:t>, in</a:t>
            </a:r>
            <a:r>
              <a:rPr lang="en-US" dirty="0"/>
              <a:t> general</a:t>
            </a:r>
            <a:r>
              <a:rPr lang="pl-PL" dirty="0"/>
              <a:t>, </a:t>
            </a:r>
            <a:r>
              <a:rPr lang="en-US" dirty="0"/>
              <a:t>"If you </a:t>
            </a:r>
            <a:r>
              <a:rPr lang="pl-PL" dirty="0"/>
              <a:t>insert</a:t>
            </a:r>
            <a:r>
              <a:rPr lang="en-US" dirty="0"/>
              <a:t> trash, you will </a:t>
            </a:r>
            <a:r>
              <a:rPr lang="pl-PL" dirty="0" err="1"/>
              <a:t>get</a:t>
            </a:r>
            <a:r>
              <a:rPr lang="pl-PL" dirty="0"/>
              <a:t> out </a:t>
            </a:r>
            <a:r>
              <a:rPr lang="en-US" dirty="0"/>
              <a:t>trash." </a:t>
            </a:r>
            <a:endParaRPr lang="pl-PL" dirty="0"/>
          </a:p>
          <a:p>
            <a:pPr eaLnBrk="1" hangingPunct="1"/>
            <a:r>
              <a:rPr lang="en-US" dirty="0"/>
              <a:t>Economic barriers - these tools are often expensive </a:t>
            </a:r>
            <a:endParaRPr lang="pl-PL" dirty="0"/>
          </a:p>
          <a:p>
            <a:pPr eaLnBrk="1" hangingPunct="1"/>
            <a:r>
              <a:rPr lang="en-US" dirty="0"/>
              <a:t>Technical barriers - sometimes </a:t>
            </a:r>
            <a:r>
              <a:rPr lang="pl-PL" dirty="0" err="1"/>
              <a:t>there</a:t>
            </a:r>
            <a:r>
              <a:rPr lang="pl-PL" dirty="0"/>
              <a:t> </a:t>
            </a:r>
            <a:r>
              <a:rPr lang="pl-PL" dirty="0" err="1"/>
              <a:t>is</a:t>
            </a:r>
            <a:r>
              <a:rPr lang="pl-PL" dirty="0"/>
              <a:t> a </a:t>
            </a:r>
            <a:r>
              <a:rPr lang="en-US" dirty="0"/>
              <a:t>lack of proper software or computers and databases </a:t>
            </a:r>
            <a:endParaRPr lang="pl-PL" dirty="0"/>
          </a:p>
          <a:p>
            <a:pPr eaLnBrk="1" hangingPunct="1"/>
            <a:r>
              <a:rPr lang="en-US" dirty="0"/>
              <a:t>Organizational barriers - managers often do not have time to use quite labor-intensive tools; the company is not prepared organizationally </a:t>
            </a:r>
            <a:r>
              <a:rPr lang="en-US" dirty="0" err="1"/>
              <a:t>Sociopsychological</a:t>
            </a:r>
            <a:r>
              <a:rPr lang="en-US" dirty="0"/>
              <a:t> barriers - the manager has always made decisions intuitively and is unwilling to start using computer-based assessment methods </a:t>
            </a:r>
            <a:endParaRPr lang="pl-PL" dirty="0"/>
          </a:p>
          <a:p>
            <a:pPr eaLnBrk="1" hangingPunct="1"/>
            <a:r>
              <a:rPr lang="en-US" dirty="0"/>
              <a:t>One more remark - the decision making process is difficult if, in practice, you don't really know who is responsible for what in the company. Then problems of coalition arise, etc.</a:t>
            </a:r>
            <a:r>
              <a:rPr lang="pl-PL" dirty="0"/>
              <a:t> </a:t>
            </a:r>
          </a:p>
        </p:txBody>
      </p:sp>
    </p:spTree>
    <p:extLst>
      <p:ext uri="{BB962C8B-B14F-4D97-AF65-F5344CB8AC3E}">
        <p14:creationId xmlns:p14="http://schemas.microsoft.com/office/powerpoint/2010/main" val="26510814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ajd tytułowy">
    <p:spTree>
      <p:nvGrpSpPr>
        <p:cNvPr id="1" name=""/>
        <p:cNvGrpSpPr/>
        <p:nvPr/>
      </p:nvGrpSpPr>
      <p:grpSpPr>
        <a:xfrm>
          <a:off x="0" y="0"/>
          <a:ext cx="0" cy="0"/>
          <a:chOff x="0" y="0"/>
          <a:chExt cx="0" cy="0"/>
        </a:xfrm>
      </p:grpSpPr>
      <p:sp>
        <p:nvSpPr>
          <p:cNvPr id="4" name="Freeform 7"/>
          <p:cNvSpPr>
            <a:spLocks noChangeArrowheads="1"/>
          </p:cNvSpPr>
          <p:nvPr/>
        </p:nvSpPr>
        <p:spPr bwMode="auto">
          <a:xfrm>
            <a:off x="609600" y="1219200"/>
            <a:ext cx="7924800" cy="914400"/>
          </a:xfrm>
          <a:custGeom>
            <a:avLst/>
            <a:gdLst>
              <a:gd name="T0" fmla="*/ 0 w 1000"/>
              <a:gd name="T1" fmla="*/ 1000 h 1000"/>
              <a:gd name="T2" fmla="*/ 0 w 1000"/>
              <a:gd name="T3" fmla="*/ 0 h 1000"/>
              <a:gd name="T4" fmla="*/ 1000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p:spPr>
        <p:txBody>
          <a:bodyPr/>
          <a:lstStyle/>
          <a:p>
            <a:pPr>
              <a:defRPr/>
            </a:pPr>
            <a:endParaRPr lang="pl-PL"/>
          </a:p>
        </p:txBody>
      </p:sp>
      <p:sp>
        <p:nvSpPr>
          <p:cNvPr id="5" name="Line 8"/>
          <p:cNvSpPr>
            <a:spLocks noChangeShapeType="1"/>
          </p:cNvSpPr>
          <p:nvPr/>
        </p:nvSpPr>
        <p:spPr bwMode="auto">
          <a:xfrm>
            <a:off x="1981200" y="3962400"/>
            <a:ext cx="6511925" cy="0"/>
          </a:xfrm>
          <a:prstGeom prst="line">
            <a:avLst/>
          </a:prstGeom>
          <a:noFill/>
          <a:ln w="19050">
            <a:solidFill>
              <a:schemeClr val="accent1"/>
            </a:solidFill>
            <a:round/>
            <a:headEnd/>
            <a:tailEnd/>
          </a:ln>
        </p:spPr>
        <p:txBody>
          <a:bodyPr/>
          <a:lstStyle/>
          <a:p>
            <a:pPr>
              <a:defRPr/>
            </a:pPr>
            <a:endParaRPr lang="pl-PL"/>
          </a:p>
        </p:txBody>
      </p:sp>
      <p:sp>
        <p:nvSpPr>
          <p:cNvPr id="73730" name="Rectangle 2"/>
          <p:cNvSpPr>
            <a:spLocks noGrp="1" noChangeArrowheads="1"/>
          </p:cNvSpPr>
          <p:nvPr>
            <p:ph type="ctrTitle"/>
          </p:nvPr>
        </p:nvSpPr>
        <p:spPr>
          <a:xfrm>
            <a:off x="914400" y="1524000"/>
            <a:ext cx="7623175" cy="1752600"/>
          </a:xfrm>
        </p:spPr>
        <p:txBody>
          <a:bodyPr/>
          <a:lstStyle>
            <a:lvl1pPr>
              <a:defRPr sz="5000"/>
            </a:lvl1pPr>
          </a:lstStyle>
          <a:p>
            <a:r>
              <a:rPr lang="pl-PL" altLang="en-US"/>
              <a:t>Kliknij, aby edytować styl wzorca tytułu</a:t>
            </a:r>
          </a:p>
        </p:txBody>
      </p:sp>
      <p:sp>
        <p:nvSpPr>
          <p:cNvPr id="73731" name="Rectangle 3"/>
          <p:cNvSpPr>
            <a:spLocks noGrp="1" noChangeArrowheads="1"/>
          </p:cNvSpPr>
          <p:nvPr>
            <p:ph type="subTitle" idx="1"/>
          </p:nvPr>
        </p:nvSpPr>
        <p:spPr>
          <a:xfrm>
            <a:off x="1981200" y="3962400"/>
            <a:ext cx="6553200" cy="1752600"/>
          </a:xfrm>
        </p:spPr>
        <p:txBody>
          <a:bodyPr/>
          <a:lstStyle>
            <a:lvl1pPr marL="0" indent="0">
              <a:buFont typeface="Wingdings" pitchFamily="2" charset="2"/>
              <a:buNone/>
              <a:defRPr sz="2800"/>
            </a:lvl1pPr>
          </a:lstStyle>
          <a:p>
            <a:r>
              <a:rPr lang="pl-PL" altLang="en-US"/>
              <a:t>Kliknij, aby edytować styl wzorca podtytułu</a:t>
            </a:r>
          </a:p>
        </p:txBody>
      </p:sp>
      <p:sp>
        <p:nvSpPr>
          <p:cNvPr id="6" name="Rectangle 4"/>
          <p:cNvSpPr>
            <a:spLocks noGrp="1" noChangeArrowheads="1"/>
          </p:cNvSpPr>
          <p:nvPr>
            <p:ph type="dt" sz="half" idx="10"/>
          </p:nvPr>
        </p:nvSpPr>
        <p:spPr/>
        <p:txBody>
          <a:bodyPr/>
          <a:lstStyle>
            <a:lvl1pPr>
              <a:defRPr smtClean="0"/>
            </a:lvl1pPr>
          </a:lstStyle>
          <a:p>
            <a:pPr>
              <a:defRPr/>
            </a:pPr>
            <a:endParaRPr lang="pl-PL" altLang="en-US"/>
          </a:p>
        </p:txBody>
      </p:sp>
      <p:sp>
        <p:nvSpPr>
          <p:cNvPr id="7" name="Rectangle 5"/>
          <p:cNvSpPr>
            <a:spLocks noGrp="1" noChangeArrowheads="1"/>
          </p:cNvSpPr>
          <p:nvPr>
            <p:ph type="ftr" sz="quarter" idx="11"/>
          </p:nvPr>
        </p:nvSpPr>
        <p:spPr>
          <a:xfrm>
            <a:off x="3124200" y="6243638"/>
            <a:ext cx="2895600" cy="457200"/>
          </a:xfrm>
        </p:spPr>
        <p:txBody>
          <a:bodyPr/>
          <a:lstStyle>
            <a:lvl1pPr>
              <a:defRPr/>
            </a:lvl1pPr>
          </a:lstStyle>
          <a:p>
            <a:pPr>
              <a:defRPr/>
            </a:pPr>
            <a:r>
              <a:rPr lang="pl-PL" altLang="en-US"/>
              <a:t>PJAIT</a:t>
            </a:r>
          </a:p>
        </p:txBody>
      </p:sp>
      <p:sp>
        <p:nvSpPr>
          <p:cNvPr id="8" name="Rectangle 6"/>
          <p:cNvSpPr>
            <a:spLocks noGrp="1" noChangeArrowheads="1"/>
          </p:cNvSpPr>
          <p:nvPr>
            <p:ph type="sldNum" sz="quarter" idx="12"/>
          </p:nvPr>
        </p:nvSpPr>
        <p:spPr/>
        <p:txBody>
          <a:bodyPr/>
          <a:lstStyle>
            <a:lvl1pPr>
              <a:defRPr smtClean="0"/>
            </a:lvl1pPr>
          </a:lstStyle>
          <a:p>
            <a:pPr>
              <a:defRPr/>
            </a:pPr>
            <a:fld id="{C938AAF7-FA01-4216-94BD-441DC6EC255E}" type="slidenum">
              <a:rPr lang="pl-PL" altLang="en-US"/>
              <a:pPr>
                <a:defRPr/>
              </a:pPr>
              <a:t>‹#›</a:t>
            </a:fld>
            <a:endParaRPr lang="pl-PL"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Rectangle 4"/>
          <p:cNvSpPr>
            <a:spLocks noGrp="1" noChangeArrowheads="1"/>
          </p:cNvSpPr>
          <p:nvPr>
            <p:ph type="dt" sz="half" idx="10"/>
          </p:nvPr>
        </p:nvSpPr>
        <p:spPr>
          <a:ln/>
        </p:spPr>
        <p:txBody>
          <a:bodyPr/>
          <a:lstStyle>
            <a:lvl1pPr>
              <a:defRPr/>
            </a:lvl1pPr>
          </a:lstStyle>
          <a:p>
            <a:pPr>
              <a:defRPr/>
            </a:pPr>
            <a:endParaRPr lang="pl-PL" altLang="en-US"/>
          </a:p>
        </p:txBody>
      </p:sp>
      <p:sp>
        <p:nvSpPr>
          <p:cNvPr id="5" name="Rectangle 5"/>
          <p:cNvSpPr>
            <a:spLocks noGrp="1" noChangeArrowheads="1"/>
          </p:cNvSpPr>
          <p:nvPr>
            <p:ph type="ftr" sz="quarter" idx="11"/>
          </p:nvPr>
        </p:nvSpPr>
        <p:spPr>
          <a:ln/>
        </p:spPr>
        <p:txBody>
          <a:bodyPr/>
          <a:lstStyle>
            <a:lvl1pPr>
              <a:defRPr/>
            </a:lvl1pPr>
          </a:lstStyle>
          <a:p>
            <a:pPr>
              <a:defRPr/>
            </a:pPr>
            <a:r>
              <a:rPr lang="pl-PL" altLang="en-US"/>
              <a:t>PJAIT</a:t>
            </a:r>
          </a:p>
        </p:txBody>
      </p:sp>
      <p:sp>
        <p:nvSpPr>
          <p:cNvPr id="6" name="Rectangle 6"/>
          <p:cNvSpPr>
            <a:spLocks noGrp="1" noChangeArrowheads="1"/>
          </p:cNvSpPr>
          <p:nvPr>
            <p:ph type="sldNum" sz="quarter" idx="12"/>
          </p:nvPr>
        </p:nvSpPr>
        <p:spPr>
          <a:ln/>
        </p:spPr>
        <p:txBody>
          <a:bodyPr/>
          <a:lstStyle>
            <a:lvl1pPr>
              <a:defRPr/>
            </a:lvl1pPr>
          </a:lstStyle>
          <a:p>
            <a:pPr>
              <a:defRPr/>
            </a:pPr>
            <a:fld id="{D9C0E2B1-87FB-40D9-9B22-0A09FFAF37E7}" type="slidenum">
              <a:rPr lang="pl-PL" altLang="en-US"/>
              <a:pPr>
                <a:defRPr/>
              </a:pPr>
              <a:t>‹#›</a:t>
            </a:fld>
            <a:endParaRPr lang="pl-PL"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p:cNvSpPr>
            <a:spLocks noGrp="1"/>
          </p:cNvSpPr>
          <p:nvPr>
            <p:ph type="title"/>
          </p:nvPr>
        </p:nvSpPr>
        <p:spPr>
          <a:xfrm>
            <a:off x="722313" y="4406900"/>
            <a:ext cx="7772400" cy="1362075"/>
          </a:xfrm>
        </p:spPr>
        <p:txBody>
          <a:bodyPr/>
          <a:lstStyle>
            <a:lvl1pPr algn="l">
              <a:defRPr sz="4000" b="1" cap="all"/>
            </a:lvl1pPr>
          </a:lstStyle>
          <a:p>
            <a:r>
              <a:rPr lang="pl-PL"/>
              <a:t>Kliknij, aby edytować styl</a:t>
            </a:r>
          </a:p>
        </p:txBody>
      </p:sp>
      <p:sp>
        <p:nvSpPr>
          <p:cNvPr id="3" name="Symbol zastępczy tekstu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pl-PL"/>
              <a:t>Kliknij, aby edytować style wzorca tekstu</a:t>
            </a:r>
          </a:p>
        </p:txBody>
      </p:sp>
      <p:sp>
        <p:nvSpPr>
          <p:cNvPr id="4" name="Rectangle 4"/>
          <p:cNvSpPr>
            <a:spLocks noGrp="1" noChangeArrowheads="1"/>
          </p:cNvSpPr>
          <p:nvPr>
            <p:ph type="dt" sz="half" idx="10"/>
          </p:nvPr>
        </p:nvSpPr>
        <p:spPr>
          <a:ln/>
        </p:spPr>
        <p:txBody>
          <a:bodyPr/>
          <a:lstStyle>
            <a:lvl1pPr>
              <a:defRPr/>
            </a:lvl1pPr>
          </a:lstStyle>
          <a:p>
            <a:pPr>
              <a:defRPr/>
            </a:pPr>
            <a:endParaRPr lang="pl-PL" altLang="en-US"/>
          </a:p>
        </p:txBody>
      </p:sp>
      <p:sp>
        <p:nvSpPr>
          <p:cNvPr id="5" name="Rectangle 5"/>
          <p:cNvSpPr>
            <a:spLocks noGrp="1" noChangeArrowheads="1"/>
          </p:cNvSpPr>
          <p:nvPr>
            <p:ph type="ftr" sz="quarter" idx="11"/>
          </p:nvPr>
        </p:nvSpPr>
        <p:spPr>
          <a:ln/>
        </p:spPr>
        <p:txBody>
          <a:bodyPr/>
          <a:lstStyle>
            <a:lvl1pPr>
              <a:defRPr/>
            </a:lvl1pPr>
          </a:lstStyle>
          <a:p>
            <a:pPr>
              <a:defRPr/>
            </a:pPr>
            <a:r>
              <a:rPr lang="pl-PL" altLang="en-US"/>
              <a:t>PJAIT</a:t>
            </a:r>
          </a:p>
        </p:txBody>
      </p:sp>
      <p:sp>
        <p:nvSpPr>
          <p:cNvPr id="6" name="Rectangle 6"/>
          <p:cNvSpPr>
            <a:spLocks noGrp="1" noChangeArrowheads="1"/>
          </p:cNvSpPr>
          <p:nvPr>
            <p:ph type="sldNum" sz="quarter" idx="12"/>
          </p:nvPr>
        </p:nvSpPr>
        <p:spPr>
          <a:ln/>
        </p:spPr>
        <p:txBody>
          <a:bodyPr/>
          <a:lstStyle>
            <a:lvl1pPr>
              <a:defRPr/>
            </a:lvl1pPr>
          </a:lstStyle>
          <a:p>
            <a:pPr>
              <a:defRPr/>
            </a:pPr>
            <a:fld id="{C363389A-80D6-43EE-BDBA-5D492137FA48}" type="slidenum">
              <a:rPr lang="pl-PL" altLang="en-US"/>
              <a:pPr>
                <a:defRPr/>
              </a:pPr>
              <a:t>‹#›</a:t>
            </a:fld>
            <a:endParaRPr lang="pl-PL"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Rectangle 4"/>
          <p:cNvSpPr>
            <a:spLocks noGrp="1" noChangeArrowheads="1"/>
          </p:cNvSpPr>
          <p:nvPr>
            <p:ph type="dt" sz="half" idx="10"/>
          </p:nvPr>
        </p:nvSpPr>
        <p:spPr>
          <a:ln/>
        </p:spPr>
        <p:txBody>
          <a:bodyPr/>
          <a:lstStyle>
            <a:lvl1pPr>
              <a:defRPr/>
            </a:lvl1pPr>
          </a:lstStyle>
          <a:p>
            <a:pPr>
              <a:defRPr/>
            </a:pPr>
            <a:endParaRPr lang="pl-PL" altLang="en-US"/>
          </a:p>
        </p:txBody>
      </p:sp>
      <p:sp>
        <p:nvSpPr>
          <p:cNvPr id="6" name="Rectangle 5"/>
          <p:cNvSpPr>
            <a:spLocks noGrp="1" noChangeArrowheads="1"/>
          </p:cNvSpPr>
          <p:nvPr>
            <p:ph type="ftr" sz="quarter" idx="11"/>
          </p:nvPr>
        </p:nvSpPr>
        <p:spPr>
          <a:ln/>
        </p:spPr>
        <p:txBody>
          <a:bodyPr/>
          <a:lstStyle>
            <a:lvl1pPr>
              <a:defRPr/>
            </a:lvl1pPr>
          </a:lstStyle>
          <a:p>
            <a:pPr>
              <a:defRPr/>
            </a:pPr>
            <a:r>
              <a:rPr lang="pl-PL" altLang="en-US"/>
              <a:t>PJAIT</a:t>
            </a:r>
          </a:p>
        </p:txBody>
      </p:sp>
      <p:sp>
        <p:nvSpPr>
          <p:cNvPr id="7" name="Rectangle 6"/>
          <p:cNvSpPr>
            <a:spLocks noGrp="1" noChangeArrowheads="1"/>
          </p:cNvSpPr>
          <p:nvPr>
            <p:ph type="sldNum" sz="quarter" idx="12"/>
          </p:nvPr>
        </p:nvSpPr>
        <p:spPr>
          <a:ln/>
        </p:spPr>
        <p:txBody>
          <a:bodyPr/>
          <a:lstStyle>
            <a:lvl1pPr>
              <a:defRPr/>
            </a:lvl1pPr>
          </a:lstStyle>
          <a:p>
            <a:pPr>
              <a:defRPr/>
            </a:pPr>
            <a:fld id="{5AC47F50-411C-4E4C-88F5-46C1D5FD0174}" type="slidenum">
              <a:rPr lang="pl-PL" altLang="en-US"/>
              <a:pPr>
                <a:defRPr/>
              </a:pPr>
              <a:t>‹#›</a:t>
            </a:fld>
            <a:endParaRPr lang="pl-PL"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p:cNvSpPr>
            <a:spLocks noGrp="1"/>
          </p:cNvSpPr>
          <p:nvPr>
            <p:ph type="title"/>
          </p:nvPr>
        </p:nvSpPr>
        <p:spPr>
          <a:xfrm>
            <a:off x="457200" y="274638"/>
            <a:ext cx="8229600" cy="1143000"/>
          </a:xfrm>
        </p:spPr>
        <p:txBody>
          <a:bodyPr/>
          <a:lstStyle>
            <a:lvl1pPr>
              <a:defRPr/>
            </a:lvl1pPr>
          </a:lstStyle>
          <a:p>
            <a:r>
              <a:rPr lang="pl-PL"/>
              <a:t>Kliknij, aby edytować styl</a:t>
            </a:r>
          </a:p>
        </p:txBody>
      </p:sp>
      <p:sp>
        <p:nvSpPr>
          <p:cNvPr id="3" name="Symbol zastępczy tekst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Rectangle 4"/>
          <p:cNvSpPr>
            <a:spLocks noGrp="1" noChangeArrowheads="1"/>
          </p:cNvSpPr>
          <p:nvPr>
            <p:ph type="dt" sz="half" idx="10"/>
          </p:nvPr>
        </p:nvSpPr>
        <p:spPr>
          <a:ln/>
        </p:spPr>
        <p:txBody>
          <a:bodyPr/>
          <a:lstStyle>
            <a:lvl1pPr>
              <a:defRPr/>
            </a:lvl1pPr>
          </a:lstStyle>
          <a:p>
            <a:pPr>
              <a:defRPr/>
            </a:pPr>
            <a:endParaRPr lang="pl-PL" altLang="en-US"/>
          </a:p>
        </p:txBody>
      </p:sp>
      <p:sp>
        <p:nvSpPr>
          <p:cNvPr id="8" name="Rectangle 5"/>
          <p:cNvSpPr>
            <a:spLocks noGrp="1" noChangeArrowheads="1"/>
          </p:cNvSpPr>
          <p:nvPr>
            <p:ph type="ftr" sz="quarter" idx="11"/>
          </p:nvPr>
        </p:nvSpPr>
        <p:spPr>
          <a:ln/>
        </p:spPr>
        <p:txBody>
          <a:bodyPr/>
          <a:lstStyle>
            <a:lvl1pPr>
              <a:defRPr/>
            </a:lvl1pPr>
          </a:lstStyle>
          <a:p>
            <a:pPr>
              <a:defRPr/>
            </a:pPr>
            <a:r>
              <a:rPr lang="pl-PL" altLang="en-US"/>
              <a:t>PJAIT</a:t>
            </a:r>
          </a:p>
        </p:txBody>
      </p:sp>
      <p:sp>
        <p:nvSpPr>
          <p:cNvPr id="9" name="Rectangle 6"/>
          <p:cNvSpPr>
            <a:spLocks noGrp="1" noChangeArrowheads="1"/>
          </p:cNvSpPr>
          <p:nvPr>
            <p:ph type="sldNum" sz="quarter" idx="12"/>
          </p:nvPr>
        </p:nvSpPr>
        <p:spPr>
          <a:ln/>
        </p:spPr>
        <p:txBody>
          <a:bodyPr/>
          <a:lstStyle>
            <a:lvl1pPr>
              <a:defRPr/>
            </a:lvl1pPr>
          </a:lstStyle>
          <a:p>
            <a:pPr>
              <a:defRPr/>
            </a:pPr>
            <a:fld id="{5107A04C-864B-4785-BF3B-44EE1F28E395}" type="slidenum">
              <a:rPr lang="pl-PL" altLang="en-US"/>
              <a:pPr>
                <a:defRPr/>
              </a:pPr>
              <a:t>‹#›</a:t>
            </a:fld>
            <a:endParaRPr lang="pl-PL"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Rectangle 4"/>
          <p:cNvSpPr>
            <a:spLocks noGrp="1" noChangeArrowheads="1"/>
          </p:cNvSpPr>
          <p:nvPr>
            <p:ph type="dt" sz="half" idx="10"/>
          </p:nvPr>
        </p:nvSpPr>
        <p:spPr>
          <a:ln/>
        </p:spPr>
        <p:txBody>
          <a:bodyPr/>
          <a:lstStyle>
            <a:lvl1pPr>
              <a:defRPr/>
            </a:lvl1pPr>
          </a:lstStyle>
          <a:p>
            <a:pPr>
              <a:defRPr/>
            </a:pPr>
            <a:endParaRPr lang="pl-PL" altLang="en-US"/>
          </a:p>
        </p:txBody>
      </p:sp>
      <p:sp>
        <p:nvSpPr>
          <p:cNvPr id="4" name="Rectangle 5"/>
          <p:cNvSpPr>
            <a:spLocks noGrp="1" noChangeArrowheads="1"/>
          </p:cNvSpPr>
          <p:nvPr>
            <p:ph type="ftr" sz="quarter" idx="11"/>
          </p:nvPr>
        </p:nvSpPr>
        <p:spPr>
          <a:ln/>
        </p:spPr>
        <p:txBody>
          <a:bodyPr/>
          <a:lstStyle>
            <a:lvl1pPr>
              <a:defRPr/>
            </a:lvl1pPr>
          </a:lstStyle>
          <a:p>
            <a:pPr>
              <a:defRPr/>
            </a:pPr>
            <a:r>
              <a:rPr lang="pl-PL" altLang="en-US"/>
              <a:t>PJAIT</a:t>
            </a:r>
          </a:p>
        </p:txBody>
      </p:sp>
      <p:sp>
        <p:nvSpPr>
          <p:cNvPr id="5" name="Rectangle 6"/>
          <p:cNvSpPr>
            <a:spLocks noGrp="1" noChangeArrowheads="1"/>
          </p:cNvSpPr>
          <p:nvPr>
            <p:ph type="sldNum" sz="quarter" idx="12"/>
          </p:nvPr>
        </p:nvSpPr>
        <p:spPr>
          <a:ln/>
        </p:spPr>
        <p:txBody>
          <a:bodyPr/>
          <a:lstStyle>
            <a:lvl1pPr>
              <a:defRPr/>
            </a:lvl1pPr>
          </a:lstStyle>
          <a:p>
            <a:pPr>
              <a:defRPr/>
            </a:pPr>
            <a:fld id="{BF29995A-092F-40EE-8AF4-F2748AD22F6E}" type="slidenum">
              <a:rPr lang="pl-PL" altLang="en-US"/>
              <a:pPr>
                <a:defRPr/>
              </a:pPr>
              <a:t>‹#›</a:t>
            </a:fld>
            <a:endParaRPr lang="pl-PL"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pl-PL" altLang="en-US"/>
          </a:p>
        </p:txBody>
      </p:sp>
      <p:sp>
        <p:nvSpPr>
          <p:cNvPr id="3" name="Rectangle 5"/>
          <p:cNvSpPr>
            <a:spLocks noGrp="1" noChangeArrowheads="1"/>
          </p:cNvSpPr>
          <p:nvPr>
            <p:ph type="ftr" sz="quarter" idx="11"/>
          </p:nvPr>
        </p:nvSpPr>
        <p:spPr>
          <a:ln/>
        </p:spPr>
        <p:txBody>
          <a:bodyPr/>
          <a:lstStyle>
            <a:lvl1pPr>
              <a:defRPr/>
            </a:lvl1pPr>
          </a:lstStyle>
          <a:p>
            <a:pPr>
              <a:defRPr/>
            </a:pPr>
            <a:r>
              <a:rPr lang="pl-PL" altLang="en-US"/>
              <a:t>PJAIT</a:t>
            </a:r>
          </a:p>
        </p:txBody>
      </p:sp>
      <p:sp>
        <p:nvSpPr>
          <p:cNvPr id="4" name="Rectangle 6"/>
          <p:cNvSpPr>
            <a:spLocks noGrp="1" noChangeArrowheads="1"/>
          </p:cNvSpPr>
          <p:nvPr>
            <p:ph type="sldNum" sz="quarter" idx="12"/>
          </p:nvPr>
        </p:nvSpPr>
        <p:spPr>
          <a:ln/>
        </p:spPr>
        <p:txBody>
          <a:bodyPr/>
          <a:lstStyle>
            <a:lvl1pPr>
              <a:defRPr/>
            </a:lvl1pPr>
          </a:lstStyle>
          <a:p>
            <a:pPr>
              <a:defRPr/>
            </a:pPr>
            <a:fld id="{CB9FDE1B-9EC6-43A6-A568-2BD1962EB7C3}" type="slidenum">
              <a:rPr lang="pl-PL" altLang="en-US"/>
              <a:pPr>
                <a:defRPr/>
              </a:pPr>
              <a:t>‹#›</a:t>
            </a:fld>
            <a:endParaRPr lang="pl-PL"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457200" y="273050"/>
            <a:ext cx="3008313" cy="1162050"/>
          </a:xfrm>
        </p:spPr>
        <p:txBody>
          <a:bodyPr anchor="b"/>
          <a:lstStyle>
            <a:lvl1pPr algn="l">
              <a:defRPr sz="2000" b="1"/>
            </a:lvl1pPr>
          </a:lstStyle>
          <a:p>
            <a:r>
              <a:rPr lang="pl-PL"/>
              <a:t>Kliknij, aby edytować styl</a:t>
            </a:r>
          </a:p>
        </p:txBody>
      </p:sp>
      <p:sp>
        <p:nvSpPr>
          <p:cNvPr id="3" name="Symbol zastępczy zawartości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Rectangle 4"/>
          <p:cNvSpPr>
            <a:spLocks noGrp="1" noChangeArrowheads="1"/>
          </p:cNvSpPr>
          <p:nvPr>
            <p:ph type="dt" sz="half" idx="10"/>
          </p:nvPr>
        </p:nvSpPr>
        <p:spPr>
          <a:ln/>
        </p:spPr>
        <p:txBody>
          <a:bodyPr/>
          <a:lstStyle>
            <a:lvl1pPr>
              <a:defRPr/>
            </a:lvl1pPr>
          </a:lstStyle>
          <a:p>
            <a:pPr>
              <a:defRPr/>
            </a:pPr>
            <a:endParaRPr lang="pl-PL" altLang="en-US"/>
          </a:p>
        </p:txBody>
      </p:sp>
      <p:sp>
        <p:nvSpPr>
          <p:cNvPr id="6" name="Rectangle 5"/>
          <p:cNvSpPr>
            <a:spLocks noGrp="1" noChangeArrowheads="1"/>
          </p:cNvSpPr>
          <p:nvPr>
            <p:ph type="ftr" sz="quarter" idx="11"/>
          </p:nvPr>
        </p:nvSpPr>
        <p:spPr>
          <a:ln/>
        </p:spPr>
        <p:txBody>
          <a:bodyPr/>
          <a:lstStyle>
            <a:lvl1pPr>
              <a:defRPr/>
            </a:lvl1pPr>
          </a:lstStyle>
          <a:p>
            <a:pPr>
              <a:defRPr/>
            </a:pPr>
            <a:r>
              <a:rPr lang="pl-PL" altLang="en-US"/>
              <a:t>PJAIT</a:t>
            </a:r>
          </a:p>
        </p:txBody>
      </p:sp>
      <p:sp>
        <p:nvSpPr>
          <p:cNvPr id="7" name="Rectangle 6"/>
          <p:cNvSpPr>
            <a:spLocks noGrp="1" noChangeArrowheads="1"/>
          </p:cNvSpPr>
          <p:nvPr>
            <p:ph type="sldNum" sz="quarter" idx="12"/>
          </p:nvPr>
        </p:nvSpPr>
        <p:spPr>
          <a:ln/>
        </p:spPr>
        <p:txBody>
          <a:bodyPr/>
          <a:lstStyle>
            <a:lvl1pPr>
              <a:defRPr/>
            </a:lvl1pPr>
          </a:lstStyle>
          <a:p>
            <a:pPr>
              <a:defRPr/>
            </a:pPr>
            <a:fld id="{2E8241D2-219C-4D0C-A5A7-BB570ED78AE7}" type="slidenum">
              <a:rPr lang="pl-PL" altLang="en-US"/>
              <a:pPr>
                <a:defRPr/>
              </a:pPr>
              <a:t>‹#›</a:t>
            </a:fld>
            <a:endParaRPr lang="pl-PL"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1792288" y="4800600"/>
            <a:ext cx="5486400" cy="566738"/>
          </a:xfrm>
        </p:spPr>
        <p:txBody>
          <a:bodyPr anchor="b"/>
          <a:lstStyle>
            <a:lvl1pPr algn="l">
              <a:defRPr sz="2000" b="1"/>
            </a:lvl1pPr>
          </a:lstStyle>
          <a:p>
            <a:r>
              <a:rPr lang="pl-PL"/>
              <a:t>Kliknij, aby edytować styl</a:t>
            </a:r>
          </a:p>
        </p:txBody>
      </p:sp>
      <p:sp>
        <p:nvSpPr>
          <p:cNvPr id="3" name="Symbol zastępczy obrazu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pl-PL" noProof="0"/>
          </a:p>
        </p:txBody>
      </p:sp>
      <p:sp>
        <p:nvSpPr>
          <p:cNvPr id="4" name="Symbol zastępczy tekst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Rectangle 4"/>
          <p:cNvSpPr>
            <a:spLocks noGrp="1" noChangeArrowheads="1"/>
          </p:cNvSpPr>
          <p:nvPr>
            <p:ph type="dt" sz="half" idx="10"/>
          </p:nvPr>
        </p:nvSpPr>
        <p:spPr>
          <a:ln/>
        </p:spPr>
        <p:txBody>
          <a:bodyPr/>
          <a:lstStyle>
            <a:lvl1pPr>
              <a:defRPr/>
            </a:lvl1pPr>
          </a:lstStyle>
          <a:p>
            <a:pPr>
              <a:defRPr/>
            </a:pPr>
            <a:endParaRPr lang="pl-PL" altLang="en-US"/>
          </a:p>
        </p:txBody>
      </p:sp>
      <p:sp>
        <p:nvSpPr>
          <p:cNvPr id="6" name="Rectangle 5"/>
          <p:cNvSpPr>
            <a:spLocks noGrp="1" noChangeArrowheads="1"/>
          </p:cNvSpPr>
          <p:nvPr>
            <p:ph type="ftr" sz="quarter" idx="11"/>
          </p:nvPr>
        </p:nvSpPr>
        <p:spPr>
          <a:ln/>
        </p:spPr>
        <p:txBody>
          <a:bodyPr/>
          <a:lstStyle>
            <a:lvl1pPr>
              <a:defRPr/>
            </a:lvl1pPr>
          </a:lstStyle>
          <a:p>
            <a:pPr>
              <a:defRPr/>
            </a:pPr>
            <a:r>
              <a:rPr lang="pl-PL" altLang="en-US"/>
              <a:t>PJAIT</a:t>
            </a:r>
          </a:p>
        </p:txBody>
      </p:sp>
      <p:sp>
        <p:nvSpPr>
          <p:cNvPr id="7" name="Rectangle 6"/>
          <p:cNvSpPr>
            <a:spLocks noGrp="1" noChangeArrowheads="1"/>
          </p:cNvSpPr>
          <p:nvPr>
            <p:ph type="sldNum" sz="quarter" idx="12"/>
          </p:nvPr>
        </p:nvSpPr>
        <p:spPr>
          <a:ln/>
        </p:spPr>
        <p:txBody>
          <a:bodyPr/>
          <a:lstStyle>
            <a:lvl1pPr>
              <a:defRPr/>
            </a:lvl1pPr>
          </a:lstStyle>
          <a:p>
            <a:pPr>
              <a:defRPr/>
            </a:pPr>
            <a:fld id="{200A715B-71DD-4276-9861-85DBDE2E183C}" type="slidenum">
              <a:rPr lang="pl-PL" altLang="en-US"/>
              <a:pPr>
                <a:defRPr/>
              </a:pPr>
              <a:t>‹#›</a:t>
            </a:fld>
            <a:endParaRPr lang="pl-PL"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tytułu pionowego 2"/>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Rectangle 4"/>
          <p:cNvSpPr>
            <a:spLocks noGrp="1" noChangeArrowheads="1"/>
          </p:cNvSpPr>
          <p:nvPr>
            <p:ph type="dt" sz="half" idx="10"/>
          </p:nvPr>
        </p:nvSpPr>
        <p:spPr>
          <a:ln/>
        </p:spPr>
        <p:txBody>
          <a:bodyPr/>
          <a:lstStyle>
            <a:lvl1pPr>
              <a:defRPr/>
            </a:lvl1pPr>
          </a:lstStyle>
          <a:p>
            <a:pPr>
              <a:defRPr/>
            </a:pPr>
            <a:endParaRPr lang="pl-PL" altLang="en-US"/>
          </a:p>
        </p:txBody>
      </p:sp>
      <p:sp>
        <p:nvSpPr>
          <p:cNvPr id="5" name="Rectangle 5"/>
          <p:cNvSpPr>
            <a:spLocks noGrp="1" noChangeArrowheads="1"/>
          </p:cNvSpPr>
          <p:nvPr>
            <p:ph type="ftr" sz="quarter" idx="11"/>
          </p:nvPr>
        </p:nvSpPr>
        <p:spPr>
          <a:ln/>
        </p:spPr>
        <p:txBody>
          <a:bodyPr/>
          <a:lstStyle>
            <a:lvl1pPr>
              <a:defRPr/>
            </a:lvl1pPr>
          </a:lstStyle>
          <a:p>
            <a:pPr>
              <a:defRPr/>
            </a:pPr>
            <a:r>
              <a:rPr lang="pl-PL" altLang="en-US"/>
              <a:t>PJAIT</a:t>
            </a:r>
          </a:p>
        </p:txBody>
      </p:sp>
      <p:sp>
        <p:nvSpPr>
          <p:cNvPr id="6" name="Rectangle 6"/>
          <p:cNvSpPr>
            <a:spLocks noGrp="1" noChangeArrowheads="1"/>
          </p:cNvSpPr>
          <p:nvPr>
            <p:ph type="sldNum" sz="quarter" idx="12"/>
          </p:nvPr>
        </p:nvSpPr>
        <p:spPr>
          <a:ln/>
        </p:spPr>
        <p:txBody>
          <a:bodyPr/>
          <a:lstStyle>
            <a:lvl1pPr>
              <a:defRPr/>
            </a:lvl1pPr>
          </a:lstStyle>
          <a:p>
            <a:pPr>
              <a:defRPr/>
            </a:pPr>
            <a:fld id="{374A7F10-99BF-4DD1-BECE-518D811F99A8}" type="slidenum">
              <a:rPr lang="pl-PL" altLang="en-US"/>
              <a:pPr>
                <a:defRPr/>
              </a:pPr>
              <a:t>‹#›</a:t>
            </a:fld>
            <a:endParaRPr lang="pl-PL"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p:cNvSpPr>
            <a:spLocks noGrp="1"/>
          </p:cNvSpPr>
          <p:nvPr>
            <p:ph type="title" orient="vert"/>
          </p:nvPr>
        </p:nvSpPr>
        <p:spPr>
          <a:xfrm>
            <a:off x="6629400" y="277813"/>
            <a:ext cx="2057400" cy="5853112"/>
          </a:xfrm>
        </p:spPr>
        <p:txBody>
          <a:bodyPr vert="eaVert"/>
          <a:lstStyle/>
          <a:p>
            <a:r>
              <a:rPr lang="pl-PL"/>
              <a:t>Kliknij, aby edytować styl</a:t>
            </a:r>
          </a:p>
        </p:txBody>
      </p:sp>
      <p:sp>
        <p:nvSpPr>
          <p:cNvPr id="3" name="Symbol zastępczy tytułu pionowego 2"/>
          <p:cNvSpPr>
            <a:spLocks noGrp="1"/>
          </p:cNvSpPr>
          <p:nvPr>
            <p:ph type="body" orient="vert" idx="1"/>
          </p:nvPr>
        </p:nvSpPr>
        <p:spPr>
          <a:xfrm>
            <a:off x="457200" y="277813"/>
            <a:ext cx="6019800" cy="5853112"/>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Rectangle 4"/>
          <p:cNvSpPr>
            <a:spLocks noGrp="1" noChangeArrowheads="1"/>
          </p:cNvSpPr>
          <p:nvPr>
            <p:ph type="dt" sz="half" idx="10"/>
          </p:nvPr>
        </p:nvSpPr>
        <p:spPr>
          <a:ln/>
        </p:spPr>
        <p:txBody>
          <a:bodyPr/>
          <a:lstStyle>
            <a:lvl1pPr>
              <a:defRPr/>
            </a:lvl1pPr>
          </a:lstStyle>
          <a:p>
            <a:pPr>
              <a:defRPr/>
            </a:pPr>
            <a:endParaRPr lang="pl-PL" altLang="en-US"/>
          </a:p>
        </p:txBody>
      </p:sp>
      <p:sp>
        <p:nvSpPr>
          <p:cNvPr id="5" name="Rectangle 5"/>
          <p:cNvSpPr>
            <a:spLocks noGrp="1" noChangeArrowheads="1"/>
          </p:cNvSpPr>
          <p:nvPr>
            <p:ph type="ftr" sz="quarter" idx="11"/>
          </p:nvPr>
        </p:nvSpPr>
        <p:spPr>
          <a:ln/>
        </p:spPr>
        <p:txBody>
          <a:bodyPr/>
          <a:lstStyle>
            <a:lvl1pPr>
              <a:defRPr/>
            </a:lvl1pPr>
          </a:lstStyle>
          <a:p>
            <a:pPr>
              <a:defRPr/>
            </a:pPr>
            <a:r>
              <a:rPr lang="pl-PL" altLang="en-US"/>
              <a:t>PJAIT</a:t>
            </a:r>
          </a:p>
        </p:txBody>
      </p:sp>
      <p:sp>
        <p:nvSpPr>
          <p:cNvPr id="6" name="Rectangle 6"/>
          <p:cNvSpPr>
            <a:spLocks noGrp="1" noChangeArrowheads="1"/>
          </p:cNvSpPr>
          <p:nvPr>
            <p:ph type="sldNum" sz="quarter" idx="12"/>
          </p:nvPr>
        </p:nvSpPr>
        <p:spPr>
          <a:ln/>
        </p:spPr>
        <p:txBody>
          <a:bodyPr/>
          <a:lstStyle>
            <a:lvl1pPr>
              <a:defRPr/>
            </a:lvl1pPr>
          </a:lstStyle>
          <a:p>
            <a:pPr>
              <a:defRPr/>
            </a:pPr>
            <a:fld id="{96220340-0751-431B-AFD9-CA53658E4D49}" type="slidenum">
              <a:rPr lang="pl-PL" altLang="en-US"/>
              <a:pPr>
                <a:defRPr/>
              </a:pPr>
              <a:t>‹#›</a:t>
            </a:fld>
            <a:endParaRPr lang="pl-PL"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7813"/>
            <a:ext cx="8229600" cy="11398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pl-PL" altLang="en-US"/>
              <a:t>Kliknij, aby edytować styl wzorca tytułu</a:t>
            </a:r>
          </a:p>
        </p:txBody>
      </p:sp>
      <p:sp>
        <p:nvSpPr>
          <p:cNvPr id="1027" name="Rectangle 3"/>
          <p:cNvSpPr>
            <a:spLocks noGrp="1" noChangeArrowheads="1"/>
          </p:cNvSpPr>
          <p:nvPr>
            <p:ph type="body" idx="1"/>
          </p:nvPr>
        </p:nvSpPr>
        <p:spPr bwMode="auto">
          <a:xfrm>
            <a:off x="457200" y="1600200"/>
            <a:ext cx="8229600" cy="45307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pl-PL" altLang="en-US"/>
              <a:t>Kliknij, aby edytować style wzorca tekstu</a:t>
            </a:r>
          </a:p>
          <a:p>
            <a:pPr lvl="1"/>
            <a:r>
              <a:rPr lang="pl-PL" altLang="en-US"/>
              <a:t>Drugi poziom</a:t>
            </a:r>
          </a:p>
          <a:p>
            <a:pPr lvl="2"/>
            <a:r>
              <a:rPr lang="pl-PL" altLang="en-US"/>
              <a:t>Trzeci poziom</a:t>
            </a:r>
          </a:p>
          <a:p>
            <a:pPr lvl="3"/>
            <a:r>
              <a:rPr lang="pl-PL" altLang="en-US"/>
              <a:t>Czwarty poziom</a:t>
            </a:r>
          </a:p>
          <a:p>
            <a:pPr lvl="4"/>
            <a:r>
              <a:rPr lang="pl-PL" altLang="en-US"/>
              <a:t>Piąty poziom</a:t>
            </a:r>
          </a:p>
        </p:txBody>
      </p:sp>
      <p:sp>
        <p:nvSpPr>
          <p:cNvPr id="72708" name="Rectangle 4"/>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solidFill>
                  <a:schemeClr val="tx1"/>
                </a:solidFill>
                <a:latin typeface="Garamond" pitchFamily="18" charset="0"/>
              </a:defRPr>
            </a:lvl1pPr>
          </a:lstStyle>
          <a:p>
            <a:pPr>
              <a:defRPr/>
            </a:pPr>
            <a:endParaRPr lang="pl-PL" altLang="en-US"/>
          </a:p>
        </p:txBody>
      </p:sp>
      <p:sp>
        <p:nvSpPr>
          <p:cNvPr id="7270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solidFill>
                  <a:schemeClr val="tx1"/>
                </a:solidFill>
                <a:latin typeface="+mj-lt"/>
              </a:defRPr>
            </a:lvl1pPr>
          </a:lstStyle>
          <a:p>
            <a:pPr>
              <a:defRPr/>
            </a:pPr>
            <a:r>
              <a:rPr lang="pl-PL" altLang="en-US"/>
              <a:t>PJAIT</a:t>
            </a:r>
          </a:p>
        </p:txBody>
      </p:sp>
      <p:sp>
        <p:nvSpPr>
          <p:cNvPr id="72710" name="Rectangle 6"/>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solidFill>
                  <a:schemeClr val="tx1"/>
                </a:solidFill>
                <a:latin typeface="Garamond" pitchFamily="18" charset="0"/>
              </a:defRPr>
            </a:lvl1pPr>
          </a:lstStyle>
          <a:p>
            <a:pPr>
              <a:defRPr/>
            </a:pPr>
            <a:fld id="{3E921C12-0223-4D9A-B59B-F3B047D3D376}" type="slidenum">
              <a:rPr lang="pl-PL" altLang="en-US"/>
              <a:pPr>
                <a:defRPr/>
              </a:pPr>
              <a:t>‹#›</a:t>
            </a:fld>
            <a:endParaRPr lang="pl-PL" altLang="en-US"/>
          </a:p>
        </p:txBody>
      </p:sp>
      <p:sp>
        <p:nvSpPr>
          <p:cNvPr id="1031" name="Freeform 7"/>
          <p:cNvSpPr>
            <a:spLocks noChangeArrowheads="1"/>
          </p:cNvSpPr>
          <p:nvPr/>
        </p:nvSpPr>
        <p:spPr bwMode="auto">
          <a:xfrm>
            <a:off x="381000" y="228600"/>
            <a:ext cx="8229600" cy="609600"/>
          </a:xfrm>
          <a:custGeom>
            <a:avLst/>
            <a:gdLst>
              <a:gd name="T0" fmla="*/ 0 w 1000"/>
              <a:gd name="T1" fmla="*/ 1000 h 1000"/>
              <a:gd name="T2" fmla="*/ 0 w 1000"/>
              <a:gd name="T3" fmla="*/ 0 h 1000"/>
              <a:gd name="T4" fmla="*/ 1000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p:spPr>
        <p:txBody>
          <a:bodyPr/>
          <a:lstStyle/>
          <a:p>
            <a:pPr>
              <a:defRPr/>
            </a:pPr>
            <a:endParaRPr lang="pl-PL"/>
          </a:p>
        </p:txBody>
      </p:sp>
      <p:sp>
        <p:nvSpPr>
          <p:cNvPr id="1032" name="Line 8"/>
          <p:cNvSpPr>
            <a:spLocks noChangeShapeType="1"/>
          </p:cNvSpPr>
          <p:nvPr/>
        </p:nvSpPr>
        <p:spPr bwMode="auto">
          <a:xfrm>
            <a:off x="457200" y="6172200"/>
            <a:ext cx="8229600" cy="0"/>
          </a:xfrm>
          <a:prstGeom prst="line">
            <a:avLst/>
          </a:prstGeom>
          <a:noFill/>
          <a:ln w="19050">
            <a:solidFill>
              <a:schemeClr val="accent1"/>
            </a:solidFill>
            <a:round/>
            <a:headEnd/>
            <a:tailEnd/>
          </a:ln>
        </p:spPr>
        <p:txBody>
          <a:bodyPr/>
          <a:lstStyle/>
          <a:p>
            <a:pPr>
              <a:defRPr/>
            </a:pPr>
            <a:endParaRPr lang="pl-PL"/>
          </a:p>
        </p:txBody>
      </p:sp>
    </p:spTree>
  </p:cSld>
  <p:clrMap bg1="lt1" tx1="dk1" bg2="lt2" tx2="dk2" accent1="accent1" accent2="accent2" accent3="accent3" accent4="accent4" accent5="accent5" accent6="accent6" hlink="hlink" folHlink="folHlink"/>
  <p:sldLayoutIdLst>
    <p:sldLayoutId id="2147483756"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sldNum="0" hdr="0" dt="0"/>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www.otorowski.com/"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https://thinkimmigration.org/blog/2018/12/05/proposed-h-1b-policy-creates-new-uncertainty-for-american-employers/"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hyperlink" Target="http://www.kb.neostrada.pl/"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hyperlink" Target="http://www.arundelhousehotels.co.uk/"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Grp="1" noChangeArrowheads="1"/>
          </p:cNvSpPr>
          <p:nvPr>
            <p:ph type="ctrTitle"/>
          </p:nvPr>
        </p:nvSpPr>
        <p:spPr/>
        <p:txBody>
          <a:bodyPr/>
          <a:lstStyle/>
          <a:p>
            <a:pPr eaLnBrk="1" hangingPunct="1"/>
            <a:r>
              <a:rPr lang="en-US" sz="4800" b="1" dirty="0">
                <a:solidFill>
                  <a:srgbClr val="3333CC"/>
                </a:solidFill>
              </a:rPr>
              <a:t>Decision</a:t>
            </a:r>
            <a:r>
              <a:rPr lang="pl-PL" sz="4800" b="1" dirty="0">
                <a:solidFill>
                  <a:srgbClr val="3333CC"/>
                </a:solidFill>
              </a:rPr>
              <a:t>-</a:t>
            </a:r>
            <a:r>
              <a:rPr lang="en-US" sz="4800" b="1" dirty="0">
                <a:solidFill>
                  <a:srgbClr val="3333CC"/>
                </a:solidFill>
              </a:rPr>
              <a:t>making </a:t>
            </a:r>
            <a:r>
              <a:rPr lang="pl-PL" sz="4800" b="1" dirty="0" err="1">
                <a:solidFill>
                  <a:srgbClr val="3333CC"/>
                </a:solidFill>
              </a:rPr>
              <a:t>process</a:t>
            </a:r>
            <a:r>
              <a:rPr lang="pl-PL" sz="4800" b="1" dirty="0">
                <a:solidFill>
                  <a:srgbClr val="3333CC"/>
                </a:solidFill>
              </a:rPr>
              <a:t> </a:t>
            </a:r>
            <a:r>
              <a:rPr lang="en-US" sz="4800" b="1" dirty="0">
                <a:solidFill>
                  <a:srgbClr val="3333CC"/>
                </a:solidFill>
              </a:rPr>
              <a:t>in the organization</a:t>
            </a:r>
            <a:endParaRPr lang="pl-PL" sz="4800" b="1" dirty="0">
              <a:solidFill>
                <a:srgbClr val="3333CC"/>
              </a:solidFill>
            </a:endParaRPr>
          </a:p>
        </p:txBody>
      </p:sp>
      <p:sp>
        <p:nvSpPr>
          <p:cNvPr id="3075" name="Rectangle 5"/>
          <p:cNvSpPr>
            <a:spLocks noGrp="1" noChangeArrowheads="1"/>
          </p:cNvSpPr>
          <p:nvPr>
            <p:ph type="subTitle" idx="1"/>
          </p:nvPr>
        </p:nvSpPr>
        <p:spPr>
          <a:xfrm>
            <a:off x="2051050" y="4005263"/>
            <a:ext cx="6400800" cy="1752600"/>
          </a:xfrm>
        </p:spPr>
        <p:txBody>
          <a:bodyPr/>
          <a:lstStyle/>
          <a:p>
            <a:pPr eaLnBrk="1" hangingPunct="1"/>
            <a:endParaRPr lang="pl-PL" b="1">
              <a:solidFill>
                <a:srgbClr val="0066CC"/>
              </a:solidFill>
            </a:endParaRPr>
          </a:p>
          <a:p>
            <a:pPr eaLnBrk="1" hangingPunct="1"/>
            <a:endParaRPr lang="pl-PL" b="1">
              <a:solidFill>
                <a:srgbClr val="0066CC"/>
              </a:solidFill>
            </a:endParaRPr>
          </a:p>
          <a:p>
            <a:pPr eaLnBrk="1" hangingPunct="1"/>
            <a:endParaRPr lang="pl-PL" b="1">
              <a:solidFill>
                <a:srgbClr val="0066CC"/>
              </a:solidFill>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ymbol zastępczy stopki 4"/>
          <p:cNvSpPr>
            <a:spLocks noGrp="1"/>
          </p:cNvSpPr>
          <p:nvPr>
            <p:ph type="ftr" sz="quarter" idx="11"/>
          </p:nvPr>
        </p:nvSpPr>
        <p:spPr/>
        <p:txBody>
          <a:bodyPr/>
          <a:lstStyle/>
          <a:p>
            <a:pPr>
              <a:defRPr/>
            </a:pPr>
            <a:r>
              <a:rPr lang="pl-PL" altLang="en-US"/>
              <a:t>PJAIT</a:t>
            </a:r>
          </a:p>
        </p:txBody>
      </p:sp>
      <p:sp>
        <p:nvSpPr>
          <p:cNvPr id="4099" name="Rectangle 2"/>
          <p:cNvSpPr>
            <a:spLocks noGrp="1" noChangeArrowheads="1"/>
          </p:cNvSpPr>
          <p:nvPr>
            <p:ph type="title"/>
          </p:nvPr>
        </p:nvSpPr>
        <p:spPr/>
        <p:txBody>
          <a:bodyPr/>
          <a:lstStyle/>
          <a:p>
            <a:pPr eaLnBrk="1" hangingPunct="1"/>
            <a:r>
              <a:rPr lang="en-US" sz="4000" b="1" dirty="0"/>
              <a:t>Decision-making process in the organization</a:t>
            </a:r>
            <a:endParaRPr lang="pl-PL" sz="4000" b="1" dirty="0"/>
          </a:p>
        </p:txBody>
      </p:sp>
      <p:sp>
        <p:nvSpPr>
          <p:cNvPr id="4100" name="Rectangle 3"/>
          <p:cNvSpPr>
            <a:spLocks noGrp="1" noChangeArrowheads="1"/>
          </p:cNvSpPr>
          <p:nvPr>
            <p:ph type="body" idx="1"/>
          </p:nvPr>
        </p:nvSpPr>
        <p:spPr/>
        <p:txBody>
          <a:bodyPr/>
          <a:lstStyle/>
          <a:p>
            <a:pPr marL="571500" indent="-571500" eaLnBrk="1" hangingPunct="1"/>
            <a:r>
              <a:rPr lang="pl-PL" dirty="0">
                <a:solidFill>
                  <a:srgbClr val="003399"/>
                </a:solidFill>
              </a:rPr>
              <a:t>The </a:t>
            </a:r>
            <a:r>
              <a:rPr lang="pl-PL" dirty="0" err="1">
                <a:solidFill>
                  <a:srgbClr val="003399"/>
                </a:solidFill>
              </a:rPr>
              <a:t>nature</a:t>
            </a:r>
            <a:r>
              <a:rPr lang="pl-PL" dirty="0">
                <a:solidFill>
                  <a:srgbClr val="003399"/>
                </a:solidFill>
              </a:rPr>
              <a:t> of </a:t>
            </a:r>
            <a:r>
              <a:rPr lang="pl-PL" dirty="0" err="1">
                <a:solidFill>
                  <a:srgbClr val="003399"/>
                </a:solidFill>
              </a:rPr>
              <a:t>decision</a:t>
            </a:r>
            <a:r>
              <a:rPr lang="pl-PL" dirty="0">
                <a:solidFill>
                  <a:srgbClr val="003399"/>
                </a:solidFill>
              </a:rPr>
              <a:t> </a:t>
            </a:r>
            <a:r>
              <a:rPr lang="pl-PL" dirty="0" err="1">
                <a:solidFill>
                  <a:srgbClr val="003399"/>
                </a:solidFill>
              </a:rPr>
              <a:t>making</a:t>
            </a:r>
            <a:r>
              <a:rPr lang="pl-PL" dirty="0">
                <a:solidFill>
                  <a:srgbClr val="003399"/>
                </a:solidFill>
              </a:rPr>
              <a:t> </a:t>
            </a:r>
          </a:p>
          <a:p>
            <a:pPr marL="571500" indent="-571500" eaLnBrk="1" hangingPunct="1"/>
            <a:r>
              <a:rPr lang="pl-PL" dirty="0" err="1">
                <a:solidFill>
                  <a:srgbClr val="003399"/>
                </a:solidFill>
              </a:rPr>
              <a:t>Decision-making</a:t>
            </a:r>
            <a:r>
              <a:rPr lang="pl-PL" dirty="0">
                <a:solidFill>
                  <a:srgbClr val="003399"/>
                </a:solidFill>
              </a:rPr>
              <a:t> </a:t>
            </a:r>
            <a:r>
              <a:rPr lang="pl-PL" dirty="0" err="1">
                <a:solidFill>
                  <a:srgbClr val="003399"/>
                </a:solidFill>
              </a:rPr>
              <a:t>procedures</a:t>
            </a:r>
            <a:r>
              <a:rPr lang="pl-PL" dirty="0">
                <a:solidFill>
                  <a:srgbClr val="003399"/>
                </a:solidFill>
              </a:rPr>
              <a:t> </a:t>
            </a:r>
          </a:p>
          <a:p>
            <a:pPr marL="571500" indent="-571500" eaLnBrk="1" hangingPunct="1"/>
            <a:r>
              <a:rPr lang="pl-PL" dirty="0" err="1">
                <a:solidFill>
                  <a:srgbClr val="003399"/>
                </a:solidFill>
              </a:rPr>
              <a:t>Behavioral</a:t>
            </a:r>
            <a:r>
              <a:rPr lang="pl-PL" dirty="0">
                <a:solidFill>
                  <a:srgbClr val="003399"/>
                </a:solidFill>
              </a:rPr>
              <a:t> </a:t>
            </a:r>
            <a:r>
              <a:rPr lang="pl-PL" dirty="0" err="1">
                <a:solidFill>
                  <a:srgbClr val="003399"/>
                </a:solidFill>
              </a:rPr>
              <a:t>aspects</a:t>
            </a:r>
            <a:r>
              <a:rPr lang="pl-PL" dirty="0">
                <a:solidFill>
                  <a:srgbClr val="003399"/>
                </a:solidFill>
              </a:rPr>
              <a:t> of </a:t>
            </a:r>
            <a:r>
              <a:rPr lang="pl-PL" dirty="0" err="1">
                <a:solidFill>
                  <a:srgbClr val="003399"/>
                </a:solidFill>
              </a:rPr>
              <a:t>decision</a:t>
            </a:r>
            <a:r>
              <a:rPr lang="pl-PL" dirty="0">
                <a:solidFill>
                  <a:srgbClr val="003399"/>
                </a:solidFill>
              </a:rPr>
              <a:t> </a:t>
            </a:r>
            <a:r>
              <a:rPr lang="pl-PL" dirty="0" err="1">
                <a:solidFill>
                  <a:srgbClr val="003399"/>
                </a:solidFill>
              </a:rPr>
              <a:t>making</a:t>
            </a:r>
            <a:r>
              <a:rPr lang="pl-PL" dirty="0">
                <a:solidFill>
                  <a:srgbClr val="003399"/>
                </a:solidFill>
              </a:rPr>
              <a:t> </a:t>
            </a:r>
          </a:p>
          <a:p>
            <a:pPr marL="571500" indent="-571500" eaLnBrk="1" hangingPunct="1"/>
            <a:r>
              <a:rPr lang="pl-PL" dirty="0" err="1">
                <a:solidFill>
                  <a:srgbClr val="003399"/>
                </a:solidFill>
              </a:rPr>
              <a:t>Types</a:t>
            </a:r>
            <a:r>
              <a:rPr lang="pl-PL" dirty="0">
                <a:solidFill>
                  <a:srgbClr val="003399"/>
                </a:solidFill>
              </a:rPr>
              <a:t> of </a:t>
            </a:r>
            <a:r>
              <a:rPr lang="pl-PL" dirty="0" err="1">
                <a:solidFill>
                  <a:srgbClr val="003399"/>
                </a:solidFill>
              </a:rPr>
              <a:t>decisions</a:t>
            </a:r>
            <a:r>
              <a:rPr lang="pl-PL" dirty="0">
                <a:solidFill>
                  <a:srgbClr val="003399"/>
                </a:solidFill>
              </a:rPr>
              <a:t> and </a:t>
            </a:r>
            <a:r>
              <a:rPr lang="pl-PL" dirty="0" err="1">
                <a:solidFill>
                  <a:srgbClr val="003399"/>
                </a:solidFill>
              </a:rPr>
              <a:t>decision</a:t>
            </a:r>
            <a:r>
              <a:rPr lang="pl-PL" dirty="0">
                <a:solidFill>
                  <a:srgbClr val="003399"/>
                </a:solidFill>
              </a:rPr>
              <a:t> </a:t>
            </a:r>
            <a:r>
              <a:rPr lang="pl-PL" dirty="0" err="1">
                <a:solidFill>
                  <a:srgbClr val="003399"/>
                </a:solidFill>
              </a:rPr>
              <a:t>support</a:t>
            </a:r>
            <a:r>
              <a:rPr lang="pl-PL" dirty="0">
                <a:solidFill>
                  <a:srgbClr val="003399"/>
                </a:solidFill>
              </a:rPr>
              <a:t> </a:t>
            </a:r>
            <a:r>
              <a:rPr lang="pl-PL" dirty="0" err="1">
                <a:solidFill>
                  <a:srgbClr val="003399"/>
                </a:solidFill>
              </a:rPr>
              <a:t>tools</a:t>
            </a:r>
            <a:r>
              <a:rPr lang="pl-PL" dirty="0">
                <a:solidFill>
                  <a:srgbClr val="003399"/>
                </a:solidFill>
              </a:rPr>
              <a:t> </a:t>
            </a:r>
          </a:p>
        </p:txBody>
      </p:sp>
      <p:pic>
        <p:nvPicPr>
          <p:cNvPr id="4101" name="Picture 4"/>
          <p:cNvPicPr>
            <a:picLocks noChangeAspect="1" noChangeArrowheads="1"/>
          </p:cNvPicPr>
          <p:nvPr/>
        </p:nvPicPr>
        <p:blipFill>
          <a:blip r:embed="rId3" cstate="print"/>
          <a:srcRect/>
          <a:stretch>
            <a:fillRect/>
          </a:stretch>
        </p:blipFill>
        <p:spPr bwMode="auto">
          <a:xfrm>
            <a:off x="3491880" y="4365104"/>
            <a:ext cx="1957387" cy="1471612"/>
          </a:xfrm>
          <a:prstGeom prst="rect">
            <a:avLst/>
          </a:prstGeom>
          <a:noFill/>
          <a:ln w="9525">
            <a:noFill/>
            <a:miter lim="800000"/>
            <a:headEnd/>
            <a:tailEnd/>
          </a:ln>
        </p:spPr>
      </p:pic>
      <p:sp>
        <p:nvSpPr>
          <p:cNvPr id="4102" name="Text Box 5"/>
          <p:cNvSpPr txBox="1">
            <a:spLocks noChangeArrowheads="1"/>
          </p:cNvSpPr>
          <p:nvPr/>
        </p:nvSpPr>
        <p:spPr bwMode="auto">
          <a:xfrm>
            <a:off x="323850" y="6237288"/>
            <a:ext cx="2663825" cy="274637"/>
          </a:xfrm>
          <a:prstGeom prst="rect">
            <a:avLst/>
          </a:prstGeom>
          <a:noFill/>
          <a:ln w="9525">
            <a:noFill/>
            <a:miter lim="800000"/>
            <a:headEnd/>
            <a:tailEnd/>
          </a:ln>
        </p:spPr>
        <p:txBody>
          <a:bodyPr>
            <a:spAutoFit/>
          </a:bodyPr>
          <a:lstStyle/>
          <a:p>
            <a:pPr>
              <a:spcBef>
                <a:spcPct val="50000"/>
              </a:spcBef>
            </a:pPr>
            <a:r>
              <a:rPr lang="pl-PL" sz="1200" dirty="0"/>
              <a:t>Source: www.benchen.org.pl</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ymbol zastępczy stopki 4"/>
          <p:cNvSpPr>
            <a:spLocks noGrp="1"/>
          </p:cNvSpPr>
          <p:nvPr>
            <p:ph type="ftr" sz="quarter" idx="11"/>
          </p:nvPr>
        </p:nvSpPr>
        <p:spPr/>
        <p:txBody>
          <a:bodyPr/>
          <a:lstStyle/>
          <a:p>
            <a:pPr>
              <a:defRPr/>
            </a:pPr>
            <a:r>
              <a:rPr lang="pl-PL" altLang="en-US"/>
              <a:t>PJAIT</a:t>
            </a:r>
          </a:p>
        </p:txBody>
      </p:sp>
      <p:sp>
        <p:nvSpPr>
          <p:cNvPr id="5123" name="Rectangle 2"/>
          <p:cNvSpPr>
            <a:spLocks noGrp="1" noChangeArrowheads="1"/>
          </p:cNvSpPr>
          <p:nvPr>
            <p:ph type="title"/>
          </p:nvPr>
        </p:nvSpPr>
        <p:spPr>
          <a:xfrm>
            <a:off x="395288" y="260350"/>
            <a:ext cx="8748712" cy="1139825"/>
          </a:xfrm>
        </p:spPr>
        <p:txBody>
          <a:bodyPr/>
          <a:lstStyle/>
          <a:p>
            <a:pPr eaLnBrk="1" hangingPunct="1"/>
            <a:r>
              <a:rPr lang="pl-PL" sz="4000" b="1" dirty="0"/>
              <a:t>The </a:t>
            </a:r>
            <a:r>
              <a:rPr lang="pl-PL" sz="4000" b="1" dirty="0" err="1"/>
              <a:t>nature</a:t>
            </a:r>
            <a:r>
              <a:rPr lang="pl-PL" sz="4000" b="1" dirty="0"/>
              <a:t> of </a:t>
            </a:r>
            <a:r>
              <a:rPr lang="pl-PL" sz="4000" b="1" dirty="0" err="1"/>
              <a:t>decision</a:t>
            </a:r>
            <a:r>
              <a:rPr lang="pl-PL" sz="4000" b="1" dirty="0"/>
              <a:t> </a:t>
            </a:r>
            <a:r>
              <a:rPr lang="pl-PL" sz="4000" b="1" dirty="0" err="1"/>
              <a:t>making</a:t>
            </a:r>
            <a:r>
              <a:rPr lang="pl-PL" sz="4000" b="1" dirty="0"/>
              <a:t> </a:t>
            </a:r>
            <a:br>
              <a:rPr lang="pl-PL" sz="4000" dirty="0">
                <a:solidFill>
                  <a:srgbClr val="003399"/>
                </a:solidFill>
              </a:rPr>
            </a:br>
            <a:r>
              <a:rPr lang="pl-PL" sz="4000" b="1" dirty="0"/>
              <a:t> </a:t>
            </a:r>
            <a:br>
              <a:rPr lang="pl-PL" sz="4000" b="1" dirty="0"/>
            </a:br>
            <a:endParaRPr lang="pl-PL" sz="4000" b="1" dirty="0"/>
          </a:p>
        </p:txBody>
      </p:sp>
      <p:sp>
        <p:nvSpPr>
          <p:cNvPr id="5124" name="Rectangle 3"/>
          <p:cNvSpPr>
            <a:spLocks noGrp="1" noChangeArrowheads="1"/>
          </p:cNvSpPr>
          <p:nvPr>
            <p:ph type="body" idx="1"/>
          </p:nvPr>
        </p:nvSpPr>
        <p:spPr/>
        <p:txBody>
          <a:bodyPr/>
          <a:lstStyle/>
          <a:p>
            <a:pPr marL="571500" indent="-571500" eaLnBrk="1" hangingPunct="1">
              <a:buNone/>
            </a:pPr>
            <a:r>
              <a:rPr lang="pl-PL" sz="3200" b="1" dirty="0" err="1">
                <a:solidFill>
                  <a:srgbClr val="003399"/>
                </a:solidFill>
              </a:rPr>
              <a:t>Decision</a:t>
            </a:r>
            <a:r>
              <a:rPr lang="pl-PL" sz="3200" b="1" dirty="0">
                <a:solidFill>
                  <a:srgbClr val="003399"/>
                </a:solidFill>
              </a:rPr>
              <a:t> </a:t>
            </a:r>
            <a:r>
              <a:rPr lang="pl-PL" sz="3200" b="1" dirty="0" err="1">
                <a:solidFill>
                  <a:srgbClr val="003399"/>
                </a:solidFill>
              </a:rPr>
              <a:t>making</a:t>
            </a:r>
            <a:r>
              <a:rPr lang="pl-PL" sz="3200" dirty="0">
                <a:solidFill>
                  <a:srgbClr val="003399"/>
                </a:solidFill>
              </a:rPr>
              <a:t>: t</a:t>
            </a:r>
            <a:r>
              <a:rPr lang="en-US" sz="3200" dirty="0">
                <a:solidFill>
                  <a:srgbClr val="003399"/>
                </a:solidFill>
              </a:rPr>
              <a:t>he act of choosing</a:t>
            </a:r>
            <a:r>
              <a:rPr lang="pl-PL" sz="3200" dirty="0">
                <a:solidFill>
                  <a:srgbClr val="003399"/>
                </a:solidFill>
              </a:rPr>
              <a:t> </a:t>
            </a:r>
            <a:r>
              <a:rPr lang="en-US" sz="3200" dirty="0">
                <a:solidFill>
                  <a:srgbClr val="003399"/>
                </a:solidFill>
              </a:rPr>
              <a:t>one alternative from</a:t>
            </a:r>
            <a:r>
              <a:rPr lang="pl-PL" sz="3200" dirty="0">
                <a:solidFill>
                  <a:srgbClr val="003399"/>
                </a:solidFill>
              </a:rPr>
              <a:t> </a:t>
            </a:r>
            <a:r>
              <a:rPr lang="en-US" sz="3200" dirty="0">
                <a:solidFill>
                  <a:srgbClr val="003399"/>
                </a:solidFill>
              </a:rPr>
              <a:t>among a set of</a:t>
            </a:r>
            <a:r>
              <a:rPr lang="pl-PL" sz="3200" dirty="0">
                <a:solidFill>
                  <a:srgbClr val="003399"/>
                </a:solidFill>
              </a:rPr>
              <a:t> </a:t>
            </a:r>
            <a:r>
              <a:rPr lang="en-US" sz="3200" dirty="0">
                <a:solidFill>
                  <a:srgbClr val="003399"/>
                </a:solidFill>
              </a:rPr>
              <a:t>alternatives</a:t>
            </a:r>
            <a:r>
              <a:rPr lang="pl-PL" sz="3200" dirty="0">
                <a:solidFill>
                  <a:srgbClr val="003399"/>
                </a:solidFill>
              </a:rPr>
              <a:t>.</a:t>
            </a:r>
          </a:p>
          <a:p>
            <a:pPr marL="571500" indent="-571500" eaLnBrk="1" hangingPunct="1">
              <a:buFont typeface="Wingdings" pitchFamily="2" charset="2"/>
              <a:buNone/>
            </a:pPr>
            <a:endParaRPr lang="pl-PL" sz="3200" dirty="0">
              <a:solidFill>
                <a:srgbClr val="003399"/>
              </a:solidFill>
            </a:endParaRPr>
          </a:p>
          <a:p>
            <a:pPr marL="0" indent="0">
              <a:buNone/>
            </a:pPr>
            <a:r>
              <a:rPr lang="pl-PL" sz="2800" b="1" dirty="0" err="1">
                <a:solidFill>
                  <a:srgbClr val="003399"/>
                </a:solidFill>
              </a:rPr>
              <a:t>Decision-making</a:t>
            </a:r>
            <a:r>
              <a:rPr lang="pl-PL" sz="2800" b="1" dirty="0">
                <a:solidFill>
                  <a:srgbClr val="003399"/>
                </a:solidFill>
              </a:rPr>
              <a:t> </a:t>
            </a:r>
            <a:r>
              <a:rPr lang="pl-PL" sz="2800" b="1" dirty="0" err="1">
                <a:solidFill>
                  <a:srgbClr val="003399"/>
                </a:solidFill>
              </a:rPr>
              <a:t>process</a:t>
            </a:r>
            <a:r>
              <a:rPr lang="pl-PL" sz="2800" b="1" dirty="0">
                <a:solidFill>
                  <a:srgbClr val="003399"/>
                </a:solidFill>
              </a:rPr>
              <a:t> </a:t>
            </a:r>
            <a:r>
              <a:rPr lang="pl-PL" sz="2800" dirty="0">
                <a:solidFill>
                  <a:srgbClr val="003399"/>
                </a:solidFill>
              </a:rPr>
              <a:t>=</a:t>
            </a:r>
            <a:r>
              <a:rPr lang="pl-PL" sz="2800" dirty="0">
                <a:solidFill>
                  <a:srgbClr val="003399"/>
                </a:solidFill>
                <a:ea typeface="+mn-lt"/>
                <a:cs typeface="+mn-lt"/>
              </a:rPr>
              <a:t> the </a:t>
            </a:r>
            <a:r>
              <a:rPr lang="pl-PL" sz="2800" dirty="0" err="1">
                <a:solidFill>
                  <a:srgbClr val="003399"/>
                </a:solidFill>
                <a:ea typeface="+mn-lt"/>
                <a:cs typeface="+mn-lt"/>
              </a:rPr>
              <a:t>act</a:t>
            </a:r>
            <a:r>
              <a:rPr lang="pl-PL" sz="2800" dirty="0">
                <a:solidFill>
                  <a:srgbClr val="003399"/>
                </a:solidFill>
                <a:ea typeface="+mn-lt"/>
                <a:cs typeface="+mn-lt"/>
              </a:rPr>
              <a:t> of </a:t>
            </a:r>
            <a:r>
              <a:rPr lang="pl-PL" sz="2800" dirty="0" err="1">
                <a:solidFill>
                  <a:srgbClr val="003399"/>
                </a:solidFill>
                <a:ea typeface="+mn-lt"/>
                <a:cs typeface="+mn-lt"/>
              </a:rPr>
              <a:t>choosing</a:t>
            </a:r>
            <a:r>
              <a:rPr lang="pl-PL" sz="2800" dirty="0">
                <a:solidFill>
                  <a:srgbClr val="003399"/>
                </a:solidFill>
                <a:ea typeface="+mn-lt"/>
                <a:cs typeface="+mn-lt"/>
              </a:rPr>
              <a:t> one </a:t>
            </a:r>
            <a:r>
              <a:rPr lang="pl-PL" sz="2800" dirty="0" err="1">
                <a:solidFill>
                  <a:srgbClr val="003399"/>
                </a:solidFill>
                <a:ea typeface="+mn-lt"/>
                <a:cs typeface="+mn-lt"/>
              </a:rPr>
              <a:t>alternative</a:t>
            </a:r>
            <a:r>
              <a:rPr lang="pl-PL" sz="2800" dirty="0">
                <a:solidFill>
                  <a:srgbClr val="003399"/>
                </a:solidFill>
                <a:ea typeface="+mn-lt"/>
                <a:cs typeface="+mn-lt"/>
              </a:rPr>
              <a:t> from </a:t>
            </a:r>
            <a:r>
              <a:rPr lang="pl-PL" sz="2800" dirty="0" err="1">
                <a:solidFill>
                  <a:srgbClr val="003399"/>
                </a:solidFill>
                <a:ea typeface="+mn-lt"/>
                <a:cs typeface="+mn-lt"/>
              </a:rPr>
              <a:t>among</a:t>
            </a:r>
            <a:r>
              <a:rPr lang="pl-PL" sz="2800" dirty="0">
                <a:solidFill>
                  <a:srgbClr val="003399"/>
                </a:solidFill>
                <a:ea typeface="+mn-lt"/>
                <a:cs typeface="+mn-lt"/>
              </a:rPr>
              <a:t> </a:t>
            </a:r>
            <a:r>
              <a:rPr lang="pl-PL" sz="2800" dirty="0" err="1">
                <a:solidFill>
                  <a:srgbClr val="003399"/>
                </a:solidFill>
                <a:ea typeface="+mn-lt"/>
                <a:cs typeface="+mn-lt"/>
              </a:rPr>
              <a:t>multiply</a:t>
            </a:r>
            <a:r>
              <a:rPr lang="pl-PL" sz="2800" dirty="0">
                <a:solidFill>
                  <a:srgbClr val="003399"/>
                </a:solidFill>
                <a:ea typeface="+mn-lt"/>
                <a:cs typeface="+mn-lt"/>
              </a:rPr>
              <a:t> </a:t>
            </a:r>
            <a:r>
              <a:rPr lang="pl-PL" sz="2800" dirty="0" err="1">
                <a:solidFill>
                  <a:srgbClr val="003399"/>
                </a:solidFill>
                <a:ea typeface="+mn-lt"/>
                <a:cs typeface="+mn-lt"/>
              </a:rPr>
              <a:t>alternatives</a:t>
            </a:r>
          </a:p>
          <a:p>
            <a:pPr marL="0" indent="0">
              <a:buNone/>
            </a:pPr>
            <a:endParaRPr lang="pl-PL" sz="2800" dirty="0">
              <a:solidFill>
                <a:srgbClr val="003399"/>
              </a:solidFill>
              <a:cs typeface="Arial"/>
            </a:endParaRPr>
          </a:p>
        </p:txBody>
      </p:sp>
      <p:pic>
        <p:nvPicPr>
          <p:cNvPr id="5125" name="Picture 4"/>
          <p:cNvPicPr>
            <a:picLocks noChangeAspect="1" noChangeArrowheads="1"/>
          </p:cNvPicPr>
          <p:nvPr/>
        </p:nvPicPr>
        <p:blipFill>
          <a:blip r:embed="rId3" cstate="print"/>
          <a:srcRect/>
          <a:stretch>
            <a:fillRect/>
          </a:stretch>
        </p:blipFill>
        <p:spPr bwMode="auto">
          <a:xfrm>
            <a:off x="7236296" y="2276872"/>
            <a:ext cx="1685925" cy="1271587"/>
          </a:xfrm>
          <a:prstGeom prst="rect">
            <a:avLst/>
          </a:prstGeom>
          <a:noFill/>
          <a:ln w="9525">
            <a:noFill/>
            <a:miter lim="800000"/>
            <a:headEnd/>
            <a:tailEnd/>
          </a:ln>
        </p:spPr>
      </p:pic>
      <p:sp>
        <p:nvSpPr>
          <p:cNvPr id="5126" name="Text Box 5"/>
          <p:cNvSpPr txBox="1">
            <a:spLocks noChangeArrowheads="1"/>
          </p:cNvSpPr>
          <p:nvPr/>
        </p:nvSpPr>
        <p:spPr bwMode="auto">
          <a:xfrm>
            <a:off x="468313" y="6237288"/>
            <a:ext cx="3095625" cy="274637"/>
          </a:xfrm>
          <a:prstGeom prst="rect">
            <a:avLst/>
          </a:prstGeom>
          <a:noFill/>
          <a:ln w="9525">
            <a:noFill/>
            <a:miter lim="800000"/>
            <a:headEnd/>
            <a:tailEnd/>
          </a:ln>
        </p:spPr>
        <p:txBody>
          <a:bodyPr>
            <a:spAutoFit/>
          </a:bodyPr>
          <a:lstStyle/>
          <a:p>
            <a:pPr>
              <a:spcBef>
                <a:spcPct val="50000"/>
              </a:spcBef>
            </a:pPr>
            <a:r>
              <a:rPr lang="pl-PL" sz="1200" dirty="0"/>
              <a:t>Source: www.millvalleyshop.com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ymbol zastępczy stopki 4"/>
          <p:cNvSpPr>
            <a:spLocks noGrp="1"/>
          </p:cNvSpPr>
          <p:nvPr>
            <p:ph type="ftr" sz="quarter" idx="11"/>
          </p:nvPr>
        </p:nvSpPr>
        <p:spPr/>
        <p:txBody>
          <a:bodyPr/>
          <a:lstStyle/>
          <a:p>
            <a:pPr>
              <a:defRPr/>
            </a:pPr>
            <a:r>
              <a:rPr lang="pl-PL" altLang="en-US"/>
              <a:t>PJAIT</a:t>
            </a:r>
          </a:p>
        </p:txBody>
      </p:sp>
      <p:sp>
        <p:nvSpPr>
          <p:cNvPr id="7171" name="Rectangle 2"/>
          <p:cNvSpPr>
            <a:spLocks noGrp="1" noChangeArrowheads="1"/>
          </p:cNvSpPr>
          <p:nvPr>
            <p:ph type="title"/>
          </p:nvPr>
        </p:nvSpPr>
        <p:spPr/>
        <p:txBody>
          <a:bodyPr/>
          <a:lstStyle/>
          <a:p>
            <a:pPr eaLnBrk="1" hangingPunct="1"/>
            <a:r>
              <a:rPr lang="pl-PL" sz="4000" b="1" dirty="0" err="1"/>
              <a:t>Types</a:t>
            </a:r>
            <a:r>
              <a:rPr lang="pl-PL" sz="4000" b="1" dirty="0"/>
              <a:t> of </a:t>
            </a:r>
            <a:r>
              <a:rPr lang="pl-PL" sz="4000" b="1" dirty="0" err="1"/>
              <a:t>decisions</a:t>
            </a:r>
            <a:endParaRPr lang="pl-PL" sz="4000" b="1" dirty="0"/>
          </a:p>
        </p:txBody>
      </p:sp>
      <p:sp>
        <p:nvSpPr>
          <p:cNvPr id="7172" name="Rectangle 3"/>
          <p:cNvSpPr>
            <a:spLocks noGrp="1" noChangeArrowheads="1"/>
          </p:cNvSpPr>
          <p:nvPr>
            <p:ph type="body" idx="1"/>
          </p:nvPr>
        </p:nvSpPr>
        <p:spPr/>
        <p:txBody>
          <a:bodyPr/>
          <a:lstStyle/>
          <a:p>
            <a:pPr marL="0" indent="0">
              <a:buNone/>
            </a:pPr>
            <a:r>
              <a:rPr lang="pl-PL" b="1" dirty="0" err="1">
                <a:solidFill>
                  <a:srgbClr val="003399"/>
                </a:solidFill>
              </a:rPr>
              <a:t>Programmed</a:t>
            </a:r>
            <a:r>
              <a:rPr lang="pl-PL" b="1" dirty="0">
                <a:solidFill>
                  <a:srgbClr val="003399"/>
                </a:solidFill>
              </a:rPr>
              <a:t> </a:t>
            </a:r>
            <a:r>
              <a:rPr lang="pl-PL" b="1" dirty="0" err="1">
                <a:solidFill>
                  <a:srgbClr val="003399"/>
                </a:solidFill>
              </a:rPr>
              <a:t>decision</a:t>
            </a:r>
            <a:r>
              <a:rPr lang="pl-PL" b="1" dirty="0">
                <a:solidFill>
                  <a:srgbClr val="003399"/>
                </a:solidFill>
              </a:rPr>
              <a:t> </a:t>
            </a:r>
            <a:r>
              <a:rPr lang="pl-PL" dirty="0">
                <a:solidFill>
                  <a:srgbClr val="003399"/>
                </a:solidFill>
              </a:rPr>
              <a:t>- a </a:t>
            </a:r>
            <a:r>
              <a:rPr lang="pl-PL" dirty="0" err="1">
                <a:solidFill>
                  <a:srgbClr val="003399"/>
                </a:solidFill>
              </a:rPr>
              <a:t>decision</a:t>
            </a:r>
            <a:r>
              <a:rPr lang="pl-PL" dirty="0">
                <a:solidFill>
                  <a:srgbClr val="003399"/>
                </a:solidFill>
              </a:rPr>
              <a:t> </a:t>
            </a:r>
            <a:r>
              <a:rPr lang="pl-PL" dirty="0" err="1">
                <a:solidFill>
                  <a:srgbClr val="003399"/>
                </a:solidFill>
              </a:rPr>
              <a:t>that</a:t>
            </a:r>
            <a:r>
              <a:rPr lang="pl-PL" dirty="0">
                <a:solidFill>
                  <a:srgbClr val="003399"/>
                </a:solidFill>
              </a:rPr>
              <a:t> </a:t>
            </a:r>
            <a:r>
              <a:rPr lang="pl-PL" dirty="0" err="1">
                <a:solidFill>
                  <a:srgbClr val="003399"/>
                </a:solidFill>
              </a:rPr>
              <a:t>is</a:t>
            </a:r>
            <a:endParaRPr lang="pl-PL" dirty="0">
              <a:solidFill>
                <a:srgbClr val="003399"/>
              </a:solidFill>
            </a:endParaRPr>
          </a:p>
          <a:p>
            <a:pPr marL="0" indent="0">
              <a:buNone/>
            </a:pPr>
            <a:r>
              <a:rPr lang="pl-PL" dirty="0" err="1">
                <a:solidFill>
                  <a:srgbClr val="003399"/>
                </a:solidFill>
              </a:rPr>
              <a:t>relatively</a:t>
            </a:r>
            <a:r>
              <a:rPr lang="pl-PL" dirty="0">
                <a:solidFill>
                  <a:srgbClr val="003399"/>
                </a:solidFill>
              </a:rPr>
              <a:t> </a:t>
            </a:r>
            <a:r>
              <a:rPr lang="pl-PL" dirty="0" err="1">
                <a:solidFill>
                  <a:srgbClr val="003399"/>
                </a:solidFill>
              </a:rPr>
              <a:t>structured</a:t>
            </a:r>
            <a:r>
              <a:rPr lang="pl-PL" dirty="0">
                <a:solidFill>
                  <a:srgbClr val="003399"/>
                </a:solidFill>
              </a:rPr>
              <a:t> </a:t>
            </a:r>
            <a:r>
              <a:rPr lang="pl-PL" dirty="0" err="1">
                <a:solidFill>
                  <a:srgbClr val="003399"/>
                </a:solidFill>
              </a:rPr>
              <a:t>or</a:t>
            </a:r>
            <a:r>
              <a:rPr lang="pl-PL" dirty="0">
                <a:solidFill>
                  <a:srgbClr val="003399"/>
                </a:solidFill>
              </a:rPr>
              <a:t> </a:t>
            </a:r>
            <a:r>
              <a:rPr lang="pl-PL" dirty="0" err="1">
                <a:solidFill>
                  <a:srgbClr val="003399"/>
                </a:solidFill>
              </a:rPr>
              <a:t>recurs</a:t>
            </a:r>
            <a:r>
              <a:rPr lang="pl-PL" dirty="0">
                <a:solidFill>
                  <a:srgbClr val="003399"/>
                </a:solidFill>
              </a:rPr>
              <a:t> with </a:t>
            </a:r>
            <a:r>
              <a:rPr lang="pl-PL" dirty="0" err="1">
                <a:solidFill>
                  <a:srgbClr val="003399"/>
                </a:solidFill>
              </a:rPr>
              <a:t>some</a:t>
            </a:r>
            <a:endParaRPr lang="pl-PL" dirty="0">
              <a:solidFill>
                <a:srgbClr val="003399"/>
              </a:solidFill>
            </a:endParaRPr>
          </a:p>
          <a:p>
            <a:pPr marL="0" indent="0">
              <a:buNone/>
            </a:pPr>
            <a:r>
              <a:rPr lang="pl-PL" dirty="0" err="1">
                <a:solidFill>
                  <a:srgbClr val="003399"/>
                </a:solidFill>
              </a:rPr>
              <a:t>frequency</a:t>
            </a:r>
            <a:r>
              <a:rPr lang="pl-PL" dirty="0">
                <a:solidFill>
                  <a:srgbClr val="003399"/>
                </a:solidFill>
              </a:rPr>
              <a:t> (</a:t>
            </a:r>
            <a:r>
              <a:rPr lang="pl-PL" dirty="0" err="1">
                <a:solidFill>
                  <a:srgbClr val="003399"/>
                </a:solidFill>
              </a:rPr>
              <a:t>or</a:t>
            </a:r>
            <a:r>
              <a:rPr lang="pl-PL" dirty="0">
                <a:solidFill>
                  <a:srgbClr val="003399"/>
                </a:solidFill>
              </a:rPr>
              <a:t> </a:t>
            </a:r>
            <a:r>
              <a:rPr lang="pl-PL" dirty="0" err="1">
                <a:solidFill>
                  <a:srgbClr val="003399"/>
                </a:solidFill>
              </a:rPr>
              <a:t>both</a:t>
            </a:r>
            <a:r>
              <a:rPr lang="pl-PL" dirty="0">
                <a:solidFill>
                  <a:srgbClr val="003399"/>
                </a:solidFill>
              </a:rPr>
              <a:t>).</a:t>
            </a:r>
          </a:p>
          <a:p>
            <a:pPr marL="0" indent="0">
              <a:buNone/>
            </a:pPr>
            <a:r>
              <a:rPr lang="pl-PL" b="1" dirty="0" err="1">
                <a:solidFill>
                  <a:srgbClr val="003399"/>
                </a:solidFill>
              </a:rPr>
              <a:t>Nonprogrammed</a:t>
            </a:r>
            <a:r>
              <a:rPr lang="pl-PL" b="1" dirty="0">
                <a:solidFill>
                  <a:srgbClr val="003399"/>
                </a:solidFill>
              </a:rPr>
              <a:t> </a:t>
            </a:r>
            <a:r>
              <a:rPr lang="pl-PL" b="1" dirty="0" err="1">
                <a:solidFill>
                  <a:srgbClr val="003399"/>
                </a:solidFill>
              </a:rPr>
              <a:t>decision</a:t>
            </a:r>
            <a:r>
              <a:rPr lang="pl-PL" b="1" dirty="0">
                <a:solidFill>
                  <a:srgbClr val="003399"/>
                </a:solidFill>
              </a:rPr>
              <a:t> - </a:t>
            </a:r>
            <a:r>
              <a:rPr lang="pl-PL" dirty="0">
                <a:solidFill>
                  <a:srgbClr val="003399"/>
                </a:solidFill>
              </a:rPr>
              <a:t>a </a:t>
            </a:r>
            <a:r>
              <a:rPr lang="pl-PL" dirty="0" err="1">
                <a:solidFill>
                  <a:srgbClr val="003399"/>
                </a:solidFill>
              </a:rPr>
              <a:t>decision</a:t>
            </a:r>
            <a:r>
              <a:rPr lang="pl-PL" dirty="0">
                <a:solidFill>
                  <a:srgbClr val="003399"/>
                </a:solidFill>
              </a:rPr>
              <a:t> </a:t>
            </a:r>
            <a:r>
              <a:rPr lang="pl-PL" dirty="0" err="1">
                <a:solidFill>
                  <a:srgbClr val="003399"/>
                </a:solidFill>
              </a:rPr>
              <a:t>that</a:t>
            </a:r>
            <a:r>
              <a:rPr lang="pl-PL" dirty="0">
                <a:solidFill>
                  <a:srgbClr val="003399"/>
                </a:solidFill>
              </a:rPr>
              <a:t> </a:t>
            </a:r>
            <a:r>
              <a:rPr lang="pl-PL" dirty="0" err="1">
                <a:solidFill>
                  <a:srgbClr val="003399"/>
                </a:solidFill>
              </a:rPr>
              <a:t>is</a:t>
            </a:r>
            <a:endParaRPr lang="pl-PL" dirty="0">
              <a:solidFill>
                <a:srgbClr val="003399"/>
              </a:solidFill>
            </a:endParaRPr>
          </a:p>
          <a:p>
            <a:pPr marL="0" indent="0">
              <a:buNone/>
            </a:pPr>
            <a:r>
              <a:rPr lang="pl-PL" dirty="0" err="1">
                <a:solidFill>
                  <a:srgbClr val="003399"/>
                </a:solidFill>
              </a:rPr>
              <a:t>relatively</a:t>
            </a:r>
            <a:r>
              <a:rPr lang="pl-PL" dirty="0">
                <a:solidFill>
                  <a:srgbClr val="003399"/>
                </a:solidFill>
              </a:rPr>
              <a:t> </a:t>
            </a:r>
            <a:r>
              <a:rPr lang="pl-PL" dirty="0" err="1">
                <a:solidFill>
                  <a:srgbClr val="003399"/>
                </a:solidFill>
              </a:rPr>
              <a:t>unstructured</a:t>
            </a:r>
            <a:r>
              <a:rPr lang="pl-PL" dirty="0">
                <a:solidFill>
                  <a:srgbClr val="003399"/>
                </a:solidFill>
              </a:rPr>
              <a:t> and </a:t>
            </a:r>
            <a:r>
              <a:rPr lang="pl-PL" dirty="0" err="1">
                <a:solidFill>
                  <a:srgbClr val="003399"/>
                </a:solidFill>
              </a:rPr>
              <a:t>occurs</a:t>
            </a:r>
            <a:r>
              <a:rPr lang="pl-PL" dirty="0">
                <a:solidFill>
                  <a:srgbClr val="003399"/>
                </a:solidFill>
              </a:rPr>
              <a:t> much less</a:t>
            </a:r>
          </a:p>
          <a:p>
            <a:pPr marL="0" indent="0">
              <a:buNone/>
            </a:pPr>
            <a:r>
              <a:rPr lang="pl-PL" dirty="0" err="1">
                <a:solidFill>
                  <a:srgbClr val="003399"/>
                </a:solidFill>
              </a:rPr>
              <a:t>often</a:t>
            </a:r>
            <a:r>
              <a:rPr lang="pl-PL" dirty="0">
                <a:solidFill>
                  <a:srgbClr val="003399"/>
                </a:solidFill>
              </a:rPr>
              <a:t> </a:t>
            </a:r>
            <a:r>
              <a:rPr lang="pl-PL" dirty="0" err="1">
                <a:solidFill>
                  <a:srgbClr val="003399"/>
                </a:solidFill>
              </a:rPr>
              <a:t>than</a:t>
            </a:r>
            <a:r>
              <a:rPr lang="pl-PL" dirty="0">
                <a:solidFill>
                  <a:srgbClr val="003399"/>
                </a:solidFill>
              </a:rPr>
              <a:t> a </a:t>
            </a:r>
            <a:r>
              <a:rPr lang="pl-PL" dirty="0" err="1">
                <a:solidFill>
                  <a:srgbClr val="003399"/>
                </a:solidFill>
              </a:rPr>
              <a:t>programmed</a:t>
            </a:r>
            <a:r>
              <a:rPr lang="pl-PL" dirty="0">
                <a:solidFill>
                  <a:srgbClr val="003399"/>
                </a:solidFill>
              </a:rPr>
              <a:t> </a:t>
            </a:r>
            <a:r>
              <a:rPr lang="pl-PL" dirty="0" err="1">
                <a:solidFill>
                  <a:srgbClr val="003399"/>
                </a:solidFill>
              </a:rPr>
              <a:t>decision</a:t>
            </a:r>
            <a:r>
              <a:rPr lang="pl-PL" dirty="0">
                <a:solidFill>
                  <a:srgbClr val="003399"/>
                </a:solidFill>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ymbol zastępczy stopki 4"/>
          <p:cNvSpPr>
            <a:spLocks noGrp="1"/>
          </p:cNvSpPr>
          <p:nvPr>
            <p:ph type="ftr" sz="quarter" idx="11"/>
          </p:nvPr>
        </p:nvSpPr>
        <p:spPr/>
        <p:txBody>
          <a:bodyPr/>
          <a:lstStyle/>
          <a:p>
            <a:pPr>
              <a:defRPr/>
            </a:pPr>
            <a:r>
              <a:rPr lang="pl-PL" altLang="en-US"/>
              <a:t>PJAIT</a:t>
            </a:r>
          </a:p>
        </p:txBody>
      </p:sp>
      <p:sp>
        <p:nvSpPr>
          <p:cNvPr id="8195" name="Rectangle 2"/>
          <p:cNvSpPr>
            <a:spLocks noGrp="1" noChangeArrowheads="1"/>
          </p:cNvSpPr>
          <p:nvPr>
            <p:ph type="title"/>
          </p:nvPr>
        </p:nvSpPr>
        <p:spPr/>
        <p:txBody>
          <a:bodyPr/>
          <a:lstStyle/>
          <a:p>
            <a:pPr eaLnBrk="1" hangingPunct="1"/>
            <a:r>
              <a:rPr lang="en-US" sz="4000" b="1" dirty="0"/>
              <a:t>Decision-making process</a:t>
            </a:r>
            <a:endParaRPr lang="pl-PL" sz="4000" b="1" dirty="0"/>
          </a:p>
        </p:txBody>
      </p:sp>
      <p:sp>
        <p:nvSpPr>
          <p:cNvPr id="8196" name="Rectangle 3"/>
          <p:cNvSpPr>
            <a:spLocks noGrp="1" noChangeArrowheads="1"/>
          </p:cNvSpPr>
          <p:nvPr>
            <p:ph type="body" idx="1"/>
          </p:nvPr>
        </p:nvSpPr>
        <p:spPr/>
        <p:txBody>
          <a:bodyPr/>
          <a:lstStyle/>
          <a:p>
            <a:pPr marL="571500" indent="-571500" eaLnBrk="1" hangingPunct="1">
              <a:buFont typeface="Wingdings" pitchFamily="2" charset="2"/>
              <a:buNone/>
            </a:pPr>
            <a:r>
              <a:rPr lang="pl-PL" dirty="0" err="1">
                <a:solidFill>
                  <a:srgbClr val="003399"/>
                </a:solidFill>
              </a:rPr>
              <a:t>Decision-making</a:t>
            </a:r>
            <a:r>
              <a:rPr lang="pl-PL" dirty="0">
                <a:solidFill>
                  <a:srgbClr val="003399"/>
                </a:solidFill>
              </a:rPr>
              <a:t> </a:t>
            </a:r>
            <a:r>
              <a:rPr lang="pl-PL" dirty="0" err="1">
                <a:solidFill>
                  <a:srgbClr val="003399"/>
                </a:solidFill>
              </a:rPr>
              <a:t>conditions</a:t>
            </a:r>
            <a:r>
              <a:rPr lang="pl-PL" dirty="0">
                <a:solidFill>
                  <a:srgbClr val="003399"/>
                </a:solidFill>
              </a:rPr>
              <a:t>:</a:t>
            </a:r>
          </a:p>
          <a:p>
            <a:pPr marL="571500" indent="-571500" eaLnBrk="1" hangingPunct="1">
              <a:buFont typeface="Wingdings" pitchFamily="2" charset="2"/>
              <a:buAutoNum type="arabicPeriod"/>
            </a:pPr>
            <a:r>
              <a:rPr lang="pl-PL" dirty="0" err="1">
                <a:solidFill>
                  <a:srgbClr val="003399"/>
                </a:solidFill>
              </a:rPr>
              <a:t>State</a:t>
            </a:r>
            <a:r>
              <a:rPr lang="pl-PL" dirty="0">
                <a:solidFill>
                  <a:srgbClr val="003399"/>
                </a:solidFill>
              </a:rPr>
              <a:t> of </a:t>
            </a:r>
            <a:r>
              <a:rPr lang="pl-PL" dirty="0" err="1">
                <a:solidFill>
                  <a:srgbClr val="003399"/>
                </a:solidFill>
              </a:rPr>
              <a:t>certainty</a:t>
            </a:r>
            <a:endParaRPr lang="pl-PL" dirty="0">
              <a:solidFill>
                <a:srgbClr val="003399"/>
              </a:solidFill>
            </a:endParaRPr>
          </a:p>
          <a:p>
            <a:pPr marL="571500" indent="-571500" eaLnBrk="1" hangingPunct="1">
              <a:buFont typeface="Wingdings" pitchFamily="2" charset="2"/>
              <a:buAutoNum type="arabicPeriod"/>
            </a:pPr>
            <a:r>
              <a:rPr lang="pl-PL" dirty="0" err="1">
                <a:solidFill>
                  <a:srgbClr val="003399"/>
                </a:solidFill>
              </a:rPr>
              <a:t>State</a:t>
            </a:r>
            <a:r>
              <a:rPr lang="pl-PL" dirty="0">
                <a:solidFill>
                  <a:srgbClr val="003399"/>
                </a:solidFill>
              </a:rPr>
              <a:t> of </a:t>
            </a:r>
            <a:r>
              <a:rPr lang="pl-PL" dirty="0" err="1">
                <a:solidFill>
                  <a:srgbClr val="003399"/>
                </a:solidFill>
              </a:rPr>
              <a:t>risk</a:t>
            </a:r>
            <a:endParaRPr lang="pl-PL" dirty="0">
              <a:solidFill>
                <a:srgbClr val="003399"/>
              </a:solidFill>
            </a:endParaRPr>
          </a:p>
          <a:p>
            <a:pPr marL="571500" indent="-571500" eaLnBrk="1" hangingPunct="1">
              <a:buFont typeface="Wingdings" pitchFamily="2" charset="2"/>
              <a:buAutoNum type="arabicPeriod"/>
            </a:pPr>
            <a:r>
              <a:rPr lang="pl-PL" dirty="0" err="1">
                <a:solidFill>
                  <a:srgbClr val="003399"/>
                </a:solidFill>
              </a:rPr>
              <a:t>State</a:t>
            </a:r>
            <a:r>
              <a:rPr lang="pl-PL" dirty="0">
                <a:solidFill>
                  <a:srgbClr val="003399"/>
                </a:solidFill>
              </a:rPr>
              <a:t> of </a:t>
            </a:r>
            <a:r>
              <a:rPr lang="pl-PL" dirty="0" err="1">
                <a:solidFill>
                  <a:srgbClr val="003399"/>
                </a:solidFill>
              </a:rPr>
              <a:t>uncertainty</a:t>
            </a:r>
            <a:endParaRPr lang="pl-PL" dirty="0">
              <a:solidFill>
                <a:srgbClr val="003399"/>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z="4000" b="1" dirty="0" err="1"/>
              <a:t>State</a:t>
            </a:r>
            <a:r>
              <a:rPr lang="pl-PL" sz="4000" b="1" dirty="0"/>
              <a:t> of </a:t>
            </a:r>
            <a:r>
              <a:rPr lang="pl-PL" sz="4000" b="1" dirty="0" err="1"/>
              <a:t>certainty</a:t>
            </a:r>
            <a:endParaRPr lang="pl-PL" sz="4000" dirty="0"/>
          </a:p>
        </p:txBody>
      </p:sp>
      <p:sp>
        <p:nvSpPr>
          <p:cNvPr id="3" name="Symbol zastępczy zawartości 2"/>
          <p:cNvSpPr>
            <a:spLocks noGrp="1"/>
          </p:cNvSpPr>
          <p:nvPr>
            <p:ph idx="1"/>
          </p:nvPr>
        </p:nvSpPr>
        <p:spPr/>
        <p:txBody>
          <a:bodyPr/>
          <a:lstStyle/>
          <a:p>
            <a:pPr marL="0" indent="0">
              <a:buNone/>
            </a:pPr>
            <a:r>
              <a:rPr lang="pl-PL" dirty="0">
                <a:solidFill>
                  <a:srgbClr val="003399"/>
                </a:solidFill>
              </a:rPr>
              <a:t>A </a:t>
            </a:r>
            <a:r>
              <a:rPr lang="pl-PL" dirty="0" err="1">
                <a:solidFill>
                  <a:srgbClr val="003399"/>
                </a:solidFill>
              </a:rPr>
              <a:t>condition</a:t>
            </a:r>
            <a:r>
              <a:rPr lang="pl-PL" dirty="0">
                <a:solidFill>
                  <a:srgbClr val="003399"/>
                </a:solidFill>
              </a:rPr>
              <a:t> in </a:t>
            </a:r>
            <a:r>
              <a:rPr lang="pl-PL" dirty="0" err="1">
                <a:solidFill>
                  <a:srgbClr val="003399"/>
                </a:solidFill>
              </a:rPr>
              <a:t>which</a:t>
            </a:r>
            <a:r>
              <a:rPr lang="pl-PL" dirty="0">
                <a:solidFill>
                  <a:srgbClr val="003399"/>
                </a:solidFill>
              </a:rPr>
              <a:t> the </a:t>
            </a:r>
            <a:r>
              <a:rPr lang="pl-PL" dirty="0" err="1">
                <a:solidFill>
                  <a:srgbClr val="003399"/>
                </a:solidFill>
              </a:rPr>
              <a:t>decision</a:t>
            </a:r>
            <a:r>
              <a:rPr lang="pl-PL" dirty="0">
                <a:solidFill>
                  <a:srgbClr val="003399"/>
                </a:solidFill>
              </a:rPr>
              <a:t> </a:t>
            </a:r>
            <a:r>
              <a:rPr lang="pl-PL" dirty="0" err="1">
                <a:solidFill>
                  <a:srgbClr val="003399"/>
                </a:solidFill>
              </a:rPr>
              <a:t>maker</a:t>
            </a:r>
            <a:r>
              <a:rPr lang="pl-PL" dirty="0">
                <a:solidFill>
                  <a:srgbClr val="003399"/>
                </a:solidFill>
              </a:rPr>
              <a:t> </a:t>
            </a:r>
            <a:r>
              <a:rPr lang="pl-PL" dirty="0" err="1">
                <a:solidFill>
                  <a:srgbClr val="003399"/>
                </a:solidFill>
              </a:rPr>
              <a:t>knows</a:t>
            </a:r>
            <a:r>
              <a:rPr lang="pl-PL" dirty="0">
                <a:solidFill>
                  <a:srgbClr val="003399"/>
                </a:solidFill>
              </a:rPr>
              <a:t> with </a:t>
            </a:r>
            <a:r>
              <a:rPr lang="pl-PL" dirty="0" err="1">
                <a:solidFill>
                  <a:srgbClr val="003399"/>
                </a:solidFill>
              </a:rPr>
              <a:t>reasonable</a:t>
            </a:r>
            <a:r>
              <a:rPr lang="pl-PL" dirty="0">
                <a:solidFill>
                  <a:srgbClr val="003399"/>
                </a:solidFill>
              </a:rPr>
              <a:t> </a:t>
            </a:r>
            <a:r>
              <a:rPr lang="pl-PL" dirty="0" err="1">
                <a:solidFill>
                  <a:srgbClr val="003399"/>
                </a:solidFill>
              </a:rPr>
              <a:t>certainty</a:t>
            </a:r>
            <a:r>
              <a:rPr lang="pl-PL" dirty="0">
                <a:solidFill>
                  <a:srgbClr val="003399"/>
                </a:solidFill>
              </a:rPr>
              <a:t> </a:t>
            </a:r>
            <a:r>
              <a:rPr lang="pl-PL" dirty="0" err="1">
                <a:solidFill>
                  <a:srgbClr val="003399"/>
                </a:solidFill>
              </a:rPr>
              <a:t>what</a:t>
            </a:r>
            <a:r>
              <a:rPr lang="pl-PL" dirty="0">
                <a:solidFill>
                  <a:srgbClr val="003399"/>
                </a:solidFill>
              </a:rPr>
              <a:t> the </a:t>
            </a:r>
            <a:r>
              <a:rPr lang="pl-PL" dirty="0" err="1">
                <a:solidFill>
                  <a:srgbClr val="003399"/>
                </a:solidFill>
              </a:rPr>
              <a:t>alternatives</a:t>
            </a:r>
            <a:r>
              <a:rPr lang="pl-PL" dirty="0">
                <a:solidFill>
                  <a:srgbClr val="003399"/>
                </a:solidFill>
              </a:rPr>
              <a:t> </a:t>
            </a:r>
            <a:r>
              <a:rPr lang="pl-PL" dirty="0" err="1">
                <a:solidFill>
                  <a:srgbClr val="003399"/>
                </a:solidFill>
              </a:rPr>
              <a:t>are</a:t>
            </a:r>
            <a:r>
              <a:rPr lang="pl-PL" dirty="0">
                <a:solidFill>
                  <a:srgbClr val="003399"/>
                </a:solidFill>
              </a:rPr>
              <a:t> and </a:t>
            </a:r>
            <a:r>
              <a:rPr lang="pl-PL" dirty="0" err="1">
                <a:solidFill>
                  <a:srgbClr val="003399"/>
                </a:solidFill>
              </a:rPr>
              <a:t>what</a:t>
            </a:r>
            <a:r>
              <a:rPr lang="pl-PL" dirty="0">
                <a:solidFill>
                  <a:srgbClr val="003399"/>
                </a:solidFill>
              </a:rPr>
              <a:t> </a:t>
            </a:r>
            <a:r>
              <a:rPr lang="pl-PL" dirty="0" err="1">
                <a:solidFill>
                  <a:srgbClr val="003399"/>
                </a:solidFill>
              </a:rPr>
              <a:t>conditions</a:t>
            </a:r>
            <a:r>
              <a:rPr lang="pl-PL" dirty="0">
                <a:solidFill>
                  <a:srgbClr val="003399"/>
                </a:solidFill>
              </a:rPr>
              <a:t> </a:t>
            </a:r>
            <a:r>
              <a:rPr lang="pl-PL" dirty="0" err="1">
                <a:solidFill>
                  <a:srgbClr val="003399"/>
                </a:solidFill>
              </a:rPr>
              <a:t>are</a:t>
            </a:r>
            <a:r>
              <a:rPr lang="pl-PL" dirty="0">
                <a:solidFill>
                  <a:srgbClr val="003399"/>
                </a:solidFill>
              </a:rPr>
              <a:t> </a:t>
            </a:r>
            <a:r>
              <a:rPr lang="pl-PL" dirty="0" err="1">
                <a:solidFill>
                  <a:srgbClr val="003399"/>
                </a:solidFill>
              </a:rPr>
              <a:t>associated</a:t>
            </a:r>
            <a:r>
              <a:rPr lang="pl-PL" dirty="0">
                <a:solidFill>
                  <a:srgbClr val="003399"/>
                </a:solidFill>
              </a:rPr>
              <a:t> with </a:t>
            </a:r>
            <a:r>
              <a:rPr lang="pl-PL" dirty="0" err="1">
                <a:solidFill>
                  <a:srgbClr val="003399"/>
                </a:solidFill>
              </a:rPr>
              <a:t>each</a:t>
            </a:r>
            <a:r>
              <a:rPr lang="pl-PL" dirty="0">
                <a:solidFill>
                  <a:srgbClr val="003399"/>
                </a:solidFill>
              </a:rPr>
              <a:t> </a:t>
            </a:r>
            <a:r>
              <a:rPr lang="pl-PL" dirty="0" err="1">
                <a:solidFill>
                  <a:srgbClr val="003399"/>
                </a:solidFill>
              </a:rPr>
              <a:t>alternative</a:t>
            </a:r>
            <a:r>
              <a:rPr lang="pl-PL" dirty="0">
                <a:solidFill>
                  <a:srgbClr val="003399"/>
                </a:solidFill>
              </a:rPr>
              <a:t>.</a:t>
            </a:r>
          </a:p>
          <a:p>
            <a:pPr marL="0" indent="0">
              <a:buNone/>
            </a:pPr>
            <a:endParaRPr lang="pl-PL" dirty="0">
              <a:solidFill>
                <a:srgbClr val="003399"/>
              </a:solidFill>
            </a:endParaRPr>
          </a:p>
        </p:txBody>
      </p:sp>
      <p:sp>
        <p:nvSpPr>
          <p:cNvPr id="4" name="Symbol zastępczy stopki 3"/>
          <p:cNvSpPr>
            <a:spLocks noGrp="1"/>
          </p:cNvSpPr>
          <p:nvPr>
            <p:ph type="ftr" sz="quarter" idx="11"/>
          </p:nvPr>
        </p:nvSpPr>
        <p:spPr/>
        <p:txBody>
          <a:bodyPr/>
          <a:lstStyle/>
          <a:p>
            <a:pPr>
              <a:defRPr/>
            </a:pPr>
            <a:r>
              <a:rPr lang="pl-PL" altLang="en-US"/>
              <a:t>PJAIT</a:t>
            </a:r>
          </a:p>
        </p:txBody>
      </p:sp>
      <p:pic>
        <p:nvPicPr>
          <p:cNvPr id="5" name="Picture 4"/>
          <p:cNvPicPr>
            <a:picLocks noChangeAspect="1" noChangeArrowheads="1"/>
          </p:cNvPicPr>
          <p:nvPr/>
        </p:nvPicPr>
        <p:blipFill>
          <a:blip r:embed="rId2" cstate="print"/>
          <a:srcRect/>
          <a:stretch>
            <a:fillRect/>
          </a:stretch>
        </p:blipFill>
        <p:spPr bwMode="auto">
          <a:xfrm>
            <a:off x="3347864" y="3998951"/>
            <a:ext cx="2043112" cy="1528762"/>
          </a:xfrm>
          <a:prstGeom prst="rect">
            <a:avLst/>
          </a:prstGeom>
          <a:noFill/>
          <a:ln w="9525">
            <a:noFill/>
            <a:miter lim="800000"/>
            <a:headEnd/>
            <a:tailEnd/>
          </a:ln>
        </p:spPr>
      </p:pic>
      <p:sp>
        <p:nvSpPr>
          <p:cNvPr id="6" name="pole tekstowe 5"/>
          <p:cNvSpPr txBox="1"/>
          <p:nvPr/>
        </p:nvSpPr>
        <p:spPr>
          <a:xfrm>
            <a:off x="827584" y="6381328"/>
            <a:ext cx="2520280" cy="246221"/>
          </a:xfrm>
          <a:prstGeom prst="rect">
            <a:avLst/>
          </a:prstGeom>
          <a:noFill/>
        </p:spPr>
        <p:txBody>
          <a:bodyPr wrap="square" rtlCol="0">
            <a:spAutoFit/>
          </a:bodyPr>
          <a:lstStyle/>
          <a:p>
            <a:r>
              <a:rPr lang="pl-PL" sz="1000" dirty="0"/>
              <a:t>Source: </a:t>
            </a:r>
            <a:r>
              <a:rPr lang="pl-PL" sz="1000" dirty="0">
                <a:hlinkClick r:id="rId3"/>
              </a:rPr>
              <a:t>www.otorowski.com</a:t>
            </a:r>
            <a:r>
              <a:rPr lang="pl-PL" sz="1000" dirty="0"/>
              <a:t> </a:t>
            </a:r>
          </a:p>
        </p:txBody>
      </p:sp>
    </p:spTree>
    <p:extLst>
      <p:ext uri="{BB962C8B-B14F-4D97-AF65-F5344CB8AC3E}">
        <p14:creationId xmlns:p14="http://schemas.microsoft.com/office/powerpoint/2010/main" val="20122349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z="4000" b="1" dirty="0" err="1"/>
              <a:t>State</a:t>
            </a:r>
            <a:r>
              <a:rPr lang="pl-PL" sz="4000" b="1" dirty="0"/>
              <a:t> of </a:t>
            </a:r>
            <a:r>
              <a:rPr lang="pl-PL" sz="4000" b="1" dirty="0" err="1"/>
              <a:t>risk</a:t>
            </a:r>
            <a:endParaRPr lang="pl-PL" sz="4000" b="1" dirty="0"/>
          </a:p>
        </p:txBody>
      </p:sp>
      <p:sp>
        <p:nvSpPr>
          <p:cNvPr id="3" name="Symbol zastępczy zawartości 2"/>
          <p:cNvSpPr>
            <a:spLocks noGrp="1"/>
          </p:cNvSpPr>
          <p:nvPr>
            <p:ph idx="1"/>
          </p:nvPr>
        </p:nvSpPr>
        <p:spPr/>
        <p:txBody>
          <a:bodyPr/>
          <a:lstStyle/>
          <a:p>
            <a:pPr marL="0" indent="0" algn="just">
              <a:buNone/>
            </a:pPr>
            <a:r>
              <a:rPr lang="pl-PL" dirty="0">
                <a:solidFill>
                  <a:srgbClr val="003399"/>
                </a:solidFill>
              </a:rPr>
              <a:t>A </a:t>
            </a:r>
            <a:r>
              <a:rPr lang="pl-PL" dirty="0" err="1">
                <a:solidFill>
                  <a:srgbClr val="003399"/>
                </a:solidFill>
              </a:rPr>
              <a:t>condition</a:t>
            </a:r>
            <a:r>
              <a:rPr lang="pl-PL" dirty="0">
                <a:solidFill>
                  <a:srgbClr val="003399"/>
                </a:solidFill>
              </a:rPr>
              <a:t> in </a:t>
            </a:r>
            <a:r>
              <a:rPr lang="pl-PL" dirty="0" err="1">
                <a:solidFill>
                  <a:srgbClr val="003399"/>
                </a:solidFill>
              </a:rPr>
              <a:t>which</a:t>
            </a:r>
            <a:r>
              <a:rPr lang="pl-PL" dirty="0">
                <a:solidFill>
                  <a:srgbClr val="003399"/>
                </a:solidFill>
              </a:rPr>
              <a:t> the </a:t>
            </a:r>
            <a:r>
              <a:rPr lang="pl-PL" dirty="0" err="1">
                <a:solidFill>
                  <a:srgbClr val="003399"/>
                </a:solidFill>
              </a:rPr>
              <a:t>availability</a:t>
            </a:r>
            <a:r>
              <a:rPr lang="pl-PL" dirty="0">
                <a:solidFill>
                  <a:srgbClr val="003399"/>
                </a:solidFill>
              </a:rPr>
              <a:t> of </a:t>
            </a:r>
            <a:r>
              <a:rPr lang="pl-PL" dirty="0" err="1">
                <a:solidFill>
                  <a:srgbClr val="003399"/>
                </a:solidFill>
              </a:rPr>
              <a:t>each</a:t>
            </a:r>
            <a:r>
              <a:rPr lang="pl-PL" dirty="0">
                <a:solidFill>
                  <a:srgbClr val="003399"/>
                </a:solidFill>
              </a:rPr>
              <a:t> </a:t>
            </a:r>
            <a:r>
              <a:rPr lang="pl-PL" dirty="0" err="1">
                <a:solidFill>
                  <a:srgbClr val="003399"/>
                </a:solidFill>
              </a:rPr>
              <a:t>alternative</a:t>
            </a:r>
            <a:r>
              <a:rPr lang="pl-PL" dirty="0">
                <a:solidFill>
                  <a:srgbClr val="003399"/>
                </a:solidFill>
              </a:rPr>
              <a:t> and </a:t>
            </a:r>
            <a:r>
              <a:rPr lang="pl-PL" dirty="0" err="1">
                <a:solidFill>
                  <a:srgbClr val="003399"/>
                </a:solidFill>
              </a:rPr>
              <a:t>its</a:t>
            </a:r>
            <a:r>
              <a:rPr lang="pl-PL" dirty="0">
                <a:solidFill>
                  <a:srgbClr val="003399"/>
                </a:solidFill>
              </a:rPr>
              <a:t> </a:t>
            </a:r>
            <a:r>
              <a:rPr lang="pl-PL" dirty="0" err="1">
                <a:solidFill>
                  <a:srgbClr val="003399"/>
                </a:solidFill>
              </a:rPr>
              <a:t>potential</a:t>
            </a:r>
            <a:r>
              <a:rPr lang="pl-PL" dirty="0">
                <a:solidFill>
                  <a:srgbClr val="003399"/>
                </a:solidFill>
              </a:rPr>
              <a:t> </a:t>
            </a:r>
            <a:r>
              <a:rPr lang="pl-PL" dirty="0" err="1">
                <a:solidFill>
                  <a:srgbClr val="003399"/>
                </a:solidFill>
              </a:rPr>
              <a:t>payoffs</a:t>
            </a:r>
            <a:r>
              <a:rPr lang="pl-PL" dirty="0">
                <a:solidFill>
                  <a:srgbClr val="003399"/>
                </a:solidFill>
              </a:rPr>
              <a:t> and </a:t>
            </a:r>
            <a:r>
              <a:rPr lang="pl-PL" dirty="0" err="1">
                <a:solidFill>
                  <a:srgbClr val="003399"/>
                </a:solidFill>
              </a:rPr>
              <a:t>costs</a:t>
            </a:r>
            <a:r>
              <a:rPr lang="pl-PL" dirty="0">
                <a:solidFill>
                  <a:srgbClr val="003399"/>
                </a:solidFill>
              </a:rPr>
              <a:t> </a:t>
            </a:r>
            <a:r>
              <a:rPr lang="pl-PL" dirty="0" err="1">
                <a:solidFill>
                  <a:srgbClr val="003399"/>
                </a:solidFill>
              </a:rPr>
              <a:t>are</a:t>
            </a:r>
            <a:r>
              <a:rPr lang="pl-PL" dirty="0">
                <a:solidFill>
                  <a:srgbClr val="003399"/>
                </a:solidFill>
              </a:rPr>
              <a:t> </a:t>
            </a:r>
            <a:r>
              <a:rPr lang="pl-PL" dirty="0" err="1">
                <a:solidFill>
                  <a:srgbClr val="003399"/>
                </a:solidFill>
              </a:rPr>
              <a:t>all</a:t>
            </a:r>
            <a:r>
              <a:rPr lang="pl-PL" dirty="0">
                <a:solidFill>
                  <a:srgbClr val="003399"/>
                </a:solidFill>
              </a:rPr>
              <a:t> </a:t>
            </a:r>
            <a:r>
              <a:rPr lang="pl-PL" dirty="0" err="1">
                <a:solidFill>
                  <a:srgbClr val="003399"/>
                </a:solidFill>
              </a:rPr>
              <a:t>associated</a:t>
            </a:r>
            <a:r>
              <a:rPr lang="pl-PL" dirty="0">
                <a:solidFill>
                  <a:srgbClr val="003399"/>
                </a:solidFill>
              </a:rPr>
              <a:t> with </a:t>
            </a:r>
            <a:r>
              <a:rPr lang="pl-PL" dirty="0" err="1">
                <a:solidFill>
                  <a:srgbClr val="003399"/>
                </a:solidFill>
              </a:rPr>
              <a:t>probability</a:t>
            </a:r>
            <a:r>
              <a:rPr lang="pl-PL" dirty="0">
                <a:solidFill>
                  <a:srgbClr val="003399"/>
                </a:solidFill>
              </a:rPr>
              <a:t> </a:t>
            </a:r>
            <a:r>
              <a:rPr lang="pl-PL" dirty="0" err="1">
                <a:solidFill>
                  <a:srgbClr val="003399"/>
                </a:solidFill>
              </a:rPr>
              <a:t>estimates</a:t>
            </a:r>
            <a:r>
              <a:rPr lang="pl-PL" dirty="0">
                <a:solidFill>
                  <a:srgbClr val="003399"/>
                </a:solidFill>
              </a:rPr>
              <a:t>.</a:t>
            </a:r>
          </a:p>
          <a:p>
            <a:pPr marL="0" indent="0">
              <a:buNone/>
            </a:pPr>
            <a:endParaRPr lang="pl-PL" dirty="0">
              <a:solidFill>
                <a:srgbClr val="003399"/>
              </a:solidFill>
            </a:endParaRPr>
          </a:p>
          <a:p>
            <a:pPr marL="0" indent="0">
              <a:buNone/>
            </a:pPr>
            <a:endParaRPr lang="pl-PL" dirty="0">
              <a:solidFill>
                <a:srgbClr val="003399"/>
              </a:solidFill>
            </a:endParaRPr>
          </a:p>
        </p:txBody>
      </p:sp>
      <p:sp>
        <p:nvSpPr>
          <p:cNvPr id="4" name="Symbol zastępczy stopki 3"/>
          <p:cNvSpPr>
            <a:spLocks noGrp="1"/>
          </p:cNvSpPr>
          <p:nvPr>
            <p:ph type="ftr" sz="quarter" idx="11"/>
          </p:nvPr>
        </p:nvSpPr>
        <p:spPr/>
        <p:txBody>
          <a:bodyPr/>
          <a:lstStyle/>
          <a:p>
            <a:pPr>
              <a:defRPr/>
            </a:pPr>
            <a:r>
              <a:rPr lang="pl-PL" altLang="en-US"/>
              <a:t>PJAIT</a:t>
            </a:r>
          </a:p>
        </p:txBody>
      </p:sp>
      <p:pic>
        <p:nvPicPr>
          <p:cNvPr id="5" name="Picture 6"/>
          <p:cNvPicPr>
            <a:picLocks noChangeAspect="1" noChangeArrowheads="1"/>
          </p:cNvPicPr>
          <p:nvPr/>
        </p:nvPicPr>
        <p:blipFill>
          <a:blip r:embed="rId3" cstate="print"/>
          <a:srcRect/>
          <a:stretch>
            <a:fillRect/>
          </a:stretch>
        </p:blipFill>
        <p:spPr bwMode="auto">
          <a:xfrm>
            <a:off x="3779912" y="3645024"/>
            <a:ext cx="1143000" cy="1771650"/>
          </a:xfrm>
          <a:prstGeom prst="rect">
            <a:avLst/>
          </a:prstGeom>
          <a:noFill/>
          <a:ln w="9525">
            <a:noFill/>
            <a:miter lim="800000"/>
            <a:headEnd/>
            <a:tailEnd/>
          </a:ln>
        </p:spPr>
      </p:pic>
      <p:sp>
        <p:nvSpPr>
          <p:cNvPr id="6" name="Text Box 5"/>
          <p:cNvSpPr txBox="1">
            <a:spLocks noChangeArrowheads="1"/>
          </p:cNvSpPr>
          <p:nvPr/>
        </p:nvSpPr>
        <p:spPr bwMode="auto">
          <a:xfrm>
            <a:off x="395288" y="6308725"/>
            <a:ext cx="3168650" cy="276999"/>
          </a:xfrm>
          <a:prstGeom prst="rect">
            <a:avLst/>
          </a:prstGeom>
          <a:noFill/>
          <a:ln w="9525">
            <a:noFill/>
            <a:miter lim="800000"/>
            <a:headEnd/>
            <a:tailEnd/>
          </a:ln>
        </p:spPr>
        <p:txBody>
          <a:bodyPr>
            <a:spAutoFit/>
          </a:bodyPr>
          <a:lstStyle/>
          <a:p>
            <a:pPr>
              <a:spcBef>
                <a:spcPct val="50000"/>
              </a:spcBef>
            </a:pPr>
            <a:r>
              <a:rPr lang="pl-PL" sz="1200" dirty="0" err="1"/>
              <a:t>Sources</a:t>
            </a:r>
            <a:r>
              <a:rPr lang="pl-PL" sz="1200" dirty="0"/>
              <a:t>: weblogs.newsday.com</a:t>
            </a:r>
          </a:p>
        </p:txBody>
      </p:sp>
    </p:spTree>
    <p:extLst>
      <p:ext uri="{BB962C8B-B14F-4D97-AF65-F5344CB8AC3E}">
        <p14:creationId xmlns:p14="http://schemas.microsoft.com/office/powerpoint/2010/main" val="1883736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z="4000" b="1" dirty="0" err="1"/>
              <a:t>State</a:t>
            </a:r>
            <a:r>
              <a:rPr lang="pl-PL" sz="4000" b="1" dirty="0"/>
              <a:t> of </a:t>
            </a:r>
            <a:r>
              <a:rPr lang="pl-PL" sz="4000" b="1" dirty="0" err="1"/>
              <a:t>uncertainty</a:t>
            </a:r>
            <a:endParaRPr lang="pl-PL" sz="4000" b="1" dirty="0"/>
          </a:p>
        </p:txBody>
      </p:sp>
      <p:sp>
        <p:nvSpPr>
          <p:cNvPr id="3" name="Symbol zastępczy zawartości 2"/>
          <p:cNvSpPr>
            <a:spLocks noGrp="1"/>
          </p:cNvSpPr>
          <p:nvPr>
            <p:ph idx="1"/>
          </p:nvPr>
        </p:nvSpPr>
        <p:spPr/>
        <p:txBody>
          <a:bodyPr/>
          <a:lstStyle/>
          <a:p>
            <a:pPr marL="0" indent="0">
              <a:buNone/>
            </a:pPr>
            <a:r>
              <a:rPr lang="pl-PL" dirty="0">
                <a:solidFill>
                  <a:srgbClr val="003399"/>
                </a:solidFill>
              </a:rPr>
              <a:t>A </a:t>
            </a:r>
            <a:r>
              <a:rPr lang="pl-PL" dirty="0" err="1">
                <a:solidFill>
                  <a:srgbClr val="003399"/>
                </a:solidFill>
              </a:rPr>
              <a:t>condition</a:t>
            </a:r>
            <a:r>
              <a:rPr lang="pl-PL" dirty="0">
                <a:solidFill>
                  <a:srgbClr val="003399"/>
                </a:solidFill>
              </a:rPr>
              <a:t> in </a:t>
            </a:r>
            <a:r>
              <a:rPr lang="pl-PL" dirty="0" err="1">
                <a:solidFill>
                  <a:srgbClr val="003399"/>
                </a:solidFill>
              </a:rPr>
              <a:t>which</a:t>
            </a:r>
            <a:r>
              <a:rPr lang="pl-PL" dirty="0">
                <a:solidFill>
                  <a:srgbClr val="003399"/>
                </a:solidFill>
              </a:rPr>
              <a:t> the </a:t>
            </a:r>
            <a:r>
              <a:rPr lang="pl-PL" dirty="0" err="1">
                <a:solidFill>
                  <a:srgbClr val="003399"/>
                </a:solidFill>
              </a:rPr>
              <a:t>decision</a:t>
            </a:r>
            <a:r>
              <a:rPr lang="pl-PL" dirty="0">
                <a:solidFill>
                  <a:srgbClr val="003399"/>
                </a:solidFill>
              </a:rPr>
              <a:t> </a:t>
            </a:r>
            <a:r>
              <a:rPr lang="pl-PL" dirty="0" err="1">
                <a:solidFill>
                  <a:srgbClr val="003399"/>
                </a:solidFill>
              </a:rPr>
              <a:t>maker</a:t>
            </a:r>
            <a:r>
              <a:rPr lang="pl-PL" dirty="0">
                <a:solidFill>
                  <a:srgbClr val="003399"/>
                </a:solidFill>
              </a:rPr>
              <a:t> </a:t>
            </a:r>
            <a:r>
              <a:rPr lang="en-US" dirty="0">
                <a:solidFill>
                  <a:srgbClr val="003399"/>
                </a:solidFill>
              </a:rPr>
              <a:t>does not know all the</a:t>
            </a:r>
            <a:r>
              <a:rPr lang="pl-PL" dirty="0">
                <a:solidFill>
                  <a:srgbClr val="003399"/>
                </a:solidFill>
              </a:rPr>
              <a:t> </a:t>
            </a:r>
            <a:r>
              <a:rPr lang="pl-PL" dirty="0" err="1">
                <a:solidFill>
                  <a:srgbClr val="003399"/>
                </a:solidFill>
              </a:rPr>
              <a:t>alternatives</a:t>
            </a:r>
            <a:r>
              <a:rPr lang="pl-PL" dirty="0">
                <a:solidFill>
                  <a:srgbClr val="003399"/>
                </a:solidFill>
              </a:rPr>
              <a:t>, the </a:t>
            </a:r>
            <a:r>
              <a:rPr lang="pl-PL" dirty="0" err="1">
                <a:solidFill>
                  <a:srgbClr val="003399"/>
                </a:solidFill>
              </a:rPr>
              <a:t>risks</a:t>
            </a:r>
            <a:r>
              <a:rPr lang="pl-PL" dirty="0">
                <a:solidFill>
                  <a:srgbClr val="003399"/>
                </a:solidFill>
              </a:rPr>
              <a:t> </a:t>
            </a:r>
          </a:p>
          <a:p>
            <a:pPr marL="0" indent="0">
              <a:buNone/>
            </a:pPr>
            <a:r>
              <a:rPr lang="pl-PL" dirty="0" err="1">
                <a:solidFill>
                  <a:srgbClr val="003399"/>
                </a:solidFill>
              </a:rPr>
              <a:t>associated</a:t>
            </a:r>
            <a:r>
              <a:rPr lang="pl-PL" dirty="0">
                <a:solidFill>
                  <a:srgbClr val="003399"/>
                </a:solidFill>
              </a:rPr>
              <a:t> with </a:t>
            </a:r>
            <a:r>
              <a:rPr lang="pl-PL" dirty="0" err="1">
                <a:solidFill>
                  <a:srgbClr val="003399"/>
                </a:solidFill>
              </a:rPr>
              <a:t>each</a:t>
            </a:r>
            <a:r>
              <a:rPr lang="pl-PL" dirty="0">
                <a:solidFill>
                  <a:srgbClr val="003399"/>
                </a:solidFill>
              </a:rPr>
              <a:t>, </a:t>
            </a:r>
            <a:r>
              <a:rPr lang="pl-PL" dirty="0" err="1">
                <a:solidFill>
                  <a:srgbClr val="003399"/>
                </a:solidFill>
              </a:rPr>
              <a:t>or</a:t>
            </a:r>
            <a:r>
              <a:rPr lang="pl-PL" dirty="0">
                <a:solidFill>
                  <a:srgbClr val="003399"/>
                </a:solidFill>
              </a:rPr>
              <a:t> the </a:t>
            </a:r>
            <a:r>
              <a:rPr lang="pl-PL" dirty="0" err="1">
                <a:solidFill>
                  <a:srgbClr val="003399"/>
                </a:solidFill>
              </a:rPr>
              <a:t>likely</a:t>
            </a:r>
            <a:r>
              <a:rPr lang="pl-PL" dirty="0">
                <a:solidFill>
                  <a:srgbClr val="003399"/>
                </a:solidFill>
              </a:rPr>
              <a:t> </a:t>
            </a:r>
            <a:r>
              <a:rPr lang="pl-PL" dirty="0" err="1">
                <a:solidFill>
                  <a:srgbClr val="003399"/>
                </a:solidFill>
              </a:rPr>
              <a:t>consequences</a:t>
            </a:r>
            <a:r>
              <a:rPr lang="pl-PL" dirty="0">
                <a:solidFill>
                  <a:srgbClr val="003399"/>
                </a:solidFill>
              </a:rPr>
              <a:t> of </a:t>
            </a:r>
            <a:r>
              <a:rPr lang="pl-PL" dirty="0" err="1">
                <a:solidFill>
                  <a:srgbClr val="003399"/>
                </a:solidFill>
              </a:rPr>
              <a:t>each</a:t>
            </a:r>
            <a:r>
              <a:rPr lang="pl-PL" dirty="0">
                <a:solidFill>
                  <a:srgbClr val="003399"/>
                </a:solidFill>
              </a:rPr>
              <a:t> </a:t>
            </a:r>
            <a:r>
              <a:rPr lang="pl-PL" dirty="0" err="1">
                <a:solidFill>
                  <a:srgbClr val="003399"/>
                </a:solidFill>
              </a:rPr>
              <a:t>alternative</a:t>
            </a:r>
            <a:r>
              <a:rPr lang="pl-PL" dirty="0">
                <a:solidFill>
                  <a:srgbClr val="003399"/>
                </a:solidFill>
              </a:rPr>
              <a:t>.</a:t>
            </a:r>
          </a:p>
          <a:p>
            <a:pPr marL="0" indent="0">
              <a:buNone/>
            </a:pPr>
            <a:endParaRPr lang="pl-PL" dirty="0">
              <a:solidFill>
                <a:srgbClr val="003399"/>
              </a:solidFill>
            </a:endParaRPr>
          </a:p>
        </p:txBody>
      </p:sp>
      <p:sp>
        <p:nvSpPr>
          <p:cNvPr id="4" name="Symbol zastępczy stopki 3"/>
          <p:cNvSpPr>
            <a:spLocks noGrp="1"/>
          </p:cNvSpPr>
          <p:nvPr>
            <p:ph type="ftr" sz="quarter" idx="11"/>
          </p:nvPr>
        </p:nvSpPr>
        <p:spPr/>
        <p:txBody>
          <a:bodyPr/>
          <a:lstStyle/>
          <a:p>
            <a:pPr>
              <a:defRPr/>
            </a:pPr>
            <a:r>
              <a:rPr lang="pl-PL" altLang="en-US"/>
              <a:t>PJAIT</a:t>
            </a:r>
          </a:p>
        </p:txBody>
      </p:sp>
      <p:pic>
        <p:nvPicPr>
          <p:cNvPr id="5" name="Obraz 4"/>
          <p:cNvPicPr>
            <a:picLocks noChangeAspect="1"/>
          </p:cNvPicPr>
          <p:nvPr/>
        </p:nvPicPr>
        <p:blipFill>
          <a:blip r:embed="rId3"/>
          <a:stretch>
            <a:fillRect/>
          </a:stretch>
        </p:blipFill>
        <p:spPr>
          <a:xfrm>
            <a:off x="2841476" y="3960603"/>
            <a:ext cx="3026668" cy="1937067"/>
          </a:xfrm>
          <a:prstGeom prst="rect">
            <a:avLst/>
          </a:prstGeom>
        </p:spPr>
      </p:pic>
      <p:sp>
        <p:nvSpPr>
          <p:cNvPr id="6" name="pole tekstowe 5"/>
          <p:cNvSpPr txBox="1"/>
          <p:nvPr/>
        </p:nvSpPr>
        <p:spPr>
          <a:xfrm>
            <a:off x="457200" y="6381328"/>
            <a:ext cx="4474840" cy="400110"/>
          </a:xfrm>
          <a:prstGeom prst="rect">
            <a:avLst/>
          </a:prstGeom>
          <a:noFill/>
        </p:spPr>
        <p:txBody>
          <a:bodyPr wrap="square" rtlCol="0">
            <a:spAutoFit/>
          </a:bodyPr>
          <a:lstStyle/>
          <a:p>
            <a:r>
              <a:rPr lang="pl-PL" sz="1000" dirty="0"/>
              <a:t>Source: </a:t>
            </a:r>
            <a:r>
              <a:rPr lang="pl-PL" sz="1000" dirty="0">
                <a:hlinkClick r:id="rId4"/>
              </a:rPr>
              <a:t>https://thinkimmigration.org/blog/2018/12/05/proposed-h-1b-policy-creates-new-uncertainty-for-american-employers/</a:t>
            </a:r>
            <a:endParaRPr lang="pl-PL" sz="1000" dirty="0"/>
          </a:p>
        </p:txBody>
      </p:sp>
    </p:spTree>
    <p:extLst>
      <p:ext uri="{BB962C8B-B14F-4D97-AF65-F5344CB8AC3E}">
        <p14:creationId xmlns:p14="http://schemas.microsoft.com/office/powerpoint/2010/main" val="2882898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ymbol zastępczy stopki 4"/>
          <p:cNvSpPr>
            <a:spLocks noGrp="1"/>
          </p:cNvSpPr>
          <p:nvPr>
            <p:ph type="ftr" sz="quarter" idx="11"/>
          </p:nvPr>
        </p:nvSpPr>
        <p:spPr/>
        <p:txBody>
          <a:bodyPr/>
          <a:lstStyle/>
          <a:p>
            <a:pPr>
              <a:defRPr/>
            </a:pPr>
            <a:r>
              <a:rPr lang="pl-PL" altLang="en-US"/>
              <a:t>PJAIT</a:t>
            </a:r>
          </a:p>
        </p:txBody>
      </p:sp>
      <p:sp>
        <p:nvSpPr>
          <p:cNvPr id="9219" name="Rectangle 2"/>
          <p:cNvSpPr>
            <a:spLocks noGrp="1" noChangeArrowheads="1"/>
          </p:cNvSpPr>
          <p:nvPr>
            <p:ph type="title"/>
          </p:nvPr>
        </p:nvSpPr>
        <p:spPr/>
        <p:txBody>
          <a:bodyPr/>
          <a:lstStyle/>
          <a:p>
            <a:pPr eaLnBrk="1" hangingPunct="1"/>
            <a:r>
              <a:rPr lang="pl-PL" sz="3600" b="1" dirty="0" err="1"/>
              <a:t>Decision-making</a:t>
            </a:r>
            <a:r>
              <a:rPr lang="pl-PL" sz="3600" b="1" dirty="0"/>
              <a:t> </a:t>
            </a:r>
            <a:r>
              <a:rPr lang="pl-PL" sz="3600" b="1" dirty="0" err="1"/>
              <a:t>process</a:t>
            </a:r>
            <a:endParaRPr lang="pl-PL" sz="3600" b="1" dirty="0"/>
          </a:p>
        </p:txBody>
      </p:sp>
      <p:sp>
        <p:nvSpPr>
          <p:cNvPr id="9220" name="Rectangle 3"/>
          <p:cNvSpPr>
            <a:spLocks noGrp="1" noChangeArrowheads="1"/>
          </p:cNvSpPr>
          <p:nvPr>
            <p:ph type="body" idx="1"/>
          </p:nvPr>
        </p:nvSpPr>
        <p:spPr/>
        <p:txBody>
          <a:bodyPr/>
          <a:lstStyle/>
          <a:p>
            <a:pPr eaLnBrk="1" hangingPunct="1">
              <a:lnSpc>
                <a:spcPct val="90000"/>
              </a:lnSpc>
            </a:pPr>
            <a:r>
              <a:rPr lang="pl-PL" dirty="0" err="1">
                <a:solidFill>
                  <a:srgbClr val="003399"/>
                </a:solidFill>
              </a:rPr>
              <a:t>Algorithmic</a:t>
            </a:r>
            <a:r>
              <a:rPr lang="pl-PL" dirty="0">
                <a:solidFill>
                  <a:srgbClr val="003399"/>
                </a:solidFill>
              </a:rPr>
              <a:t> </a:t>
            </a:r>
            <a:r>
              <a:rPr lang="pl-PL" dirty="0" err="1">
                <a:solidFill>
                  <a:srgbClr val="003399"/>
                </a:solidFill>
              </a:rPr>
              <a:t>process</a:t>
            </a:r>
            <a:endParaRPr lang="pl-PL" dirty="0">
              <a:solidFill>
                <a:srgbClr val="003399"/>
              </a:solidFill>
            </a:endParaRPr>
          </a:p>
          <a:p>
            <a:pPr eaLnBrk="1" hangingPunct="1">
              <a:lnSpc>
                <a:spcPct val="90000"/>
              </a:lnSpc>
            </a:pPr>
            <a:r>
              <a:rPr lang="pl-PL" dirty="0" err="1">
                <a:solidFill>
                  <a:srgbClr val="003399"/>
                </a:solidFill>
              </a:rPr>
              <a:t>Algorithm</a:t>
            </a:r>
            <a:endParaRPr lang="pl-PL" dirty="0">
              <a:solidFill>
                <a:srgbClr val="003399"/>
              </a:solidFill>
            </a:endParaRPr>
          </a:p>
          <a:p>
            <a:pPr eaLnBrk="1" hangingPunct="1">
              <a:lnSpc>
                <a:spcPct val="90000"/>
              </a:lnSpc>
            </a:pPr>
            <a:endParaRPr lang="pl-PL" dirty="0">
              <a:solidFill>
                <a:srgbClr val="003399"/>
              </a:solidFill>
            </a:endParaRPr>
          </a:p>
          <a:p>
            <a:pPr eaLnBrk="1" hangingPunct="1">
              <a:lnSpc>
                <a:spcPct val="90000"/>
              </a:lnSpc>
            </a:pPr>
            <a:r>
              <a:rPr lang="pl-PL" dirty="0" err="1">
                <a:solidFill>
                  <a:srgbClr val="003399"/>
                </a:solidFill>
              </a:rPr>
              <a:t>Heuristic</a:t>
            </a:r>
            <a:r>
              <a:rPr lang="pl-PL" dirty="0">
                <a:solidFill>
                  <a:srgbClr val="003399"/>
                </a:solidFill>
              </a:rPr>
              <a:t> </a:t>
            </a:r>
            <a:r>
              <a:rPr lang="pl-PL" dirty="0" err="1">
                <a:solidFill>
                  <a:srgbClr val="003399"/>
                </a:solidFill>
              </a:rPr>
              <a:t>methods</a:t>
            </a:r>
            <a:endParaRPr lang="pl-PL" dirty="0">
              <a:solidFill>
                <a:srgbClr val="003399"/>
              </a:solidFill>
            </a:endParaRPr>
          </a:p>
          <a:p>
            <a:pPr eaLnBrk="1" hangingPunct="1">
              <a:lnSpc>
                <a:spcPct val="90000"/>
              </a:lnSpc>
              <a:buFont typeface="Wingdings" pitchFamily="2" charset="2"/>
              <a:buNone/>
            </a:pPr>
            <a:endParaRPr lang="pl-PL" dirty="0">
              <a:solidFill>
                <a:srgbClr val="003399"/>
              </a:solidFill>
            </a:endParaRPr>
          </a:p>
          <a:p>
            <a:pPr algn="just" eaLnBrk="1" hangingPunct="1">
              <a:lnSpc>
                <a:spcPct val="90000"/>
              </a:lnSpc>
              <a:buNone/>
            </a:pPr>
            <a:r>
              <a:rPr lang="pl-PL" dirty="0">
                <a:solidFill>
                  <a:srgbClr val="003399"/>
                </a:solidFill>
              </a:rPr>
              <a:t>   </a:t>
            </a:r>
            <a:r>
              <a:rPr lang="en-US" b="1" dirty="0">
                <a:solidFill>
                  <a:srgbClr val="003399"/>
                </a:solidFill>
              </a:rPr>
              <a:t>Heuristics</a:t>
            </a:r>
            <a:r>
              <a:rPr lang="en-US" dirty="0">
                <a:solidFill>
                  <a:srgbClr val="003399"/>
                </a:solidFill>
              </a:rPr>
              <a:t> - a scientific discipline dealing with methods of solving problems in conditions of incomplete information, which is compensated by intuition and experience.</a:t>
            </a:r>
            <a:r>
              <a:rPr lang="pl-PL" dirty="0">
                <a:solidFill>
                  <a:srgbClr val="003399"/>
                </a:solidFill>
              </a:rPr>
              <a:t> </a:t>
            </a:r>
          </a:p>
        </p:txBody>
      </p:sp>
      <p:pic>
        <p:nvPicPr>
          <p:cNvPr id="9221" name="Picture 4"/>
          <p:cNvPicPr>
            <a:picLocks noChangeAspect="1" noChangeArrowheads="1"/>
          </p:cNvPicPr>
          <p:nvPr/>
        </p:nvPicPr>
        <p:blipFill>
          <a:blip r:embed="rId3" cstate="print"/>
          <a:srcRect/>
          <a:stretch>
            <a:fillRect/>
          </a:stretch>
        </p:blipFill>
        <p:spPr bwMode="auto">
          <a:xfrm>
            <a:off x="5940425" y="1700213"/>
            <a:ext cx="1900238" cy="1700212"/>
          </a:xfrm>
          <a:prstGeom prst="rect">
            <a:avLst/>
          </a:prstGeom>
          <a:noFill/>
          <a:ln w="9525">
            <a:noFill/>
            <a:miter lim="800000"/>
            <a:headEnd/>
            <a:tailEnd/>
          </a:ln>
        </p:spPr>
      </p:pic>
      <p:sp>
        <p:nvSpPr>
          <p:cNvPr id="9222" name="Text Box 5"/>
          <p:cNvSpPr txBox="1">
            <a:spLocks noChangeArrowheads="1"/>
          </p:cNvSpPr>
          <p:nvPr/>
        </p:nvSpPr>
        <p:spPr bwMode="auto">
          <a:xfrm>
            <a:off x="395288" y="6381750"/>
            <a:ext cx="2736850" cy="274638"/>
          </a:xfrm>
          <a:prstGeom prst="rect">
            <a:avLst/>
          </a:prstGeom>
          <a:noFill/>
          <a:ln w="9525">
            <a:noFill/>
            <a:miter lim="800000"/>
            <a:headEnd/>
            <a:tailEnd/>
          </a:ln>
        </p:spPr>
        <p:txBody>
          <a:bodyPr>
            <a:spAutoFit/>
          </a:bodyPr>
          <a:lstStyle/>
          <a:p>
            <a:pPr>
              <a:spcBef>
                <a:spcPct val="50000"/>
              </a:spcBef>
            </a:pPr>
            <a:r>
              <a:rPr lang="pl-PL" sz="1200" dirty="0"/>
              <a:t>Source: stevepyfrom.blogspot.com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ymbol zastępczy stopki 4"/>
          <p:cNvSpPr>
            <a:spLocks noGrp="1"/>
          </p:cNvSpPr>
          <p:nvPr>
            <p:ph type="ftr" sz="quarter" idx="11"/>
          </p:nvPr>
        </p:nvSpPr>
        <p:spPr/>
        <p:txBody>
          <a:bodyPr/>
          <a:lstStyle/>
          <a:p>
            <a:pPr>
              <a:defRPr/>
            </a:pPr>
            <a:r>
              <a:rPr lang="pl-PL" altLang="en-US"/>
              <a:t>PJAIT</a:t>
            </a:r>
          </a:p>
        </p:txBody>
      </p:sp>
      <p:sp>
        <p:nvSpPr>
          <p:cNvPr id="10243" name="Rectangle 2"/>
          <p:cNvSpPr>
            <a:spLocks noGrp="1" noChangeArrowheads="1"/>
          </p:cNvSpPr>
          <p:nvPr>
            <p:ph type="title"/>
          </p:nvPr>
        </p:nvSpPr>
        <p:spPr/>
        <p:txBody>
          <a:bodyPr/>
          <a:lstStyle/>
          <a:p>
            <a:pPr eaLnBrk="1" hangingPunct="1"/>
            <a:r>
              <a:rPr lang="en-US" sz="4000" b="1" dirty="0"/>
              <a:t>The Classical </a:t>
            </a:r>
            <a:r>
              <a:rPr lang="pl-PL" sz="4000" b="1" dirty="0"/>
              <a:t>(</a:t>
            </a:r>
            <a:r>
              <a:rPr lang="pl-PL" sz="4000" b="1" dirty="0" err="1"/>
              <a:t>Normative</a:t>
            </a:r>
            <a:r>
              <a:rPr lang="pl-PL" sz="4000" b="1" dirty="0"/>
              <a:t>) </a:t>
            </a:r>
            <a:r>
              <a:rPr lang="en-US" sz="4000" b="1" dirty="0"/>
              <a:t>Model of Decision Making</a:t>
            </a:r>
            <a:endParaRPr lang="pl-PL" sz="4000" b="1" dirty="0"/>
          </a:p>
        </p:txBody>
      </p:sp>
      <p:sp>
        <p:nvSpPr>
          <p:cNvPr id="10244" name="Rectangle 3"/>
          <p:cNvSpPr>
            <a:spLocks noGrp="1" noChangeArrowheads="1"/>
          </p:cNvSpPr>
          <p:nvPr>
            <p:ph type="body" idx="1"/>
          </p:nvPr>
        </p:nvSpPr>
        <p:spPr/>
        <p:txBody>
          <a:bodyPr/>
          <a:lstStyle/>
          <a:p>
            <a:pPr algn="just" eaLnBrk="1" hangingPunct="1">
              <a:buNone/>
            </a:pPr>
            <a:r>
              <a:rPr lang="pl-PL" dirty="0">
                <a:solidFill>
                  <a:srgbClr val="003399"/>
                </a:solidFill>
              </a:rPr>
              <a:t>   Assumption</a:t>
            </a:r>
            <a:r>
              <a:rPr lang="pl-PL" b="1" dirty="0">
                <a:solidFill>
                  <a:srgbClr val="003399"/>
                </a:solidFill>
              </a:rPr>
              <a:t>:</a:t>
            </a:r>
            <a:r>
              <a:rPr lang="pl-PL" dirty="0">
                <a:solidFill>
                  <a:srgbClr val="003399"/>
                </a:solidFill>
              </a:rPr>
              <a:t> </a:t>
            </a:r>
            <a:r>
              <a:rPr lang="en-US" dirty="0">
                <a:solidFill>
                  <a:srgbClr val="003399"/>
                </a:solidFill>
              </a:rPr>
              <a:t>managers are logical</a:t>
            </a:r>
            <a:r>
              <a:rPr lang="pl-PL" dirty="0">
                <a:solidFill>
                  <a:srgbClr val="003399"/>
                </a:solidFill>
              </a:rPr>
              <a:t> </a:t>
            </a:r>
            <a:r>
              <a:rPr lang="en-US" dirty="0">
                <a:solidFill>
                  <a:srgbClr val="003399"/>
                </a:solidFill>
              </a:rPr>
              <a:t>and rational and that they make decisions that are in the organization’s best</a:t>
            </a:r>
            <a:r>
              <a:rPr lang="pl-PL" dirty="0">
                <a:solidFill>
                  <a:srgbClr val="003399"/>
                </a:solidFill>
              </a:rPr>
              <a:t> </a:t>
            </a:r>
            <a:r>
              <a:rPr lang="en-US" dirty="0">
                <a:solidFill>
                  <a:srgbClr val="003399"/>
                </a:solidFill>
              </a:rPr>
              <a:t>interests.</a:t>
            </a:r>
            <a:r>
              <a:rPr lang="pl-PL" dirty="0">
                <a:solidFill>
                  <a:srgbClr val="003399"/>
                </a:solidFill>
              </a:rPr>
              <a:t>  </a:t>
            </a:r>
          </a:p>
          <a:p>
            <a:pPr eaLnBrk="1" hangingPunct="1">
              <a:buFont typeface="Wingdings" pitchFamily="2" charset="2"/>
              <a:buNone/>
            </a:pPr>
            <a:endParaRPr lang="pl-PL" dirty="0">
              <a:solidFill>
                <a:srgbClr val="003399"/>
              </a:solidFill>
            </a:endParaRPr>
          </a:p>
        </p:txBody>
      </p:sp>
      <p:sp>
        <p:nvSpPr>
          <p:cNvPr id="10245" name="Rectangle 4"/>
          <p:cNvSpPr>
            <a:spLocks noChangeArrowheads="1"/>
          </p:cNvSpPr>
          <p:nvPr/>
        </p:nvSpPr>
        <p:spPr bwMode="auto">
          <a:xfrm>
            <a:off x="827088" y="3573463"/>
            <a:ext cx="1873250" cy="2087562"/>
          </a:xfrm>
          <a:prstGeom prst="rect">
            <a:avLst/>
          </a:prstGeom>
          <a:solidFill>
            <a:srgbClr val="FFFF99"/>
          </a:solidFill>
          <a:ln w="9525">
            <a:solidFill>
              <a:schemeClr val="tx1"/>
            </a:solidFill>
            <a:miter lim="800000"/>
            <a:headEnd/>
            <a:tailEnd/>
          </a:ln>
        </p:spPr>
        <p:txBody>
          <a:bodyPr wrap="none" anchor="ctr"/>
          <a:lstStyle/>
          <a:p>
            <a:pPr algn="ctr"/>
            <a:endParaRPr lang="pl-PL" sz="1200"/>
          </a:p>
        </p:txBody>
      </p:sp>
      <p:sp>
        <p:nvSpPr>
          <p:cNvPr id="10246" name="Rectangle 5"/>
          <p:cNvSpPr>
            <a:spLocks noChangeArrowheads="1"/>
          </p:cNvSpPr>
          <p:nvPr/>
        </p:nvSpPr>
        <p:spPr bwMode="auto">
          <a:xfrm>
            <a:off x="3419475" y="3573463"/>
            <a:ext cx="1873250" cy="2016125"/>
          </a:xfrm>
          <a:prstGeom prst="rect">
            <a:avLst/>
          </a:prstGeom>
          <a:solidFill>
            <a:srgbClr val="FFFF99"/>
          </a:solidFill>
          <a:ln w="9525">
            <a:solidFill>
              <a:schemeClr val="tx1"/>
            </a:solidFill>
            <a:miter lim="800000"/>
            <a:headEnd/>
            <a:tailEnd/>
          </a:ln>
        </p:spPr>
        <p:txBody>
          <a:bodyPr wrap="none" anchor="ctr"/>
          <a:lstStyle/>
          <a:p>
            <a:endParaRPr lang="pl-PL"/>
          </a:p>
        </p:txBody>
      </p:sp>
      <p:sp>
        <p:nvSpPr>
          <p:cNvPr id="10247" name="Rectangle 6"/>
          <p:cNvSpPr>
            <a:spLocks noChangeArrowheads="1"/>
          </p:cNvSpPr>
          <p:nvPr/>
        </p:nvSpPr>
        <p:spPr bwMode="auto">
          <a:xfrm>
            <a:off x="6011863" y="3573463"/>
            <a:ext cx="1873250" cy="2016125"/>
          </a:xfrm>
          <a:prstGeom prst="rect">
            <a:avLst/>
          </a:prstGeom>
          <a:solidFill>
            <a:srgbClr val="FFFF99"/>
          </a:solidFill>
          <a:ln w="9525">
            <a:solidFill>
              <a:schemeClr val="tx1"/>
            </a:solidFill>
            <a:miter lim="800000"/>
            <a:headEnd/>
            <a:tailEnd/>
          </a:ln>
        </p:spPr>
        <p:txBody>
          <a:bodyPr wrap="none" anchor="ctr"/>
          <a:lstStyle/>
          <a:p>
            <a:endParaRPr lang="pl-PL" dirty="0"/>
          </a:p>
        </p:txBody>
      </p:sp>
      <p:sp>
        <p:nvSpPr>
          <p:cNvPr id="10248" name="Text Box 7"/>
          <p:cNvSpPr txBox="1">
            <a:spLocks noChangeArrowheads="1"/>
          </p:cNvSpPr>
          <p:nvPr/>
        </p:nvSpPr>
        <p:spPr bwMode="auto">
          <a:xfrm>
            <a:off x="900113" y="3716338"/>
            <a:ext cx="1655762" cy="954107"/>
          </a:xfrm>
          <a:prstGeom prst="rect">
            <a:avLst/>
          </a:prstGeom>
          <a:noFill/>
          <a:ln w="9525">
            <a:noFill/>
            <a:miter lim="800000"/>
            <a:headEnd/>
            <a:tailEnd/>
          </a:ln>
        </p:spPr>
        <p:txBody>
          <a:bodyPr>
            <a:spAutoFit/>
          </a:bodyPr>
          <a:lstStyle/>
          <a:p>
            <a:r>
              <a:rPr lang="pl-PL" sz="1400" dirty="0" err="1"/>
              <a:t>When</a:t>
            </a:r>
            <a:r>
              <a:rPr lang="pl-PL" sz="1400" dirty="0"/>
              <a:t> </a:t>
            </a:r>
            <a:r>
              <a:rPr lang="pl-PL" sz="1400" dirty="0" err="1"/>
              <a:t>faced</a:t>
            </a:r>
            <a:r>
              <a:rPr lang="pl-PL" sz="1400" dirty="0"/>
              <a:t> with a</a:t>
            </a:r>
          </a:p>
          <a:p>
            <a:r>
              <a:rPr lang="pl-PL" sz="1400" dirty="0" err="1"/>
              <a:t>decision</a:t>
            </a:r>
            <a:r>
              <a:rPr lang="pl-PL" sz="1400" dirty="0"/>
              <a:t> </a:t>
            </a:r>
            <a:r>
              <a:rPr lang="pl-PL" sz="1400" dirty="0" err="1"/>
              <a:t>situation</a:t>
            </a:r>
            <a:r>
              <a:rPr lang="pl-PL" sz="1400" dirty="0"/>
              <a:t>,</a:t>
            </a:r>
          </a:p>
          <a:p>
            <a:r>
              <a:rPr lang="pl-PL" sz="1400" dirty="0" err="1"/>
              <a:t>managers</a:t>
            </a:r>
            <a:r>
              <a:rPr lang="pl-PL" sz="1400" dirty="0"/>
              <a:t> </a:t>
            </a:r>
          </a:p>
          <a:p>
            <a:r>
              <a:rPr lang="pl-PL" sz="1400" i="1" dirty="0" err="1"/>
              <a:t>should</a:t>
            </a:r>
            <a:r>
              <a:rPr lang="pl-PL" sz="1400" i="1" dirty="0"/>
              <a:t> . . .</a:t>
            </a:r>
            <a:endParaRPr lang="pl-PL" sz="1400" dirty="0"/>
          </a:p>
        </p:txBody>
      </p:sp>
      <p:sp>
        <p:nvSpPr>
          <p:cNvPr id="10249" name="Text Box 8"/>
          <p:cNvSpPr txBox="1">
            <a:spLocks noChangeArrowheads="1"/>
          </p:cNvSpPr>
          <p:nvPr/>
        </p:nvSpPr>
        <p:spPr bwMode="auto">
          <a:xfrm>
            <a:off x="3635375" y="3573463"/>
            <a:ext cx="1657350" cy="2031325"/>
          </a:xfrm>
          <a:prstGeom prst="rect">
            <a:avLst/>
          </a:prstGeom>
          <a:solidFill>
            <a:srgbClr val="FFFF99"/>
          </a:solidFill>
          <a:ln w="9525">
            <a:noFill/>
            <a:miter lim="800000"/>
            <a:headEnd/>
            <a:tailEnd/>
          </a:ln>
        </p:spPr>
        <p:txBody>
          <a:bodyPr>
            <a:spAutoFit/>
          </a:bodyPr>
          <a:lstStyle/>
          <a:p>
            <a:r>
              <a:rPr lang="pl-PL" sz="1400" b="1"/>
              <a:t>• </a:t>
            </a:r>
            <a:r>
              <a:rPr lang="pl-PL" sz="1400"/>
              <a:t>obtain complete</a:t>
            </a:r>
          </a:p>
          <a:p>
            <a:r>
              <a:rPr lang="pl-PL" sz="1400"/>
              <a:t>and perfect information</a:t>
            </a:r>
          </a:p>
          <a:p>
            <a:r>
              <a:rPr lang="pl-PL" sz="1400" b="1"/>
              <a:t>• </a:t>
            </a:r>
            <a:r>
              <a:rPr lang="pl-PL" sz="1400"/>
              <a:t>eliminate uncertainty</a:t>
            </a:r>
          </a:p>
          <a:p>
            <a:r>
              <a:rPr lang="pl-PL" sz="1400" b="1"/>
              <a:t>• </a:t>
            </a:r>
            <a:r>
              <a:rPr lang="pl-PL" sz="1400"/>
              <a:t>evaluate everything</a:t>
            </a:r>
          </a:p>
          <a:p>
            <a:r>
              <a:rPr lang="pl-PL" sz="1400"/>
              <a:t>rationally and logically</a:t>
            </a:r>
            <a:endParaRPr lang="pl-PL" sz="1400" dirty="0"/>
          </a:p>
        </p:txBody>
      </p:sp>
      <p:sp>
        <p:nvSpPr>
          <p:cNvPr id="10250" name="Text Box 9"/>
          <p:cNvSpPr txBox="1">
            <a:spLocks noChangeArrowheads="1"/>
          </p:cNvSpPr>
          <p:nvPr/>
        </p:nvSpPr>
        <p:spPr bwMode="auto">
          <a:xfrm>
            <a:off x="6227763" y="3716338"/>
            <a:ext cx="1439862" cy="1815882"/>
          </a:xfrm>
          <a:prstGeom prst="rect">
            <a:avLst/>
          </a:prstGeom>
          <a:solidFill>
            <a:srgbClr val="FFFF99"/>
          </a:solidFill>
          <a:ln w="9525">
            <a:noFill/>
            <a:miter lim="800000"/>
            <a:headEnd/>
            <a:tailEnd/>
          </a:ln>
        </p:spPr>
        <p:txBody>
          <a:bodyPr>
            <a:spAutoFit/>
          </a:bodyPr>
          <a:lstStyle/>
          <a:p>
            <a:r>
              <a:rPr lang="pl-PL" sz="1400"/>
              <a:t>. . and end up with</a:t>
            </a:r>
          </a:p>
          <a:p>
            <a:r>
              <a:rPr lang="pl-PL" sz="1400"/>
              <a:t>a decision that best</a:t>
            </a:r>
          </a:p>
          <a:p>
            <a:r>
              <a:rPr lang="pl-PL" sz="1400"/>
              <a:t>serves the interests</a:t>
            </a:r>
          </a:p>
          <a:p>
            <a:r>
              <a:rPr lang="pl-PL" sz="1400"/>
              <a:t>of the organization.</a:t>
            </a:r>
            <a:endParaRPr lang="pl-PL" sz="1400" dirty="0"/>
          </a:p>
        </p:txBody>
      </p:sp>
      <p:sp>
        <p:nvSpPr>
          <p:cNvPr id="10251" name="Line 10"/>
          <p:cNvSpPr>
            <a:spLocks noChangeShapeType="1"/>
          </p:cNvSpPr>
          <p:nvPr/>
        </p:nvSpPr>
        <p:spPr bwMode="auto">
          <a:xfrm>
            <a:off x="2916238" y="4581525"/>
            <a:ext cx="360362" cy="0"/>
          </a:xfrm>
          <a:prstGeom prst="line">
            <a:avLst/>
          </a:prstGeom>
          <a:noFill/>
          <a:ln w="9525">
            <a:solidFill>
              <a:schemeClr val="tx1"/>
            </a:solidFill>
            <a:round/>
            <a:headEnd/>
            <a:tailEnd type="triangle" w="med" len="med"/>
          </a:ln>
        </p:spPr>
        <p:txBody>
          <a:bodyPr/>
          <a:lstStyle/>
          <a:p>
            <a:endParaRPr lang="pl-PL"/>
          </a:p>
        </p:txBody>
      </p:sp>
      <p:sp>
        <p:nvSpPr>
          <p:cNvPr id="10252" name="Line 11"/>
          <p:cNvSpPr>
            <a:spLocks noChangeShapeType="1"/>
          </p:cNvSpPr>
          <p:nvPr/>
        </p:nvSpPr>
        <p:spPr bwMode="auto">
          <a:xfrm>
            <a:off x="5508625" y="4581525"/>
            <a:ext cx="358775" cy="0"/>
          </a:xfrm>
          <a:prstGeom prst="line">
            <a:avLst/>
          </a:prstGeom>
          <a:noFill/>
          <a:ln w="9525">
            <a:solidFill>
              <a:schemeClr val="tx1"/>
            </a:solidFill>
            <a:round/>
            <a:headEnd/>
            <a:tailEnd type="triangle" w="med" len="med"/>
          </a:ln>
        </p:spPr>
        <p:txBody>
          <a:bodyPr/>
          <a:lstStyle/>
          <a:p>
            <a:endParaRPr lang="pl-PL"/>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Symbol zastępczy stopki 4"/>
          <p:cNvSpPr>
            <a:spLocks noGrp="1"/>
          </p:cNvSpPr>
          <p:nvPr>
            <p:ph type="ftr" sz="quarter" idx="11"/>
          </p:nvPr>
        </p:nvSpPr>
        <p:spPr/>
        <p:txBody>
          <a:bodyPr/>
          <a:lstStyle/>
          <a:p>
            <a:pPr>
              <a:defRPr/>
            </a:pPr>
            <a:r>
              <a:rPr lang="pl-PL" altLang="en-US"/>
              <a:t>PJAIT</a:t>
            </a:r>
          </a:p>
        </p:txBody>
      </p:sp>
      <p:sp>
        <p:nvSpPr>
          <p:cNvPr id="11267" name="Rectangle 2"/>
          <p:cNvSpPr>
            <a:spLocks noGrp="1" noChangeArrowheads="1"/>
          </p:cNvSpPr>
          <p:nvPr>
            <p:ph type="title"/>
          </p:nvPr>
        </p:nvSpPr>
        <p:spPr/>
        <p:txBody>
          <a:bodyPr/>
          <a:lstStyle/>
          <a:p>
            <a:pPr eaLnBrk="1" hangingPunct="1"/>
            <a:r>
              <a:rPr lang="en-US" sz="3600" b="1" dirty="0"/>
              <a:t>Steps in the Rational Decision-Making Process</a:t>
            </a:r>
            <a:endParaRPr lang="pl-PL" sz="3600" b="1" dirty="0"/>
          </a:p>
        </p:txBody>
      </p:sp>
      <p:sp>
        <p:nvSpPr>
          <p:cNvPr id="11268" name="Rectangle 3"/>
          <p:cNvSpPr>
            <a:spLocks noGrp="1" noChangeArrowheads="1"/>
          </p:cNvSpPr>
          <p:nvPr>
            <p:ph type="body" idx="1"/>
          </p:nvPr>
        </p:nvSpPr>
        <p:spPr>
          <a:xfrm>
            <a:off x="468313" y="981075"/>
            <a:ext cx="8218487" cy="5149850"/>
          </a:xfrm>
        </p:spPr>
        <p:txBody>
          <a:bodyPr/>
          <a:lstStyle/>
          <a:p>
            <a:pPr eaLnBrk="1" hangingPunct="1">
              <a:buFont typeface="Wingdings" pitchFamily="2" charset="2"/>
              <a:buNone/>
            </a:pPr>
            <a:endParaRPr lang="pl-PL" dirty="0">
              <a:solidFill>
                <a:srgbClr val="003399"/>
              </a:solidFill>
            </a:endParaRPr>
          </a:p>
          <a:p>
            <a:pPr eaLnBrk="1" hangingPunct="1">
              <a:buFont typeface="Wingdings" pitchFamily="2" charset="2"/>
              <a:buNone/>
            </a:pPr>
            <a:endParaRPr lang="pl-PL" dirty="0">
              <a:solidFill>
                <a:srgbClr val="003399"/>
              </a:solidFill>
            </a:endParaRPr>
          </a:p>
        </p:txBody>
      </p:sp>
      <p:sp>
        <p:nvSpPr>
          <p:cNvPr id="11269" name="Rectangle 4"/>
          <p:cNvSpPr>
            <a:spLocks noChangeArrowheads="1"/>
          </p:cNvSpPr>
          <p:nvPr/>
        </p:nvSpPr>
        <p:spPr bwMode="auto">
          <a:xfrm>
            <a:off x="755650" y="2852738"/>
            <a:ext cx="7416800" cy="431800"/>
          </a:xfrm>
          <a:prstGeom prst="rect">
            <a:avLst/>
          </a:prstGeom>
          <a:solidFill>
            <a:srgbClr val="CCFFCC"/>
          </a:solidFill>
          <a:ln w="9525">
            <a:solidFill>
              <a:schemeClr val="tx1"/>
            </a:solidFill>
            <a:miter lim="800000"/>
            <a:headEnd/>
            <a:tailEnd/>
          </a:ln>
        </p:spPr>
        <p:txBody>
          <a:bodyPr wrap="none" anchor="ctr"/>
          <a:lstStyle/>
          <a:p>
            <a:r>
              <a:rPr lang="pl-PL" sz="1400" dirty="0"/>
              <a:t>Step 3. </a:t>
            </a:r>
            <a:r>
              <a:rPr lang="pl-PL" sz="1400" dirty="0" err="1"/>
              <a:t>Evaluating</a:t>
            </a:r>
            <a:r>
              <a:rPr lang="pl-PL" sz="1400" dirty="0"/>
              <a:t> </a:t>
            </a:r>
            <a:r>
              <a:rPr lang="pl-PL" sz="1400" dirty="0" err="1"/>
              <a:t>alternatives</a:t>
            </a:r>
            <a:endParaRPr lang="pl-PL" sz="1400" dirty="0"/>
          </a:p>
        </p:txBody>
      </p:sp>
      <p:sp>
        <p:nvSpPr>
          <p:cNvPr id="11270" name="Rectangle 5"/>
          <p:cNvSpPr>
            <a:spLocks noChangeArrowheads="1"/>
          </p:cNvSpPr>
          <p:nvPr/>
        </p:nvSpPr>
        <p:spPr bwMode="auto">
          <a:xfrm>
            <a:off x="755650" y="3500438"/>
            <a:ext cx="7416800" cy="433387"/>
          </a:xfrm>
          <a:prstGeom prst="rect">
            <a:avLst/>
          </a:prstGeom>
          <a:solidFill>
            <a:srgbClr val="CCFFCC"/>
          </a:solidFill>
          <a:ln w="9525">
            <a:solidFill>
              <a:schemeClr val="tx1"/>
            </a:solidFill>
            <a:miter lim="800000"/>
            <a:headEnd/>
            <a:tailEnd/>
          </a:ln>
        </p:spPr>
        <p:txBody>
          <a:bodyPr wrap="none" anchor="ctr"/>
          <a:lstStyle/>
          <a:p>
            <a:r>
              <a:rPr lang="pl-PL" sz="1400" dirty="0"/>
              <a:t>Step 4. </a:t>
            </a:r>
            <a:r>
              <a:rPr lang="pl-PL" sz="1400" dirty="0" err="1"/>
              <a:t>Selecting</a:t>
            </a:r>
            <a:r>
              <a:rPr lang="pl-PL" sz="1400" dirty="0"/>
              <a:t> the </a:t>
            </a:r>
            <a:r>
              <a:rPr lang="pl-PL" sz="1400" dirty="0" err="1"/>
              <a:t>best</a:t>
            </a:r>
            <a:r>
              <a:rPr lang="pl-PL" sz="1400" dirty="0"/>
              <a:t> </a:t>
            </a:r>
            <a:r>
              <a:rPr lang="pl-PL" sz="1400" dirty="0" err="1"/>
              <a:t>alternative</a:t>
            </a:r>
            <a:endParaRPr lang="pl-PL" sz="1400" dirty="0"/>
          </a:p>
        </p:txBody>
      </p:sp>
      <p:sp>
        <p:nvSpPr>
          <p:cNvPr id="11271" name="Rectangle 6"/>
          <p:cNvSpPr>
            <a:spLocks noChangeArrowheads="1"/>
          </p:cNvSpPr>
          <p:nvPr/>
        </p:nvSpPr>
        <p:spPr bwMode="auto">
          <a:xfrm>
            <a:off x="755650" y="4149725"/>
            <a:ext cx="7416800" cy="431800"/>
          </a:xfrm>
          <a:prstGeom prst="rect">
            <a:avLst/>
          </a:prstGeom>
          <a:solidFill>
            <a:srgbClr val="CCFFCC"/>
          </a:solidFill>
          <a:ln w="9525">
            <a:solidFill>
              <a:schemeClr val="tx1"/>
            </a:solidFill>
            <a:miter lim="800000"/>
            <a:headEnd/>
            <a:tailEnd/>
          </a:ln>
        </p:spPr>
        <p:txBody>
          <a:bodyPr wrap="none" anchor="ctr"/>
          <a:lstStyle/>
          <a:p>
            <a:r>
              <a:rPr lang="pl-PL" sz="1400" dirty="0"/>
              <a:t>Step 5. </a:t>
            </a:r>
            <a:r>
              <a:rPr lang="pl-PL" sz="1400" dirty="0" err="1"/>
              <a:t>Verification</a:t>
            </a:r>
            <a:r>
              <a:rPr lang="pl-PL" sz="1400" dirty="0"/>
              <a:t> of the </a:t>
            </a:r>
            <a:r>
              <a:rPr lang="pl-PL" sz="1400" dirty="0" err="1"/>
              <a:t>recommended</a:t>
            </a:r>
            <a:r>
              <a:rPr lang="pl-PL" sz="1400" dirty="0"/>
              <a:t> </a:t>
            </a:r>
            <a:r>
              <a:rPr lang="pl-PL" sz="1400" dirty="0" err="1"/>
              <a:t>solution</a:t>
            </a:r>
            <a:r>
              <a:rPr lang="pl-PL" sz="1400" dirty="0"/>
              <a:t>/</a:t>
            </a:r>
            <a:r>
              <a:rPr lang="pl-PL" sz="1400" dirty="0" err="1"/>
              <a:t>correcting</a:t>
            </a:r>
            <a:r>
              <a:rPr lang="pl-PL" sz="1400" dirty="0"/>
              <a:t> the </a:t>
            </a:r>
            <a:r>
              <a:rPr lang="pl-PL" sz="1400" dirty="0" err="1"/>
              <a:t>solution</a:t>
            </a:r>
            <a:endParaRPr lang="pl-PL" sz="1400" dirty="0"/>
          </a:p>
        </p:txBody>
      </p:sp>
      <p:sp>
        <p:nvSpPr>
          <p:cNvPr id="11272" name="Rectangle 7"/>
          <p:cNvSpPr>
            <a:spLocks noChangeArrowheads="1"/>
          </p:cNvSpPr>
          <p:nvPr/>
        </p:nvSpPr>
        <p:spPr bwMode="auto">
          <a:xfrm>
            <a:off x="755650" y="4868863"/>
            <a:ext cx="7416800" cy="431800"/>
          </a:xfrm>
          <a:prstGeom prst="rect">
            <a:avLst/>
          </a:prstGeom>
          <a:solidFill>
            <a:srgbClr val="CCFFCC"/>
          </a:solidFill>
          <a:ln w="9525">
            <a:solidFill>
              <a:schemeClr val="tx1"/>
            </a:solidFill>
            <a:miter lim="800000"/>
            <a:headEnd/>
            <a:tailEnd/>
          </a:ln>
        </p:spPr>
        <p:txBody>
          <a:bodyPr wrap="none" anchor="ctr"/>
          <a:lstStyle/>
          <a:p>
            <a:r>
              <a:rPr lang="pl-PL" sz="1400" dirty="0"/>
              <a:t>Step 6. </a:t>
            </a:r>
            <a:r>
              <a:rPr lang="pl-PL" sz="1400" dirty="0" err="1"/>
              <a:t>Implementing</a:t>
            </a:r>
            <a:r>
              <a:rPr lang="pl-PL" sz="1400" dirty="0"/>
              <a:t> the </a:t>
            </a:r>
            <a:r>
              <a:rPr lang="pl-PL" sz="1400" dirty="0" err="1"/>
              <a:t>chosen</a:t>
            </a:r>
            <a:r>
              <a:rPr lang="pl-PL" sz="1400" dirty="0"/>
              <a:t> </a:t>
            </a:r>
            <a:r>
              <a:rPr lang="pl-PL" sz="1400" dirty="0" err="1"/>
              <a:t>alternative</a:t>
            </a:r>
            <a:r>
              <a:rPr lang="pl-PL" sz="1400" dirty="0"/>
              <a:t> </a:t>
            </a:r>
          </a:p>
        </p:txBody>
      </p:sp>
      <p:sp>
        <p:nvSpPr>
          <p:cNvPr id="11273" name="Rectangle 8"/>
          <p:cNvSpPr>
            <a:spLocks noChangeArrowheads="1"/>
          </p:cNvSpPr>
          <p:nvPr/>
        </p:nvSpPr>
        <p:spPr bwMode="auto">
          <a:xfrm>
            <a:off x="755650" y="2276475"/>
            <a:ext cx="7416800" cy="360363"/>
          </a:xfrm>
          <a:prstGeom prst="rect">
            <a:avLst/>
          </a:prstGeom>
          <a:solidFill>
            <a:srgbClr val="CCFFCC"/>
          </a:solidFill>
          <a:ln w="9525">
            <a:solidFill>
              <a:schemeClr val="tx1"/>
            </a:solidFill>
            <a:miter lim="800000"/>
            <a:headEnd/>
            <a:tailEnd/>
          </a:ln>
        </p:spPr>
        <p:txBody>
          <a:bodyPr wrap="none" anchor="ctr"/>
          <a:lstStyle/>
          <a:p>
            <a:r>
              <a:rPr lang="pl-PL" sz="1400" dirty="0"/>
              <a:t>Step 2. </a:t>
            </a:r>
            <a:r>
              <a:rPr lang="pl-PL" sz="1400" dirty="0" err="1"/>
              <a:t>Identifying</a:t>
            </a:r>
            <a:r>
              <a:rPr lang="pl-PL" sz="1400" dirty="0"/>
              <a:t> </a:t>
            </a:r>
            <a:r>
              <a:rPr lang="pl-PL" sz="1400" dirty="0" err="1"/>
              <a:t>alternatives</a:t>
            </a:r>
            <a:endParaRPr lang="pl-PL" sz="1400" dirty="0"/>
          </a:p>
        </p:txBody>
      </p:sp>
      <p:sp>
        <p:nvSpPr>
          <p:cNvPr id="11274" name="Rectangle 9"/>
          <p:cNvSpPr>
            <a:spLocks noChangeArrowheads="1"/>
          </p:cNvSpPr>
          <p:nvPr/>
        </p:nvSpPr>
        <p:spPr bwMode="auto">
          <a:xfrm>
            <a:off x="755650" y="5516563"/>
            <a:ext cx="7416800" cy="431800"/>
          </a:xfrm>
          <a:prstGeom prst="rect">
            <a:avLst/>
          </a:prstGeom>
          <a:solidFill>
            <a:srgbClr val="CCFFCC"/>
          </a:solidFill>
          <a:ln w="9525">
            <a:solidFill>
              <a:schemeClr val="tx1"/>
            </a:solidFill>
            <a:miter lim="800000"/>
            <a:headEnd/>
            <a:tailEnd/>
          </a:ln>
        </p:spPr>
        <p:txBody>
          <a:bodyPr wrap="none" anchor="ctr"/>
          <a:lstStyle/>
          <a:p>
            <a:r>
              <a:rPr lang="pl-PL" sz="1400" dirty="0"/>
              <a:t>Step 7. </a:t>
            </a:r>
            <a:r>
              <a:rPr lang="pl-PL" sz="1400" dirty="0" err="1"/>
              <a:t>Following</a:t>
            </a:r>
            <a:r>
              <a:rPr lang="pl-PL" sz="1400" dirty="0"/>
              <a:t> </a:t>
            </a:r>
            <a:r>
              <a:rPr lang="pl-PL" sz="1400" dirty="0" err="1"/>
              <a:t>up</a:t>
            </a:r>
            <a:r>
              <a:rPr lang="pl-PL" sz="1400" dirty="0"/>
              <a:t> and </a:t>
            </a:r>
            <a:r>
              <a:rPr lang="pl-PL" sz="1400" dirty="0" err="1"/>
              <a:t>evaluating</a:t>
            </a:r>
            <a:r>
              <a:rPr lang="pl-PL" sz="1400" dirty="0"/>
              <a:t> the </a:t>
            </a:r>
            <a:r>
              <a:rPr lang="pl-PL" sz="1400" dirty="0" err="1"/>
              <a:t>results</a:t>
            </a:r>
            <a:endParaRPr lang="pl-PL" sz="1400" dirty="0"/>
          </a:p>
        </p:txBody>
      </p:sp>
      <p:sp>
        <p:nvSpPr>
          <p:cNvPr id="11275" name="Rectangle 10"/>
          <p:cNvSpPr>
            <a:spLocks noChangeArrowheads="1"/>
          </p:cNvSpPr>
          <p:nvPr/>
        </p:nvSpPr>
        <p:spPr bwMode="auto">
          <a:xfrm>
            <a:off x="755650" y="1628775"/>
            <a:ext cx="7416800" cy="431800"/>
          </a:xfrm>
          <a:prstGeom prst="rect">
            <a:avLst/>
          </a:prstGeom>
          <a:solidFill>
            <a:srgbClr val="CCFFCC"/>
          </a:solidFill>
          <a:ln w="9525">
            <a:solidFill>
              <a:schemeClr val="tx1"/>
            </a:solidFill>
            <a:miter lim="800000"/>
            <a:headEnd/>
            <a:tailEnd/>
          </a:ln>
        </p:spPr>
        <p:txBody>
          <a:bodyPr wrap="none" anchor="ctr"/>
          <a:lstStyle/>
          <a:p>
            <a:r>
              <a:rPr lang="pl-PL" sz="1400" dirty="0"/>
              <a:t>Step 1. </a:t>
            </a:r>
            <a:r>
              <a:rPr lang="pl-PL" sz="1400" dirty="0" err="1"/>
              <a:t>Recognizing</a:t>
            </a:r>
            <a:r>
              <a:rPr lang="pl-PL" sz="1400" dirty="0"/>
              <a:t> and </a:t>
            </a:r>
            <a:r>
              <a:rPr lang="pl-PL" sz="1400" dirty="0" err="1"/>
              <a:t>defining</a:t>
            </a:r>
            <a:r>
              <a:rPr lang="pl-PL" sz="1400" dirty="0"/>
              <a:t> the </a:t>
            </a:r>
            <a:r>
              <a:rPr lang="pl-PL" sz="1400" dirty="0" err="1"/>
              <a:t>decision</a:t>
            </a:r>
            <a:r>
              <a:rPr lang="pl-PL" sz="1400" dirty="0"/>
              <a:t> </a:t>
            </a:r>
            <a:r>
              <a:rPr lang="pl-PL" sz="1400" dirty="0" err="1"/>
              <a:t>situation</a:t>
            </a:r>
            <a:endParaRPr lang="pl-PL" sz="1400" dirty="0"/>
          </a:p>
        </p:txBody>
      </p:sp>
      <p:sp>
        <p:nvSpPr>
          <p:cNvPr id="11276" name="Rectangle 11"/>
          <p:cNvSpPr>
            <a:spLocks noChangeArrowheads="1"/>
          </p:cNvSpPr>
          <p:nvPr/>
        </p:nvSpPr>
        <p:spPr bwMode="auto">
          <a:xfrm>
            <a:off x="755650" y="6165850"/>
            <a:ext cx="7416800" cy="431800"/>
          </a:xfrm>
          <a:prstGeom prst="rect">
            <a:avLst/>
          </a:prstGeom>
          <a:solidFill>
            <a:srgbClr val="CCFFCC"/>
          </a:solidFill>
          <a:ln w="9525">
            <a:solidFill>
              <a:schemeClr val="tx1"/>
            </a:solidFill>
            <a:miter lim="800000"/>
            <a:headEnd/>
            <a:tailEnd/>
          </a:ln>
        </p:spPr>
        <p:txBody>
          <a:bodyPr wrap="none" anchor="ctr"/>
          <a:lstStyle/>
          <a:p>
            <a:r>
              <a:rPr lang="pl-PL" sz="1400" dirty="0"/>
              <a:t>Step 8. </a:t>
            </a:r>
            <a:r>
              <a:rPr lang="pl-PL" sz="1400" i="1" dirty="0" err="1"/>
              <a:t>Reengineering</a:t>
            </a:r>
            <a:endParaRPr lang="pl-PL" sz="1400" i="1" dirty="0"/>
          </a:p>
        </p:txBody>
      </p:sp>
      <p:sp>
        <p:nvSpPr>
          <p:cNvPr id="11277" name="Line 13"/>
          <p:cNvSpPr>
            <a:spLocks noChangeShapeType="1"/>
          </p:cNvSpPr>
          <p:nvPr/>
        </p:nvSpPr>
        <p:spPr bwMode="auto">
          <a:xfrm>
            <a:off x="4643438" y="2060575"/>
            <a:ext cx="0" cy="215900"/>
          </a:xfrm>
          <a:prstGeom prst="line">
            <a:avLst/>
          </a:prstGeom>
          <a:noFill/>
          <a:ln w="9525">
            <a:solidFill>
              <a:schemeClr val="tx1"/>
            </a:solidFill>
            <a:round/>
            <a:headEnd/>
            <a:tailEnd type="triangle" w="med" len="med"/>
          </a:ln>
        </p:spPr>
        <p:txBody>
          <a:bodyPr/>
          <a:lstStyle/>
          <a:p>
            <a:endParaRPr lang="pl-PL"/>
          </a:p>
        </p:txBody>
      </p:sp>
      <p:sp>
        <p:nvSpPr>
          <p:cNvPr id="11278" name="Line 14"/>
          <p:cNvSpPr>
            <a:spLocks noChangeShapeType="1"/>
          </p:cNvSpPr>
          <p:nvPr/>
        </p:nvSpPr>
        <p:spPr bwMode="auto">
          <a:xfrm>
            <a:off x="4643438" y="2636838"/>
            <a:ext cx="0" cy="215900"/>
          </a:xfrm>
          <a:prstGeom prst="line">
            <a:avLst/>
          </a:prstGeom>
          <a:noFill/>
          <a:ln w="9525">
            <a:solidFill>
              <a:schemeClr val="tx1"/>
            </a:solidFill>
            <a:round/>
            <a:headEnd/>
            <a:tailEnd type="triangle" w="med" len="med"/>
          </a:ln>
        </p:spPr>
        <p:txBody>
          <a:bodyPr/>
          <a:lstStyle/>
          <a:p>
            <a:endParaRPr lang="pl-PL"/>
          </a:p>
        </p:txBody>
      </p:sp>
      <p:sp>
        <p:nvSpPr>
          <p:cNvPr id="11279" name="Line 15"/>
          <p:cNvSpPr>
            <a:spLocks noChangeShapeType="1"/>
          </p:cNvSpPr>
          <p:nvPr/>
        </p:nvSpPr>
        <p:spPr bwMode="auto">
          <a:xfrm>
            <a:off x="4643438" y="3284538"/>
            <a:ext cx="0" cy="215900"/>
          </a:xfrm>
          <a:prstGeom prst="line">
            <a:avLst/>
          </a:prstGeom>
          <a:noFill/>
          <a:ln w="9525">
            <a:solidFill>
              <a:schemeClr val="tx1"/>
            </a:solidFill>
            <a:round/>
            <a:headEnd/>
            <a:tailEnd type="triangle" w="med" len="med"/>
          </a:ln>
        </p:spPr>
        <p:txBody>
          <a:bodyPr/>
          <a:lstStyle/>
          <a:p>
            <a:endParaRPr lang="pl-PL"/>
          </a:p>
        </p:txBody>
      </p:sp>
      <p:sp>
        <p:nvSpPr>
          <p:cNvPr id="11280" name="Line 16"/>
          <p:cNvSpPr>
            <a:spLocks noChangeShapeType="1"/>
          </p:cNvSpPr>
          <p:nvPr/>
        </p:nvSpPr>
        <p:spPr bwMode="auto">
          <a:xfrm>
            <a:off x="4643438" y="3933825"/>
            <a:ext cx="0" cy="215900"/>
          </a:xfrm>
          <a:prstGeom prst="line">
            <a:avLst/>
          </a:prstGeom>
          <a:noFill/>
          <a:ln w="9525">
            <a:solidFill>
              <a:schemeClr val="tx1"/>
            </a:solidFill>
            <a:round/>
            <a:headEnd/>
            <a:tailEnd type="triangle" w="med" len="med"/>
          </a:ln>
        </p:spPr>
        <p:txBody>
          <a:bodyPr/>
          <a:lstStyle/>
          <a:p>
            <a:endParaRPr lang="pl-PL"/>
          </a:p>
        </p:txBody>
      </p:sp>
      <p:sp>
        <p:nvSpPr>
          <p:cNvPr id="11281" name="Line 18"/>
          <p:cNvSpPr>
            <a:spLocks noChangeShapeType="1"/>
          </p:cNvSpPr>
          <p:nvPr/>
        </p:nvSpPr>
        <p:spPr bwMode="auto">
          <a:xfrm>
            <a:off x="4643438" y="5300663"/>
            <a:ext cx="0" cy="215900"/>
          </a:xfrm>
          <a:prstGeom prst="line">
            <a:avLst/>
          </a:prstGeom>
          <a:noFill/>
          <a:ln w="9525">
            <a:solidFill>
              <a:schemeClr val="tx1"/>
            </a:solidFill>
            <a:round/>
            <a:headEnd/>
            <a:tailEnd type="triangle" w="med" len="med"/>
          </a:ln>
        </p:spPr>
        <p:txBody>
          <a:bodyPr/>
          <a:lstStyle/>
          <a:p>
            <a:endParaRPr lang="pl-PL"/>
          </a:p>
        </p:txBody>
      </p:sp>
      <p:sp>
        <p:nvSpPr>
          <p:cNvPr id="11282" name="Line 19"/>
          <p:cNvSpPr>
            <a:spLocks noChangeShapeType="1"/>
          </p:cNvSpPr>
          <p:nvPr/>
        </p:nvSpPr>
        <p:spPr bwMode="auto">
          <a:xfrm>
            <a:off x="4643438" y="5949950"/>
            <a:ext cx="0" cy="215900"/>
          </a:xfrm>
          <a:prstGeom prst="line">
            <a:avLst/>
          </a:prstGeom>
          <a:noFill/>
          <a:ln w="9525">
            <a:solidFill>
              <a:schemeClr val="tx1"/>
            </a:solidFill>
            <a:round/>
            <a:headEnd/>
            <a:tailEnd type="triangle" w="med" len="med"/>
          </a:ln>
        </p:spPr>
        <p:txBody>
          <a:bodyPr/>
          <a:lstStyle/>
          <a:p>
            <a:endParaRPr lang="pl-PL"/>
          </a:p>
        </p:txBody>
      </p:sp>
      <p:sp>
        <p:nvSpPr>
          <p:cNvPr id="11283" name="Line 20"/>
          <p:cNvSpPr>
            <a:spLocks noChangeShapeType="1"/>
          </p:cNvSpPr>
          <p:nvPr/>
        </p:nvSpPr>
        <p:spPr bwMode="auto">
          <a:xfrm>
            <a:off x="4643438" y="4652963"/>
            <a:ext cx="0" cy="215900"/>
          </a:xfrm>
          <a:prstGeom prst="line">
            <a:avLst/>
          </a:prstGeom>
          <a:noFill/>
          <a:ln w="9525">
            <a:solidFill>
              <a:schemeClr val="tx1"/>
            </a:solidFill>
            <a:round/>
            <a:headEnd/>
            <a:tailEnd type="triangle" w="med" len="med"/>
          </a:ln>
        </p:spPr>
        <p:txBody>
          <a:bodyPr/>
          <a:lstStyle/>
          <a:p>
            <a:endParaRPr lang="pl-PL"/>
          </a:p>
        </p:txBody>
      </p:sp>
      <p:sp>
        <p:nvSpPr>
          <p:cNvPr id="11284" name="Line 21"/>
          <p:cNvSpPr>
            <a:spLocks noChangeShapeType="1"/>
          </p:cNvSpPr>
          <p:nvPr/>
        </p:nvSpPr>
        <p:spPr bwMode="auto">
          <a:xfrm flipH="1">
            <a:off x="8172450" y="1844675"/>
            <a:ext cx="431800" cy="0"/>
          </a:xfrm>
          <a:prstGeom prst="line">
            <a:avLst/>
          </a:prstGeom>
          <a:noFill/>
          <a:ln w="9525">
            <a:solidFill>
              <a:schemeClr val="tx1"/>
            </a:solidFill>
            <a:round/>
            <a:headEnd/>
            <a:tailEnd type="triangle" w="med" len="med"/>
          </a:ln>
        </p:spPr>
        <p:txBody>
          <a:bodyPr/>
          <a:lstStyle/>
          <a:p>
            <a:endParaRPr lang="pl-PL"/>
          </a:p>
        </p:txBody>
      </p:sp>
      <p:sp>
        <p:nvSpPr>
          <p:cNvPr id="11285" name="Line 22"/>
          <p:cNvSpPr>
            <a:spLocks noChangeShapeType="1"/>
          </p:cNvSpPr>
          <p:nvPr/>
        </p:nvSpPr>
        <p:spPr bwMode="auto">
          <a:xfrm flipH="1">
            <a:off x="8172450" y="2420938"/>
            <a:ext cx="431800" cy="0"/>
          </a:xfrm>
          <a:prstGeom prst="line">
            <a:avLst/>
          </a:prstGeom>
          <a:noFill/>
          <a:ln w="9525">
            <a:solidFill>
              <a:schemeClr val="tx1"/>
            </a:solidFill>
            <a:round/>
            <a:headEnd/>
            <a:tailEnd type="triangle" w="med" len="med"/>
          </a:ln>
        </p:spPr>
        <p:txBody>
          <a:bodyPr/>
          <a:lstStyle/>
          <a:p>
            <a:endParaRPr lang="pl-PL"/>
          </a:p>
        </p:txBody>
      </p:sp>
      <p:sp>
        <p:nvSpPr>
          <p:cNvPr id="11286" name="Line 23"/>
          <p:cNvSpPr>
            <a:spLocks noChangeShapeType="1"/>
          </p:cNvSpPr>
          <p:nvPr/>
        </p:nvSpPr>
        <p:spPr bwMode="auto">
          <a:xfrm flipH="1">
            <a:off x="8172450" y="3068638"/>
            <a:ext cx="431800" cy="0"/>
          </a:xfrm>
          <a:prstGeom prst="line">
            <a:avLst/>
          </a:prstGeom>
          <a:noFill/>
          <a:ln w="9525">
            <a:solidFill>
              <a:schemeClr val="tx1"/>
            </a:solidFill>
            <a:round/>
            <a:headEnd/>
            <a:tailEnd type="triangle" w="med" len="med"/>
          </a:ln>
        </p:spPr>
        <p:txBody>
          <a:bodyPr/>
          <a:lstStyle/>
          <a:p>
            <a:endParaRPr lang="pl-PL"/>
          </a:p>
        </p:txBody>
      </p:sp>
      <p:sp>
        <p:nvSpPr>
          <p:cNvPr id="11287" name="Line 24"/>
          <p:cNvSpPr>
            <a:spLocks noChangeShapeType="1"/>
          </p:cNvSpPr>
          <p:nvPr/>
        </p:nvSpPr>
        <p:spPr bwMode="auto">
          <a:xfrm flipH="1">
            <a:off x="8172450" y="3716338"/>
            <a:ext cx="431800" cy="0"/>
          </a:xfrm>
          <a:prstGeom prst="line">
            <a:avLst/>
          </a:prstGeom>
          <a:noFill/>
          <a:ln w="9525">
            <a:solidFill>
              <a:schemeClr val="tx1"/>
            </a:solidFill>
            <a:round/>
            <a:headEnd/>
            <a:tailEnd type="triangle" w="med" len="med"/>
          </a:ln>
        </p:spPr>
        <p:txBody>
          <a:bodyPr/>
          <a:lstStyle/>
          <a:p>
            <a:endParaRPr lang="pl-PL"/>
          </a:p>
        </p:txBody>
      </p:sp>
      <p:sp>
        <p:nvSpPr>
          <p:cNvPr id="11288" name="Line 25"/>
          <p:cNvSpPr>
            <a:spLocks noChangeShapeType="1"/>
          </p:cNvSpPr>
          <p:nvPr/>
        </p:nvSpPr>
        <p:spPr bwMode="auto">
          <a:xfrm flipH="1">
            <a:off x="8172450" y="4365625"/>
            <a:ext cx="431800" cy="0"/>
          </a:xfrm>
          <a:prstGeom prst="line">
            <a:avLst/>
          </a:prstGeom>
          <a:noFill/>
          <a:ln w="9525">
            <a:solidFill>
              <a:schemeClr val="tx1"/>
            </a:solidFill>
            <a:round/>
            <a:headEnd/>
            <a:tailEnd type="triangle" w="med" len="med"/>
          </a:ln>
        </p:spPr>
        <p:txBody>
          <a:bodyPr/>
          <a:lstStyle/>
          <a:p>
            <a:endParaRPr lang="pl-PL"/>
          </a:p>
        </p:txBody>
      </p:sp>
      <p:sp>
        <p:nvSpPr>
          <p:cNvPr id="11289" name="Line 26"/>
          <p:cNvSpPr>
            <a:spLocks noChangeShapeType="1"/>
          </p:cNvSpPr>
          <p:nvPr/>
        </p:nvSpPr>
        <p:spPr bwMode="auto">
          <a:xfrm>
            <a:off x="8604250" y="1844675"/>
            <a:ext cx="0" cy="2520950"/>
          </a:xfrm>
          <a:prstGeom prst="line">
            <a:avLst/>
          </a:prstGeom>
          <a:noFill/>
          <a:ln w="9525">
            <a:solidFill>
              <a:schemeClr val="tx1"/>
            </a:solidFill>
            <a:round/>
            <a:headEnd/>
            <a:tailEnd/>
          </a:ln>
        </p:spPr>
        <p:txBody>
          <a:bodyPr/>
          <a:lstStyle/>
          <a:p>
            <a:endParaRPr lang="pl-PL"/>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ymbol zastępczy stopki 4"/>
          <p:cNvSpPr>
            <a:spLocks noGrp="1"/>
          </p:cNvSpPr>
          <p:nvPr>
            <p:ph type="ftr" sz="quarter" idx="11"/>
          </p:nvPr>
        </p:nvSpPr>
        <p:spPr/>
        <p:txBody>
          <a:bodyPr/>
          <a:lstStyle/>
          <a:p>
            <a:pPr>
              <a:defRPr/>
            </a:pPr>
            <a:r>
              <a:rPr lang="pl-PL" altLang="en-US"/>
              <a:t>PJAIT</a:t>
            </a:r>
          </a:p>
        </p:txBody>
      </p:sp>
      <p:sp>
        <p:nvSpPr>
          <p:cNvPr id="12291" name="Rectangle 2"/>
          <p:cNvSpPr>
            <a:spLocks noGrp="1" noChangeArrowheads="1"/>
          </p:cNvSpPr>
          <p:nvPr>
            <p:ph type="title"/>
          </p:nvPr>
        </p:nvSpPr>
        <p:spPr/>
        <p:txBody>
          <a:bodyPr/>
          <a:lstStyle/>
          <a:p>
            <a:pPr eaLnBrk="1" hangingPunct="1"/>
            <a:r>
              <a:rPr lang="en-US" sz="4000" b="1" dirty="0"/>
              <a:t>Behavioral aspects of decision</a:t>
            </a:r>
            <a:r>
              <a:rPr lang="pl-PL" sz="4000" b="1" dirty="0"/>
              <a:t>-</a:t>
            </a:r>
            <a:r>
              <a:rPr lang="en-US" sz="4000" b="1" dirty="0"/>
              <a:t> making</a:t>
            </a:r>
            <a:endParaRPr lang="pl-PL" sz="4000" b="1" dirty="0"/>
          </a:p>
        </p:txBody>
      </p:sp>
      <p:sp>
        <p:nvSpPr>
          <p:cNvPr id="12292" name="Rectangle 3"/>
          <p:cNvSpPr>
            <a:spLocks noGrp="1" noChangeArrowheads="1"/>
          </p:cNvSpPr>
          <p:nvPr>
            <p:ph type="body" idx="1"/>
          </p:nvPr>
        </p:nvSpPr>
        <p:spPr/>
        <p:txBody>
          <a:bodyPr/>
          <a:lstStyle/>
          <a:p>
            <a:pPr eaLnBrk="1" hangingPunct="1">
              <a:buFont typeface="Wingdings" pitchFamily="2" charset="2"/>
              <a:buNone/>
            </a:pPr>
            <a:r>
              <a:rPr lang="pl-PL" dirty="0"/>
              <a:t> </a:t>
            </a:r>
            <a:r>
              <a:rPr lang="pl-PL" dirty="0" err="1">
                <a:solidFill>
                  <a:srgbClr val="003399"/>
                </a:solidFill>
              </a:rPr>
              <a:t>Administrative</a:t>
            </a:r>
            <a:r>
              <a:rPr lang="pl-PL" dirty="0">
                <a:solidFill>
                  <a:srgbClr val="003399"/>
                </a:solidFill>
              </a:rPr>
              <a:t> model</a:t>
            </a:r>
            <a:r>
              <a:rPr lang="pl-PL" sz="2900" b="1" dirty="0">
                <a:solidFill>
                  <a:srgbClr val="003399"/>
                </a:solidFill>
              </a:rPr>
              <a:t>:</a:t>
            </a:r>
            <a:r>
              <a:rPr lang="pl-PL" dirty="0">
                <a:solidFill>
                  <a:srgbClr val="003399"/>
                </a:solidFill>
              </a:rPr>
              <a:t> </a:t>
            </a:r>
          </a:p>
          <a:p>
            <a:pPr eaLnBrk="1" hangingPunct="1">
              <a:buFont typeface="Wingdings" pitchFamily="2" charset="2"/>
              <a:buNone/>
            </a:pPr>
            <a:endParaRPr lang="pl-PL" dirty="0">
              <a:solidFill>
                <a:srgbClr val="003399"/>
              </a:solidFill>
            </a:endParaRPr>
          </a:p>
        </p:txBody>
      </p:sp>
      <p:sp>
        <p:nvSpPr>
          <p:cNvPr id="12293" name="Rectangle 4"/>
          <p:cNvSpPr>
            <a:spLocks noChangeArrowheads="1"/>
          </p:cNvSpPr>
          <p:nvPr/>
        </p:nvSpPr>
        <p:spPr bwMode="auto">
          <a:xfrm>
            <a:off x="827088" y="2420938"/>
            <a:ext cx="1873250" cy="3240087"/>
          </a:xfrm>
          <a:prstGeom prst="rect">
            <a:avLst/>
          </a:prstGeom>
          <a:solidFill>
            <a:srgbClr val="CCFFFF"/>
          </a:solidFill>
          <a:ln w="9525">
            <a:solidFill>
              <a:schemeClr val="tx1"/>
            </a:solidFill>
            <a:miter lim="800000"/>
            <a:headEnd/>
            <a:tailEnd/>
          </a:ln>
        </p:spPr>
        <p:txBody>
          <a:bodyPr wrap="none" anchor="ctr"/>
          <a:lstStyle/>
          <a:p>
            <a:pPr algn="ctr"/>
            <a:endParaRPr lang="pl-PL" sz="1200"/>
          </a:p>
        </p:txBody>
      </p:sp>
      <p:sp>
        <p:nvSpPr>
          <p:cNvPr id="12294" name="Rectangle 5"/>
          <p:cNvSpPr>
            <a:spLocks noChangeArrowheads="1"/>
          </p:cNvSpPr>
          <p:nvPr/>
        </p:nvSpPr>
        <p:spPr bwMode="auto">
          <a:xfrm>
            <a:off x="3419475" y="2420938"/>
            <a:ext cx="1800225" cy="3240087"/>
          </a:xfrm>
          <a:prstGeom prst="rect">
            <a:avLst/>
          </a:prstGeom>
          <a:solidFill>
            <a:srgbClr val="CCFFFF"/>
          </a:solidFill>
          <a:ln w="9525">
            <a:solidFill>
              <a:schemeClr val="tx1"/>
            </a:solidFill>
            <a:miter lim="800000"/>
            <a:headEnd/>
            <a:tailEnd/>
          </a:ln>
        </p:spPr>
        <p:txBody>
          <a:bodyPr wrap="none" anchor="ctr"/>
          <a:lstStyle/>
          <a:p>
            <a:endParaRPr lang="pl-PL"/>
          </a:p>
        </p:txBody>
      </p:sp>
      <p:sp>
        <p:nvSpPr>
          <p:cNvPr id="12295" name="Rectangle 6"/>
          <p:cNvSpPr>
            <a:spLocks noChangeArrowheads="1"/>
          </p:cNvSpPr>
          <p:nvPr/>
        </p:nvSpPr>
        <p:spPr bwMode="auto">
          <a:xfrm>
            <a:off x="6011863" y="2420938"/>
            <a:ext cx="1800225" cy="3240087"/>
          </a:xfrm>
          <a:prstGeom prst="rect">
            <a:avLst/>
          </a:prstGeom>
          <a:solidFill>
            <a:srgbClr val="CCFFFF"/>
          </a:solidFill>
          <a:ln w="9525">
            <a:solidFill>
              <a:schemeClr val="tx1"/>
            </a:solidFill>
            <a:miter lim="800000"/>
            <a:headEnd/>
            <a:tailEnd/>
          </a:ln>
        </p:spPr>
        <p:txBody>
          <a:bodyPr wrap="none" anchor="ctr"/>
          <a:lstStyle/>
          <a:p>
            <a:endParaRPr lang="pl-PL"/>
          </a:p>
        </p:txBody>
      </p:sp>
      <p:sp>
        <p:nvSpPr>
          <p:cNvPr id="12296" name="Text Box 7"/>
          <p:cNvSpPr txBox="1">
            <a:spLocks noChangeArrowheads="1"/>
          </p:cNvSpPr>
          <p:nvPr/>
        </p:nvSpPr>
        <p:spPr bwMode="auto">
          <a:xfrm>
            <a:off x="900113" y="2636838"/>
            <a:ext cx="1655762" cy="954107"/>
          </a:xfrm>
          <a:prstGeom prst="rect">
            <a:avLst/>
          </a:prstGeom>
          <a:noFill/>
          <a:ln w="9525">
            <a:noFill/>
            <a:miter lim="800000"/>
            <a:headEnd/>
            <a:tailEnd/>
          </a:ln>
        </p:spPr>
        <p:txBody>
          <a:bodyPr>
            <a:spAutoFit/>
          </a:bodyPr>
          <a:lstStyle/>
          <a:p>
            <a:r>
              <a:rPr lang="pl-PL" sz="1400" dirty="0" err="1"/>
              <a:t>When</a:t>
            </a:r>
            <a:r>
              <a:rPr lang="pl-PL" sz="1400" dirty="0"/>
              <a:t> </a:t>
            </a:r>
            <a:r>
              <a:rPr lang="pl-PL" sz="1400" dirty="0" err="1"/>
              <a:t>faced</a:t>
            </a:r>
            <a:r>
              <a:rPr lang="pl-PL" sz="1400" dirty="0"/>
              <a:t> with a</a:t>
            </a:r>
          </a:p>
          <a:p>
            <a:r>
              <a:rPr lang="pl-PL" sz="1400" dirty="0" err="1"/>
              <a:t>decision</a:t>
            </a:r>
            <a:r>
              <a:rPr lang="pl-PL" sz="1400" dirty="0"/>
              <a:t> </a:t>
            </a:r>
            <a:r>
              <a:rPr lang="pl-PL" sz="1400" dirty="0" err="1"/>
              <a:t>situation</a:t>
            </a:r>
            <a:endParaRPr lang="pl-PL" sz="1400" dirty="0"/>
          </a:p>
          <a:p>
            <a:r>
              <a:rPr lang="pl-PL" sz="1400" dirty="0" err="1"/>
              <a:t>managers</a:t>
            </a:r>
            <a:r>
              <a:rPr lang="pl-PL" sz="1400" dirty="0"/>
              <a:t> </a:t>
            </a:r>
            <a:r>
              <a:rPr lang="pl-PL" sz="1400" i="1" dirty="0" err="1"/>
              <a:t>actually</a:t>
            </a:r>
            <a:r>
              <a:rPr lang="pl-PL" sz="1400" i="1" dirty="0"/>
              <a:t> . . . </a:t>
            </a:r>
            <a:endParaRPr lang="pl-PL" sz="1400" dirty="0"/>
          </a:p>
        </p:txBody>
      </p:sp>
      <p:sp>
        <p:nvSpPr>
          <p:cNvPr id="12297" name="Text Box 8"/>
          <p:cNvSpPr txBox="1">
            <a:spLocks noChangeArrowheads="1"/>
          </p:cNvSpPr>
          <p:nvPr/>
        </p:nvSpPr>
        <p:spPr bwMode="auto">
          <a:xfrm>
            <a:off x="3563938" y="2565400"/>
            <a:ext cx="1584325" cy="2031325"/>
          </a:xfrm>
          <a:prstGeom prst="rect">
            <a:avLst/>
          </a:prstGeom>
          <a:solidFill>
            <a:srgbClr val="CCFFFF"/>
          </a:solidFill>
          <a:ln w="9525">
            <a:noFill/>
            <a:miter lim="800000"/>
            <a:headEnd/>
            <a:tailEnd/>
          </a:ln>
        </p:spPr>
        <p:txBody>
          <a:bodyPr>
            <a:spAutoFit/>
          </a:bodyPr>
          <a:lstStyle/>
          <a:p>
            <a:r>
              <a:rPr lang="pl-PL" sz="1400" b="1" dirty="0"/>
              <a:t>• </a:t>
            </a:r>
            <a:r>
              <a:rPr lang="pl-PL" sz="1400" dirty="0" err="1"/>
              <a:t>use</a:t>
            </a:r>
            <a:r>
              <a:rPr lang="pl-PL" sz="1400" dirty="0"/>
              <a:t> </a:t>
            </a:r>
            <a:r>
              <a:rPr lang="pl-PL" sz="1400" dirty="0" err="1"/>
              <a:t>incomplete</a:t>
            </a:r>
            <a:r>
              <a:rPr lang="pl-PL" sz="1400" dirty="0"/>
              <a:t> and</a:t>
            </a:r>
          </a:p>
          <a:p>
            <a:r>
              <a:rPr lang="pl-PL" sz="1400" dirty="0" err="1"/>
              <a:t>imperfect</a:t>
            </a:r>
            <a:r>
              <a:rPr lang="pl-PL" sz="1400" dirty="0"/>
              <a:t> </a:t>
            </a:r>
            <a:r>
              <a:rPr lang="pl-PL" sz="1400" dirty="0" err="1"/>
              <a:t>information</a:t>
            </a:r>
            <a:endParaRPr lang="pl-PL" sz="1400" dirty="0"/>
          </a:p>
          <a:p>
            <a:r>
              <a:rPr lang="pl-PL" sz="1400" b="1" dirty="0"/>
              <a:t>• </a:t>
            </a:r>
            <a:r>
              <a:rPr lang="pl-PL" sz="1400" dirty="0" err="1"/>
              <a:t>are</a:t>
            </a:r>
            <a:r>
              <a:rPr lang="pl-PL" sz="1400" dirty="0"/>
              <a:t> </a:t>
            </a:r>
            <a:r>
              <a:rPr lang="pl-PL" sz="1400" dirty="0" err="1"/>
              <a:t>constrained</a:t>
            </a:r>
            <a:r>
              <a:rPr lang="pl-PL" sz="1400" dirty="0"/>
              <a:t> by</a:t>
            </a:r>
          </a:p>
          <a:p>
            <a:r>
              <a:rPr lang="pl-PL" sz="1400" dirty="0" err="1"/>
              <a:t>bounded</a:t>
            </a:r>
            <a:r>
              <a:rPr lang="pl-PL" sz="1400" dirty="0"/>
              <a:t> </a:t>
            </a:r>
            <a:r>
              <a:rPr lang="pl-PL" sz="1400" dirty="0" err="1"/>
              <a:t>rationality</a:t>
            </a:r>
            <a:endParaRPr lang="pl-PL" sz="1400" dirty="0"/>
          </a:p>
          <a:p>
            <a:r>
              <a:rPr lang="pl-PL" sz="1400" b="1" dirty="0"/>
              <a:t>• </a:t>
            </a:r>
            <a:r>
              <a:rPr lang="pl-PL" sz="1400" dirty="0" err="1"/>
              <a:t>tend</a:t>
            </a:r>
            <a:r>
              <a:rPr lang="pl-PL" sz="1400" dirty="0"/>
              <a:t> to </a:t>
            </a:r>
            <a:r>
              <a:rPr lang="pl-PL" sz="1400" dirty="0" err="1"/>
              <a:t>satisfice</a:t>
            </a:r>
            <a:endParaRPr lang="pl-PL" sz="1400" dirty="0"/>
          </a:p>
        </p:txBody>
      </p:sp>
      <p:sp>
        <p:nvSpPr>
          <p:cNvPr id="12298" name="Text Box 9"/>
          <p:cNvSpPr txBox="1">
            <a:spLocks noChangeArrowheads="1"/>
          </p:cNvSpPr>
          <p:nvPr/>
        </p:nvSpPr>
        <p:spPr bwMode="auto">
          <a:xfrm>
            <a:off x="6227763" y="2708275"/>
            <a:ext cx="1439862" cy="1815882"/>
          </a:xfrm>
          <a:prstGeom prst="rect">
            <a:avLst/>
          </a:prstGeom>
          <a:noFill/>
          <a:ln w="9525">
            <a:noFill/>
            <a:miter lim="800000"/>
            <a:headEnd/>
            <a:tailEnd/>
          </a:ln>
        </p:spPr>
        <p:txBody>
          <a:bodyPr>
            <a:spAutoFit/>
          </a:bodyPr>
          <a:lstStyle/>
          <a:p>
            <a:r>
              <a:rPr lang="en-US" sz="1400" dirty="0"/>
              <a:t>. . . and end up with a</a:t>
            </a:r>
          </a:p>
          <a:p>
            <a:r>
              <a:rPr lang="en-US" sz="1400" dirty="0"/>
              <a:t>decision that may or may</a:t>
            </a:r>
          </a:p>
          <a:p>
            <a:r>
              <a:rPr lang="pl-PL" sz="1400" dirty="0"/>
              <a:t>not </a:t>
            </a:r>
            <a:r>
              <a:rPr lang="pl-PL" sz="1400" dirty="0" err="1"/>
              <a:t>serve</a:t>
            </a:r>
            <a:r>
              <a:rPr lang="pl-PL" sz="1400" dirty="0"/>
              <a:t> the </a:t>
            </a:r>
            <a:r>
              <a:rPr lang="pl-PL" sz="1400" dirty="0" err="1"/>
              <a:t>interests</a:t>
            </a:r>
            <a:endParaRPr lang="pl-PL" sz="1400" dirty="0"/>
          </a:p>
          <a:p>
            <a:r>
              <a:rPr lang="pl-PL" sz="1400" dirty="0"/>
              <a:t>of the </a:t>
            </a:r>
            <a:r>
              <a:rPr lang="pl-PL" sz="1400" dirty="0" err="1"/>
              <a:t>organization</a:t>
            </a:r>
            <a:r>
              <a:rPr lang="pl-PL" sz="1400" dirty="0"/>
              <a:t>.</a:t>
            </a:r>
          </a:p>
        </p:txBody>
      </p:sp>
      <p:sp>
        <p:nvSpPr>
          <p:cNvPr id="12299" name="Line 10"/>
          <p:cNvSpPr>
            <a:spLocks noChangeShapeType="1"/>
          </p:cNvSpPr>
          <p:nvPr/>
        </p:nvSpPr>
        <p:spPr bwMode="auto">
          <a:xfrm>
            <a:off x="2843213" y="4149725"/>
            <a:ext cx="360362" cy="0"/>
          </a:xfrm>
          <a:prstGeom prst="line">
            <a:avLst/>
          </a:prstGeom>
          <a:noFill/>
          <a:ln w="9525">
            <a:solidFill>
              <a:schemeClr val="tx1"/>
            </a:solidFill>
            <a:round/>
            <a:headEnd/>
            <a:tailEnd type="triangle" w="med" len="med"/>
          </a:ln>
        </p:spPr>
        <p:txBody>
          <a:bodyPr/>
          <a:lstStyle/>
          <a:p>
            <a:endParaRPr lang="pl-PL"/>
          </a:p>
        </p:txBody>
      </p:sp>
      <p:sp>
        <p:nvSpPr>
          <p:cNvPr id="12300" name="Line 11"/>
          <p:cNvSpPr>
            <a:spLocks noChangeShapeType="1"/>
          </p:cNvSpPr>
          <p:nvPr/>
        </p:nvSpPr>
        <p:spPr bwMode="auto">
          <a:xfrm>
            <a:off x="5435600" y="4149725"/>
            <a:ext cx="358775" cy="0"/>
          </a:xfrm>
          <a:prstGeom prst="line">
            <a:avLst/>
          </a:prstGeom>
          <a:noFill/>
          <a:ln w="9525">
            <a:solidFill>
              <a:schemeClr val="tx1"/>
            </a:solidFill>
            <a:round/>
            <a:headEnd/>
            <a:tailEnd type="triangle" w="med" len="med"/>
          </a:ln>
        </p:spPr>
        <p:txBody>
          <a:bodyPr/>
          <a:lstStyle/>
          <a:p>
            <a:endParaRPr lang="pl-PL"/>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ymbol zastępczy stopki 4"/>
          <p:cNvSpPr>
            <a:spLocks noGrp="1"/>
          </p:cNvSpPr>
          <p:nvPr>
            <p:ph type="ftr" sz="quarter" idx="11"/>
          </p:nvPr>
        </p:nvSpPr>
        <p:spPr/>
        <p:txBody>
          <a:bodyPr/>
          <a:lstStyle/>
          <a:p>
            <a:pPr>
              <a:defRPr/>
            </a:pPr>
            <a:r>
              <a:rPr lang="pl-PL" altLang="en-US"/>
              <a:t>PJAIT</a:t>
            </a:r>
          </a:p>
        </p:txBody>
      </p:sp>
      <p:sp>
        <p:nvSpPr>
          <p:cNvPr id="13315" name="Rectangle 2"/>
          <p:cNvSpPr>
            <a:spLocks noGrp="1" noChangeArrowheads="1"/>
          </p:cNvSpPr>
          <p:nvPr>
            <p:ph type="title"/>
          </p:nvPr>
        </p:nvSpPr>
        <p:spPr/>
        <p:txBody>
          <a:bodyPr/>
          <a:lstStyle/>
          <a:p>
            <a:pPr eaLnBrk="1" hangingPunct="1"/>
            <a:r>
              <a:rPr lang="en-US" sz="4000" b="1" dirty="0"/>
              <a:t>Behavioral aspects of decision</a:t>
            </a:r>
            <a:r>
              <a:rPr lang="pl-PL" sz="4000" b="1" dirty="0"/>
              <a:t>-</a:t>
            </a:r>
            <a:r>
              <a:rPr lang="en-US" sz="4000" b="1" dirty="0"/>
              <a:t> making</a:t>
            </a:r>
            <a:endParaRPr lang="pl-PL" sz="4000" b="1" dirty="0"/>
          </a:p>
        </p:txBody>
      </p:sp>
      <p:sp>
        <p:nvSpPr>
          <p:cNvPr id="13316" name="Rectangle 3"/>
          <p:cNvSpPr>
            <a:spLocks noGrp="1" noChangeArrowheads="1"/>
          </p:cNvSpPr>
          <p:nvPr>
            <p:ph type="body" idx="1"/>
          </p:nvPr>
        </p:nvSpPr>
        <p:spPr/>
        <p:txBody>
          <a:bodyPr/>
          <a:lstStyle/>
          <a:p>
            <a:pPr eaLnBrk="1" hangingPunct="1">
              <a:lnSpc>
                <a:spcPct val="90000"/>
              </a:lnSpc>
            </a:pPr>
            <a:r>
              <a:rPr lang="pl-PL" sz="3200" dirty="0" err="1">
                <a:solidFill>
                  <a:srgbClr val="003399"/>
                </a:solidFill>
              </a:rPr>
              <a:t>Bounded</a:t>
            </a:r>
            <a:r>
              <a:rPr lang="pl-PL" sz="3200" dirty="0">
                <a:solidFill>
                  <a:srgbClr val="003399"/>
                </a:solidFill>
              </a:rPr>
              <a:t> </a:t>
            </a:r>
            <a:r>
              <a:rPr lang="pl-PL" sz="3200" dirty="0" err="1">
                <a:solidFill>
                  <a:srgbClr val="003399"/>
                </a:solidFill>
              </a:rPr>
              <a:t>rationality</a:t>
            </a:r>
            <a:endParaRPr lang="pl-PL" sz="3200" dirty="0">
              <a:solidFill>
                <a:srgbClr val="003399"/>
              </a:solidFill>
            </a:endParaRPr>
          </a:p>
          <a:p>
            <a:pPr eaLnBrk="1" hangingPunct="1">
              <a:lnSpc>
                <a:spcPct val="90000"/>
              </a:lnSpc>
            </a:pPr>
            <a:r>
              <a:rPr lang="pl-PL" sz="3200" dirty="0" err="1">
                <a:solidFill>
                  <a:srgbClr val="003399"/>
                </a:solidFill>
              </a:rPr>
              <a:t>Satisficing</a:t>
            </a:r>
            <a:r>
              <a:rPr lang="pl-PL" sz="3200" dirty="0">
                <a:solidFill>
                  <a:srgbClr val="003399"/>
                </a:solidFill>
              </a:rPr>
              <a:t> </a:t>
            </a:r>
          </a:p>
          <a:p>
            <a:pPr eaLnBrk="1" hangingPunct="1">
              <a:lnSpc>
                <a:spcPct val="90000"/>
              </a:lnSpc>
            </a:pPr>
            <a:r>
              <a:rPr lang="pl-PL" sz="3200" dirty="0" err="1">
                <a:solidFill>
                  <a:srgbClr val="003399"/>
                </a:solidFill>
              </a:rPr>
              <a:t>Coalition</a:t>
            </a:r>
            <a:endParaRPr lang="pl-PL" sz="3200" dirty="0">
              <a:solidFill>
                <a:srgbClr val="003399"/>
              </a:solidFill>
            </a:endParaRPr>
          </a:p>
          <a:p>
            <a:pPr eaLnBrk="1" hangingPunct="1">
              <a:lnSpc>
                <a:spcPct val="90000"/>
              </a:lnSpc>
            </a:pPr>
            <a:r>
              <a:rPr lang="pl-PL" sz="3200" dirty="0" err="1">
                <a:solidFill>
                  <a:srgbClr val="003399"/>
                </a:solidFill>
              </a:rPr>
              <a:t>Intuition</a:t>
            </a:r>
            <a:endParaRPr lang="pl-PL" sz="3200" dirty="0">
              <a:solidFill>
                <a:srgbClr val="003399"/>
              </a:solidFill>
            </a:endParaRPr>
          </a:p>
          <a:p>
            <a:pPr eaLnBrk="1" hangingPunct="1">
              <a:lnSpc>
                <a:spcPct val="90000"/>
              </a:lnSpc>
            </a:pPr>
            <a:r>
              <a:rPr lang="pl-PL" sz="3200" dirty="0" err="1">
                <a:solidFill>
                  <a:srgbClr val="003399"/>
                </a:solidFill>
              </a:rPr>
              <a:t>Escalation</a:t>
            </a:r>
            <a:r>
              <a:rPr lang="pl-PL" sz="3200" dirty="0">
                <a:solidFill>
                  <a:srgbClr val="003399"/>
                </a:solidFill>
              </a:rPr>
              <a:t> of </a:t>
            </a:r>
            <a:r>
              <a:rPr lang="pl-PL" sz="3200" dirty="0" err="1">
                <a:solidFill>
                  <a:srgbClr val="003399"/>
                </a:solidFill>
              </a:rPr>
              <a:t>commitment</a:t>
            </a:r>
            <a:endParaRPr lang="pl-PL" sz="3200" dirty="0">
              <a:solidFill>
                <a:srgbClr val="003399"/>
              </a:solidFill>
            </a:endParaRPr>
          </a:p>
          <a:p>
            <a:pPr eaLnBrk="1" hangingPunct="1">
              <a:lnSpc>
                <a:spcPct val="90000"/>
              </a:lnSpc>
            </a:pPr>
            <a:r>
              <a:rPr lang="pl-PL" sz="3200" dirty="0" err="1">
                <a:solidFill>
                  <a:srgbClr val="003399"/>
                </a:solidFill>
              </a:rPr>
              <a:t>Risk</a:t>
            </a:r>
            <a:r>
              <a:rPr lang="pl-PL" sz="3200" dirty="0">
                <a:solidFill>
                  <a:srgbClr val="003399"/>
                </a:solidFill>
              </a:rPr>
              <a:t> </a:t>
            </a:r>
            <a:r>
              <a:rPr lang="pl-PL" sz="3200" dirty="0" err="1">
                <a:solidFill>
                  <a:srgbClr val="003399"/>
                </a:solidFill>
              </a:rPr>
              <a:t>propensity</a:t>
            </a:r>
            <a:endParaRPr lang="pl-PL" sz="3200" dirty="0">
              <a:solidFill>
                <a:srgbClr val="003399"/>
              </a:solidFill>
            </a:endParaRPr>
          </a:p>
          <a:p>
            <a:pPr eaLnBrk="1" hangingPunct="1">
              <a:lnSpc>
                <a:spcPct val="90000"/>
              </a:lnSpc>
            </a:pPr>
            <a:r>
              <a:rPr lang="pl-PL" sz="3200" dirty="0" err="1">
                <a:solidFill>
                  <a:srgbClr val="003399"/>
                </a:solidFill>
              </a:rPr>
              <a:t>Ethics</a:t>
            </a:r>
            <a:endParaRPr lang="pl-PL" sz="3200" dirty="0">
              <a:solidFill>
                <a:srgbClr val="003399"/>
              </a:solidFill>
            </a:endParaRPr>
          </a:p>
          <a:p>
            <a:pPr eaLnBrk="1" hangingPunct="1">
              <a:lnSpc>
                <a:spcPct val="90000"/>
              </a:lnSpc>
            </a:pPr>
            <a:r>
              <a:rPr lang="pl-PL" sz="3200" dirty="0" err="1">
                <a:solidFill>
                  <a:srgbClr val="003399"/>
                </a:solidFill>
              </a:rPr>
              <a:t>Group</a:t>
            </a:r>
            <a:r>
              <a:rPr lang="pl-PL" sz="3200" dirty="0">
                <a:solidFill>
                  <a:srgbClr val="003399"/>
                </a:solidFill>
              </a:rPr>
              <a:t> and team </a:t>
            </a:r>
            <a:r>
              <a:rPr lang="pl-PL" sz="3200" dirty="0" err="1">
                <a:solidFill>
                  <a:srgbClr val="003399"/>
                </a:solidFill>
              </a:rPr>
              <a:t>decision</a:t>
            </a:r>
            <a:r>
              <a:rPr lang="pl-PL" sz="3200" dirty="0">
                <a:solidFill>
                  <a:srgbClr val="003399"/>
                </a:solidFill>
              </a:rPr>
              <a:t> </a:t>
            </a:r>
            <a:r>
              <a:rPr lang="pl-PL" sz="3200" dirty="0" err="1">
                <a:solidFill>
                  <a:srgbClr val="003399"/>
                </a:solidFill>
              </a:rPr>
              <a:t>making</a:t>
            </a:r>
            <a:endParaRPr lang="pl-PL" sz="3200" dirty="0">
              <a:solidFill>
                <a:srgbClr val="003399"/>
              </a:solidFill>
            </a:endParaRPr>
          </a:p>
          <a:p>
            <a:pPr eaLnBrk="1" hangingPunct="1">
              <a:lnSpc>
                <a:spcPct val="90000"/>
              </a:lnSpc>
              <a:buFont typeface="Wingdings" pitchFamily="2" charset="2"/>
              <a:buNone/>
            </a:pPr>
            <a:endParaRPr lang="pl-PL" sz="2600" dirty="0">
              <a:solidFill>
                <a:srgbClr val="003399"/>
              </a:solidFill>
            </a:endParaRPr>
          </a:p>
        </p:txBody>
      </p:sp>
      <p:pic>
        <p:nvPicPr>
          <p:cNvPr id="13317" name="Picture 4"/>
          <p:cNvPicPr>
            <a:picLocks noChangeAspect="1" noChangeArrowheads="1"/>
          </p:cNvPicPr>
          <p:nvPr/>
        </p:nvPicPr>
        <p:blipFill>
          <a:blip r:embed="rId3" cstate="print"/>
          <a:srcRect/>
          <a:stretch>
            <a:fillRect/>
          </a:stretch>
        </p:blipFill>
        <p:spPr bwMode="auto">
          <a:xfrm>
            <a:off x="7308304" y="2708920"/>
            <a:ext cx="1243013" cy="1814512"/>
          </a:xfrm>
          <a:prstGeom prst="rect">
            <a:avLst/>
          </a:prstGeom>
          <a:noFill/>
          <a:ln w="9525">
            <a:noFill/>
            <a:miter lim="800000"/>
            <a:headEnd/>
            <a:tailEnd/>
          </a:ln>
        </p:spPr>
      </p:pic>
      <p:sp>
        <p:nvSpPr>
          <p:cNvPr id="13318" name="Text Box 5"/>
          <p:cNvSpPr txBox="1">
            <a:spLocks noChangeArrowheads="1"/>
          </p:cNvSpPr>
          <p:nvPr/>
        </p:nvSpPr>
        <p:spPr bwMode="auto">
          <a:xfrm>
            <a:off x="250825" y="6308725"/>
            <a:ext cx="2808288" cy="457200"/>
          </a:xfrm>
          <a:prstGeom prst="rect">
            <a:avLst/>
          </a:prstGeom>
          <a:noFill/>
          <a:ln w="9525">
            <a:noFill/>
            <a:miter lim="800000"/>
            <a:headEnd/>
            <a:tailEnd/>
          </a:ln>
        </p:spPr>
        <p:txBody>
          <a:bodyPr>
            <a:spAutoFit/>
          </a:bodyPr>
          <a:lstStyle/>
          <a:p>
            <a:pPr>
              <a:spcBef>
                <a:spcPct val="50000"/>
              </a:spcBef>
            </a:pPr>
            <a:r>
              <a:rPr lang="pl-PL" sz="1200" dirty="0" err="1"/>
              <a:t>Sources</a:t>
            </a:r>
            <a:r>
              <a:rPr lang="pl-PL" sz="1200" dirty="0"/>
              <a:t>: cruise1travel.blogspot.com, wrzuta.blox.pl</a:t>
            </a:r>
          </a:p>
        </p:txBody>
      </p:sp>
      <p:pic>
        <p:nvPicPr>
          <p:cNvPr id="13319" name="Picture 6"/>
          <p:cNvPicPr>
            <a:picLocks noChangeAspect="1" noChangeArrowheads="1"/>
          </p:cNvPicPr>
          <p:nvPr/>
        </p:nvPicPr>
        <p:blipFill>
          <a:blip r:embed="rId4" cstate="print"/>
          <a:srcRect/>
          <a:stretch>
            <a:fillRect/>
          </a:stretch>
        </p:blipFill>
        <p:spPr bwMode="auto">
          <a:xfrm>
            <a:off x="5076056" y="1916832"/>
            <a:ext cx="1257300" cy="108585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ymbol zastępczy stopki 4"/>
          <p:cNvSpPr>
            <a:spLocks noGrp="1"/>
          </p:cNvSpPr>
          <p:nvPr>
            <p:ph type="ftr" sz="quarter" idx="11"/>
          </p:nvPr>
        </p:nvSpPr>
        <p:spPr/>
        <p:txBody>
          <a:bodyPr/>
          <a:lstStyle/>
          <a:p>
            <a:pPr>
              <a:defRPr/>
            </a:pPr>
            <a:r>
              <a:rPr lang="pl-PL" altLang="en-US"/>
              <a:t>PJAIT</a:t>
            </a:r>
          </a:p>
        </p:txBody>
      </p:sp>
      <p:sp>
        <p:nvSpPr>
          <p:cNvPr id="14339" name="Rectangle 2"/>
          <p:cNvSpPr>
            <a:spLocks noGrp="1" noChangeArrowheads="1"/>
          </p:cNvSpPr>
          <p:nvPr>
            <p:ph type="title"/>
          </p:nvPr>
        </p:nvSpPr>
        <p:spPr/>
        <p:txBody>
          <a:bodyPr/>
          <a:lstStyle/>
          <a:p>
            <a:pPr eaLnBrk="1" hangingPunct="1"/>
            <a:r>
              <a:rPr lang="en-US" sz="4000" b="1" dirty="0"/>
              <a:t>Group and team decision</a:t>
            </a:r>
            <a:r>
              <a:rPr lang="pl-PL" sz="4000" b="1" dirty="0"/>
              <a:t>-</a:t>
            </a:r>
            <a:r>
              <a:rPr lang="en-US" sz="4000" b="1" dirty="0"/>
              <a:t>making</a:t>
            </a:r>
            <a:br>
              <a:rPr lang="en-US" sz="4000" b="1" dirty="0"/>
            </a:br>
            <a:endParaRPr lang="pl-PL" sz="4000" b="1" dirty="0"/>
          </a:p>
        </p:txBody>
      </p:sp>
      <p:sp>
        <p:nvSpPr>
          <p:cNvPr id="14340" name="Rectangle 3"/>
          <p:cNvSpPr>
            <a:spLocks noGrp="1" noChangeArrowheads="1"/>
          </p:cNvSpPr>
          <p:nvPr>
            <p:ph type="body" idx="1"/>
          </p:nvPr>
        </p:nvSpPr>
        <p:spPr/>
        <p:txBody>
          <a:bodyPr/>
          <a:lstStyle/>
          <a:p>
            <a:pPr marL="0" indent="0" eaLnBrk="1" hangingPunct="1">
              <a:buNone/>
            </a:pPr>
            <a:r>
              <a:rPr lang="pl-PL" b="1" dirty="0">
                <a:solidFill>
                  <a:srgbClr val="003399"/>
                </a:solidFill>
              </a:rPr>
              <a:t>I</a:t>
            </a:r>
            <a:r>
              <a:rPr lang="en-US" b="1" dirty="0" err="1">
                <a:solidFill>
                  <a:srgbClr val="003399"/>
                </a:solidFill>
              </a:rPr>
              <a:t>nteracting</a:t>
            </a:r>
            <a:r>
              <a:rPr lang="en-US" b="1" dirty="0">
                <a:solidFill>
                  <a:srgbClr val="003399"/>
                </a:solidFill>
              </a:rPr>
              <a:t> group</a:t>
            </a:r>
            <a:r>
              <a:rPr lang="pl-PL" b="1" dirty="0">
                <a:solidFill>
                  <a:srgbClr val="003399"/>
                </a:solidFill>
              </a:rPr>
              <a:t> </a:t>
            </a:r>
            <a:r>
              <a:rPr lang="en-US" b="1" dirty="0">
                <a:solidFill>
                  <a:srgbClr val="003399"/>
                </a:solidFill>
              </a:rPr>
              <a:t>or team</a:t>
            </a:r>
            <a:r>
              <a:rPr lang="pl-PL" b="1" dirty="0">
                <a:solidFill>
                  <a:srgbClr val="003399"/>
                </a:solidFill>
              </a:rPr>
              <a:t> </a:t>
            </a:r>
            <a:r>
              <a:rPr lang="pl-PL" dirty="0">
                <a:solidFill>
                  <a:srgbClr val="003399"/>
                </a:solidFill>
              </a:rPr>
              <a:t>- a</a:t>
            </a:r>
            <a:r>
              <a:rPr lang="en-US" dirty="0">
                <a:solidFill>
                  <a:srgbClr val="003399"/>
                </a:solidFill>
              </a:rPr>
              <a:t> decision-making</a:t>
            </a:r>
            <a:r>
              <a:rPr lang="pl-PL" dirty="0">
                <a:solidFill>
                  <a:srgbClr val="003399"/>
                </a:solidFill>
              </a:rPr>
              <a:t> </a:t>
            </a:r>
            <a:r>
              <a:rPr lang="en-US" dirty="0">
                <a:solidFill>
                  <a:srgbClr val="003399"/>
                </a:solidFill>
              </a:rPr>
              <a:t>group or team in</a:t>
            </a:r>
            <a:r>
              <a:rPr lang="pl-PL" dirty="0">
                <a:solidFill>
                  <a:srgbClr val="003399"/>
                </a:solidFill>
              </a:rPr>
              <a:t> </a:t>
            </a:r>
            <a:r>
              <a:rPr lang="en-US" dirty="0">
                <a:solidFill>
                  <a:srgbClr val="003399"/>
                </a:solidFill>
              </a:rPr>
              <a:t>which members</a:t>
            </a:r>
            <a:r>
              <a:rPr lang="pl-PL" dirty="0">
                <a:solidFill>
                  <a:srgbClr val="003399"/>
                </a:solidFill>
              </a:rPr>
              <a:t> </a:t>
            </a:r>
            <a:r>
              <a:rPr lang="en-US" dirty="0">
                <a:solidFill>
                  <a:srgbClr val="003399"/>
                </a:solidFill>
              </a:rPr>
              <a:t>openly discuss,</a:t>
            </a:r>
            <a:r>
              <a:rPr lang="pl-PL" dirty="0">
                <a:solidFill>
                  <a:srgbClr val="003399"/>
                </a:solidFill>
              </a:rPr>
              <a:t> </a:t>
            </a:r>
            <a:r>
              <a:rPr lang="en-US" dirty="0">
                <a:solidFill>
                  <a:srgbClr val="003399"/>
                </a:solidFill>
              </a:rPr>
              <a:t>argue about, and</a:t>
            </a:r>
            <a:r>
              <a:rPr lang="pl-PL" dirty="0">
                <a:solidFill>
                  <a:srgbClr val="003399"/>
                </a:solidFill>
              </a:rPr>
              <a:t> </a:t>
            </a:r>
            <a:r>
              <a:rPr lang="en-US" dirty="0">
                <a:solidFill>
                  <a:srgbClr val="003399"/>
                </a:solidFill>
              </a:rPr>
              <a:t>agree on the best</a:t>
            </a:r>
            <a:r>
              <a:rPr lang="pl-PL" dirty="0">
                <a:solidFill>
                  <a:srgbClr val="003399"/>
                </a:solidFill>
              </a:rPr>
              <a:t> </a:t>
            </a:r>
            <a:r>
              <a:rPr lang="en-US" dirty="0">
                <a:solidFill>
                  <a:srgbClr val="003399"/>
                </a:solidFill>
              </a:rPr>
              <a:t>alternative</a:t>
            </a:r>
            <a:r>
              <a:rPr lang="pl-PL" dirty="0">
                <a:solidFill>
                  <a:srgbClr val="003399"/>
                </a:solidFill>
              </a:rPr>
              <a:t>.</a:t>
            </a:r>
          </a:p>
          <a:p>
            <a:pPr marL="0" indent="0" eaLnBrk="1" hangingPunct="1">
              <a:buNone/>
            </a:pPr>
            <a:r>
              <a:rPr lang="pl-PL" b="1" dirty="0">
                <a:solidFill>
                  <a:srgbClr val="003399"/>
                </a:solidFill>
              </a:rPr>
              <a:t>N</a:t>
            </a:r>
            <a:r>
              <a:rPr lang="en-US" b="1" dirty="0" err="1">
                <a:solidFill>
                  <a:srgbClr val="003399"/>
                </a:solidFill>
              </a:rPr>
              <a:t>ominal</a:t>
            </a:r>
            <a:r>
              <a:rPr lang="en-US" b="1" dirty="0">
                <a:solidFill>
                  <a:srgbClr val="003399"/>
                </a:solidFill>
              </a:rPr>
              <a:t> group</a:t>
            </a:r>
            <a:r>
              <a:rPr lang="pl-PL" b="1" dirty="0">
                <a:solidFill>
                  <a:srgbClr val="003399"/>
                </a:solidFill>
              </a:rPr>
              <a:t> </a:t>
            </a:r>
            <a:r>
              <a:rPr lang="pl-PL" dirty="0">
                <a:solidFill>
                  <a:srgbClr val="003399"/>
                </a:solidFill>
              </a:rPr>
              <a:t>- a</a:t>
            </a:r>
            <a:r>
              <a:rPr lang="en-US" dirty="0">
                <a:solidFill>
                  <a:srgbClr val="003399"/>
                </a:solidFill>
              </a:rPr>
              <a:t> structured</a:t>
            </a:r>
            <a:r>
              <a:rPr lang="pl-PL" dirty="0">
                <a:solidFill>
                  <a:srgbClr val="003399"/>
                </a:solidFill>
              </a:rPr>
              <a:t> </a:t>
            </a:r>
            <a:r>
              <a:rPr lang="en-US" dirty="0">
                <a:solidFill>
                  <a:srgbClr val="003399"/>
                </a:solidFill>
              </a:rPr>
              <a:t>technique used to</a:t>
            </a:r>
            <a:r>
              <a:rPr lang="pl-PL" dirty="0">
                <a:solidFill>
                  <a:srgbClr val="003399"/>
                </a:solidFill>
              </a:rPr>
              <a:t> </a:t>
            </a:r>
            <a:r>
              <a:rPr lang="en-US" dirty="0">
                <a:solidFill>
                  <a:srgbClr val="003399"/>
                </a:solidFill>
              </a:rPr>
              <a:t>generate creative</a:t>
            </a:r>
            <a:r>
              <a:rPr lang="pl-PL" dirty="0">
                <a:solidFill>
                  <a:srgbClr val="003399"/>
                </a:solidFill>
              </a:rPr>
              <a:t> </a:t>
            </a:r>
            <a:r>
              <a:rPr lang="en-US" dirty="0">
                <a:solidFill>
                  <a:srgbClr val="003399"/>
                </a:solidFill>
              </a:rPr>
              <a:t>and innovative</a:t>
            </a:r>
            <a:r>
              <a:rPr lang="pl-PL" dirty="0">
                <a:solidFill>
                  <a:srgbClr val="003399"/>
                </a:solidFill>
              </a:rPr>
              <a:t> </a:t>
            </a:r>
            <a:r>
              <a:rPr lang="en-US" dirty="0">
                <a:solidFill>
                  <a:srgbClr val="003399"/>
                </a:solidFill>
              </a:rPr>
              <a:t>alternatives or ideas</a:t>
            </a:r>
            <a:r>
              <a:rPr lang="pl-PL" dirty="0">
                <a:solidFill>
                  <a:srgbClr val="003399"/>
                </a:solidFill>
              </a:rPr>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ymbol zastępczy stopki 5"/>
          <p:cNvSpPr>
            <a:spLocks noGrp="1"/>
          </p:cNvSpPr>
          <p:nvPr>
            <p:ph type="ftr" sz="quarter" idx="11"/>
          </p:nvPr>
        </p:nvSpPr>
        <p:spPr/>
        <p:txBody>
          <a:bodyPr/>
          <a:lstStyle/>
          <a:p>
            <a:pPr>
              <a:defRPr/>
            </a:pPr>
            <a:r>
              <a:rPr lang="pl-PL" altLang="en-US"/>
              <a:t>PJAIT</a:t>
            </a:r>
          </a:p>
        </p:txBody>
      </p:sp>
      <p:sp>
        <p:nvSpPr>
          <p:cNvPr id="15363" name="Rectangle 2"/>
          <p:cNvSpPr>
            <a:spLocks noGrp="1" noChangeArrowheads="1"/>
          </p:cNvSpPr>
          <p:nvPr>
            <p:ph type="title"/>
          </p:nvPr>
        </p:nvSpPr>
        <p:spPr/>
        <p:txBody>
          <a:bodyPr/>
          <a:lstStyle/>
          <a:p>
            <a:pPr eaLnBrk="1" hangingPunct="1"/>
            <a:r>
              <a:rPr lang="en-US" sz="4000" b="1" dirty="0"/>
              <a:t>Group and team decision</a:t>
            </a:r>
            <a:r>
              <a:rPr lang="pl-PL" sz="4000" b="1" dirty="0"/>
              <a:t>-</a:t>
            </a:r>
            <a:r>
              <a:rPr lang="en-US" sz="4000" b="1" dirty="0"/>
              <a:t>making</a:t>
            </a:r>
            <a:endParaRPr lang="pl-PL" sz="4000" b="1" dirty="0"/>
          </a:p>
        </p:txBody>
      </p:sp>
      <p:sp>
        <p:nvSpPr>
          <p:cNvPr id="15364" name="Rectangle 4"/>
          <p:cNvSpPr>
            <a:spLocks noGrp="1" noChangeArrowheads="1"/>
          </p:cNvSpPr>
          <p:nvPr>
            <p:ph type="body" sz="half" idx="1"/>
          </p:nvPr>
        </p:nvSpPr>
        <p:spPr/>
        <p:txBody>
          <a:bodyPr/>
          <a:lstStyle/>
          <a:p>
            <a:pPr eaLnBrk="1" hangingPunct="1">
              <a:buFont typeface="Wingdings" pitchFamily="2" charset="2"/>
              <a:buNone/>
            </a:pPr>
            <a:r>
              <a:rPr lang="pl-PL" sz="2200" b="1" dirty="0" err="1">
                <a:solidFill>
                  <a:srgbClr val="003399"/>
                </a:solidFill>
              </a:rPr>
              <a:t>Advantages</a:t>
            </a:r>
            <a:r>
              <a:rPr lang="pl-PL" sz="2200" b="1" dirty="0">
                <a:solidFill>
                  <a:srgbClr val="003399"/>
                </a:solidFill>
              </a:rPr>
              <a:t> </a:t>
            </a:r>
            <a:r>
              <a:rPr lang="pl-PL" sz="2200" b="1" dirty="0">
                <a:solidFill>
                  <a:srgbClr val="003399"/>
                </a:solidFill>
                <a:sym typeface="Wingdings" pitchFamily="2" charset="2"/>
              </a:rPr>
              <a:t></a:t>
            </a:r>
            <a:r>
              <a:rPr lang="pl-PL" sz="2200" b="1" dirty="0">
                <a:solidFill>
                  <a:srgbClr val="003399"/>
                </a:solidFill>
              </a:rPr>
              <a:t>:</a:t>
            </a:r>
          </a:p>
          <a:p>
            <a:pPr eaLnBrk="1" hangingPunct="1"/>
            <a:r>
              <a:rPr lang="en-US" sz="2200" dirty="0">
                <a:solidFill>
                  <a:srgbClr val="003399"/>
                </a:solidFill>
              </a:rPr>
              <a:t>More information and knowledge</a:t>
            </a:r>
            <a:r>
              <a:rPr lang="pl-PL" sz="2200" dirty="0">
                <a:solidFill>
                  <a:srgbClr val="003399"/>
                </a:solidFill>
              </a:rPr>
              <a:t> </a:t>
            </a:r>
            <a:r>
              <a:rPr lang="en-US" sz="2200" dirty="0">
                <a:solidFill>
                  <a:srgbClr val="003399"/>
                </a:solidFill>
              </a:rPr>
              <a:t>are available</a:t>
            </a:r>
            <a:endParaRPr lang="pl-PL" sz="2200" dirty="0">
              <a:solidFill>
                <a:srgbClr val="003399"/>
              </a:solidFill>
            </a:endParaRPr>
          </a:p>
          <a:p>
            <a:pPr eaLnBrk="1" hangingPunct="1"/>
            <a:r>
              <a:rPr lang="en-US" sz="2200" dirty="0">
                <a:solidFill>
                  <a:srgbClr val="003399"/>
                </a:solidFill>
              </a:rPr>
              <a:t>More alternatives are likely to be</a:t>
            </a:r>
            <a:r>
              <a:rPr lang="pl-PL" sz="2200" dirty="0">
                <a:solidFill>
                  <a:srgbClr val="003399"/>
                </a:solidFill>
              </a:rPr>
              <a:t> </a:t>
            </a:r>
            <a:r>
              <a:rPr lang="en-US" sz="2200" dirty="0">
                <a:solidFill>
                  <a:srgbClr val="003399"/>
                </a:solidFill>
              </a:rPr>
              <a:t>generated</a:t>
            </a:r>
            <a:endParaRPr lang="pl-PL" sz="2200" dirty="0">
              <a:solidFill>
                <a:srgbClr val="003399"/>
              </a:solidFill>
            </a:endParaRPr>
          </a:p>
          <a:p>
            <a:pPr eaLnBrk="1" hangingPunct="1"/>
            <a:r>
              <a:rPr lang="en-US" sz="2200" dirty="0">
                <a:solidFill>
                  <a:srgbClr val="003399"/>
                </a:solidFill>
              </a:rPr>
              <a:t>More acceptance of the final</a:t>
            </a:r>
            <a:r>
              <a:rPr lang="pl-PL" sz="2200" dirty="0">
                <a:solidFill>
                  <a:srgbClr val="003399"/>
                </a:solidFill>
              </a:rPr>
              <a:t> </a:t>
            </a:r>
            <a:r>
              <a:rPr lang="en-US" sz="2200" dirty="0">
                <a:solidFill>
                  <a:srgbClr val="003399"/>
                </a:solidFill>
              </a:rPr>
              <a:t>decision is likely</a:t>
            </a:r>
            <a:endParaRPr lang="pl-PL" sz="2200" dirty="0">
              <a:solidFill>
                <a:srgbClr val="003399"/>
              </a:solidFill>
            </a:endParaRPr>
          </a:p>
          <a:p>
            <a:pPr eaLnBrk="1" hangingPunct="1"/>
            <a:r>
              <a:rPr lang="en-US" sz="2200" dirty="0">
                <a:solidFill>
                  <a:srgbClr val="003399"/>
                </a:solidFill>
              </a:rPr>
              <a:t>Enhanced communication of the</a:t>
            </a:r>
            <a:r>
              <a:rPr lang="pl-PL" sz="2200" dirty="0">
                <a:solidFill>
                  <a:srgbClr val="003399"/>
                </a:solidFill>
              </a:rPr>
              <a:t> </a:t>
            </a:r>
            <a:r>
              <a:rPr lang="en-US" sz="2200" dirty="0">
                <a:solidFill>
                  <a:srgbClr val="003399"/>
                </a:solidFill>
              </a:rPr>
              <a:t>decision may result</a:t>
            </a:r>
            <a:endParaRPr lang="pl-PL" sz="2200" dirty="0">
              <a:solidFill>
                <a:srgbClr val="003399"/>
              </a:solidFill>
            </a:endParaRPr>
          </a:p>
          <a:p>
            <a:pPr eaLnBrk="1" hangingPunct="1"/>
            <a:r>
              <a:rPr lang="pl-PL" sz="2200" dirty="0" err="1">
                <a:solidFill>
                  <a:srgbClr val="003399"/>
                </a:solidFill>
              </a:rPr>
              <a:t>Better</a:t>
            </a:r>
            <a:r>
              <a:rPr lang="pl-PL" sz="2200" dirty="0">
                <a:solidFill>
                  <a:srgbClr val="003399"/>
                </a:solidFill>
              </a:rPr>
              <a:t> </a:t>
            </a:r>
            <a:r>
              <a:rPr lang="pl-PL" sz="2200" dirty="0" err="1">
                <a:solidFill>
                  <a:srgbClr val="003399"/>
                </a:solidFill>
              </a:rPr>
              <a:t>decisions</a:t>
            </a:r>
            <a:r>
              <a:rPr lang="pl-PL" sz="2200" dirty="0">
                <a:solidFill>
                  <a:srgbClr val="003399"/>
                </a:solidFill>
              </a:rPr>
              <a:t> </a:t>
            </a:r>
            <a:r>
              <a:rPr lang="pl-PL" sz="2200" dirty="0" err="1">
                <a:solidFill>
                  <a:srgbClr val="003399"/>
                </a:solidFill>
              </a:rPr>
              <a:t>generally</a:t>
            </a:r>
            <a:r>
              <a:rPr lang="pl-PL" sz="2200" dirty="0">
                <a:solidFill>
                  <a:srgbClr val="003399"/>
                </a:solidFill>
              </a:rPr>
              <a:t> </a:t>
            </a:r>
            <a:r>
              <a:rPr lang="pl-PL" sz="2200" dirty="0" err="1">
                <a:solidFill>
                  <a:srgbClr val="003399"/>
                </a:solidFill>
              </a:rPr>
              <a:t>emerge</a:t>
            </a:r>
            <a:endParaRPr lang="pl-PL" sz="2200" dirty="0">
              <a:solidFill>
                <a:srgbClr val="003399"/>
              </a:solidFill>
            </a:endParaRPr>
          </a:p>
        </p:txBody>
      </p:sp>
      <p:sp>
        <p:nvSpPr>
          <p:cNvPr id="15365" name="Rectangle 5"/>
          <p:cNvSpPr>
            <a:spLocks noGrp="1" noChangeArrowheads="1"/>
          </p:cNvSpPr>
          <p:nvPr>
            <p:ph type="body" sz="half" idx="2"/>
          </p:nvPr>
        </p:nvSpPr>
        <p:spPr/>
        <p:txBody>
          <a:bodyPr/>
          <a:lstStyle/>
          <a:p>
            <a:pPr eaLnBrk="1" hangingPunct="1">
              <a:buFont typeface="Wingdings" pitchFamily="2" charset="2"/>
              <a:buNone/>
            </a:pPr>
            <a:r>
              <a:rPr lang="pl-PL" sz="2200" b="1" dirty="0" err="1">
                <a:solidFill>
                  <a:srgbClr val="003399"/>
                </a:solidFill>
              </a:rPr>
              <a:t>Disadvantages</a:t>
            </a:r>
            <a:r>
              <a:rPr lang="pl-PL" sz="2200" b="1" dirty="0">
                <a:solidFill>
                  <a:srgbClr val="003399"/>
                </a:solidFill>
              </a:rPr>
              <a:t> </a:t>
            </a:r>
            <a:r>
              <a:rPr lang="pl-PL" sz="2200" b="1" dirty="0">
                <a:solidFill>
                  <a:srgbClr val="003399"/>
                </a:solidFill>
                <a:sym typeface="Wingdings" pitchFamily="2" charset="2"/>
              </a:rPr>
              <a:t></a:t>
            </a:r>
            <a:r>
              <a:rPr lang="pl-PL" sz="2200" b="1" dirty="0">
                <a:solidFill>
                  <a:srgbClr val="003399"/>
                </a:solidFill>
              </a:rPr>
              <a:t>:</a:t>
            </a:r>
          </a:p>
          <a:p>
            <a:pPr eaLnBrk="1" hangingPunct="1"/>
            <a:r>
              <a:rPr lang="en-US" sz="2200" dirty="0">
                <a:solidFill>
                  <a:srgbClr val="003399"/>
                </a:solidFill>
              </a:rPr>
              <a:t>The process takes longer than individual</a:t>
            </a:r>
            <a:r>
              <a:rPr lang="pl-PL" sz="2200" dirty="0">
                <a:solidFill>
                  <a:srgbClr val="003399"/>
                </a:solidFill>
              </a:rPr>
              <a:t> </a:t>
            </a:r>
            <a:r>
              <a:rPr lang="en-US" sz="2200" dirty="0">
                <a:solidFill>
                  <a:srgbClr val="003399"/>
                </a:solidFill>
              </a:rPr>
              <a:t>decision making, so it is costlier</a:t>
            </a:r>
            <a:endParaRPr lang="pl-PL" sz="2200" dirty="0">
              <a:solidFill>
                <a:srgbClr val="003399"/>
              </a:solidFill>
            </a:endParaRPr>
          </a:p>
          <a:p>
            <a:pPr eaLnBrk="1" hangingPunct="1"/>
            <a:r>
              <a:rPr lang="en-US" sz="2200" dirty="0">
                <a:solidFill>
                  <a:srgbClr val="003399"/>
                </a:solidFill>
              </a:rPr>
              <a:t>Compromise decisions resulting from</a:t>
            </a:r>
            <a:r>
              <a:rPr lang="pl-PL" sz="2200" dirty="0">
                <a:solidFill>
                  <a:srgbClr val="003399"/>
                </a:solidFill>
              </a:rPr>
              <a:t> </a:t>
            </a:r>
            <a:r>
              <a:rPr lang="en-US" sz="2200" dirty="0">
                <a:solidFill>
                  <a:srgbClr val="003399"/>
                </a:solidFill>
              </a:rPr>
              <a:t>indecisiveness may emerge</a:t>
            </a:r>
            <a:endParaRPr lang="pl-PL" sz="2200" dirty="0">
              <a:solidFill>
                <a:srgbClr val="003399"/>
              </a:solidFill>
            </a:endParaRPr>
          </a:p>
          <a:p>
            <a:pPr eaLnBrk="1" hangingPunct="1"/>
            <a:r>
              <a:rPr lang="en-US" sz="2200" dirty="0">
                <a:solidFill>
                  <a:srgbClr val="003399"/>
                </a:solidFill>
              </a:rPr>
              <a:t>One person may dominate the group</a:t>
            </a:r>
            <a:endParaRPr lang="pl-PL" sz="2200" dirty="0">
              <a:solidFill>
                <a:srgbClr val="003399"/>
              </a:solidFill>
            </a:endParaRPr>
          </a:p>
          <a:p>
            <a:pPr eaLnBrk="1" hangingPunct="1"/>
            <a:r>
              <a:rPr lang="pl-PL" sz="2200" i="1" dirty="0" err="1">
                <a:solidFill>
                  <a:srgbClr val="003399"/>
                </a:solidFill>
              </a:rPr>
              <a:t>Groupthink</a:t>
            </a:r>
            <a:r>
              <a:rPr lang="pl-PL" sz="2200" i="1" dirty="0">
                <a:solidFill>
                  <a:srgbClr val="003399"/>
                </a:solidFill>
              </a:rPr>
              <a:t> </a:t>
            </a:r>
            <a:r>
              <a:rPr lang="pl-PL" sz="2200" dirty="0" err="1">
                <a:solidFill>
                  <a:srgbClr val="003399"/>
                </a:solidFill>
              </a:rPr>
              <a:t>may</a:t>
            </a:r>
            <a:r>
              <a:rPr lang="pl-PL" sz="2200" dirty="0">
                <a:solidFill>
                  <a:srgbClr val="003399"/>
                </a:solidFill>
              </a:rPr>
              <a:t> </a:t>
            </a:r>
            <a:r>
              <a:rPr lang="pl-PL" sz="2200" dirty="0" err="1">
                <a:solidFill>
                  <a:srgbClr val="003399"/>
                </a:solidFill>
              </a:rPr>
              <a:t>occur</a:t>
            </a:r>
            <a:endParaRPr lang="pl-PL" sz="2200" dirty="0">
              <a:solidFill>
                <a:srgbClr val="003399"/>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ymbol zastępczy stopki 4"/>
          <p:cNvSpPr>
            <a:spLocks noGrp="1"/>
          </p:cNvSpPr>
          <p:nvPr>
            <p:ph type="ftr" sz="quarter" idx="11"/>
          </p:nvPr>
        </p:nvSpPr>
        <p:spPr/>
        <p:txBody>
          <a:bodyPr/>
          <a:lstStyle/>
          <a:p>
            <a:pPr>
              <a:defRPr/>
            </a:pPr>
            <a:r>
              <a:rPr lang="pl-PL" altLang="en-US"/>
              <a:t>PJAIT</a:t>
            </a:r>
          </a:p>
        </p:txBody>
      </p:sp>
      <p:sp>
        <p:nvSpPr>
          <p:cNvPr id="16387" name="Rectangle 2"/>
          <p:cNvSpPr>
            <a:spLocks noGrp="1" noChangeArrowheads="1"/>
          </p:cNvSpPr>
          <p:nvPr>
            <p:ph type="title"/>
          </p:nvPr>
        </p:nvSpPr>
        <p:spPr/>
        <p:txBody>
          <a:bodyPr/>
          <a:lstStyle/>
          <a:p>
            <a:pPr eaLnBrk="1" hangingPunct="1"/>
            <a:r>
              <a:rPr lang="en-US" sz="4000" b="1" dirty="0"/>
              <a:t>Group and team decision</a:t>
            </a:r>
            <a:r>
              <a:rPr lang="pl-PL" sz="4000" b="1" dirty="0"/>
              <a:t>-</a:t>
            </a:r>
            <a:r>
              <a:rPr lang="en-US" sz="4000" b="1" dirty="0"/>
              <a:t>making</a:t>
            </a:r>
            <a:endParaRPr lang="pl-PL" sz="4000" b="1" dirty="0"/>
          </a:p>
        </p:txBody>
      </p:sp>
      <p:sp>
        <p:nvSpPr>
          <p:cNvPr id="16388" name="Rectangle 3"/>
          <p:cNvSpPr>
            <a:spLocks noGrp="1" noChangeArrowheads="1"/>
          </p:cNvSpPr>
          <p:nvPr>
            <p:ph type="body" idx="1"/>
          </p:nvPr>
        </p:nvSpPr>
        <p:spPr/>
        <p:txBody>
          <a:bodyPr/>
          <a:lstStyle/>
          <a:p>
            <a:pPr eaLnBrk="1" hangingPunct="1">
              <a:buFont typeface="Wingdings" pitchFamily="2" charset="2"/>
              <a:buNone/>
            </a:pPr>
            <a:r>
              <a:rPr lang="pl-PL" dirty="0"/>
              <a:t>   </a:t>
            </a:r>
            <a:r>
              <a:rPr lang="pl-PL" b="1" dirty="0" err="1">
                <a:solidFill>
                  <a:srgbClr val="003399"/>
                </a:solidFill>
              </a:rPr>
              <a:t>Groupthink</a:t>
            </a:r>
            <a:r>
              <a:rPr lang="pl-PL" dirty="0">
                <a:solidFill>
                  <a:srgbClr val="003399"/>
                </a:solidFill>
              </a:rPr>
              <a:t>:</a:t>
            </a:r>
          </a:p>
          <a:p>
            <a:pPr eaLnBrk="1" hangingPunct="1">
              <a:buNone/>
            </a:pPr>
            <a:r>
              <a:rPr lang="pl-PL" dirty="0">
                <a:solidFill>
                  <a:srgbClr val="003399"/>
                </a:solidFill>
              </a:rPr>
              <a:t>   a</a:t>
            </a:r>
            <a:r>
              <a:rPr lang="en-US" dirty="0">
                <a:solidFill>
                  <a:srgbClr val="003399"/>
                </a:solidFill>
              </a:rPr>
              <a:t> situation that</a:t>
            </a:r>
            <a:r>
              <a:rPr lang="pl-PL" dirty="0">
                <a:solidFill>
                  <a:srgbClr val="003399"/>
                </a:solidFill>
              </a:rPr>
              <a:t> </a:t>
            </a:r>
            <a:r>
              <a:rPr lang="en-US" dirty="0">
                <a:solidFill>
                  <a:srgbClr val="003399"/>
                </a:solidFill>
              </a:rPr>
              <a:t>occurs when a group</a:t>
            </a:r>
            <a:r>
              <a:rPr lang="pl-PL" dirty="0">
                <a:solidFill>
                  <a:srgbClr val="003399"/>
                </a:solidFill>
              </a:rPr>
              <a:t> </a:t>
            </a:r>
            <a:r>
              <a:rPr lang="en-US" dirty="0">
                <a:solidFill>
                  <a:srgbClr val="003399"/>
                </a:solidFill>
              </a:rPr>
              <a:t>or team’s</a:t>
            </a:r>
            <a:r>
              <a:rPr lang="pl-PL" dirty="0">
                <a:solidFill>
                  <a:srgbClr val="003399"/>
                </a:solidFill>
              </a:rPr>
              <a:t> </a:t>
            </a:r>
            <a:r>
              <a:rPr lang="en-US" dirty="0">
                <a:solidFill>
                  <a:srgbClr val="003399"/>
                </a:solidFill>
              </a:rPr>
              <a:t>desire for</a:t>
            </a:r>
            <a:r>
              <a:rPr lang="pl-PL" dirty="0">
                <a:solidFill>
                  <a:srgbClr val="003399"/>
                </a:solidFill>
              </a:rPr>
              <a:t> </a:t>
            </a:r>
            <a:r>
              <a:rPr lang="en-US" dirty="0">
                <a:solidFill>
                  <a:srgbClr val="003399"/>
                </a:solidFill>
              </a:rPr>
              <a:t>consensus and</a:t>
            </a:r>
            <a:r>
              <a:rPr lang="pl-PL" dirty="0">
                <a:solidFill>
                  <a:srgbClr val="003399"/>
                </a:solidFill>
              </a:rPr>
              <a:t> </a:t>
            </a:r>
            <a:r>
              <a:rPr lang="en-US" dirty="0">
                <a:solidFill>
                  <a:srgbClr val="003399"/>
                </a:solidFill>
              </a:rPr>
              <a:t>cohesiveness</a:t>
            </a:r>
            <a:r>
              <a:rPr lang="pl-PL" dirty="0">
                <a:solidFill>
                  <a:srgbClr val="003399"/>
                </a:solidFill>
              </a:rPr>
              <a:t> </a:t>
            </a:r>
            <a:r>
              <a:rPr lang="en-US" dirty="0">
                <a:solidFill>
                  <a:srgbClr val="003399"/>
                </a:solidFill>
              </a:rPr>
              <a:t>overwhelms its</a:t>
            </a:r>
            <a:r>
              <a:rPr lang="pl-PL" dirty="0">
                <a:solidFill>
                  <a:srgbClr val="003399"/>
                </a:solidFill>
              </a:rPr>
              <a:t> </a:t>
            </a:r>
            <a:r>
              <a:rPr lang="en-US" dirty="0">
                <a:solidFill>
                  <a:srgbClr val="003399"/>
                </a:solidFill>
              </a:rPr>
              <a:t>desire to reach the</a:t>
            </a:r>
            <a:r>
              <a:rPr lang="pl-PL" dirty="0">
                <a:solidFill>
                  <a:srgbClr val="003399"/>
                </a:solidFill>
              </a:rPr>
              <a:t> </a:t>
            </a:r>
            <a:r>
              <a:rPr lang="en-US" dirty="0">
                <a:solidFill>
                  <a:srgbClr val="003399"/>
                </a:solidFill>
              </a:rPr>
              <a:t>best possible</a:t>
            </a:r>
            <a:r>
              <a:rPr lang="pl-PL" dirty="0">
                <a:solidFill>
                  <a:srgbClr val="003399"/>
                </a:solidFill>
              </a:rPr>
              <a:t> </a:t>
            </a:r>
            <a:r>
              <a:rPr lang="en-US" dirty="0">
                <a:solidFill>
                  <a:srgbClr val="003399"/>
                </a:solidFill>
              </a:rPr>
              <a:t>decision</a:t>
            </a:r>
            <a:endParaRPr lang="pl-PL" dirty="0">
              <a:solidFill>
                <a:srgbClr val="003399"/>
              </a:solidFill>
            </a:endParaRPr>
          </a:p>
        </p:txBody>
      </p:sp>
      <p:pic>
        <p:nvPicPr>
          <p:cNvPr id="16389" name="Picture 4"/>
          <p:cNvPicPr>
            <a:picLocks noChangeAspect="1" noChangeArrowheads="1"/>
          </p:cNvPicPr>
          <p:nvPr/>
        </p:nvPicPr>
        <p:blipFill>
          <a:blip r:embed="rId3" cstate="print"/>
          <a:srcRect/>
          <a:stretch>
            <a:fillRect/>
          </a:stretch>
        </p:blipFill>
        <p:spPr bwMode="auto">
          <a:xfrm>
            <a:off x="6372200" y="4221088"/>
            <a:ext cx="1657350" cy="1657350"/>
          </a:xfrm>
          <a:prstGeom prst="rect">
            <a:avLst/>
          </a:prstGeom>
          <a:noFill/>
          <a:ln w="9525">
            <a:noFill/>
            <a:miter lim="800000"/>
            <a:headEnd/>
            <a:tailEnd/>
          </a:ln>
        </p:spPr>
      </p:pic>
      <p:sp>
        <p:nvSpPr>
          <p:cNvPr id="16390" name="Text Box 5"/>
          <p:cNvSpPr txBox="1">
            <a:spLocks noChangeArrowheads="1"/>
          </p:cNvSpPr>
          <p:nvPr/>
        </p:nvSpPr>
        <p:spPr bwMode="auto">
          <a:xfrm>
            <a:off x="323850" y="6308725"/>
            <a:ext cx="3384550" cy="274638"/>
          </a:xfrm>
          <a:prstGeom prst="rect">
            <a:avLst/>
          </a:prstGeom>
          <a:noFill/>
          <a:ln w="9525">
            <a:noFill/>
            <a:miter lim="800000"/>
            <a:headEnd/>
            <a:tailEnd/>
          </a:ln>
        </p:spPr>
        <p:txBody>
          <a:bodyPr>
            <a:spAutoFit/>
          </a:bodyPr>
          <a:lstStyle/>
          <a:p>
            <a:pPr>
              <a:spcBef>
                <a:spcPct val="50000"/>
              </a:spcBef>
            </a:pPr>
            <a:r>
              <a:rPr lang="pl-PL" sz="1200" dirty="0"/>
              <a:t>Source: www.bbc.co.uk</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ymbol zastępczy stopki 4"/>
          <p:cNvSpPr>
            <a:spLocks noGrp="1"/>
          </p:cNvSpPr>
          <p:nvPr>
            <p:ph type="ftr" sz="quarter" idx="11"/>
          </p:nvPr>
        </p:nvSpPr>
        <p:spPr/>
        <p:txBody>
          <a:bodyPr/>
          <a:lstStyle/>
          <a:p>
            <a:pPr>
              <a:defRPr/>
            </a:pPr>
            <a:r>
              <a:rPr lang="pl-PL" altLang="en-US"/>
              <a:t>PJAIT</a:t>
            </a:r>
          </a:p>
        </p:txBody>
      </p:sp>
      <p:sp>
        <p:nvSpPr>
          <p:cNvPr id="17411" name="Rectangle 2"/>
          <p:cNvSpPr>
            <a:spLocks noGrp="1" noChangeArrowheads="1"/>
          </p:cNvSpPr>
          <p:nvPr>
            <p:ph type="title"/>
          </p:nvPr>
        </p:nvSpPr>
        <p:spPr/>
        <p:txBody>
          <a:bodyPr/>
          <a:lstStyle/>
          <a:p>
            <a:pPr eaLnBrk="1" hangingPunct="1"/>
            <a:r>
              <a:rPr lang="pl-PL" sz="4000" b="1" dirty="0" err="1"/>
              <a:t>Groupthink</a:t>
            </a:r>
            <a:r>
              <a:rPr lang="pl-PL" sz="4000" b="1" dirty="0"/>
              <a:t> </a:t>
            </a:r>
            <a:r>
              <a:rPr lang="pl-PL" sz="4000" b="1" dirty="0">
                <a:sym typeface="Wingdings" pitchFamily="2" charset="2"/>
              </a:rPr>
              <a:t></a:t>
            </a:r>
            <a:br>
              <a:rPr lang="pl-PL" sz="4000" b="1" dirty="0">
                <a:sym typeface="Wingdings" pitchFamily="2" charset="2"/>
              </a:rPr>
            </a:br>
            <a:endParaRPr lang="pl-PL" sz="4000" b="1" dirty="0"/>
          </a:p>
        </p:txBody>
      </p:sp>
      <p:sp>
        <p:nvSpPr>
          <p:cNvPr id="132099" name="Rectangle 3"/>
          <p:cNvSpPr>
            <a:spLocks noGrp="1" noChangeArrowheads="1"/>
          </p:cNvSpPr>
          <p:nvPr>
            <p:ph type="body" idx="1"/>
          </p:nvPr>
        </p:nvSpPr>
        <p:spPr>
          <a:xfrm>
            <a:off x="457200" y="980728"/>
            <a:ext cx="8229600" cy="5150197"/>
          </a:xfrm>
        </p:spPr>
        <p:txBody>
          <a:bodyPr/>
          <a:lstStyle/>
          <a:p>
            <a:pPr eaLnBrk="1" hangingPunct="1">
              <a:lnSpc>
                <a:spcPct val="90000"/>
              </a:lnSpc>
              <a:buFont typeface="Wingdings" pitchFamily="2" charset="2"/>
              <a:buNone/>
            </a:pPr>
            <a:r>
              <a:rPr lang="pl-PL" sz="2600" b="1" i="1" dirty="0" err="1">
                <a:solidFill>
                  <a:srgbClr val="003399"/>
                </a:solidFill>
                <a:sym typeface="Wingdings" pitchFamily="2" charset="2"/>
              </a:rPr>
              <a:t>Senatores</a:t>
            </a:r>
            <a:r>
              <a:rPr lang="pl-PL" sz="2600" b="1" i="1" dirty="0">
                <a:solidFill>
                  <a:srgbClr val="003399"/>
                </a:solidFill>
                <a:sym typeface="Wingdings" pitchFamily="2" charset="2"/>
              </a:rPr>
              <a:t> </a:t>
            </a:r>
            <a:r>
              <a:rPr lang="pl-PL" sz="2600" b="1" i="1" dirty="0" err="1">
                <a:solidFill>
                  <a:srgbClr val="003399"/>
                </a:solidFill>
                <a:sym typeface="Wingdings" pitchFamily="2" charset="2"/>
              </a:rPr>
              <a:t>boni</a:t>
            </a:r>
            <a:r>
              <a:rPr lang="pl-PL" sz="2600" b="1" i="1" dirty="0">
                <a:solidFill>
                  <a:srgbClr val="003399"/>
                </a:solidFill>
                <a:sym typeface="Wingdings" pitchFamily="2" charset="2"/>
              </a:rPr>
              <a:t> </a:t>
            </a:r>
            <a:r>
              <a:rPr lang="pl-PL" sz="2600" b="1" i="1" dirty="0" err="1">
                <a:solidFill>
                  <a:srgbClr val="003399"/>
                </a:solidFill>
                <a:sym typeface="Wingdings" pitchFamily="2" charset="2"/>
              </a:rPr>
              <a:t>viri</a:t>
            </a:r>
            <a:r>
              <a:rPr lang="pl-PL" sz="2600" b="1" i="1" dirty="0">
                <a:solidFill>
                  <a:srgbClr val="003399"/>
                </a:solidFill>
                <a:sym typeface="Wingdings" pitchFamily="2" charset="2"/>
              </a:rPr>
              <a:t>, </a:t>
            </a:r>
            <a:r>
              <a:rPr lang="pl-PL" sz="2600" b="1" i="1" dirty="0" err="1">
                <a:solidFill>
                  <a:srgbClr val="003399"/>
                </a:solidFill>
                <a:sym typeface="Wingdings" pitchFamily="2" charset="2"/>
              </a:rPr>
              <a:t>senatus</a:t>
            </a:r>
            <a:r>
              <a:rPr lang="pl-PL" sz="2600" b="1" i="1" dirty="0">
                <a:solidFill>
                  <a:srgbClr val="003399"/>
                </a:solidFill>
                <a:sym typeface="Wingdings" pitchFamily="2" charset="2"/>
              </a:rPr>
              <a:t> autem </a:t>
            </a:r>
            <a:r>
              <a:rPr lang="pl-PL" sz="2600" b="1" i="1" dirty="0" err="1">
                <a:solidFill>
                  <a:srgbClr val="003399"/>
                </a:solidFill>
                <a:sym typeface="Wingdings" pitchFamily="2" charset="2"/>
              </a:rPr>
              <a:t>mala</a:t>
            </a:r>
            <a:r>
              <a:rPr lang="pl-PL" sz="2600" b="1" i="1" dirty="0">
                <a:solidFill>
                  <a:srgbClr val="003399"/>
                </a:solidFill>
                <a:sym typeface="Wingdings" pitchFamily="2" charset="2"/>
              </a:rPr>
              <a:t> bestia</a:t>
            </a:r>
          </a:p>
          <a:p>
            <a:pPr eaLnBrk="1" hangingPunct="1">
              <a:lnSpc>
                <a:spcPct val="90000"/>
              </a:lnSpc>
              <a:buFont typeface="Wingdings" pitchFamily="2" charset="2"/>
              <a:buNone/>
            </a:pPr>
            <a:endParaRPr lang="pl-PL" sz="2600" b="1" i="1" dirty="0">
              <a:solidFill>
                <a:srgbClr val="003399"/>
              </a:solidFill>
              <a:sym typeface="Wingdings" pitchFamily="2" charset="2"/>
            </a:endParaRPr>
          </a:p>
          <a:p>
            <a:pPr marL="0" indent="0">
              <a:buNone/>
            </a:pPr>
            <a:r>
              <a:rPr lang="en-US" sz="2400" b="1" dirty="0">
                <a:solidFill>
                  <a:srgbClr val="003399"/>
                </a:solidFill>
              </a:rPr>
              <a:t>Illusions of invulnerability</a:t>
            </a:r>
            <a:r>
              <a:rPr lang="en-US" sz="2400" dirty="0">
                <a:solidFill>
                  <a:srgbClr val="003399"/>
                </a:solidFill>
              </a:rPr>
              <a:t> lead members of the group to be overly optimistic and engage in risk-taking.</a:t>
            </a:r>
          </a:p>
          <a:p>
            <a:pPr marL="0" indent="0">
              <a:buNone/>
            </a:pPr>
            <a:r>
              <a:rPr lang="en-US" sz="2400" b="1" dirty="0">
                <a:solidFill>
                  <a:srgbClr val="003399"/>
                </a:solidFill>
              </a:rPr>
              <a:t>Unquestioned beliefs</a:t>
            </a:r>
            <a:r>
              <a:rPr lang="en-US" sz="2400" dirty="0">
                <a:solidFill>
                  <a:srgbClr val="003399"/>
                </a:solidFill>
              </a:rPr>
              <a:t> lead members to ignore possible moral problems and ignore the consequences of individual and group actions.</a:t>
            </a:r>
          </a:p>
          <a:p>
            <a:pPr marL="0" indent="0">
              <a:buNone/>
            </a:pPr>
            <a:r>
              <a:rPr lang="en-US" sz="2400" b="1" dirty="0">
                <a:solidFill>
                  <a:srgbClr val="003399"/>
                </a:solidFill>
              </a:rPr>
              <a:t>Rationalizing </a:t>
            </a:r>
            <a:r>
              <a:rPr lang="en-US" sz="2400" dirty="0">
                <a:solidFill>
                  <a:srgbClr val="003399"/>
                </a:solidFill>
              </a:rPr>
              <a:t>prevents members from reconsidering their beliefs and causes them to ignore warning signs.</a:t>
            </a:r>
            <a:endParaRPr lang="en-US"/>
          </a:p>
          <a:p>
            <a:pPr marL="0" indent="0">
              <a:buNone/>
            </a:pPr>
            <a:r>
              <a:rPr lang="en-US" sz="2400" b="1" dirty="0">
                <a:solidFill>
                  <a:srgbClr val="003399"/>
                </a:solidFill>
              </a:rPr>
              <a:t>Stereotyping</a:t>
            </a:r>
            <a:r>
              <a:rPr lang="en-US" sz="2400" dirty="0">
                <a:solidFill>
                  <a:srgbClr val="003399"/>
                </a:solidFill>
              </a:rPr>
              <a:t> leads members of the in-group to ignore or even demonize out-group members who may oppose or challenge the group's ideas.</a:t>
            </a:r>
          </a:p>
          <a:p>
            <a:pPr eaLnBrk="1" hangingPunct="1">
              <a:lnSpc>
                <a:spcPct val="90000"/>
              </a:lnSpc>
              <a:buFont typeface="Wingdings" pitchFamily="2" charset="2"/>
              <a:buNone/>
            </a:pPr>
            <a:endParaRPr lang="pl-PL" sz="2600" b="1" i="1" dirty="0">
              <a:solidFill>
                <a:srgbClr val="003399"/>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ymbol zastępczy stopki 4"/>
          <p:cNvSpPr>
            <a:spLocks noGrp="1"/>
          </p:cNvSpPr>
          <p:nvPr>
            <p:ph type="ftr" sz="quarter" idx="11"/>
          </p:nvPr>
        </p:nvSpPr>
        <p:spPr/>
        <p:txBody>
          <a:bodyPr/>
          <a:lstStyle/>
          <a:p>
            <a:pPr>
              <a:defRPr/>
            </a:pPr>
            <a:r>
              <a:rPr lang="pl-PL" altLang="en-US"/>
              <a:t>PJAIT</a:t>
            </a:r>
          </a:p>
        </p:txBody>
      </p:sp>
      <p:sp>
        <p:nvSpPr>
          <p:cNvPr id="17411" name="Rectangle 2"/>
          <p:cNvSpPr>
            <a:spLocks noGrp="1" noChangeArrowheads="1"/>
          </p:cNvSpPr>
          <p:nvPr>
            <p:ph type="title"/>
          </p:nvPr>
        </p:nvSpPr>
        <p:spPr/>
        <p:txBody>
          <a:bodyPr/>
          <a:lstStyle/>
          <a:p>
            <a:pPr eaLnBrk="1" hangingPunct="1"/>
            <a:r>
              <a:rPr lang="pl-PL" sz="4000" b="1" dirty="0" err="1"/>
              <a:t>Groupthink</a:t>
            </a:r>
            <a:r>
              <a:rPr lang="pl-PL" sz="4000" b="1" dirty="0"/>
              <a:t> </a:t>
            </a:r>
            <a:r>
              <a:rPr lang="pl-PL" sz="4000" b="1" dirty="0">
                <a:sym typeface="Wingdings" pitchFamily="2" charset="2"/>
              </a:rPr>
              <a:t></a:t>
            </a:r>
            <a:br>
              <a:rPr lang="pl-PL" sz="4000" b="1" dirty="0">
                <a:sym typeface="Wingdings" pitchFamily="2" charset="2"/>
              </a:rPr>
            </a:br>
            <a:endParaRPr lang="pl-PL" sz="4000" b="1" dirty="0"/>
          </a:p>
        </p:txBody>
      </p:sp>
      <p:sp>
        <p:nvSpPr>
          <p:cNvPr id="132099" name="Rectangle 3"/>
          <p:cNvSpPr>
            <a:spLocks noGrp="1" noChangeArrowheads="1"/>
          </p:cNvSpPr>
          <p:nvPr>
            <p:ph type="body" idx="1"/>
          </p:nvPr>
        </p:nvSpPr>
        <p:spPr>
          <a:xfrm>
            <a:off x="457200" y="980728"/>
            <a:ext cx="8229600" cy="5150197"/>
          </a:xfrm>
        </p:spPr>
        <p:txBody>
          <a:bodyPr/>
          <a:lstStyle/>
          <a:p>
            <a:pPr marL="0" indent="0">
              <a:buNone/>
            </a:pPr>
            <a:endParaRPr lang="pl-PL" sz="2400" b="1" dirty="0">
              <a:solidFill>
                <a:srgbClr val="003399"/>
              </a:solidFill>
            </a:endParaRPr>
          </a:p>
          <a:p>
            <a:pPr marL="0" indent="0">
              <a:buNone/>
            </a:pPr>
            <a:r>
              <a:rPr lang="en-US" sz="2400" b="1" dirty="0">
                <a:solidFill>
                  <a:srgbClr val="003399"/>
                </a:solidFill>
              </a:rPr>
              <a:t>Self-censorship</a:t>
            </a:r>
            <a:r>
              <a:rPr lang="en-US" sz="2400" dirty="0">
                <a:solidFill>
                  <a:srgbClr val="003399"/>
                </a:solidFill>
              </a:rPr>
              <a:t> causes people who might have doubts to hide their fears or misgivings.</a:t>
            </a:r>
          </a:p>
          <a:p>
            <a:pPr marL="0" indent="0">
              <a:buNone/>
            </a:pPr>
            <a:r>
              <a:rPr lang="en-US" sz="2400" b="1" dirty="0">
                <a:solidFill>
                  <a:srgbClr val="003399"/>
                </a:solidFill>
              </a:rPr>
              <a:t>"</a:t>
            </a:r>
            <a:r>
              <a:rPr lang="en-US" sz="2400" b="1" dirty="0" err="1">
                <a:solidFill>
                  <a:srgbClr val="003399"/>
                </a:solidFill>
              </a:rPr>
              <a:t>Mindguards</a:t>
            </a:r>
            <a:r>
              <a:rPr lang="en-US" sz="2400" b="1" dirty="0">
                <a:solidFill>
                  <a:srgbClr val="003399"/>
                </a:solidFill>
              </a:rPr>
              <a:t>"</a:t>
            </a:r>
            <a:r>
              <a:rPr lang="en-US" sz="2400" dirty="0">
                <a:solidFill>
                  <a:srgbClr val="003399"/>
                </a:solidFill>
              </a:rPr>
              <a:t> act as self-appointed censors to hide problematic information from the group.</a:t>
            </a:r>
          </a:p>
          <a:p>
            <a:pPr marL="0" indent="0">
              <a:buNone/>
            </a:pPr>
            <a:r>
              <a:rPr lang="en-US" sz="2400" b="1" dirty="0">
                <a:solidFill>
                  <a:srgbClr val="003399"/>
                </a:solidFill>
              </a:rPr>
              <a:t>Illusions of unanimity</a:t>
            </a:r>
            <a:r>
              <a:rPr lang="en-US" sz="2400" dirty="0">
                <a:solidFill>
                  <a:srgbClr val="003399"/>
                </a:solidFill>
              </a:rPr>
              <a:t> lead members to believe that everyone is in agreement and feels the same way.</a:t>
            </a:r>
          </a:p>
          <a:p>
            <a:pPr marL="0" indent="0">
              <a:buNone/>
            </a:pPr>
            <a:r>
              <a:rPr lang="en-US" sz="2400" b="1" dirty="0">
                <a:solidFill>
                  <a:srgbClr val="003399"/>
                </a:solidFill>
              </a:rPr>
              <a:t>Direct pressure</a:t>
            </a:r>
            <a:r>
              <a:rPr lang="en-US" sz="2400" dirty="0">
                <a:solidFill>
                  <a:srgbClr val="003399"/>
                </a:solidFill>
              </a:rPr>
              <a:t> to </a:t>
            </a:r>
            <a:r>
              <a:rPr lang="pl-PL" sz="2400" dirty="0" err="1">
                <a:solidFill>
                  <a:srgbClr val="003399"/>
                </a:solidFill>
              </a:rPr>
              <a:t>conform</a:t>
            </a:r>
            <a:r>
              <a:rPr lang="pl-PL" sz="2400" dirty="0">
                <a:solidFill>
                  <a:srgbClr val="003399"/>
                </a:solidFill>
              </a:rPr>
              <a:t> </a:t>
            </a:r>
            <a:r>
              <a:rPr lang="en-US" sz="2400" dirty="0">
                <a:solidFill>
                  <a:srgbClr val="003399"/>
                </a:solidFill>
              </a:rPr>
              <a:t>is often placed on members who pose questions, and those who question the group are often seen as disloyal</a:t>
            </a:r>
          </a:p>
          <a:p>
            <a:pPr marL="0" indent="0" eaLnBrk="1" hangingPunct="1">
              <a:lnSpc>
                <a:spcPct val="90000"/>
              </a:lnSpc>
              <a:buNone/>
            </a:pPr>
            <a:endParaRPr lang="pl-PL" sz="1800" dirty="0">
              <a:solidFill>
                <a:srgbClr val="003399"/>
              </a:solidFill>
            </a:endParaRPr>
          </a:p>
          <a:p>
            <a:pPr eaLnBrk="1" hangingPunct="1">
              <a:lnSpc>
                <a:spcPct val="90000"/>
              </a:lnSpc>
              <a:buFont typeface="Wingdings" pitchFamily="2" charset="2"/>
              <a:buNone/>
            </a:pPr>
            <a:endParaRPr lang="pl-PL" sz="2600" b="1" i="1" dirty="0">
              <a:solidFill>
                <a:srgbClr val="003399"/>
              </a:solidFill>
            </a:endParaRPr>
          </a:p>
        </p:txBody>
      </p:sp>
    </p:spTree>
    <p:extLst>
      <p:ext uri="{BB962C8B-B14F-4D97-AF65-F5344CB8AC3E}">
        <p14:creationId xmlns:p14="http://schemas.microsoft.com/office/powerpoint/2010/main" val="11377762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ymbol zastępczy stopki 4"/>
          <p:cNvSpPr>
            <a:spLocks noGrp="1"/>
          </p:cNvSpPr>
          <p:nvPr>
            <p:ph type="ftr" sz="quarter" idx="11"/>
          </p:nvPr>
        </p:nvSpPr>
        <p:spPr/>
        <p:txBody>
          <a:bodyPr/>
          <a:lstStyle/>
          <a:p>
            <a:pPr>
              <a:defRPr/>
            </a:pPr>
            <a:r>
              <a:rPr lang="pl-PL" altLang="en-US"/>
              <a:t>PJAIT</a:t>
            </a:r>
          </a:p>
        </p:txBody>
      </p:sp>
      <p:sp>
        <p:nvSpPr>
          <p:cNvPr id="18435" name="Rectangle 2"/>
          <p:cNvSpPr>
            <a:spLocks noGrp="1" noChangeArrowheads="1"/>
          </p:cNvSpPr>
          <p:nvPr>
            <p:ph type="title"/>
          </p:nvPr>
        </p:nvSpPr>
        <p:spPr/>
        <p:txBody>
          <a:bodyPr/>
          <a:lstStyle/>
          <a:p>
            <a:pPr eaLnBrk="1" hangingPunct="1"/>
            <a:r>
              <a:rPr lang="en-US" sz="4000" b="1" dirty="0"/>
              <a:t>Group and team decision making</a:t>
            </a:r>
            <a:endParaRPr lang="pl-PL" sz="4000" b="1" dirty="0"/>
          </a:p>
        </p:txBody>
      </p:sp>
      <p:sp>
        <p:nvSpPr>
          <p:cNvPr id="18436" name="Rectangle 3"/>
          <p:cNvSpPr>
            <a:spLocks noGrp="1" noChangeArrowheads="1"/>
          </p:cNvSpPr>
          <p:nvPr>
            <p:ph type="body" idx="1"/>
          </p:nvPr>
        </p:nvSpPr>
        <p:spPr/>
        <p:txBody>
          <a:bodyPr/>
          <a:lstStyle/>
          <a:p>
            <a:pPr eaLnBrk="1" hangingPunct="1"/>
            <a:r>
              <a:rPr lang="pl-PL" dirty="0" err="1">
                <a:solidFill>
                  <a:srgbClr val="003399"/>
                </a:solidFill>
              </a:rPr>
              <a:t>Japanese</a:t>
            </a:r>
            <a:r>
              <a:rPr lang="pl-PL" dirty="0">
                <a:solidFill>
                  <a:srgbClr val="003399"/>
                </a:solidFill>
              </a:rPr>
              <a:t> style of </a:t>
            </a:r>
            <a:r>
              <a:rPr lang="pl-PL" dirty="0" err="1">
                <a:solidFill>
                  <a:srgbClr val="003399"/>
                </a:solidFill>
              </a:rPr>
              <a:t>decision</a:t>
            </a:r>
            <a:r>
              <a:rPr lang="pl-PL" dirty="0">
                <a:solidFill>
                  <a:srgbClr val="003399"/>
                </a:solidFill>
              </a:rPr>
              <a:t> </a:t>
            </a:r>
            <a:r>
              <a:rPr lang="pl-PL" dirty="0" err="1">
                <a:solidFill>
                  <a:srgbClr val="003399"/>
                </a:solidFill>
              </a:rPr>
              <a:t>making</a:t>
            </a:r>
            <a:r>
              <a:rPr lang="pl-PL" dirty="0">
                <a:solidFill>
                  <a:srgbClr val="003399"/>
                </a:solidFill>
              </a:rPr>
              <a:t>?</a:t>
            </a:r>
          </a:p>
        </p:txBody>
      </p:sp>
      <p:pic>
        <p:nvPicPr>
          <p:cNvPr id="18437" name="Picture 4" descr="DSC02254"/>
          <p:cNvPicPr>
            <a:picLocks noChangeAspect="1" noChangeArrowheads="1"/>
          </p:cNvPicPr>
          <p:nvPr/>
        </p:nvPicPr>
        <p:blipFill>
          <a:blip r:embed="rId3" cstate="print"/>
          <a:srcRect/>
          <a:stretch>
            <a:fillRect/>
          </a:stretch>
        </p:blipFill>
        <p:spPr bwMode="auto">
          <a:xfrm>
            <a:off x="1908175" y="2420938"/>
            <a:ext cx="4752975" cy="3565525"/>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ymbol zastępczy stopki 4"/>
          <p:cNvSpPr>
            <a:spLocks noGrp="1"/>
          </p:cNvSpPr>
          <p:nvPr>
            <p:ph type="ftr" sz="quarter" idx="11"/>
          </p:nvPr>
        </p:nvSpPr>
        <p:spPr/>
        <p:txBody>
          <a:bodyPr/>
          <a:lstStyle/>
          <a:p>
            <a:pPr>
              <a:defRPr/>
            </a:pPr>
            <a:r>
              <a:rPr lang="pl-PL" altLang="en-US"/>
              <a:t>PJAIT</a:t>
            </a:r>
          </a:p>
        </p:txBody>
      </p:sp>
      <p:sp>
        <p:nvSpPr>
          <p:cNvPr id="19459" name="Rectangle 2"/>
          <p:cNvSpPr>
            <a:spLocks noGrp="1" noChangeArrowheads="1"/>
          </p:cNvSpPr>
          <p:nvPr>
            <p:ph type="title"/>
          </p:nvPr>
        </p:nvSpPr>
        <p:spPr/>
        <p:txBody>
          <a:bodyPr/>
          <a:lstStyle/>
          <a:p>
            <a:pPr eaLnBrk="1" hangingPunct="1"/>
            <a:r>
              <a:rPr lang="en-US" sz="4000" b="1" dirty="0"/>
              <a:t>Group and team decision</a:t>
            </a:r>
            <a:r>
              <a:rPr lang="pl-PL" sz="4000" b="1" dirty="0"/>
              <a:t>-</a:t>
            </a:r>
            <a:r>
              <a:rPr lang="en-US" sz="4000" b="1" dirty="0"/>
              <a:t>making</a:t>
            </a:r>
            <a:endParaRPr lang="pl-PL" sz="4000" b="1" dirty="0"/>
          </a:p>
        </p:txBody>
      </p:sp>
      <p:sp>
        <p:nvSpPr>
          <p:cNvPr id="19460" name="Rectangle 3"/>
          <p:cNvSpPr>
            <a:spLocks noGrp="1" noChangeArrowheads="1"/>
          </p:cNvSpPr>
          <p:nvPr>
            <p:ph type="body" idx="1"/>
          </p:nvPr>
        </p:nvSpPr>
        <p:spPr/>
        <p:txBody>
          <a:bodyPr/>
          <a:lstStyle/>
          <a:p>
            <a:pPr eaLnBrk="1" hangingPunct="1"/>
            <a:r>
              <a:rPr lang="pl-PL" sz="2800" dirty="0" err="1">
                <a:solidFill>
                  <a:srgbClr val="003399"/>
                </a:solidFill>
              </a:rPr>
              <a:t>Japanese</a:t>
            </a:r>
            <a:r>
              <a:rPr lang="pl-PL" sz="2800" dirty="0">
                <a:solidFill>
                  <a:srgbClr val="003399"/>
                </a:solidFill>
              </a:rPr>
              <a:t> style of </a:t>
            </a:r>
            <a:r>
              <a:rPr lang="pl-PL" sz="2800" dirty="0" err="1">
                <a:solidFill>
                  <a:srgbClr val="003399"/>
                </a:solidFill>
              </a:rPr>
              <a:t>decision</a:t>
            </a:r>
            <a:r>
              <a:rPr lang="pl-PL" sz="2800" dirty="0">
                <a:solidFill>
                  <a:srgbClr val="003399"/>
                </a:solidFill>
              </a:rPr>
              <a:t> </a:t>
            </a:r>
            <a:r>
              <a:rPr lang="pl-PL" sz="2800" dirty="0" err="1">
                <a:solidFill>
                  <a:srgbClr val="003399"/>
                </a:solidFill>
              </a:rPr>
              <a:t>making</a:t>
            </a:r>
            <a:r>
              <a:rPr lang="pl-PL" sz="2600" dirty="0">
                <a:solidFill>
                  <a:srgbClr val="003399"/>
                </a:solidFill>
              </a:rPr>
              <a:t> – </a:t>
            </a:r>
            <a:r>
              <a:rPr lang="pl-PL" sz="2600" i="1" dirty="0" err="1">
                <a:solidFill>
                  <a:srgbClr val="003399"/>
                </a:solidFill>
              </a:rPr>
              <a:t>ringisei</a:t>
            </a:r>
            <a:endParaRPr lang="pl-PL" sz="2600" i="1" dirty="0">
              <a:solidFill>
                <a:srgbClr val="003399"/>
              </a:solidFill>
            </a:endParaRPr>
          </a:p>
          <a:p>
            <a:pPr eaLnBrk="1" hangingPunct="1"/>
            <a:r>
              <a:rPr lang="pl-PL" sz="2600" dirty="0">
                <a:solidFill>
                  <a:srgbClr val="003399"/>
                </a:solidFill>
              </a:rPr>
              <a:t>A </a:t>
            </a:r>
            <a:r>
              <a:rPr lang="pl-PL" sz="2600" dirty="0" err="1">
                <a:solidFill>
                  <a:srgbClr val="003399"/>
                </a:solidFill>
              </a:rPr>
              <a:t>long</a:t>
            </a:r>
            <a:r>
              <a:rPr lang="pl-PL" sz="2600" dirty="0">
                <a:solidFill>
                  <a:srgbClr val="003399"/>
                </a:solidFill>
              </a:rPr>
              <a:t> </a:t>
            </a:r>
            <a:r>
              <a:rPr lang="pl-PL" sz="2600" dirty="0" err="1">
                <a:solidFill>
                  <a:srgbClr val="003399"/>
                </a:solidFill>
              </a:rPr>
              <a:t>process</a:t>
            </a:r>
            <a:endParaRPr lang="pl-PL" sz="2600" dirty="0">
              <a:solidFill>
                <a:srgbClr val="003399"/>
              </a:solidFill>
            </a:endParaRPr>
          </a:p>
          <a:p>
            <a:pPr eaLnBrk="1" hangingPunct="1"/>
            <a:r>
              <a:rPr lang="en-US" sz="2600" dirty="0">
                <a:solidFill>
                  <a:srgbClr val="003399"/>
                </a:solidFill>
              </a:rPr>
              <a:t>No one is allowed to take a definitive position on the final solution (threat of face loss)</a:t>
            </a:r>
            <a:endParaRPr lang="pl-PL" sz="2600" dirty="0">
              <a:solidFill>
                <a:srgbClr val="003399"/>
              </a:solidFill>
            </a:endParaRPr>
          </a:p>
          <a:p>
            <a:pPr eaLnBrk="1" hangingPunct="1"/>
            <a:r>
              <a:rPr lang="en-US" sz="2600" dirty="0">
                <a:solidFill>
                  <a:srgbClr val="003399"/>
                </a:solidFill>
              </a:rPr>
              <a:t>No open debate, no polarization of positions, no division into 'losers' and '</a:t>
            </a:r>
            <a:r>
              <a:rPr lang="en-US" sz="2600" dirty="0" err="1">
                <a:solidFill>
                  <a:srgbClr val="003399"/>
                </a:solidFill>
              </a:rPr>
              <a:t>winn</a:t>
            </a:r>
            <a:r>
              <a:rPr lang="pl-PL" sz="2600" dirty="0" err="1">
                <a:solidFill>
                  <a:srgbClr val="003399"/>
                </a:solidFill>
              </a:rPr>
              <a:t>ers</a:t>
            </a:r>
            <a:r>
              <a:rPr lang="en-US" sz="2600" dirty="0">
                <a:solidFill>
                  <a:srgbClr val="003399"/>
                </a:solidFill>
              </a:rPr>
              <a:t>'</a:t>
            </a:r>
            <a:endParaRPr lang="pl-PL" sz="2600" dirty="0">
              <a:solidFill>
                <a:srgbClr val="003399"/>
              </a:solidFill>
            </a:endParaRPr>
          </a:p>
          <a:p>
            <a:pPr eaLnBrk="1" hangingPunct="1"/>
            <a:r>
              <a:rPr lang="en-US" sz="2600" dirty="0">
                <a:solidFill>
                  <a:srgbClr val="003399"/>
                </a:solidFill>
              </a:rPr>
              <a:t>After </a:t>
            </a:r>
            <a:r>
              <a:rPr lang="pl-PL" sz="2600" dirty="0" err="1">
                <a:solidFill>
                  <a:srgbClr val="003399"/>
                </a:solidFill>
              </a:rPr>
              <a:t>finding</a:t>
            </a:r>
            <a:r>
              <a:rPr lang="pl-PL" sz="2600" dirty="0">
                <a:solidFill>
                  <a:srgbClr val="003399"/>
                </a:solidFill>
              </a:rPr>
              <a:t> </a:t>
            </a:r>
            <a:r>
              <a:rPr lang="en-US" sz="2600" dirty="0">
                <a:solidFill>
                  <a:srgbClr val="003399"/>
                </a:solidFill>
              </a:rPr>
              <a:t>the final solution – </a:t>
            </a:r>
            <a:r>
              <a:rPr lang="pl-PL" sz="2600" dirty="0">
                <a:solidFill>
                  <a:srgbClr val="003399"/>
                </a:solidFill>
              </a:rPr>
              <a:t>immediate and </a:t>
            </a:r>
            <a:r>
              <a:rPr lang="pl-PL" sz="2600" dirty="0" err="1">
                <a:solidFill>
                  <a:srgbClr val="003399"/>
                </a:solidFill>
              </a:rPr>
              <a:t>quick</a:t>
            </a:r>
            <a:r>
              <a:rPr lang="en-US" sz="2600" dirty="0">
                <a:solidFill>
                  <a:srgbClr val="003399"/>
                </a:solidFill>
              </a:rPr>
              <a:t> implementation</a:t>
            </a:r>
            <a:endParaRPr lang="pl-PL" sz="2600" dirty="0">
              <a:solidFill>
                <a:srgbClr val="003399"/>
              </a:solidFill>
            </a:endParaRPr>
          </a:p>
          <a:p>
            <a:pPr eaLnBrk="1" hangingPunct="1"/>
            <a:endParaRPr lang="pl-PL" sz="2600" dirty="0">
              <a:solidFill>
                <a:srgbClr val="003399"/>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ymbol zastępczy stopki 4"/>
          <p:cNvSpPr>
            <a:spLocks noGrp="1"/>
          </p:cNvSpPr>
          <p:nvPr>
            <p:ph type="ftr" sz="quarter" idx="11"/>
          </p:nvPr>
        </p:nvSpPr>
        <p:spPr/>
        <p:txBody>
          <a:bodyPr/>
          <a:lstStyle/>
          <a:p>
            <a:pPr>
              <a:defRPr/>
            </a:pPr>
            <a:r>
              <a:rPr lang="pl-PL" altLang="en-US"/>
              <a:t>PJAIT</a:t>
            </a:r>
          </a:p>
        </p:txBody>
      </p:sp>
      <p:sp>
        <p:nvSpPr>
          <p:cNvPr id="20483" name="Rectangle 2"/>
          <p:cNvSpPr>
            <a:spLocks noGrp="1" noChangeArrowheads="1"/>
          </p:cNvSpPr>
          <p:nvPr>
            <p:ph type="title"/>
          </p:nvPr>
        </p:nvSpPr>
        <p:spPr/>
        <p:txBody>
          <a:bodyPr/>
          <a:lstStyle/>
          <a:p>
            <a:pPr eaLnBrk="1" hangingPunct="1"/>
            <a:r>
              <a:rPr lang="en-US" sz="4000" b="1" dirty="0"/>
              <a:t>Group and team decision</a:t>
            </a:r>
            <a:r>
              <a:rPr lang="pl-PL" sz="4000" b="1" dirty="0"/>
              <a:t>-</a:t>
            </a:r>
            <a:r>
              <a:rPr lang="en-US" sz="4000" b="1" dirty="0"/>
              <a:t>making</a:t>
            </a:r>
            <a:endParaRPr lang="pl-PL" sz="4000" b="1" dirty="0"/>
          </a:p>
        </p:txBody>
      </p:sp>
      <p:sp>
        <p:nvSpPr>
          <p:cNvPr id="20484" name="Rectangle 3"/>
          <p:cNvSpPr>
            <a:spLocks noGrp="1" noChangeArrowheads="1"/>
          </p:cNvSpPr>
          <p:nvPr>
            <p:ph type="body" idx="1"/>
          </p:nvPr>
        </p:nvSpPr>
        <p:spPr/>
        <p:txBody>
          <a:bodyPr/>
          <a:lstStyle/>
          <a:p>
            <a:pPr eaLnBrk="1" hangingPunct="1">
              <a:lnSpc>
                <a:spcPct val="90000"/>
              </a:lnSpc>
              <a:buNone/>
            </a:pPr>
            <a:r>
              <a:rPr lang="en-US" b="1" dirty="0">
                <a:solidFill>
                  <a:srgbClr val="003399"/>
                </a:solidFill>
              </a:rPr>
              <a:t>Management of group and team decision making processes:</a:t>
            </a:r>
            <a:endParaRPr lang="pl-PL" b="1" dirty="0">
              <a:solidFill>
                <a:srgbClr val="003399"/>
              </a:solidFill>
            </a:endParaRPr>
          </a:p>
          <a:p>
            <a:pPr eaLnBrk="1" hangingPunct="1">
              <a:lnSpc>
                <a:spcPct val="90000"/>
              </a:lnSpc>
            </a:pPr>
            <a:r>
              <a:rPr lang="pl-PL" dirty="0">
                <a:solidFill>
                  <a:srgbClr val="003399"/>
                </a:solidFill>
              </a:rPr>
              <a:t>The manager </a:t>
            </a:r>
            <a:r>
              <a:rPr lang="pl-PL" dirty="0" err="1">
                <a:solidFill>
                  <a:srgbClr val="003399"/>
                </a:solidFill>
              </a:rPr>
              <a:t>should</a:t>
            </a:r>
            <a:r>
              <a:rPr lang="pl-PL" dirty="0">
                <a:solidFill>
                  <a:srgbClr val="003399"/>
                </a:solidFill>
              </a:rPr>
              <a:t> set </a:t>
            </a:r>
            <a:r>
              <a:rPr lang="pl-PL" dirty="0" err="1">
                <a:solidFill>
                  <a:srgbClr val="003399"/>
                </a:solidFill>
              </a:rPr>
              <a:t>up</a:t>
            </a:r>
            <a:r>
              <a:rPr lang="pl-PL" dirty="0">
                <a:solidFill>
                  <a:srgbClr val="003399"/>
                </a:solidFill>
              </a:rPr>
              <a:t> a </a:t>
            </a:r>
            <a:r>
              <a:rPr lang="pl-PL" i="1" dirty="0" err="1">
                <a:solidFill>
                  <a:srgbClr val="003399"/>
                </a:solidFill>
              </a:rPr>
              <a:t>deadline</a:t>
            </a:r>
            <a:endParaRPr lang="pl-PL" i="1" dirty="0">
              <a:solidFill>
                <a:srgbClr val="003399"/>
              </a:solidFill>
            </a:endParaRPr>
          </a:p>
          <a:p>
            <a:pPr eaLnBrk="1" hangingPunct="1">
              <a:lnSpc>
                <a:spcPct val="90000"/>
              </a:lnSpc>
            </a:pPr>
            <a:r>
              <a:rPr lang="pl-PL" dirty="0">
                <a:solidFill>
                  <a:srgbClr val="003399"/>
                </a:solidFill>
              </a:rPr>
              <a:t>The manager </a:t>
            </a:r>
            <a:r>
              <a:rPr lang="pl-PL" dirty="0" err="1">
                <a:solidFill>
                  <a:srgbClr val="003399"/>
                </a:solidFill>
              </a:rPr>
              <a:t>should</a:t>
            </a:r>
            <a:r>
              <a:rPr lang="pl-PL" dirty="0">
                <a:solidFill>
                  <a:srgbClr val="003399"/>
                </a:solidFill>
              </a:rPr>
              <a:t> </a:t>
            </a:r>
            <a:r>
              <a:rPr lang="pl-PL" dirty="0" err="1">
                <a:solidFill>
                  <a:srgbClr val="003399"/>
                </a:solidFill>
              </a:rPr>
              <a:t>wisely</a:t>
            </a:r>
            <a:r>
              <a:rPr lang="pl-PL" dirty="0">
                <a:solidFill>
                  <a:srgbClr val="003399"/>
                </a:solidFill>
              </a:rPr>
              <a:t> </a:t>
            </a:r>
            <a:r>
              <a:rPr lang="pl-PL" dirty="0" err="1">
                <a:solidFill>
                  <a:srgbClr val="003399"/>
                </a:solidFill>
              </a:rPr>
              <a:t>select</a:t>
            </a:r>
            <a:r>
              <a:rPr lang="pl-PL" dirty="0">
                <a:solidFill>
                  <a:srgbClr val="003399"/>
                </a:solidFill>
              </a:rPr>
              <a:t> the </a:t>
            </a:r>
            <a:r>
              <a:rPr lang="pl-PL" dirty="0" err="1">
                <a:solidFill>
                  <a:srgbClr val="003399"/>
                </a:solidFill>
              </a:rPr>
              <a:t>group</a:t>
            </a:r>
            <a:r>
              <a:rPr lang="pl-PL" dirty="0">
                <a:solidFill>
                  <a:srgbClr val="003399"/>
                </a:solidFill>
              </a:rPr>
              <a:t> </a:t>
            </a:r>
            <a:r>
              <a:rPr lang="pl-PL" dirty="0" err="1">
                <a:solidFill>
                  <a:srgbClr val="003399"/>
                </a:solidFill>
              </a:rPr>
              <a:t>members</a:t>
            </a:r>
            <a:r>
              <a:rPr lang="pl-PL" dirty="0">
                <a:solidFill>
                  <a:srgbClr val="003399"/>
                </a:solidFill>
              </a:rPr>
              <a:t> </a:t>
            </a:r>
            <a:r>
              <a:rPr lang="en-US" dirty="0">
                <a:solidFill>
                  <a:srgbClr val="003399"/>
                </a:solidFill>
              </a:rPr>
              <a:t>(either without the dominant person, or with several equally strong personalities)</a:t>
            </a:r>
            <a:endParaRPr lang="pl-PL" dirty="0">
              <a:solidFill>
                <a:srgbClr val="003399"/>
              </a:solidFill>
            </a:endParaRPr>
          </a:p>
          <a:p>
            <a:pPr eaLnBrk="1" hangingPunct="1">
              <a:lnSpc>
                <a:spcPct val="90000"/>
              </a:lnSpc>
            </a:pPr>
            <a:r>
              <a:rPr lang="pl-PL" dirty="0">
                <a:solidFill>
                  <a:srgbClr val="003399"/>
                </a:solidFill>
              </a:rPr>
              <a:t>The m</a:t>
            </a:r>
            <a:r>
              <a:rPr lang="en-US" dirty="0" err="1">
                <a:solidFill>
                  <a:srgbClr val="003399"/>
                </a:solidFill>
              </a:rPr>
              <a:t>anager</a:t>
            </a:r>
            <a:r>
              <a:rPr lang="en-US" dirty="0">
                <a:solidFill>
                  <a:srgbClr val="003399"/>
                </a:solidFill>
              </a:rPr>
              <a:t> </a:t>
            </a:r>
            <a:r>
              <a:rPr lang="pl-PL" dirty="0" err="1">
                <a:solidFill>
                  <a:srgbClr val="003399"/>
                </a:solidFill>
              </a:rPr>
              <a:t>should</a:t>
            </a:r>
            <a:r>
              <a:rPr lang="pl-PL" dirty="0">
                <a:solidFill>
                  <a:srgbClr val="003399"/>
                </a:solidFill>
              </a:rPr>
              <a:t> </a:t>
            </a:r>
            <a:r>
              <a:rPr lang="en-US" dirty="0">
                <a:solidFill>
                  <a:srgbClr val="003399"/>
                </a:solidFill>
              </a:rPr>
              <a:t>not reveal his</a:t>
            </a:r>
            <a:r>
              <a:rPr lang="pl-PL" dirty="0">
                <a:solidFill>
                  <a:srgbClr val="003399"/>
                </a:solidFill>
              </a:rPr>
              <a:t>/</a:t>
            </a:r>
            <a:r>
              <a:rPr lang="pl-PL" dirty="0" err="1">
                <a:solidFill>
                  <a:srgbClr val="003399"/>
                </a:solidFill>
              </a:rPr>
              <a:t>her</a:t>
            </a:r>
            <a:r>
              <a:rPr lang="en-US" dirty="0">
                <a:solidFill>
                  <a:srgbClr val="003399"/>
                </a:solidFill>
              </a:rPr>
              <a:t> views too early</a:t>
            </a:r>
            <a:endParaRPr lang="pl-PL" dirty="0">
              <a:solidFill>
                <a:srgbClr val="003399"/>
              </a:solidFill>
            </a:endParaRPr>
          </a:p>
          <a:p>
            <a:pPr eaLnBrk="1" hangingPunct="1">
              <a:lnSpc>
                <a:spcPct val="90000"/>
              </a:lnSpc>
            </a:pPr>
            <a:r>
              <a:rPr lang="pl-PL" i="1" dirty="0" err="1">
                <a:solidFill>
                  <a:srgbClr val="003399"/>
                </a:solidFill>
              </a:rPr>
              <a:t>Advocatus</a:t>
            </a:r>
            <a:r>
              <a:rPr lang="pl-PL" i="1" dirty="0">
                <a:solidFill>
                  <a:srgbClr val="003399"/>
                </a:solidFill>
              </a:rPr>
              <a:t> </a:t>
            </a:r>
            <a:r>
              <a:rPr lang="pl-PL" i="1" dirty="0" err="1">
                <a:solidFill>
                  <a:srgbClr val="003399"/>
                </a:solidFill>
              </a:rPr>
              <a:t>diaboli</a:t>
            </a:r>
            <a:endParaRPr lang="pl-PL" i="1" dirty="0">
              <a:solidFill>
                <a:srgbClr val="003399"/>
              </a:solidFill>
            </a:endParaRPr>
          </a:p>
          <a:p>
            <a:pPr eaLnBrk="1" hangingPunct="1">
              <a:lnSpc>
                <a:spcPct val="90000"/>
              </a:lnSpc>
            </a:pPr>
            <a:endParaRPr lang="pl-PL" i="1" dirty="0">
              <a:solidFill>
                <a:srgbClr val="003399"/>
              </a:solidFill>
            </a:endParaRPr>
          </a:p>
          <a:p>
            <a:pPr eaLnBrk="1" hangingPunct="1">
              <a:lnSpc>
                <a:spcPct val="90000"/>
              </a:lnSpc>
            </a:pPr>
            <a:endParaRPr lang="pl-PL"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ymbol zastępczy stopki 4"/>
          <p:cNvSpPr>
            <a:spLocks noGrp="1"/>
          </p:cNvSpPr>
          <p:nvPr>
            <p:ph type="ftr" sz="quarter" idx="11"/>
          </p:nvPr>
        </p:nvSpPr>
        <p:spPr/>
        <p:txBody>
          <a:bodyPr/>
          <a:lstStyle/>
          <a:p>
            <a:pPr>
              <a:defRPr/>
            </a:pPr>
            <a:r>
              <a:rPr lang="pl-PL" altLang="en-US"/>
              <a:t>PJAIT</a:t>
            </a:r>
          </a:p>
        </p:txBody>
      </p:sp>
      <p:sp>
        <p:nvSpPr>
          <p:cNvPr id="21507" name="Rectangle 2"/>
          <p:cNvSpPr>
            <a:spLocks noGrp="1" noChangeArrowheads="1"/>
          </p:cNvSpPr>
          <p:nvPr>
            <p:ph type="title"/>
          </p:nvPr>
        </p:nvSpPr>
        <p:spPr/>
        <p:txBody>
          <a:bodyPr/>
          <a:lstStyle/>
          <a:p>
            <a:pPr eaLnBrk="1" hangingPunct="1"/>
            <a:r>
              <a:rPr lang="pl-PL" sz="4000" b="1" dirty="0" err="1"/>
              <a:t>Heuristic</a:t>
            </a:r>
            <a:r>
              <a:rPr lang="pl-PL" sz="4000" b="1" dirty="0"/>
              <a:t> </a:t>
            </a:r>
            <a:r>
              <a:rPr lang="pl-PL" sz="4000" b="1" dirty="0" err="1"/>
              <a:t>approach</a:t>
            </a:r>
            <a:endParaRPr lang="pl-PL" sz="4000" b="1" dirty="0"/>
          </a:p>
        </p:txBody>
      </p:sp>
      <p:sp>
        <p:nvSpPr>
          <p:cNvPr id="21508" name="Rectangle 3"/>
          <p:cNvSpPr>
            <a:spLocks noGrp="1" noChangeArrowheads="1"/>
          </p:cNvSpPr>
          <p:nvPr>
            <p:ph type="body" idx="1"/>
          </p:nvPr>
        </p:nvSpPr>
        <p:spPr/>
        <p:txBody>
          <a:bodyPr/>
          <a:lstStyle/>
          <a:p>
            <a:pPr marL="0" indent="0" eaLnBrk="1" hangingPunct="1">
              <a:buNone/>
            </a:pPr>
            <a:r>
              <a:rPr lang="pl-PL" b="1" dirty="0">
                <a:solidFill>
                  <a:srgbClr val="003399"/>
                </a:solidFill>
              </a:rPr>
              <a:t>Delphi </a:t>
            </a:r>
            <a:r>
              <a:rPr lang="pl-PL" b="1" dirty="0" err="1">
                <a:solidFill>
                  <a:srgbClr val="003399"/>
                </a:solidFill>
              </a:rPr>
              <a:t>group</a:t>
            </a:r>
            <a:endParaRPr lang="pl-PL" b="1" dirty="0">
              <a:solidFill>
                <a:srgbClr val="003399"/>
              </a:solidFill>
            </a:endParaRPr>
          </a:p>
          <a:p>
            <a:pPr marL="0" indent="0" eaLnBrk="1" hangingPunct="1">
              <a:buNone/>
            </a:pPr>
            <a:r>
              <a:rPr lang="en-US" dirty="0">
                <a:solidFill>
                  <a:srgbClr val="003399"/>
                </a:solidFill>
              </a:rPr>
              <a:t>A form of group</a:t>
            </a:r>
            <a:r>
              <a:rPr lang="pl-PL" dirty="0">
                <a:solidFill>
                  <a:srgbClr val="003399"/>
                </a:solidFill>
              </a:rPr>
              <a:t> </a:t>
            </a:r>
            <a:r>
              <a:rPr lang="en-US" dirty="0">
                <a:solidFill>
                  <a:srgbClr val="003399"/>
                </a:solidFill>
              </a:rPr>
              <a:t>decision making in</a:t>
            </a:r>
            <a:r>
              <a:rPr lang="pl-PL" dirty="0">
                <a:solidFill>
                  <a:srgbClr val="003399"/>
                </a:solidFill>
              </a:rPr>
              <a:t> </a:t>
            </a:r>
            <a:r>
              <a:rPr lang="en-US" dirty="0">
                <a:solidFill>
                  <a:srgbClr val="003399"/>
                </a:solidFill>
              </a:rPr>
              <a:t>which a group</a:t>
            </a:r>
            <a:r>
              <a:rPr lang="pl-PL" dirty="0">
                <a:solidFill>
                  <a:srgbClr val="003399"/>
                </a:solidFill>
              </a:rPr>
              <a:t> </a:t>
            </a:r>
            <a:r>
              <a:rPr lang="en-US" dirty="0">
                <a:solidFill>
                  <a:srgbClr val="003399"/>
                </a:solidFill>
              </a:rPr>
              <a:t>arrives at a</a:t>
            </a:r>
            <a:r>
              <a:rPr lang="pl-PL" dirty="0">
                <a:solidFill>
                  <a:srgbClr val="003399"/>
                </a:solidFill>
              </a:rPr>
              <a:t> </a:t>
            </a:r>
            <a:r>
              <a:rPr lang="en-US" dirty="0">
                <a:solidFill>
                  <a:srgbClr val="003399"/>
                </a:solidFill>
              </a:rPr>
              <a:t>consensus of</a:t>
            </a:r>
            <a:r>
              <a:rPr lang="pl-PL" dirty="0">
                <a:solidFill>
                  <a:srgbClr val="003399"/>
                </a:solidFill>
              </a:rPr>
              <a:t> </a:t>
            </a:r>
            <a:r>
              <a:rPr lang="en-US" dirty="0">
                <a:solidFill>
                  <a:srgbClr val="003399"/>
                </a:solidFill>
              </a:rPr>
              <a:t>expert opinion</a:t>
            </a:r>
            <a:endParaRPr lang="pl-PL" dirty="0">
              <a:solidFill>
                <a:srgbClr val="003399"/>
              </a:solidFill>
            </a:endParaRPr>
          </a:p>
          <a:p>
            <a:pPr eaLnBrk="1" hangingPunct="1"/>
            <a:endParaRPr lang="pl-PL" dirty="0">
              <a:solidFill>
                <a:srgbClr val="003399"/>
              </a:solidFill>
            </a:endParaRPr>
          </a:p>
          <a:p>
            <a:pPr marL="0" indent="0" eaLnBrk="1" hangingPunct="1">
              <a:buNone/>
            </a:pPr>
            <a:endParaRPr lang="pl-PL" dirty="0">
              <a:solidFill>
                <a:srgbClr val="003399"/>
              </a:solidFill>
            </a:endParaRPr>
          </a:p>
          <a:p>
            <a:pPr eaLnBrk="1" hangingPunct="1"/>
            <a:endParaRPr lang="pl-PL" dirty="0">
              <a:solidFill>
                <a:srgbClr val="003399"/>
              </a:solidFill>
            </a:endParaRPr>
          </a:p>
        </p:txBody>
      </p:sp>
      <p:pic>
        <p:nvPicPr>
          <p:cNvPr id="21509" name="Picture 5"/>
          <p:cNvPicPr>
            <a:picLocks noChangeAspect="1" noChangeArrowheads="1"/>
          </p:cNvPicPr>
          <p:nvPr/>
        </p:nvPicPr>
        <p:blipFill>
          <a:blip r:embed="rId3" cstate="print"/>
          <a:srcRect/>
          <a:stretch>
            <a:fillRect/>
          </a:stretch>
        </p:blipFill>
        <p:spPr bwMode="auto">
          <a:xfrm>
            <a:off x="3563938" y="3789040"/>
            <a:ext cx="1528762" cy="1514475"/>
          </a:xfrm>
          <a:prstGeom prst="rect">
            <a:avLst/>
          </a:prstGeom>
          <a:noFill/>
          <a:ln w="9525">
            <a:noFill/>
            <a:miter lim="800000"/>
            <a:headEnd/>
            <a:tailEnd/>
          </a:ln>
        </p:spPr>
      </p:pic>
      <p:sp>
        <p:nvSpPr>
          <p:cNvPr id="21510" name="Text Box 6"/>
          <p:cNvSpPr txBox="1">
            <a:spLocks noChangeArrowheads="1"/>
          </p:cNvSpPr>
          <p:nvPr/>
        </p:nvSpPr>
        <p:spPr bwMode="auto">
          <a:xfrm>
            <a:off x="323850" y="6237288"/>
            <a:ext cx="3240088" cy="276999"/>
          </a:xfrm>
          <a:prstGeom prst="rect">
            <a:avLst/>
          </a:prstGeom>
          <a:noFill/>
          <a:ln w="9525">
            <a:noFill/>
            <a:miter lim="800000"/>
            <a:headEnd/>
            <a:tailEnd/>
          </a:ln>
        </p:spPr>
        <p:txBody>
          <a:bodyPr>
            <a:spAutoFit/>
          </a:bodyPr>
          <a:lstStyle/>
          <a:p>
            <a:pPr>
              <a:spcBef>
                <a:spcPct val="50000"/>
              </a:spcBef>
            </a:pPr>
            <a:r>
              <a:rPr lang="pl-PL" sz="1200" dirty="0"/>
              <a:t>Source: </a:t>
            </a:r>
            <a:r>
              <a:rPr lang="pl-PL" sz="1200" dirty="0">
                <a:hlinkClick r:id="rId4"/>
              </a:rPr>
              <a:t>www.kb.neostrada.pl</a:t>
            </a:r>
            <a:r>
              <a:rPr lang="pl-PL" sz="1200" dirty="0"/>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ymbol zastępczy stopki 4"/>
          <p:cNvSpPr>
            <a:spLocks noGrp="1"/>
          </p:cNvSpPr>
          <p:nvPr>
            <p:ph type="ftr" sz="quarter" idx="11"/>
          </p:nvPr>
        </p:nvSpPr>
        <p:spPr/>
        <p:txBody>
          <a:bodyPr/>
          <a:lstStyle/>
          <a:p>
            <a:pPr>
              <a:defRPr/>
            </a:pPr>
            <a:r>
              <a:rPr lang="pl-PL" altLang="en-US"/>
              <a:t>PJAIT</a:t>
            </a:r>
          </a:p>
        </p:txBody>
      </p:sp>
      <p:sp>
        <p:nvSpPr>
          <p:cNvPr id="22531" name="Rectangle 2"/>
          <p:cNvSpPr>
            <a:spLocks noGrp="1" noChangeArrowheads="1"/>
          </p:cNvSpPr>
          <p:nvPr>
            <p:ph type="title"/>
          </p:nvPr>
        </p:nvSpPr>
        <p:spPr/>
        <p:txBody>
          <a:bodyPr/>
          <a:lstStyle/>
          <a:p>
            <a:pPr marL="800100" indent="-800100" eaLnBrk="1" hangingPunct="1"/>
            <a:r>
              <a:rPr lang="pl-PL" sz="4000" b="1" dirty="0" err="1"/>
              <a:t>Decision</a:t>
            </a:r>
            <a:r>
              <a:rPr lang="pl-PL" sz="4000" b="1" dirty="0"/>
              <a:t> </a:t>
            </a:r>
            <a:r>
              <a:rPr lang="pl-PL" sz="4000" b="1" dirty="0" err="1"/>
              <a:t>support</a:t>
            </a:r>
            <a:r>
              <a:rPr lang="pl-PL" sz="4000" b="1" dirty="0"/>
              <a:t> </a:t>
            </a:r>
            <a:r>
              <a:rPr lang="pl-PL" sz="4000" b="1" dirty="0" err="1"/>
              <a:t>tools</a:t>
            </a:r>
            <a:endParaRPr lang="pl-PL" sz="4000" b="1" dirty="0"/>
          </a:p>
        </p:txBody>
      </p:sp>
      <p:sp>
        <p:nvSpPr>
          <p:cNvPr id="22532" name="Rectangle 3"/>
          <p:cNvSpPr>
            <a:spLocks noGrp="1" noChangeArrowheads="1"/>
          </p:cNvSpPr>
          <p:nvPr>
            <p:ph type="body" idx="1"/>
          </p:nvPr>
        </p:nvSpPr>
        <p:spPr/>
        <p:txBody>
          <a:bodyPr/>
          <a:lstStyle/>
          <a:p>
            <a:pPr marL="571500" indent="-571500" eaLnBrk="1" hangingPunct="1">
              <a:buNone/>
            </a:pPr>
            <a:r>
              <a:rPr lang="en-US" sz="2400" b="1" dirty="0">
                <a:solidFill>
                  <a:srgbClr val="003399"/>
                </a:solidFill>
              </a:rPr>
              <a:t>Optimization models </a:t>
            </a:r>
            <a:r>
              <a:rPr lang="en-US" sz="2400" dirty="0">
                <a:solidFill>
                  <a:srgbClr val="003399"/>
                </a:solidFill>
              </a:rPr>
              <a:t>– </a:t>
            </a:r>
            <a:r>
              <a:rPr lang="pl-PL" sz="2400" dirty="0" err="1">
                <a:solidFill>
                  <a:srgbClr val="003399"/>
                </a:solidFill>
              </a:rPr>
              <a:t>based</a:t>
            </a:r>
            <a:r>
              <a:rPr lang="pl-PL" sz="2400" dirty="0">
                <a:solidFill>
                  <a:srgbClr val="003399"/>
                </a:solidFill>
              </a:rPr>
              <a:t> on</a:t>
            </a:r>
            <a:r>
              <a:rPr lang="en-US" sz="2400" dirty="0">
                <a:solidFill>
                  <a:srgbClr val="003399"/>
                </a:solidFill>
              </a:rPr>
              <a:t> mathematical theory of decisions and operation</a:t>
            </a:r>
            <a:r>
              <a:rPr lang="pl-PL" sz="2400" dirty="0">
                <a:solidFill>
                  <a:srgbClr val="003399"/>
                </a:solidFill>
              </a:rPr>
              <a:t>s</a:t>
            </a:r>
            <a:r>
              <a:rPr lang="en-US" sz="2400" dirty="0">
                <a:solidFill>
                  <a:srgbClr val="003399"/>
                </a:solidFill>
              </a:rPr>
              <a:t> research.</a:t>
            </a:r>
            <a:endParaRPr lang="pl-PL" sz="2400" dirty="0">
              <a:solidFill>
                <a:srgbClr val="003399"/>
              </a:solidFill>
            </a:endParaRPr>
          </a:p>
          <a:p>
            <a:pPr marL="571500" indent="-571500" eaLnBrk="1" hangingPunct="1">
              <a:buNone/>
            </a:pPr>
            <a:r>
              <a:rPr lang="pl-PL" sz="2400" b="1" dirty="0" err="1">
                <a:solidFill>
                  <a:srgbClr val="003399"/>
                </a:solidFill>
              </a:rPr>
              <a:t>Simulation</a:t>
            </a:r>
            <a:r>
              <a:rPr lang="pl-PL" sz="2400" b="1" dirty="0">
                <a:solidFill>
                  <a:srgbClr val="003399"/>
                </a:solidFill>
              </a:rPr>
              <a:t> </a:t>
            </a:r>
            <a:r>
              <a:rPr lang="pl-PL" sz="2400" b="1" dirty="0" err="1">
                <a:solidFill>
                  <a:srgbClr val="003399"/>
                </a:solidFill>
              </a:rPr>
              <a:t>models</a:t>
            </a:r>
            <a:r>
              <a:rPr lang="pl-PL" sz="2400" b="1" dirty="0">
                <a:solidFill>
                  <a:srgbClr val="003399"/>
                </a:solidFill>
              </a:rPr>
              <a:t> </a:t>
            </a:r>
          </a:p>
          <a:p>
            <a:pPr marL="571500" indent="-571500" eaLnBrk="1" hangingPunct="1">
              <a:buFont typeface="Wingdings" pitchFamily="2" charset="2"/>
              <a:buNone/>
            </a:pPr>
            <a:endParaRPr lang="pl-PL" dirty="0">
              <a:solidFill>
                <a:srgbClr val="003399"/>
              </a:solidFill>
            </a:endParaRPr>
          </a:p>
          <a:p>
            <a:pPr marL="571500" indent="-571500" eaLnBrk="1" hangingPunct="1">
              <a:buFont typeface="Wingdings" pitchFamily="2" charset="2"/>
              <a:buNone/>
            </a:pPr>
            <a:endParaRPr lang="pl-PL" dirty="0">
              <a:solidFill>
                <a:srgbClr val="003399"/>
              </a:solidFill>
            </a:endParaRPr>
          </a:p>
          <a:p>
            <a:pPr marL="571500" indent="-571500" eaLnBrk="1" hangingPunct="1">
              <a:buFont typeface="Wingdings" pitchFamily="2" charset="2"/>
              <a:buNone/>
            </a:pPr>
            <a:endParaRPr lang="pl-PL" dirty="0">
              <a:solidFill>
                <a:srgbClr val="003399"/>
              </a:solidFill>
            </a:endParaRPr>
          </a:p>
          <a:p>
            <a:pPr marL="571500" indent="-571500" eaLnBrk="1" hangingPunct="1">
              <a:buFont typeface="Wingdings" pitchFamily="2" charset="2"/>
              <a:buNone/>
            </a:pPr>
            <a:endParaRPr lang="pl-PL" dirty="0">
              <a:solidFill>
                <a:srgbClr val="003399"/>
              </a:solidFill>
            </a:endParaRPr>
          </a:p>
          <a:p>
            <a:pPr marL="571500" indent="-571500" eaLnBrk="1" hangingPunct="1">
              <a:buNone/>
            </a:pPr>
            <a:r>
              <a:rPr lang="pl-PL" sz="2000" b="1" dirty="0" err="1">
                <a:solidFill>
                  <a:srgbClr val="003399"/>
                </a:solidFill>
              </a:rPr>
              <a:t>Econometrics</a:t>
            </a:r>
            <a:r>
              <a:rPr lang="pl-PL" sz="2000" b="1" dirty="0">
                <a:solidFill>
                  <a:srgbClr val="003399"/>
                </a:solidFill>
              </a:rPr>
              <a:t> </a:t>
            </a:r>
            <a:r>
              <a:rPr lang="pl-PL" sz="2000" dirty="0">
                <a:solidFill>
                  <a:srgbClr val="003399"/>
                </a:solidFill>
              </a:rPr>
              <a:t>– </a:t>
            </a:r>
            <a:r>
              <a:rPr lang="en-US" sz="2000" dirty="0">
                <a:solidFill>
                  <a:srgbClr val="003399"/>
                </a:solidFill>
              </a:rPr>
              <a:t>quantitative application of statistical and mathematical models using data to develop theories or test existing hypotheses in economics and to forecast future trends from historical data</a:t>
            </a:r>
            <a:r>
              <a:rPr lang="pl-PL" sz="2000" dirty="0">
                <a:solidFill>
                  <a:srgbClr val="003399"/>
                </a:solidFill>
              </a:rPr>
              <a:t>. </a:t>
            </a:r>
          </a:p>
        </p:txBody>
      </p:sp>
      <p:pic>
        <p:nvPicPr>
          <p:cNvPr id="22533" name="Picture 4"/>
          <p:cNvPicPr>
            <a:picLocks noChangeAspect="1" noChangeArrowheads="1"/>
          </p:cNvPicPr>
          <p:nvPr/>
        </p:nvPicPr>
        <p:blipFill>
          <a:blip r:embed="rId3" cstate="print"/>
          <a:srcRect/>
          <a:stretch>
            <a:fillRect/>
          </a:stretch>
        </p:blipFill>
        <p:spPr bwMode="auto">
          <a:xfrm>
            <a:off x="5076825" y="2781300"/>
            <a:ext cx="1828800" cy="1414463"/>
          </a:xfrm>
          <a:prstGeom prst="rect">
            <a:avLst/>
          </a:prstGeom>
          <a:noFill/>
          <a:ln w="9525">
            <a:noFill/>
            <a:miter lim="800000"/>
            <a:headEnd/>
            <a:tailEnd/>
          </a:ln>
        </p:spPr>
      </p:pic>
      <p:sp>
        <p:nvSpPr>
          <p:cNvPr id="22534" name="Text Box 5"/>
          <p:cNvSpPr txBox="1">
            <a:spLocks noChangeArrowheads="1"/>
          </p:cNvSpPr>
          <p:nvPr/>
        </p:nvSpPr>
        <p:spPr bwMode="auto">
          <a:xfrm>
            <a:off x="395288" y="6308725"/>
            <a:ext cx="3097212" cy="461665"/>
          </a:xfrm>
          <a:prstGeom prst="rect">
            <a:avLst/>
          </a:prstGeom>
          <a:noFill/>
          <a:ln w="9525">
            <a:noFill/>
            <a:miter lim="800000"/>
            <a:headEnd/>
            <a:tailEnd/>
          </a:ln>
        </p:spPr>
        <p:txBody>
          <a:bodyPr wrap="square">
            <a:spAutoFit/>
          </a:bodyPr>
          <a:lstStyle/>
          <a:p>
            <a:pPr>
              <a:spcBef>
                <a:spcPct val="50000"/>
              </a:spcBef>
            </a:pPr>
            <a:r>
              <a:rPr lang="pl-PL" sz="1200" dirty="0" err="1"/>
              <a:t>Sources</a:t>
            </a:r>
            <a:r>
              <a:rPr lang="pl-PL" sz="1200" dirty="0"/>
              <a:t>: </a:t>
            </a:r>
            <a:r>
              <a:rPr lang="pl-PL" sz="1200" dirty="0">
                <a:hlinkClick r:id="rId4"/>
              </a:rPr>
              <a:t>www.arundelhousehotels.co.uk</a:t>
            </a:r>
            <a:r>
              <a:rPr lang="pl-PL" sz="1200" dirty="0"/>
              <a:t>, www.adax.pl</a:t>
            </a:r>
          </a:p>
        </p:txBody>
      </p:sp>
      <p:sp>
        <p:nvSpPr>
          <p:cNvPr id="22535" name="Line 6"/>
          <p:cNvSpPr>
            <a:spLocks noChangeShapeType="1"/>
          </p:cNvSpPr>
          <p:nvPr/>
        </p:nvSpPr>
        <p:spPr bwMode="auto">
          <a:xfrm>
            <a:off x="2916238" y="3716338"/>
            <a:ext cx="2016125" cy="0"/>
          </a:xfrm>
          <a:prstGeom prst="line">
            <a:avLst/>
          </a:prstGeom>
          <a:noFill/>
          <a:ln w="9525">
            <a:solidFill>
              <a:schemeClr val="tx1"/>
            </a:solidFill>
            <a:round/>
            <a:headEnd/>
            <a:tailEnd type="triangle" w="med" len="med"/>
          </a:ln>
        </p:spPr>
        <p:txBody>
          <a:bodyPr/>
          <a:lstStyle/>
          <a:p>
            <a:endParaRPr lang="pl-PL"/>
          </a:p>
        </p:txBody>
      </p:sp>
      <p:sp>
        <p:nvSpPr>
          <p:cNvPr id="22536" name="Text Box 8"/>
          <p:cNvSpPr txBox="1">
            <a:spLocks noChangeArrowheads="1"/>
          </p:cNvSpPr>
          <p:nvPr/>
        </p:nvSpPr>
        <p:spPr bwMode="auto">
          <a:xfrm>
            <a:off x="3492500" y="2997200"/>
            <a:ext cx="792163" cy="579438"/>
          </a:xfrm>
          <a:prstGeom prst="rect">
            <a:avLst/>
          </a:prstGeom>
          <a:noFill/>
          <a:ln w="9525">
            <a:noFill/>
            <a:miter lim="800000"/>
            <a:headEnd/>
            <a:tailEnd/>
          </a:ln>
        </p:spPr>
        <p:txBody>
          <a:bodyPr>
            <a:spAutoFit/>
          </a:bodyPr>
          <a:lstStyle/>
          <a:p>
            <a:pPr>
              <a:spcBef>
                <a:spcPct val="50000"/>
              </a:spcBef>
            </a:pPr>
            <a:r>
              <a:rPr lang="pl-PL"/>
              <a:t>  ?</a:t>
            </a:r>
          </a:p>
        </p:txBody>
      </p:sp>
      <p:pic>
        <p:nvPicPr>
          <p:cNvPr id="22537" name="Picture 9"/>
          <p:cNvPicPr>
            <a:picLocks noChangeAspect="1" noChangeArrowheads="1"/>
          </p:cNvPicPr>
          <p:nvPr/>
        </p:nvPicPr>
        <p:blipFill>
          <a:blip r:embed="rId5" cstate="print"/>
          <a:srcRect/>
          <a:stretch>
            <a:fillRect/>
          </a:stretch>
        </p:blipFill>
        <p:spPr bwMode="auto">
          <a:xfrm>
            <a:off x="539750" y="3644900"/>
            <a:ext cx="1871663" cy="1285875"/>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ymbol zastępczy stopki 4"/>
          <p:cNvSpPr>
            <a:spLocks noGrp="1"/>
          </p:cNvSpPr>
          <p:nvPr>
            <p:ph type="ftr" sz="quarter" idx="11"/>
          </p:nvPr>
        </p:nvSpPr>
        <p:spPr/>
        <p:txBody>
          <a:bodyPr/>
          <a:lstStyle/>
          <a:p>
            <a:pPr>
              <a:defRPr/>
            </a:pPr>
            <a:r>
              <a:rPr lang="pl-PL" altLang="en-US"/>
              <a:t>PJAIT</a:t>
            </a:r>
          </a:p>
        </p:txBody>
      </p:sp>
      <p:sp>
        <p:nvSpPr>
          <p:cNvPr id="23555" name="Rectangle 2"/>
          <p:cNvSpPr>
            <a:spLocks noGrp="1" noChangeArrowheads="1"/>
          </p:cNvSpPr>
          <p:nvPr>
            <p:ph type="title"/>
          </p:nvPr>
        </p:nvSpPr>
        <p:spPr/>
        <p:txBody>
          <a:bodyPr/>
          <a:lstStyle/>
          <a:p>
            <a:pPr eaLnBrk="1" hangingPunct="1"/>
            <a:r>
              <a:rPr lang="pl-PL" sz="4000" b="1" dirty="0" err="1"/>
              <a:t>Decision</a:t>
            </a:r>
            <a:r>
              <a:rPr lang="pl-PL" sz="4000" b="1" dirty="0"/>
              <a:t> </a:t>
            </a:r>
            <a:r>
              <a:rPr lang="pl-PL" sz="4000" b="1" dirty="0" err="1"/>
              <a:t>support</a:t>
            </a:r>
            <a:r>
              <a:rPr lang="pl-PL" sz="4000" b="1" dirty="0"/>
              <a:t> </a:t>
            </a:r>
            <a:r>
              <a:rPr lang="pl-PL" sz="4000" b="1" dirty="0" err="1"/>
              <a:t>tools</a:t>
            </a:r>
            <a:endParaRPr lang="pl-PL" sz="4000" b="1" dirty="0"/>
          </a:p>
        </p:txBody>
      </p:sp>
      <p:sp>
        <p:nvSpPr>
          <p:cNvPr id="23556" name="Rectangle 3"/>
          <p:cNvSpPr>
            <a:spLocks noGrp="1" noChangeArrowheads="1"/>
          </p:cNvSpPr>
          <p:nvPr>
            <p:ph type="body" idx="1"/>
          </p:nvPr>
        </p:nvSpPr>
        <p:spPr/>
        <p:txBody>
          <a:bodyPr/>
          <a:lstStyle/>
          <a:p>
            <a:pPr eaLnBrk="1" hangingPunct="1">
              <a:lnSpc>
                <a:spcPct val="90000"/>
              </a:lnSpc>
              <a:buFont typeface="Wingdings" pitchFamily="2" charset="2"/>
              <a:buNone/>
            </a:pPr>
            <a:r>
              <a:rPr lang="pl-PL" sz="2800" dirty="0" err="1">
                <a:solidFill>
                  <a:srgbClr val="003399"/>
                </a:solidFill>
              </a:rPr>
              <a:t>Decision</a:t>
            </a:r>
            <a:r>
              <a:rPr lang="pl-PL" sz="2800" dirty="0">
                <a:solidFill>
                  <a:srgbClr val="003399"/>
                </a:solidFill>
              </a:rPr>
              <a:t> </a:t>
            </a:r>
            <a:r>
              <a:rPr lang="pl-PL" sz="2800" dirty="0" err="1">
                <a:solidFill>
                  <a:srgbClr val="003399"/>
                </a:solidFill>
              </a:rPr>
              <a:t>games</a:t>
            </a:r>
            <a:r>
              <a:rPr lang="pl-PL" sz="2800" dirty="0">
                <a:solidFill>
                  <a:srgbClr val="003399"/>
                </a:solidFill>
              </a:rPr>
              <a:t> – </a:t>
            </a:r>
            <a:r>
              <a:rPr lang="pl-PL" sz="2800" dirty="0" err="1">
                <a:solidFill>
                  <a:srgbClr val="003399"/>
                </a:solidFill>
              </a:rPr>
              <a:t>examples</a:t>
            </a:r>
            <a:r>
              <a:rPr lang="pl-PL" sz="2800" dirty="0">
                <a:solidFill>
                  <a:srgbClr val="003399"/>
                </a:solidFill>
              </a:rPr>
              <a:t>:</a:t>
            </a:r>
          </a:p>
          <a:p>
            <a:pPr eaLnBrk="1" hangingPunct="1">
              <a:lnSpc>
                <a:spcPct val="90000"/>
              </a:lnSpc>
            </a:pPr>
            <a:r>
              <a:rPr lang="pl-PL" sz="2800" dirty="0" err="1">
                <a:solidFill>
                  <a:srgbClr val="003399"/>
                </a:solidFill>
              </a:rPr>
              <a:t>Two</a:t>
            </a:r>
            <a:r>
              <a:rPr lang="pl-PL" sz="2800" dirty="0">
                <a:solidFill>
                  <a:srgbClr val="003399"/>
                </a:solidFill>
              </a:rPr>
              <a:t>-person zero sum </a:t>
            </a:r>
            <a:r>
              <a:rPr lang="pl-PL" sz="2800" dirty="0" err="1">
                <a:solidFill>
                  <a:srgbClr val="003399"/>
                </a:solidFill>
              </a:rPr>
              <a:t>games</a:t>
            </a:r>
            <a:r>
              <a:rPr lang="pl-PL" sz="2800" dirty="0">
                <a:solidFill>
                  <a:srgbClr val="003399"/>
                </a:solidFill>
              </a:rPr>
              <a:t> (non-</a:t>
            </a:r>
            <a:r>
              <a:rPr lang="pl-PL" sz="2800" dirty="0" err="1">
                <a:solidFill>
                  <a:srgbClr val="003399"/>
                </a:solidFill>
              </a:rPr>
              <a:t>cooperative</a:t>
            </a:r>
            <a:r>
              <a:rPr lang="pl-PL" sz="2800" dirty="0">
                <a:solidFill>
                  <a:srgbClr val="003399"/>
                </a:solidFill>
              </a:rPr>
              <a:t> </a:t>
            </a:r>
            <a:r>
              <a:rPr lang="pl-PL" sz="2800" dirty="0" err="1">
                <a:solidFill>
                  <a:srgbClr val="003399"/>
                </a:solidFill>
              </a:rPr>
              <a:t>games</a:t>
            </a:r>
            <a:r>
              <a:rPr lang="pl-PL" sz="2800" dirty="0">
                <a:solidFill>
                  <a:srgbClr val="003399"/>
                </a:solidFill>
              </a:rPr>
              <a:t>)</a:t>
            </a:r>
          </a:p>
          <a:p>
            <a:pPr eaLnBrk="1" hangingPunct="1">
              <a:lnSpc>
                <a:spcPct val="90000"/>
              </a:lnSpc>
            </a:pPr>
            <a:r>
              <a:rPr lang="pl-PL" sz="2800" dirty="0" err="1">
                <a:solidFill>
                  <a:srgbClr val="003399"/>
                </a:solidFill>
              </a:rPr>
              <a:t>Cooperative</a:t>
            </a:r>
            <a:r>
              <a:rPr lang="pl-PL" sz="2800" dirty="0">
                <a:solidFill>
                  <a:srgbClr val="003399"/>
                </a:solidFill>
              </a:rPr>
              <a:t> </a:t>
            </a:r>
            <a:r>
              <a:rPr lang="pl-PL" sz="2800" dirty="0" err="1">
                <a:solidFill>
                  <a:srgbClr val="003399"/>
                </a:solidFill>
              </a:rPr>
              <a:t>games</a:t>
            </a:r>
            <a:endParaRPr lang="pl-PL" sz="2800" dirty="0">
              <a:solidFill>
                <a:srgbClr val="003399"/>
              </a:solidFill>
            </a:endParaRPr>
          </a:p>
        </p:txBody>
      </p:sp>
      <p:pic>
        <p:nvPicPr>
          <p:cNvPr id="23557" name="Picture 4"/>
          <p:cNvPicPr>
            <a:picLocks noChangeAspect="1" noChangeArrowheads="1"/>
          </p:cNvPicPr>
          <p:nvPr/>
        </p:nvPicPr>
        <p:blipFill>
          <a:blip r:embed="rId3" cstate="print"/>
          <a:srcRect/>
          <a:stretch>
            <a:fillRect/>
          </a:stretch>
        </p:blipFill>
        <p:spPr bwMode="auto">
          <a:xfrm>
            <a:off x="5292080" y="3284984"/>
            <a:ext cx="1714500" cy="1543050"/>
          </a:xfrm>
          <a:prstGeom prst="rect">
            <a:avLst/>
          </a:prstGeom>
          <a:noFill/>
          <a:ln w="9525">
            <a:noFill/>
            <a:miter lim="800000"/>
            <a:headEnd/>
            <a:tailEnd/>
          </a:ln>
        </p:spPr>
      </p:pic>
      <p:sp>
        <p:nvSpPr>
          <p:cNvPr id="23558" name="Text Box 5"/>
          <p:cNvSpPr txBox="1">
            <a:spLocks noChangeArrowheads="1"/>
          </p:cNvSpPr>
          <p:nvPr/>
        </p:nvSpPr>
        <p:spPr bwMode="auto">
          <a:xfrm>
            <a:off x="323850" y="6237288"/>
            <a:ext cx="2952750" cy="274637"/>
          </a:xfrm>
          <a:prstGeom prst="rect">
            <a:avLst/>
          </a:prstGeom>
          <a:noFill/>
          <a:ln w="9525">
            <a:noFill/>
            <a:miter lim="800000"/>
            <a:headEnd/>
            <a:tailEnd/>
          </a:ln>
        </p:spPr>
        <p:txBody>
          <a:bodyPr>
            <a:spAutoFit/>
          </a:bodyPr>
          <a:lstStyle/>
          <a:p>
            <a:pPr>
              <a:spcBef>
                <a:spcPct val="50000"/>
              </a:spcBef>
            </a:pPr>
            <a:r>
              <a:rPr lang="pl-PL" sz="1200" dirty="0"/>
              <a:t>Source: www.poker-tomorrow.com</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z="4000" b="1" dirty="0"/>
              <a:t>Non-</a:t>
            </a:r>
            <a:r>
              <a:rPr lang="pl-PL" sz="4000" b="1" dirty="0" err="1"/>
              <a:t>cooperative</a:t>
            </a:r>
            <a:r>
              <a:rPr lang="pl-PL" sz="4000" b="1" dirty="0"/>
              <a:t> </a:t>
            </a:r>
            <a:r>
              <a:rPr lang="pl-PL" sz="4000" b="1" dirty="0" err="1"/>
              <a:t>game</a:t>
            </a:r>
            <a:r>
              <a:rPr lang="pl-PL" sz="4000" b="1" dirty="0"/>
              <a:t> – </a:t>
            </a:r>
            <a:r>
              <a:rPr lang="pl-PL" sz="4000" b="1" dirty="0" err="1"/>
              <a:t>an</a:t>
            </a:r>
            <a:r>
              <a:rPr lang="pl-PL" sz="4000" b="1" dirty="0"/>
              <a:t> </a:t>
            </a:r>
            <a:r>
              <a:rPr lang="pl-PL" sz="4000" b="1" dirty="0" err="1"/>
              <a:t>example</a:t>
            </a:r>
            <a:endParaRPr lang="pl-PL" sz="4000" b="1" dirty="0"/>
          </a:p>
        </p:txBody>
      </p:sp>
      <p:sp>
        <p:nvSpPr>
          <p:cNvPr id="3" name="Symbol zastępczy zawartości 2"/>
          <p:cNvSpPr>
            <a:spLocks noGrp="1"/>
          </p:cNvSpPr>
          <p:nvPr>
            <p:ph idx="1"/>
          </p:nvPr>
        </p:nvSpPr>
        <p:spPr/>
        <p:txBody>
          <a:bodyPr/>
          <a:lstStyle/>
          <a:p>
            <a:pPr marL="0" indent="0">
              <a:buNone/>
            </a:pPr>
            <a:r>
              <a:rPr lang="pl-PL" dirty="0">
                <a:solidFill>
                  <a:srgbClr val="003399"/>
                </a:solidFill>
              </a:rPr>
              <a:t>Rock-Paper-</a:t>
            </a:r>
            <a:r>
              <a:rPr lang="pl-PL" dirty="0" err="1">
                <a:solidFill>
                  <a:srgbClr val="003399"/>
                </a:solidFill>
              </a:rPr>
              <a:t>Scissors</a:t>
            </a:r>
            <a:endParaRPr lang="pl-PL" dirty="0">
              <a:solidFill>
                <a:srgbClr val="003399"/>
              </a:solidFill>
            </a:endParaRPr>
          </a:p>
        </p:txBody>
      </p:sp>
      <p:sp>
        <p:nvSpPr>
          <p:cNvPr id="4" name="Symbol zastępczy stopki 3"/>
          <p:cNvSpPr>
            <a:spLocks noGrp="1"/>
          </p:cNvSpPr>
          <p:nvPr>
            <p:ph type="ftr" sz="quarter" idx="11"/>
          </p:nvPr>
        </p:nvSpPr>
        <p:spPr/>
        <p:txBody>
          <a:bodyPr/>
          <a:lstStyle/>
          <a:p>
            <a:pPr>
              <a:defRPr/>
            </a:pPr>
            <a:r>
              <a:rPr lang="pl-PL" altLang="en-US"/>
              <a:t>PJAIT</a:t>
            </a:r>
          </a:p>
        </p:txBody>
      </p:sp>
      <p:pic>
        <p:nvPicPr>
          <p:cNvPr id="3074" name="Picture 2" descr="Image result for rock paper scissor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784" y="2564904"/>
            <a:ext cx="3103984" cy="3103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46279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z="4000" b="1" dirty="0" err="1"/>
              <a:t>Cooperative</a:t>
            </a:r>
            <a:r>
              <a:rPr lang="pl-PL" sz="4000" b="1" dirty="0"/>
              <a:t> </a:t>
            </a:r>
            <a:r>
              <a:rPr lang="pl-PL" sz="4000" b="1" dirty="0" err="1"/>
              <a:t>game</a:t>
            </a:r>
            <a:r>
              <a:rPr lang="pl-PL" sz="4000" b="1" dirty="0"/>
              <a:t> – </a:t>
            </a:r>
            <a:r>
              <a:rPr lang="pl-PL" sz="4000" b="1" dirty="0" err="1"/>
              <a:t>an</a:t>
            </a:r>
            <a:r>
              <a:rPr lang="pl-PL" sz="4000" b="1" dirty="0"/>
              <a:t> </a:t>
            </a:r>
            <a:r>
              <a:rPr lang="pl-PL" sz="4000" b="1" dirty="0" err="1"/>
              <a:t>example</a:t>
            </a:r>
            <a:br>
              <a:rPr lang="pl-PL" sz="4000" b="1" dirty="0"/>
            </a:br>
            <a:endParaRPr lang="pl-PL" sz="4000" b="1" dirty="0"/>
          </a:p>
        </p:txBody>
      </p:sp>
      <p:sp>
        <p:nvSpPr>
          <p:cNvPr id="3" name="Symbol zastępczy zawartości 2"/>
          <p:cNvSpPr>
            <a:spLocks noGrp="1"/>
          </p:cNvSpPr>
          <p:nvPr>
            <p:ph idx="1"/>
          </p:nvPr>
        </p:nvSpPr>
        <p:spPr>
          <a:xfrm>
            <a:off x="457200" y="1417638"/>
            <a:ext cx="8229600" cy="4713287"/>
          </a:xfrm>
        </p:spPr>
        <p:txBody>
          <a:bodyPr/>
          <a:lstStyle/>
          <a:p>
            <a:pPr marL="0" indent="0" algn="just">
              <a:buNone/>
            </a:pPr>
            <a:r>
              <a:rPr lang="pl-PL" sz="2400" dirty="0">
                <a:solidFill>
                  <a:srgbClr val="003399"/>
                </a:solidFill>
              </a:rPr>
              <a:t>T</a:t>
            </a:r>
            <a:r>
              <a:rPr lang="en-US" sz="2400" dirty="0">
                <a:solidFill>
                  <a:srgbClr val="003399"/>
                </a:solidFill>
              </a:rPr>
              <a:t>he bargaining between buyer and seller over the</a:t>
            </a:r>
          </a:p>
          <a:p>
            <a:pPr marL="0" indent="0" algn="just">
              <a:buNone/>
            </a:pPr>
            <a:r>
              <a:rPr lang="en-US" sz="2400" dirty="0">
                <a:solidFill>
                  <a:srgbClr val="003399"/>
                </a:solidFill>
              </a:rPr>
              <a:t>price of a rug. If the rug costs $100 to produce and the buyer values the rug at $200, a</a:t>
            </a:r>
            <a:r>
              <a:rPr lang="pl-PL" sz="2400" dirty="0">
                <a:solidFill>
                  <a:srgbClr val="003399"/>
                </a:solidFill>
              </a:rPr>
              <a:t> </a:t>
            </a:r>
            <a:r>
              <a:rPr lang="en-US" sz="2400" dirty="0">
                <a:solidFill>
                  <a:srgbClr val="003399"/>
                </a:solidFill>
              </a:rPr>
              <a:t>cooperative solution to the game is possible. An agreement to sell the rug at any price</a:t>
            </a:r>
          </a:p>
          <a:p>
            <a:pPr marL="0" indent="0" algn="just">
              <a:buNone/>
            </a:pPr>
            <a:r>
              <a:rPr lang="en-US" sz="2400" dirty="0">
                <a:solidFill>
                  <a:srgbClr val="003399"/>
                </a:solidFill>
              </a:rPr>
              <a:t>between $101 and $199 will </a:t>
            </a:r>
            <a:r>
              <a:rPr lang="en-US" sz="2400" dirty="0" err="1">
                <a:solidFill>
                  <a:srgbClr val="003399"/>
                </a:solidFill>
              </a:rPr>
              <a:t>maximi</a:t>
            </a:r>
            <a:r>
              <a:rPr lang="pl-PL" sz="2400" dirty="0">
                <a:solidFill>
                  <a:srgbClr val="003399"/>
                </a:solidFill>
              </a:rPr>
              <a:t>z</a:t>
            </a:r>
            <a:r>
              <a:rPr lang="en-US" sz="2400" dirty="0">
                <a:solidFill>
                  <a:srgbClr val="003399"/>
                </a:solidFill>
              </a:rPr>
              <a:t>e the sum of the buyer’s consumer surplus and the</a:t>
            </a:r>
            <a:r>
              <a:rPr lang="pl-PL" sz="2400" dirty="0">
                <a:solidFill>
                  <a:srgbClr val="003399"/>
                </a:solidFill>
              </a:rPr>
              <a:t> </a:t>
            </a:r>
            <a:r>
              <a:rPr lang="en-US" sz="2400" dirty="0">
                <a:solidFill>
                  <a:srgbClr val="003399"/>
                </a:solidFill>
              </a:rPr>
              <a:t>seller’s profit while making both parties better off.</a:t>
            </a:r>
            <a:endParaRPr lang="pl-PL" sz="2400" dirty="0">
              <a:solidFill>
                <a:srgbClr val="003399"/>
              </a:solidFill>
            </a:endParaRPr>
          </a:p>
          <a:p>
            <a:pPr marL="0" indent="0">
              <a:buNone/>
            </a:pPr>
            <a:endParaRPr lang="pl-PL" sz="2400" dirty="0">
              <a:solidFill>
                <a:srgbClr val="003399"/>
              </a:solidFill>
            </a:endParaRPr>
          </a:p>
        </p:txBody>
      </p:sp>
      <p:sp>
        <p:nvSpPr>
          <p:cNvPr id="4" name="Symbol zastępczy stopki 3"/>
          <p:cNvSpPr>
            <a:spLocks noGrp="1"/>
          </p:cNvSpPr>
          <p:nvPr>
            <p:ph type="ftr" sz="quarter" idx="11"/>
          </p:nvPr>
        </p:nvSpPr>
        <p:spPr/>
        <p:txBody>
          <a:bodyPr/>
          <a:lstStyle/>
          <a:p>
            <a:pPr>
              <a:defRPr/>
            </a:pPr>
            <a:r>
              <a:rPr lang="pl-PL" altLang="en-US"/>
              <a:t>PJAIT</a:t>
            </a:r>
          </a:p>
        </p:txBody>
      </p:sp>
      <p:pic>
        <p:nvPicPr>
          <p:cNvPr id="5" name="Obraz 4"/>
          <p:cNvPicPr>
            <a:picLocks noChangeAspect="1"/>
          </p:cNvPicPr>
          <p:nvPr/>
        </p:nvPicPr>
        <p:blipFill>
          <a:blip r:embed="rId2"/>
          <a:stretch>
            <a:fillRect/>
          </a:stretch>
        </p:blipFill>
        <p:spPr>
          <a:xfrm>
            <a:off x="5004048" y="4221088"/>
            <a:ext cx="2923803" cy="1715298"/>
          </a:xfrm>
          <a:prstGeom prst="rect">
            <a:avLst/>
          </a:prstGeom>
        </p:spPr>
      </p:pic>
    </p:spTree>
    <p:extLst>
      <p:ext uri="{BB962C8B-B14F-4D97-AF65-F5344CB8AC3E}">
        <p14:creationId xmlns:p14="http://schemas.microsoft.com/office/powerpoint/2010/main" val="13093541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ymbol zastępczy stopki 4"/>
          <p:cNvSpPr>
            <a:spLocks noGrp="1"/>
          </p:cNvSpPr>
          <p:nvPr>
            <p:ph type="ftr" sz="quarter" idx="11"/>
          </p:nvPr>
        </p:nvSpPr>
        <p:spPr/>
        <p:txBody>
          <a:bodyPr/>
          <a:lstStyle/>
          <a:p>
            <a:pPr>
              <a:defRPr/>
            </a:pPr>
            <a:r>
              <a:rPr lang="pl-PL" altLang="en-US"/>
              <a:t>PJAIT</a:t>
            </a:r>
          </a:p>
        </p:txBody>
      </p:sp>
      <p:sp>
        <p:nvSpPr>
          <p:cNvPr id="24579" name="Rectangle 2"/>
          <p:cNvSpPr>
            <a:spLocks noGrp="1" noChangeArrowheads="1"/>
          </p:cNvSpPr>
          <p:nvPr>
            <p:ph type="title"/>
          </p:nvPr>
        </p:nvSpPr>
        <p:spPr>
          <a:xfrm>
            <a:off x="468313" y="188913"/>
            <a:ext cx="8156575" cy="995362"/>
          </a:xfrm>
        </p:spPr>
        <p:txBody>
          <a:bodyPr/>
          <a:lstStyle/>
          <a:p>
            <a:pPr eaLnBrk="1" hangingPunct="1"/>
            <a:r>
              <a:rPr lang="pl-PL" sz="4000" b="1" dirty="0" err="1"/>
              <a:t>Decision</a:t>
            </a:r>
            <a:r>
              <a:rPr lang="pl-PL" sz="4000" b="1" dirty="0"/>
              <a:t> </a:t>
            </a:r>
            <a:r>
              <a:rPr lang="pl-PL" sz="4000" b="1" dirty="0" err="1"/>
              <a:t>support</a:t>
            </a:r>
            <a:r>
              <a:rPr lang="pl-PL" sz="4000" b="1" dirty="0"/>
              <a:t> </a:t>
            </a:r>
            <a:r>
              <a:rPr lang="pl-PL" sz="4000" b="1" dirty="0" err="1"/>
              <a:t>tools</a:t>
            </a:r>
            <a:endParaRPr lang="pl-PL" sz="4000" b="1" dirty="0"/>
          </a:p>
        </p:txBody>
      </p:sp>
      <p:sp>
        <p:nvSpPr>
          <p:cNvPr id="24580" name="Rectangle 3"/>
          <p:cNvSpPr>
            <a:spLocks noGrp="1" noChangeArrowheads="1"/>
          </p:cNvSpPr>
          <p:nvPr>
            <p:ph type="body" idx="1"/>
          </p:nvPr>
        </p:nvSpPr>
        <p:spPr/>
        <p:txBody>
          <a:bodyPr/>
          <a:lstStyle/>
          <a:p>
            <a:pPr eaLnBrk="1" hangingPunct="1">
              <a:buFont typeface="Wingdings" pitchFamily="2" charset="2"/>
              <a:buNone/>
            </a:pPr>
            <a:r>
              <a:rPr lang="pl-PL" dirty="0" err="1">
                <a:solidFill>
                  <a:srgbClr val="003399"/>
                </a:solidFill>
              </a:rPr>
              <a:t>Graphic</a:t>
            </a:r>
            <a:r>
              <a:rPr lang="pl-PL" dirty="0">
                <a:solidFill>
                  <a:srgbClr val="003399"/>
                </a:solidFill>
              </a:rPr>
              <a:t> </a:t>
            </a:r>
            <a:r>
              <a:rPr lang="pl-PL" dirty="0" err="1">
                <a:solidFill>
                  <a:srgbClr val="003399"/>
                </a:solidFill>
              </a:rPr>
              <a:t>models</a:t>
            </a:r>
            <a:r>
              <a:rPr lang="pl-PL" dirty="0">
                <a:solidFill>
                  <a:srgbClr val="003399"/>
                </a:solidFill>
              </a:rPr>
              <a:t> – </a:t>
            </a:r>
            <a:r>
              <a:rPr lang="pl-PL" dirty="0" err="1">
                <a:solidFill>
                  <a:srgbClr val="003399"/>
                </a:solidFill>
              </a:rPr>
              <a:t>examples</a:t>
            </a:r>
            <a:r>
              <a:rPr lang="pl-PL" dirty="0">
                <a:solidFill>
                  <a:srgbClr val="003399"/>
                </a:solidFill>
              </a:rPr>
              <a:t>:</a:t>
            </a:r>
          </a:p>
          <a:p>
            <a:pPr eaLnBrk="1" hangingPunct="1">
              <a:buFont typeface="Wingdings" pitchFamily="2" charset="2"/>
              <a:buNone/>
            </a:pPr>
            <a:r>
              <a:rPr lang="pl-PL" dirty="0">
                <a:solidFill>
                  <a:srgbClr val="003399"/>
                </a:solidFill>
              </a:rPr>
              <a:t>Gantt </a:t>
            </a:r>
            <a:r>
              <a:rPr lang="pl-PL" dirty="0" err="1">
                <a:solidFill>
                  <a:srgbClr val="003399"/>
                </a:solidFill>
              </a:rPr>
              <a:t>charts</a:t>
            </a:r>
            <a:r>
              <a:rPr lang="pl-PL" dirty="0">
                <a:solidFill>
                  <a:srgbClr val="003399"/>
                </a:solidFill>
              </a:rPr>
              <a:t>:</a:t>
            </a:r>
          </a:p>
          <a:p>
            <a:pPr eaLnBrk="1" hangingPunct="1"/>
            <a:r>
              <a:rPr lang="pl-PL" dirty="0" err="1">
                <a:solidFill>
                  <a:srgbClr val="003399"/>
                </a:solidFill>
              </a:rPr>
              <a:t>tasks</a:t>
            </a:r>
            <a:r>
              <a:rPr lang="en-US" dirty="0">
                <a:solidFill>
                  <a:srgbClr val="003399"/>
                </a:solidFill>
              </a:rPr>
              <a:t> (horizontal lines)</a:t>
            </a:r>
          </a:p>
          <a:p>
            <a:pPr eaLnBrk="1" hangingPunct="1"/>
            <a:r>
              <a:rPr lang="en-US" dirty="0">
                <a:solidFill>
                  <a:srgbClr val="003399"/>
                </a:solidFill>
              </a:rPr>
              <a:t>parameters: duration, start and end date of the </a:t>
            </a:r>
            <a:r>
              <a:rPr lang="pl-PL" dirty="0" err="1">
                <a:solidFill>
                  <a:srgbClr val="003399"/>
                </a:solidFill>
              </a:rPr>
              <a:t>tasks</a:t>
            </a:r>
            <a:endParaRPr lang="en-US" dirty="0">
              <a:solidFill>
                <a:srgbClr val="003399"/>
              </a:solidFill>
            </a:endParaRPr>
          </a:p>
          <a:p>
            <a:pPr eaLnBrk="1" hangingPunct="1"/>
            <a:r>
              <a:rPr lang="en-US" dirty="0">
                <a:solidFill>
                  <a:srgbClr val="003399"/>
                </a:solidFill>
              </a:rPr>
              <a:t>dependencies between </a:t>
            </a:r>
            <a:r>
              <a:rPr lang="pl-PL" dirty="0" err="1">
                <a:solidFill>
                  <a:srgbClr val="003399"/>
                </a:solidFill>
              </a:rPr>
              <a:t>tasks</a:t>
            </a:r>
            <a:r>
              <a:rPr lang="en-US" dirty="0">
                <a:solidFill>
                  <a:srgbClr val="003399"/>
                </a:solidFill>
              </a:rPr>
              <a:t> (vertical lines)</a:t>
            </a:r>
          </a:p>
          <a:p>
            <a:pPr eaLnBrk="1" hangingPunct="1"/>
            <a:r>
              <a:rPr lang="en-US" i="1" dirty="0">
                <a:solidFill>
                  <a:srgbClr val="003399"/>
                </a:solidFill>
              </a:rPr>
              <a:t>milestones</a:t>
            </a:r>
            <a:endParaRPr lang="pl-PL" i="1" dirty="0">
              <a:solidFill>
                <a:srgbClr val="003399"/>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Symbol zastępczy stopki 3"/>
          <p:cNvSpPr>
            <a:spLocks noGrp="1"/>
          </p:cNvSpPr>
          <p:nvPr>
            <p:ph type="ftr" sz="quarter" idx="11"/>
          </p:nvPr>
        </p:nvSpPr>
        <p:spPr/>
        <p:txBody>
          <a:bodyPr/>
          <a:lstStyle/>
          <a:p>
            <a:pPr>
              <a:defRPr/>
            </a:pPr>
            <a:r>
              <a:rPr lang="pl-PL" altLang="en-US"/>
              <a:t>PJAIT</a:t>
            </a:r>
          </a:p>
        </p:txBody>
      </p:sp>
      <p:sp>
        <p:nvSpPr>
          <p:cNvPr id="25603" name="Rectangle 2"/>
          <p:cNvSpPr>
            <a:spLocks noGrp="1" noChangeArrowheads="1"/>
          </p:cNvSpPr>
          <p:nvPr>
            <p:ph type="title"/>
          </p:nvPr>
        </p:nvSpPr>
        <p:spPr/>
        <p:txBody>
          <a:bodyPr/>
          <a:lstStyle/>
          <a:p>
            <a:pPr eaLnBrk="1" hangingPunct="1"/>
            <a:r>
              <a:rPr lang="pl-PL" sz="4000" b="1" dirty="0"/>
              <a:t>G</a:t>
            </a:r>
            <a:r>
              <a:rPr lang="en-GB" sz="4000" b="1" dirty="0" err="1"/>
              <a:t>antt</a:t>
            </a:r>
            <a:r>
              <a:rPr lang="pl-PL" sz="4000" b="1" dirty="0"/>
              <a:t> chart – </a:t>
            </a:r>
            <a:r>
              <a:rPr lang="pl-PL" sz="4000" b="1" dirty="0" err="1"/>
              <a:t>an</a:t>
            </a:r>
            <a:r>
              <a:rPr lang="pl-PL" sz="4000" b="1" dirty="0"/>
              <a:t> </a:t>
            </a:r>
            <a:r>
              <a:rPr lang="pl-PL" sz="4000" b="1" dirty="0" err="1"/>
              <a:t>example</a:t>
            </a:r>
            <a:br>
              <a:rPr lang="en-GB" sz="4000" b="1" dirty="0"/>
            </a:br>
            <a:endParaRPr lang="en-GB" sz="4000" b="1" dirty="0"/>
          </a:p>
        </p:txBody>
      </p:sp>
      <p:sp>
        <p:nvSpPr>
          <p:cNvPr id="25604" name="Rectangle 4"/>
          <p:cNvSpPr>
            <a:spLocks noChangeArrowheads="1"/>
          </p:cNvSpPr>
          <p:nvPr/>
        </p:nvSpPr>
        <p:spPr bwMode="auto">
          <a:xfrm>
            <a:off x="900113" y="1773238"/>
            <a:ext cx="6705600" cy="3581400"/>
          </a:xfrm>
          <a:prstGeom prst="rect">
            <a:avLst/>
          </a:prstGeom>
          <a:solidFill>
            <a:schemeClr val="accent1"/>
          </a:solidFill>
          <a:ln w="9525">
            <a:solidFill>
              <a:schemeClr val="tx1"/>
            </a:solidFill>
            <a:miter lim="800000"/>
            <a:headEnd/>
            <a:tailEnd/>
          </a:ln>
        </p:spPr>
        <p:txBody>
          <a:bodyPr wrap="none" anchor="ctr"/>
          <a:lstStyle/>
          <a:p>
            <a:endParaRPr lang="pl-PL"/>
          </a:p>
        </p:txBody>
      </p:sp>
      <p:grpSp>
        <p:nvGrpSpPr>
          <p:cNvPr id="25605" name="Group 5"/>
          <p:cNvGrpSpPr>
            <a:grpSpLocks/>
          </p:cNvGrpSpPr>
          <p:nvPr/>
        </p:nvGrpSpPr>
        <p:grpSpPr bwMode="auto">
          <a:xfrm>
            <a:off x="1476375" y="1773238"/>
            <a:ext cx="6145213" cy="3206750"/>
            <a:chOff x="704" y="1217"/>
            <a:chExt cx="3871" cy="2020"/>
          </a:xfrm>
        </p:grpSpPr>
        <p:sp>
          <p:nvSpPr>
            <p:cNvPr id="25606" name="Rectangle 6"/>
            <p:cNvSpPr>
              <a:spLocks noChangeArrowheads="1"/>
            </p:cNvSpPr>
            <p:nvPr/>
          </p:nvSpPr>
          <p:spPr bwMode="auto">
            <a:xfrm>
              <a:off x="1628" y="1554"/>
              <a:ext cx="422" cy="336"/>
            </a:xfrm>
            <a:prstGeom prst="rect">
              <a:avLst/>
            </a:prstGeom>
            <a:solidFill>
              <a:srgbClr val="FFA042"/>
            </a:solidFill>
            <a:ln w="31750">
              <a:solidFill>
                <a:srgbClr val="CDCDCD"/>
              </a:solidFill>
              <a:miter lim="800000"/>
              <a:headEnd/>
              <a:tailEnd/>
            </a:ln>
          </p:spPr>
          <p:txBody>
            <a:bodyPr/>
            <a:lstStyle/>
            <a:p>
              <a:endParaRPr lang="pl-PL"/>
            </a:p>
          </p:txBody>
        </p:sp>
        <p:sp>
          <p:nvSpPr>
            <p:cNvPr id="25607" name="Rectangle 7"/>
            <p:cNvSpPr>
              <a:spLocks noChangeArrowheads="1"/>
            </p:cNvSpPr>
            <p:nvPr/>
          </p:nvSpPr>
          <p:spPr bwMode="auto">
            <a:xfrm>
              <a:off x="1783" y="1587"/>
              <a:ext cx="93" cy="271"/>
            </a:xfrm>
            <a:prstGeom prst="rect">
              <a:avLst/>
            </a:prstGeom>
            <a:noFill/>
            <a:ln w="9525">
              <a:noFill/>
              <a:miter lim="800000"/>
              <a:headEnd/>
              <a:tailEnd/>
            </a:ln>
          </p:spPr>
          <p:txBody>
            <a:bodyPr wrap="none" lIns="0" tIns="0" rIns="0" bIns="0">
              <a:spAutoFit/>
            </a:bodyPr>
            <a:lstStyle/>
            <a:p>
              <a:pPr eaLnBrk="0" hangingPunct="0"/>
              <a:r>
                <a:rPr lang="pl-PL" sz="2800" dirty="0">
                  <a:solidFill>
                    <a:srgbClr val="000099"/>
                  </a:solidFill>
                  <a:latin typeface="Arial Narrow" pitchFamily="34" charset="0"/>
                </a:rPr>
                <a:t>J</a:t>
              </a:r>
              <a:endParaRPr lang="en-US" sz="2800" dirty="0">
                <a:solidFill>
                  <a:srgbClr val="000099"/>
                </a:solidFill>
                <a:latin typeface="Arial Narrow" pitchFamily="34" charset="0"/>
              </a:endParaRPr>
            </a:p>
          </p:txBody>
        </p:sp>
        <p:sp>
          <p:nvSpPr>
            <p:cNvPr id="25608" name="Rectangle 8"/>
            <p:cNvSpPr>
              <a:spLocks noChangeArrowheads="1"/>
            </p:cNvSpPr>
            <p:nvPr/>
          </p:nvSpPr>
          <p:spPr bwMode="auto">
            <a:xfrm>
              <a:off x="2050" y="1554"/>
              <a:ext cx="419" cy="336"/>
            </a:xfrm>
            <a:prstGeom prst="rect">
              <a:avLst/>
            </a:prstGeom>
            <a:solidFill>
              <a:srgbClr val="FFA042"/>
            </a:solidFill>
            <a:ln w="31750">
              <a:solidFill>
                <a:srgbClr val="CDCDCD"/>
              </a:solidFill>
              <a:miter lim="800000"/>
              <a:headEnd/>
              <a:tailEnd/>
            </a:ln>
          </p:spPr>
          <p:txBody>
            <a:bodyPr/>
            <a:lstStyle/>
            <a:p>
              <a:endParaRPr lang="pl-PL"/>
            </a:p>
          </p:txBody>
        </p:sp>
        <p:sp>
          <p:nvSpPr>
            <p:cNvPr id="25609" name="Rectangle 9"/>
            <p:cNvSpPr>
              <a:spLocks noChangeArrowheads="1"/>
            </p:cNvSpPr>
            <p:nvPr/>
          </p:nvSpPr>
          <p:spPr bwMode="auto">
            <a:xfrm>
              <a:off x="2191" y="1587"/>
              <a:ext cx="97" cy="233"/>
            </a:xfrm>
            <a:prstGeom prst="rect">
              <a:avLst/>
            </a:prstGeom>
            <a:noFill/>
            <a:ln w="9525">
              <a:noFill/>
              <a:miter lim="800000"/>
              <a:headEnd/>
              <a:tailEnd/>
            </a:ln>
          </p:spPr>
          <p:txBody>
            <a:bodyPr wrap="none" lIns="0" tIns="0" rIns="0" bIns="0">
              <a:spAutoFit/>
            </a:bodyPr>
            <a:lstStyle/>
            <a:p>
              <a:pPr eaLnBrk="0" hangingPunct="0"/>
              <a:r>
                <a:rPr lang="pl-PL" sz="2400" dirty="0">
                  <a:solidFill>
                    <a:srgbClr val="000099"/>
                  </a:solidFill>
                  <a:latin typeface="Arial Narrow" pitchFamily="34" charset="0"/>
                </a:rPr>
                <a:t>F</a:t>
              </a:r>
              <a:endParaRPr lang="en-US" sz="2400" dirty="0">
                <a:solidFill>
                  <a:srgbClr val="000099"/>
                </a:solidFill>
                <a:latin typeface="Arial Narrow" pitchFamily="34" charset="0"/>
              </a:endParaRPr>
            </a:p>
          </p:txBody>
        </p:sp>
        <p:sp>
          <p:nvSpPr>
            <p:cNvPr id="25610" name="Rectangle 10"/>
            <p:cNvSpPr>
              <a:spLocks noChangeArrowheads="1"/>
            </p:cNvSpPr>
            <p:nvPr/>
          </p:nvSpPr>
          <p:spPr bwMode="auto">
            <a:xfrm>
              <a:off x="2469" y="1554"/>
              <a:ext cx="422" cy="336"/>
            </a:xfrm>
            <a:prstGeom prst="rect">
              <a:avLst/>
            </a:prstGeom>
            <a:solidFill>
              <a:srgbClr val="FFA042"/>
            </a:solidFill>
            <a:ln w="31750">
              <a:solidFill>
                <a:srgbClr val="CDCDCD"/>
              </a:solidFill>
              <a:miter lim="800000"/>
              <a:headEnd/>
              <a:tailEnd/>
            </a:ln>
          </p:spPr>
          <p:txBody>
            <a:bodyPr/>
            <a:lstStyle/>
            <a:p>
              <a:endParaRPr lang="pl-PL"/>
            </a:p>
          </p:txBody>
        </p:sp>
        <p:sp>
          <p:nvSpPr>
            <p:cNvPr id="25611" name="Rectangle 11"/>
            <p:cNvSpPr>
              <a:spLocks noChangeArrowheads="1"/>
            </p:cNvSpPr>
            <p:nvPr/>
          </p:nvSpPr>
          <p:spPr bwMode="auto">
            <a:xfrm>
              <a:off x="2586" y="1587"/>
              <a:ext cx="153" cy="269"/>
            </a:xfrm>
            <a:prstGeom prst="rect">
              <a:avLst/>
            </a:prstGeom>
            <a:noFill/>
            <a:ln w="9525">
              <a:noFill/>
              <a:miter lim="800000"/>
              <a:headEnd/>
              <a:tailEnd/>
            </a:ln>
          </p:spPr>
          <p:txBody>
            <a:bodyPr wrap="none" lIns="0" tIns="0" rIns="0" bIns="0">
              <a:spAutoFit/>
            </a:bodyPr>
            <a:lstStyle/>
            <a:p>
              <a:pPr eaLnBrk="0" hangingPunct="0"/>
              <a:r>
                <a:rPr lang="en-US" sz="2800">
                  <a:solidFill>
                    <a:srgbClr val="000099"/>
                  </a:solidFill>
                  <a:latin typeface="Arial Narrow" pitchFamily="34" charset="0"/>
                </a:rPr>
                <a:t>M</a:t>
              </a:r>
              <a:endParaRPr lang="en-US" sz="2400">
                <a:solidFill>
                  <a:srgbClr val="000099"/>
                </a:solidFill>
                <a:latin typeface="Arial Narrow" pitchFamily="34" charset="0"/>
              </a:endParaRPr>
            </a:p>
          </p:txBody>
        </p:sp>
        <p:sp>
          <p:nvSpPr>
            <p:cNvPr id="25612" name="Rectangle 12"/>
            <p:cNvSpPr>
              <a:spLocks noChangeArrowheads="1"/>
            </p:cNvSpPr>
            <p:nvPr/>
          </p:nvSpPr>
          <p:spPr bwMode="auto">
            <a:xfrm>
              <a:off x="2891" y="1554"/>
              <a:ext cx="420" cy="336"/>
            </a:xfrm>
            <a:prstGeom prst="rect">
              <a:avLst/>
            </a:prstGeom>
            <a:solidFill>
              <a:srgbClr val="FFA042"/>
            </a:solidFill>
            <a:ln w="31750">
              <a:solidFill>
                <a:srgbClr val="CDCDCD"/>
              </a:solidFill>
              <a:miter lim="800000"/>
              <a:headEnd/>
              <a:tailEnd/>
            </a:ln>
          </p:spPr>
          <p:txBody>
            <a:bodyPr/>
            <a:lstStyle/>
            <a:p>
              <a:endParaRPr lang="pl-PL"/>
            </a:p>
          </p:txBody>
        </p:sp>
        <p:sp>
          <p:nvSpPr>
            <p:cNvPr id="25613" name="Rectangle 13"/>
            <p:cNvSpPr>
              <a:spLocks noChangeArrowheads="1"/>
            </p:cNvSpPr>
            <p:nvPr/>
          </p:nvSpPr>
          <p:spPr bwMode="auto">
            <a:xfrm>
              <a:off x="3026" y="1587"/>
              <a:ext cx="124" cy="271"/>
            </a:xfrm>
            <a:prstGeom prst="rect">
              <a:avLst/>
            </a:prstGeom>
            <a:noFill/>
            <a:ln w="9525">
              <a:noFill/>
              <a:miter lim="800000"/>
              <a:headEnd/>
              <a:tailEnd/>
            </a:ln>
          </p:spPr>
          <p:txBody>
            <a:bodyPr wrap="none" lIns="0" tIns="0" rIns="0" bIns="0">
              <a:spAutoFit/>
            </a:bodyPr>
            <a:lstStyle/>
            <a:p>
              <a:pPr eaLnBrk="0" hangingPunct="0"/>
              <a:r>
                <a:rPr lang="pl-PL" sz="2800" dirty="0">
                  <a:solidFill>
                    <a:srgbClr val="000099"/>
                  </a:solidFill>
                  <a:latin typeface="Arial Narrow" pitchFamily="34" charset="0"/>
                </a:rPr>
                <a:t>A</a:t>
              </a:r>
              <a:endParaRPr lang="en-US" sz="2400" dirty="0">
                <a:solidFill>
                  <a:srgbClr val="000099"/>
                </a:solidFill>
                <a:latin typeface="Arial Narrow" pitchFamily="34" charset="0"/>
              </a:endParaRPr>
            </a:p>
          </p:txBody>
        </p:sp>
        <p:sp>
          <p:nvSpPr>
            <p:cNvPr id="25614" name="Rectangle 14"/>
            <p:cNvSpPr>
              <a:spLocks noChangeArrowheads="1"/>
            </p:cNvSpPr>
            <p:nvPr/>
          </p:nvSpPr>
          <p:spPr bwMode="auto">
            <a:xfrm>
              <a:off x="3311" y="1554"/>
              <a:ext cx="421" cy="336"/>
            </a:xfrm>
            <a:prstGeom prst="rect">
              <a:avLst/>
            </a:prstGeom>
            <a:solidFill>
              <a:srgbClr val="FFA042"/>
            </a:solidFill>
            <a:ln w="31750">
              <a:solidFill>
                <a:srgbClr val="CDCDCD"/>
              </a:solidFill>
              <a:miter lim="800000"/>
              <a:headEnd/>
              <a:tailEnd/>
            </a:ln>
          </p:spPr>
          <p:txBody>
            <a:bodyPr/>
            <a:lstStyle/>
            <a:p>
              <a:endParaRPr lang="pl-PL"/>
            </a:p>
          </p:txBody>
        </p:sp>
        <p:sp>
          <p:nvSpPr>
            <p:cNvPr id="25615" name="Rectangle 15"/>
            <p:cNvSpPr>
              <a:spLocks noChangeArrowheads="1"/>
            </p:cNvSpPr>
            <p:nvPr/>
          </p:nvSpPr>
          <p:spPr bwMode="auto">
            <a:xfrm>
              <a:off x="3427" y="1587"/>
              <a:ext cx="153" cy="269"/>
            </a:xfrm>
            <a:prstGeom prst="rect">
              <a:avLst/>
            </a:prstGeom>
            <a:noFill/>
            <a:ln w="9525">
              <a:noFill/>
              <a:miter lim="800000"/>
              <a:headEnd/>
              <a:tailEnd/>
            </a:ln>
          </p:spPr>
          <p:txBody>
            <a:bodyPr wrap="none" lIns="0" tIns="0" rIns="0" bIns="0">
              <a:spAutoFit/>
            </a:bodyPr>
            <a:lstStyle/>
            <a:p>
              <a:pPr eaLnBrk="0" hangingPunct="0"/>
              <a:r>
                <a:rPr lang="en-US" sz="2800">
                  <a:solidFill>
                    <a:srgbClr val="000099"/>
                  </a:solidFill>
                  <a:latin typeface="Arial Narrow" pitchFamily="34" charset="0"/>
                </a:rPr>
                <a:t>M</a:t>
              </a:r>
              <a:endParaRPr lang="en-US" sz="2400">
                <a:solidFill>
                  <a:srgbClr val="000099"/>
                </a:solidFill>
                <a:latin typeface="Arial Narrow" pitchFamily="34" charset="0"/>
              </a:endParaRPr>
            </a:p>
          </p:txBody>
        </p:sp>
        <p:sp>
          <p:nvSpPr>
            <p:cNvPr id="25616" name="Rectangle 16"/>
            <p:cNvSpPr>
              <a:spLocks noChangeArrowheads="1"/>
            </p:cNvSpPr>
            <p:nvPr/>
          </p:nvSpPr>
          <p:spPr bwMode="auto">
            <a:xfrm>
              <a:off x="3732" y="1554"/>
              <a:ext cx="420" cy="336"/>
            </a:xfrm>
            <a:prstGeom prst="rect">
              <a:avLst/>
            </a:prstGeom>
            <a:solidFill>
              <a:srgbClr val="FFA042"/>
            </a:solidFill>
            <a:ln w="31750">
              <a:solidFill>
                <a:srgbClr val="CDCDCD"/>
              </a:solidFill>
              <a:miter lim="800000"/>
              <a:headEnd/>
              <a:tailEnd/>
            </a:ln>
          </p:spPr>
          <p:txBody>
            <a:bodyPr/>
            <a:lstStyle/>
            <a:p>
              <a:endParaRPr lang="pl-PL"/>
            </a:p>
          </p:txBody>
        </p:sp>
        <p:sp>
          <p:nvSpPr>
            <p:cNvPr id="25617" name="Rectangle 17"/>
            <p:cNvSpPr>
              <a:spLocks noChangeArrowheads="1"/>
            </p:cNvSpPr>
            <p:nvPr/>
          </p:nvSpPr>
          <p:spPr bwMode="auto">
            <a:xfrm>
              <a:off x="3885" y="1587"/>
              <a:ext cx="80" cy="233"/>
            </a:xfrm>
            <a:prstGeom prst="rect">
              <a:avLst/>
            </a:prstGeom>
            <a:noFill/>
            <a:ln w="9525">
              <a:noFill/>
              <a:miter lim="800000"/>
              <a:headEnd/>
              <a:tailEnd/>
            </a:ln>
          </p:spPr>
          <p:txBody>
            <a:bodyPr wrap="none" lIns="0" tIns="0" rIns="0" bIns="0">
              <a:spAutoFit/>
            </a:bodyPr>
            <a:lstStyle/>
            <a:p>
              <a:pPr eaLnBrk="0" hangingPunct="0"/>
              <a:r>
                <a:rPr lang="pl-PL" sz="2400" dirty="0">
                  <a:solidFill>
                    <a:srgbClr val="000099"/>
                  </a:solidFill>
                  <a:latin typeface="Arial Narrow" pitchFamily="34" charset="0"/>
                </a:rPr>
                <a:t>J</a:t>
              </a:r>
              <a:endParaRPr lang="en-US" sz="2400" dirty="0">
                <a:solidFill>
                  <a:srgbClr val="000099"/>
                </a:solidFill>
                <a:latin typeface="Arial Narrow" pitchFamily="34" charset="0"/>
              </a:endParaRPr>
            </a:p>
          </p:txBody>
        </p:sp>
        <p:sp>
          <p:nvSpPr>
            <p:cNvPr id="25618" name="Rectangle 18"/>
            <p:cNvSpPr>
              <a:spLocks noChangeArrowheads="1"/>
            </p:cNvSpPr>
            <p:nvPr/>
          </p:nvSpPr>
          <p:spPr bwMode="auto">
            <a:xfrm>
              <a:off x="4152" y="1554"/>
              <a:ext cx="422" cy="336"/>
            </a:xfrm>
            <a:prstGeom prst="rect">
              <a:avLst/>
            </a:prstGeom>
            <a:solidFill>
              <a:srgbClr val="FFA042"/>
            </a:solidFill>
            <a:ln w="31750">
              <a:solidFill>
                <a:srgbClr val="CDCDCD"/>
              </a:solidFill>
              <a:miter lim="800000"/>
              <a:headEnd/>
              <a:tailEnd/>
            </a:ln>
          </p:spPr>
          <p:txBody>
            <a:bodyPr/>
            <a:lstStyle/>
            <a:p>
              <a:endParaRPr lang="pl-PL"/>
            </a:p>
          </p:txBody>
        </p:sp>
        <p:sp>
          <p:nvSpPr>
            <p:cNvPr id="25619" name="Rectangle 19"/>
            <p:cNvSpPr>
              <a:spLocks noChangeArrowheads="1"/>
            </p:cNvSpPr>
            <p:nvPr/>
          </p:nvSpPr>
          <p:spPr bwMode="auto">
            <a:xfrm>
              <a:off x="4307" y="1587"/>
              <a:ext cx="93" cy="271"/>
            </a:xfrm>
            <a:prstGeom prst="rect">
              <a:avLst/>
            </a:prstGeom>
            <a:noFill/>
            <a:ln w="9525">
              <a:noFill/>
              <a:miter lim="800000"/>
              <a:headEnd/>
              <a:tailEnd/>
            </a:ln>
          </p:spPr>
          <p:txBody>
            <a:bodyPr wrap="none" lIns="0" tIns="0" rIns="0" bIns="0">
              <a:spAutoFit/>
            </a:bodyPr>
            <a:lstStyle/>
            <a:p>
              <a:pPr eaLnBrk="0" hangingPunct="0"/>
              <a:r>
                <a:rPr lang="pl-PL" sz="2800" dirty="0">
                  <a:solidFill>
                    <a:srgbClr val="000099"/>
                  </a:solidFill>
                  <a:latin typeface="Arial Narrow" pitchFamily="34" charset="0"/>
                </a:rPr>
                <a:t>J</a:t>
              </a:r>
              <a:endParaRPr lang="en-US" sz="2400" dirty="0">
                <a:solidFill>
                  <a:srgbClr val="000099"/>
                </a:solidFill>
                <a:latin typeface="Arial Narrow" pitchFamily="34" charset="0"/>
              </a:endParaRPr>
            </a:p>
          </p:txBody>
        </p:sp>
        <p:sp>
          <p:nvSpPr>
            <p:cNvPr id="25620" name="Rectangle 20"/>
            <p:cNvSpPr>
              <a:spLocks noChangeArrowheads="1"/>
            </p:cNvSpPr>
            <p:nvPr/>
          </p:nvSpPr>
          <p:spPr bwMode="auto">
            <a:xfrm>
              <a:off x="1628" y="1217"/>
              <a:ext cx="2946" cy="337"/>
            </a:xfrm>
            <a:prstGeom prst="rect">
              <a:avLst/>
            </a:prstGeom>
            <a:solidFill>
              <a:srgbClr val="FFA042"/>
            </a:solidFill>
            <a:ln w="31750">
              <a:solidFill>
                <a:srgbClr val="CDCDCD"/>
              </a:solidFill>
              <a:miter lim="800000"/>
              <a:headEnd/>
              <a:tailEnd/>
            </a:ln>
          </p:spPr>
          <p:txBody>
            <a:bodyPr/>
            <a:lstStyle/>
            <a:p>
              <a:endParaRPr lang="pl-PL"/>
            </a:p>
          </p:txBody>
        </p:sp>
        <p:sp>
          <p:nvSpPr>
            <p:cNvPr id="25621" name="Rectangle 21"/>
            <p:cNvSpPr>
              <a:spLocks noChangeArrowheads="1"/>
            </p:cNvSpPr>
            <p:nvPr/>
          </p:nvSpPr>
          <p:spPr bwMode="auto">
            <a:xfrm>
              <a:off x="2456" y="1244"/>
              <a:ext cx="460" cy="233"/>
            </a:xfrm>
            <a:prstGeom prst="rect">
              <a:avLst/>
            </a:prstGeom>
            <a:noFill/>
            <a:ln w="9525">
              <a:noFill/>
              <a:miter lim="800000"/>
              <a:headEnd/>
              <a:tailEnd/>
            </a:ln>
          </p:spPr>
          <p:txBody>
            <a:bodyPr wrap="none" lIns="0" tIns="0" rIns="0" bIns="0">
              <a:spAutoFit/>
            </a:bodyPr>
            <a:lstStyle/>
            <a:p>
              <a:pPr eaLnBrk="0" hangingPunct="0"/>
              <a:r>
                <a:rPr lang="pl-PL" sz="2400" dirty="0">
                  <a:solidFill>
                    <a:srgbClr val="000099"/>
                  </a:solidFill>
                  <a:latin typeface="Arial Narrow" pitchFamily="34" charset="0"/>
                </a:rPr>
                <a:t>Period</a:t>
              </a:r>
              <a:endParaRPr lang="en-US" sz="2400" dirty="0">
                <a:solidFill>
                  <a:srgbClr val="000099"/>
                </a:solidFill>
                <a:latin typeface="Arial Narrow" pitchFamily="34" charset="0"/>
              </a:endParaRPr>
            </a:p>
          </p:txBody>
        </p:sp>
        <p:sp>
          <p:nvSpPr>
            <p:cNvPr id="25622" name="Rectangle 22"/>
            <p:cNvSpPr>
              <a:spLocks noChangeArrowheads="1"/>
            </p:cNvSpPr>
            <p:nvPr/>
          </p:nvSpPr>
          <p:spPr bwMode="auto">
            <a:xfrm>
              <a:off x="704" y="1217"/>
              <a:ext cx="924" cy="673"/>
            </a:xfrm>
            <a:prstGeom prst="rect">
              <a:avLst/>
            </a:prstGeom>
            <a:solidFill>
              <a:srgbClr val="FFA042"/>
            </a:solidFill>
            <a:ln w="31750">
              <a:solidFill>
                <a:srgbClr val="CDCDCD"/>
              </a:solidFill>
              <a:miter lim="800000"/>
              <a:headEnd/>
              <a:tailEnd/>
            </a:ln>
          </p:spPr>
          <p:txBody>
            <a:bodyPr/>
            <a:lstStyle/>
            <a:p>
              <a:endParaRPr lang="pl-PL"/>
            </a:p>
          </p:txBody>
        </p:sp>
        <p:sp>
          <p:nvSpPr>
            <p:cNvPr id="25623" name="Rectangle 23"/>
            <p:cNvSpPr>
              <a:spLocks noChangeArrowheads="1"/>
            </p:cNvSpPr>
            <p:nvPr/>
          </p:nvSpPr>
          <p:spPr bwMode="auto">
            <a:xfrm>
              <a:off x="782" y="1412"/>
              <a:ext cx="505" cy="233"/>
            </a:xfrm>
            <a:prstGeom prst="rect">
              <a:avLst/>
            </a:prstGeom>
            <a:noFill/>
            <a:ln w="9525">
              <a:noFill/>
              <a:miter lim="800000"/>
              <a:headEnd/>
              <a:tailEnd/>
            </a:ln>
          </p:spPr>
          <p:txBody>
            <a:bodyPr wrap="none" lIns="0" tIns="0" rIns="0" bIns="0">
              <a:spAutoFit/>
            </a:bodyPr>
            <a:lstStyle/>
            <a:p>
              <a:pPr eaLnBrk="0" hangingPunct="0"/>
              <a:r>
                <a:rPr lang="pl-PL" sz="2400" dirty="0">
                  <a:solidFill>
                    <a:srgbClr val="000099"/>
                  </a:solidFill>
                  <a:latin typeface="Arial Narrow" pitchFamily="34" charset="0"/>
                </a:rPr>
                <a:t>Activity</a:t>
              </a:r>
              <a:endParaRPr lang="en-US" sz="2400" dirty="0">
                <a:solidFill>
                  <a:srgbClr val="000099"/>
                </a:solidFill>
                <a:latin typeface="Arial Narrow" pitchFamily="34" charset="0"/>
              </a:endParaRPr>
            </a:p>
          </p:txBody>
        </p:sp>
        <p:sp>
          <p:nvSpPr>
            <p:cNvPr id="25624" name="Freeform 24"/>
            <p:cNvSpPr>
              <a:spLocks/>
            </p:cNvSpPr>
            <p:nvPr/>
          </p:nvSpPr>
          <p:spPr bwMode="auto">
            <a:xfrm>
              <a:off x="704" y="1890"/>
              <a:ext cx="1" cy="1346"/>
            </a:xfrm>
            <a:custGeom>
              <a:avLst/>
              <a:gdLst>
                <a:gd name="T0" fmla="*/ 0 w 1"/>
                <a:gd name="T1" fmla="*/ 0 h 1346"/>
                <a:gd name="T2" fmla="*/ 0 w 1"/>
                <a:gd name="T3" fmla="*/ 1346 h 1346"/>
                <a:gd name="T4" fmla="*/ 0 w 1"/>
                <a:gd name="T5" fmla="*/ 0 h 1346"/>
                <a:gd name="T6" fmla="*/ 0 60000 65536"/>
                <a:gd name="T7" fmla="*/ 0 60000 65536"/>
                <a:gd name="T8" fmla="*/ 0 60000 65536"/>
                <a:gd name="T9" fmla="*/ 0 w 1"/>
                <a:gd name="T10" fmla="*/ 0 h 1346"/>
                <a:gd name="T11" fmla="*/ 1 w 1"/>
                <a:gd name="T12" fmla="*/ 1346 h 1346"/>
              </a:gdLst>
              <a:ahLst/>
              <a:cxnLst>
                <a:cxn ang="T6">
                  <a:pos x="T0" y="T1"/>
                </a:cxn>
                <a:cxn ang="T7">
                  <a:pos x="T2" y="T3"/>
                </a:cxn>
                <a:cxn ang="T8">
                  <a:pos x="T4" y="T5"/>
                </a:cxn>
              </a:cxnLst>
              <a:rect l="T9" t="T10" r="T11" b="T12"/>
              <a:pathLst>
                <a:path w="1" h="1346">
                  <a:moveTo>
                    <a:pt x="0" y="0"/>
                  </a:moveTo>
                  <a:lnTo>
                    <a:pt x="0" y="1346"/>
                  </a:lnTo>
                  <a:lnTo>
                    <a:pt x="0" y="0"/>
                  </a:lnTo>
                  <a:close/>
                </a:path>
              </a:pathLst>
            </a:custGeom>
            <a:solidFill>
              <a:srgbClr val="00FFFF"/>
            </a:solidFill>
            <a:ln w="9525">
              <a:noFill/>
              <a:round/>
              <a:headEnd/>
              <a:tailEnd/>
            </a:ln>
          </p:spPr>
          <p:txBody>
            <a:bodyPr/>
            <a:lstStyle/>
            <a:p>
              <a:endParaRPr lang="pl-PL"/>
            </a:p>
          </p:txBody>
        </p:sp>
        <p:sp>
          <p:nvSpPr>
            <p:cNvPr id="25625" name="Line 25"/>
            <p:cNvSpPr>
              <a:spLocks noChangeShapeType="1"/>
            </p:cNvSpPr>
            <p:nvPr/>
          </p:nvSpPr>
          <p:spPr bwMode="auto">
            <a:xfrm>
              <a:off x="704" y="1890"/>
              <a:ext cx="1" cy="1346"/>
            </a:xfrm>
            <a:prstGeom prst="line">
              <a:avLst/>
            </a:prstGeom>
            <a:noFill/>
            <a:ln w="31750">
              <a:solidFill>
                <a:srgbClr val="CDCDCD"/>
              </a:solidFill>
              <a:round/>
              <a:headEnd/>
              <a:tailEnd/>
            </a:ln>
          </p:spPr>
          <p:txBody>
            <a:bodyPr/>
            <a:lstStyle/>
            <a:p>
              <a:endParaRPr lang="pl-PL"/>
            </a:p>
          </p:txBody>
        </p:sp>
        <p:sp>
          <p:nvSpPr>
            <p:cNvPr id="25626" name="Line 26"/>
            <p:cNvSpPr>
              <a:spLocks noChangeShapeType="1"/>
            </p:cNvSpPr>
            <p:nvPr/>
          </p:nvSpPr>
          <p:spPr bwMode="auto">
            <a:xfrm>
              <a:off x="704" y="1890"/>
              <a:ext cx="3870" cy="1"/>
            </a:xfrm>
            <a:prstGeom prst="line">
              <a:avLst/>
            </a:prstGeom>
            <a:noFill/>
            <a:ln w="31750">
              <a:solidFill>
                <a:srgbClr val="CDCDCD"/>
              </a:solidFill>
              <a:round/>
              <a:headEnd/>
              <a:tailEnd/>
            </a:ln>
          </p:spPr>
          <p:txBody>
            <a:bodyPr/>
            <a:lstStyle/>
            <a:p>
              <a:endParaRPr lang="pl-PL"/>
            </a:p>
          </p:txBody>
        </p:sp>
        <p:sp>
          <p:nvSpPr>
            <p:cNvPr id="25627" name="Line 27"/>
            <p:cNvSpPr>
              <a:spLocks noChangeShapeType="1"/>
            </p:cNvSpPr>
            <p:nvPr/>
          </p:nvSpPr>
          <p:spPr bwMode="auto">
            <a:xfrm>
              <a:off x="704" y="3236"/>
              <a:ext cx="3870" cy="1"/>
            </a:xfrm>
            <a:prstGeom prst="line">
              <a:avLst/>
            </a:prstGeom>
            <a:noFill/>
            <a:ln w="31750">
              <a:solidFill>
                <a:srgbClr val="CDCDCD"/>
              </a:solidFill>
              <a:round/>
              <a:headEnd/>
              <a:tailEnd/>
            </a:ln>
          </p:spPr>
          <p:txBody>
            <a:bodyPr/>
            <a:lstStyle/>
            <a:p>
              <a:endParaRPr lang="pl-PL"/>
            </a:p>
          </p:txBody>
        </p:sp>
        <p:sp>
          <p:nvSpPr>
            <p:cNvPr id="25628" name="Line 28"/>
            <p:cNvSpPr>
              <a:spLocks noChangeShapeType="1"/>
            </p:cNvSpPr>
            <p:nvPr/>
          </p:nvSpPr>
          <p:spPr bwMode="auto">
            <a:xfrm>
              <a:off x="1628" y="1890"/>
              <a:ext cx="1" cy="1346"/>
            </a:xfrm>
            <a:prstGeom prst="line">
              <a:avLst/>
            </a:prstGeom>
            <a:noFill/>
            <a:ln w="31750">
              <a:solidFill>
                <a:srgbClr val="CDCDCD"/>
              </a:solidFill>
              <a:round/>
              <a:headEnd/>
              <a:tailEnd/>
            </a:ln>
          </p:spPr>
          <p:txBody>
            <a:bodyPr/>
            <a:lstStyle/>
            <a:p>
              <a:endParaRPr lang="pl-PL"/>
            </a:p>
          </p:txBody>
        </p:sp>
        <p:sp>
          <p:nvSpPr>
            <p:cNvPr id="25629" name="Line 29"/>
            <p:cNvSpPr>
              <a:spLocks noChangeShapeType="1"/>
            </p:cNvSpPr>
            <p:nvPr/>
          </p:nvSpPr>
          <p:spPr bwMode="auto">
            <a:xfrm>
              <a:off x="2050" y="1890"/>
              <a:ext cx="1" cy="1346"/>
            </a:xfrm>
            <a:prstGeom prst="line">
              <a:avLst/>
            </a:prstGeom>
            <a:noFill/>
            <a:ln w="31750">
              <a:solidFill>
                <a:srgbClr val="CDCDCD"/>
              </a:solidFill>
              <a:round/>
              <a:headEnd/>
              <a:tailEnd/>
            </a:ln>
          </p:spPr>
          <p:txBody>
            <a:bodyPr/>
            <a:lstStyle/>
            <a:p>
              <a:endParaRPr lang="pl-PL"/>
            </a:p>
          </p:txBody>
        </p:sp>
        <p:sp>
          <p:nvSpPr>
            <p:cNvPr id="25630" name="Line 30"/>
            <p:cNvSpPr>
              <a:spLocks noChangeShapeType="1"/>
            </p:cNvSpPr>
            <p:nvPr/>
          </p:nvSpPr>
          <p:spPr bwMode="auto">
            <a:xfrm>
              <a:off x="2469" y="1890"/>
              <a:ext cx="1" cy="1346"/>
            </a:xfrm>
            <a:prstGeom prst="line">
              <a:avLst/>
            </a:prstGeom>
            <a:noFill/>
            <a:ln w="31750">
              <a:solidFill>
                <a:srgbClr val="CDCDCD"/>
              </a:solidFill>
              <a:round/>
              <a:headEnd/>
              <a:tailEnd/>
            </a:ln>
          </p:spPr>
          <p:txBody>
            <a:bodyPr/>
            <a:lstStyle/>
            <a:p>
              <a:endParaRPr lang="pl-PL"/>
            </a:p>
          </p:txBody>
        </p:sp>
        <p:sp>
          <p:nvSpPr>
            <p:cNvPr id="25631" name="Line 31"/>
            <p:cNvSpPr>
              <a:spLocks noChangeShapeType="1"/>
            </p:cNvSpPr>
            <p:nvPr/>
          </p:nvSpPr>
          <p:spPr bwMode="auto">
            <a:xfrm>
              <a:off x="2891" y="1890"/>
              <a:ext cx="1" cy="1346"/>
            </a:xfrm>
            <a:prstGeom prst="line">
              <a:avLst/>
            </a:prstGeom>
            <a:noFill/>
            <a:ln w="31750">
              <a:solidFill>
                <a:srgbClr val="CDCDCD"/>
              </a:solidFill>
              <a:round/>
              <a:headEnd/>
              <a:tailEnd/>
            </a:ln>
          </p:spPr>
          <p:txBody>
            <a:bodyPr/>
            <a:lstStyle/>
            <a:p>
              <a:endParaRPr lang="pl-PL"/>
            </a:p>
          </p:txBody>
        </p:sp>
        <p:sp>
          <p:nvSpPr>
            <p:cNvPr id="25632" name="Line 32"/>
            <p:cNvSpPr>
              <a:spLocks noChangeShapeType="1"/>
            </p:cNvSpPr>
            <p:nvPr/>
          </p:nvSpPr>
          <p:spPr bwMode="auto">
            <a:xfrm>
              <a:off x="3311" y="1890"/>
              <a:ext cx="1" cy="1346"/>
            </a:xfrm>
            <a:prstGeom prst="line">
              <a:avLst/>
            </a:prstGeom>
            <a:noFill/>
            <a:ln w="31750">
              <a:solidFill>
                <a:srgbClr val="CDCDCD"/>
              </a:solidFill>
              <a:round/>
              <a:headEnd/>
              <a:tailEnd/>
            </a:ln>
          </p:spPr>
          <p:txBody>
            <a:bodyPr/>
            <a:lstStyle/>
            <a:p>
              <a:endParaRPr lang="pl-PL"/>
            </a:p>
          </p:txBody>
        </p:sp>
        <p:sp>
          <p:nvSpPr>
            <p:cNvPr id="25633" name="Line 33"/>
            <p:cNvSpPr>
              <a:spLocks noChangeShapeType="1"/>
            </p:cNvSpPr>
            <p:nvPr/>
          </p:nvSpPr>
          <p:spPr bwMode="auto">
            <a:xfrm>
              <a:off x="3732" y="1890"/>
              <a:ext cx="1" cy="1346"/>
            </a:xfrm>
            <a:prstGeom prst="line">
              <a:avLst/>
            </a:prstGeom>
            <a:noFill/>
            <a:ln w="31750">
              <a:solidFill>
                <a:srgbClr val="CDCDCD"/>
              </a:solidFill>
              <a:round/>
              <a:headEnd/>
              <a:tailEnd/>
            </a:ln>
          </p:spPr>
          <p:txBody>
            <a:bodyPr/>
            <a:lstStyle/>
            <a:p>
              <a:endParaRPr lang="pl-PL"/>
            </a:p>
          </p:txBody>
        </p:sp>
        <p:sp>
          <p:nvSpPr>
            <p:cNvPr id="25634" name="Line 34"/>
            <p:cNvSpPr>
              <a:spLocks noChangeShapeType="1"/>
            </p:cNvSpPr>
            <p:nvPr/>
          </p:nvSpPr>
          <p:spPr bwMode="auto">
            <a:xfrm>
              <a:off x="4152" y="1890"/>
              <a:ext cx="1" cy="1346"/>
            </a:xfrm>
            <a:prstGeom prst="line">
              <a:avLst/>
            </a:prstGeom>
            <a:noFill/>
            <a:ln w="31750">
              <a:solidFill>
                <a:srgbClr val="CDCDCD"/>
              </a:solidFill>
              <a:round/>
              <a:headEnd/>
              <a:tailEnd/>
            </a:ln>
          </p:spPr>
          <p:txBody>
            <a:bodyPr/>
            <a:lstStyle/>
            <a:p>
              <a:endParaRPr lang="pl-PL"/>
            </a:p>
          </p:txBody>
        </p:sp>
        <p:sp>
          <p:nvSpPr>
            <p:cNvPr id="25635" name="Line 35"/>
            <p:cNvSpPr>
              <a:spLocks noChangeShapeType="1"/>
            </p:cNvSpPr>
            <p:nvPr/>
          </p:nvSpPr>
          <p:spPr bwMode="auto">
            <a:xfrm>
              <a:off x="4574" y="1890"/>
              <a:ext cx="1" cy="1346"/>
            </a:xfrm>
            <a:prstGeom prst="line">
              <a:avLst/>
            </a:prstGeom>
            <a:noFill/>
            <a:ln w="31750">
              <a:solidFill>
                <a:srgbClr val="CDCDCD"/>
              </a:solidFill>
              <a:round/>
              <a:headEnd/>
              <a:tailEnd/>
            </a:ln>
          </p:spPr>
          <p:txBody>
            <a:bodyPr/>
            <a:lstStyle/>
            <a:p>
              <a:endParaRPr lang="pl-PL"/>
            </a:p>
          </p:txBody>
        </p:sp>
        <p:sp>
          <p:nvSpPr>
            <p:cNvPr id="25636" name="Rectangle 36"/>
            <p:cNvSpPr>
              <a:spLocks noChangeArrowheads="1"/>
            </p:cNvSpPr>
            <p:nvPr/>
          </p:nvSpPr>
          <p:spPr bwMode="auto">
            <a:xfrm>
              <a:off x="731" y="1995"/>
              <a:ext cx="710" cy="233"/>
            </a:xfrm>
            <a:prstGeom prst="rect">
              <a:avLst/>
            </a:prstGeom>
            <a:noFill/>
            <a:ln w="9525">
              <a:noFill/>
              <a:miter lim="800000"/>
              <a:headEnd/>
              <a:tailEnd/>
            </a:ln>
          </p:spPr>
          <p:txBody>
            <a:bodyPr wrap="none" lIns="0" tIns="0" rIns="0" bIns="0">
              <a:spAutoFit/>
            </a:bodyPr>
            <a:lstStyle/>
            <a:p>
              <a:pPr eaLnBrk="0" hangingPunct="0"/>
              <a:r>
                <a:rPr lang="pl-PL" sz="2400" dirty="0" err="1">
                  <a:solidFill>
                    <a:srgbClr val="000099"/>
                  </a:solidFill>
                  <a:latin typeface="Arial Narrow" pitchFamily="34" charset="0"/>
                </a:rPr>
                <a:t>Designing</a:t>
              </a:r>
              <a:endParaRPr lang="en-US" sz="2400" dirty="0">
                <a:solidFill>
                  <a:srgbClr val="000099"/>
                </a:solidFill>
                <a:latin typeface="Arial Narrow" pitchFamily="34" charset="0"/>
              </a:endParaRPr>
            </a:p>
          </p:txBody>
        </p:sp>
        <p:sp>
          <p:nvSpPr>
            <p:cNvPr id="25637" name="Rectangle 37"/>
            <p:cNvSpPr>
              <a:spLocks noChangeArrowheads="1"/>
            </p:cNvSpPr>
            <p:nvPr/>
          </p:nvSpPr>
          <p:spPr bwMode="auto">
            <a:xfrm>
              <a:off x="731" y="2417"/>
              <a:ext cx="567" cy="233"/>
            </a:xfrm>
            <a:prstGeom prst="rect">
              <a:avLst/>
            </a:prstGeom>
            <a:noFill/>
            <a:ln w="9525">
              <a:noFill/>
              <a:miter lim="800000"/>
              <a:headEnd/>
              <a:tailEnd/>
            </a:ln>
          </p:spPr>
          <p:txBody>
            <a:bodyPr wrap="none" lIns="0" tIns="0" rIns="0" bIns="0">
              <a:spAutoFit/>
            </a:bodyPr>
            <a:lstStyle/>
            <a:p>
              <a:pPr eaLnBrk="0" hangingPunct="0"/>
              <a:r>
                <a:rPr lang="pl-PL" sz="2400" dirty="0" err="1">
                  <a:solidFill>
                    <a:srgbClr val="000099"/>
                  </a:solidFill>
                  <a:latin typeface="Arial Narrow" pitchFamily="34" charset="0"/>
                </a:rPr>
                <a:t>Building</a:t>
              </a:r>
              <a:endParaRPr lang="en-US" sz="2400" dirty="0">
                <a:solidFill>
                  <a:srgbClr val="000099"/>
                </a:solidFill>
                <a:latin typeface="Arial Narrow" pitchFamily="34" charset="0"/>
              </a:endParaRPr>
            </a:p>
          </p:txBody>
        </p:sp>
        <p:sp>
          <p:nvSpPr>
            <p:cNvPr id="25638" name="Rectangle 38"/>
            <p:cNvSpPr>
              <a:spLocks noChangeArrowheads="1"/>
            </p:cNvSpPr>
            <p:nvPr/>
          </p:nvSpPr>
          <p:spPr bwMode="auto">
            <a:xfrm>
              <a:off x="731" y="2837"/>
              <a:ext cx="505" cy="233"/>
            </a:xfrm>
            <a:prstGeom prst="rect">
              <a:avLst/>
            </a:prstGeom>
            <a:noFill/>
            <a:ln w="9525">
              <a:noFill/>
              <a:miter lim="800000"/>
              <a:headEnd/>
              <a:tailEnd/>
            </a:ln>
          </p:spPr>
          <p:txBody>
            <a:bodyPr wrap="none" lIns="0" tIns="0" rIns="0" bIns="0">
              <a:spAutoFit/>
            </a:bodyPr>
            <a:lstStyle/>
            <a:p>
              <a:pPr eaLnBrk="0" hangingPunct="0"/>
              <a:r>
                <a:rPr lang="en-US" sz="2400" dirty="0">
                  <a:solidFill>
                    <a:srgbClr val="000099"/>
                  </a:solidFill>
                  <a:latin typeface="Arial Narrow" pitchFamily="34" charset="0"/>
                </a:rPr>
                <a:t>Test</a:t>
              </a:r>
              <a:r>
                <a:rPr lang="pl-PL" sz="2400" dirty="0" err="1">
                  <a:solidFill>
                    <a:srgbClr val="000099"/>
                  </a:solidFill>
                  <a:latin typeface="Arial Narrow" pitchFamily="34" charset="0"/>
                </a:rPr>
                <a:t>ing</a:t>
              </a:r>
              <a:endParaRPr lang="en-US" sz="2400" dirty="0">
                <a:solidFill>
                  <a:srgbClr val="000099"/>
                </a:solidFill>
                <a:latin typeface="Arial Narrow" pitchFamily="34" charset="0"/>
              </a:endParaRPr>
            </a:p>
          </p:txBody>
        </p:sp>
        <p:sp>
          <p:nvSpPr>
            <p:cNvPr id="25639" name="Rectangle 39"/>
            <p:cNvSpPr>
              <a:spLocks noChangeArrowheads="1"/>
            </p:cNvSpPr>
            <p:nvPr/>
          </p:nvSpPr>
          <p:spPr bwMode="auto">
            <a:xfrm>
              <a:off x="3524" y="2824"/>
              <a:ext cx="756" cy="336"/>
            </a:xfrm>
            <a:prstGeom prst="rect">
              <a:avLst/>
            </a:prstGeom>
            <a:solidFill>
              <a:srgbClr val="FFFF80"/>
            </a:solidFill>
            <a:ln w="11113">
              <a:solidFill>
                <a:srgbClr val="FF0080"/>
              </a:solidFill>
              <a:miter lim="800000"/>
              <a:headEnd/>
              <a:tailEnd/>
            </a:ln>
          </p:spPr>
          <p:txBody>
            <a:bodyPr/>
            <a:lstStyle/>
            <a:p>
              <a:endParaRPr lang="pl-PL"/>
            </a:p>
          </p:txBody>
        </p:sp>
        <p:sp>
          <p:nvSpPr>
            <p:cNvPr id="25640" name="Rectangle 40"/>
            <p:cNvSpPr>
              <a:spLocks noChangeArrowheads="1"/>
            </p:cNvSpPr>
            <p:nvPr/>
          </p:nvSpPr>
          <p:spPr bwMode="auto">
            <a:xfrm>
              <a:off x="1841" y="1973"/>
              <a:ext cx="1052" cy="346"/>
            </a:xfrm>
            <a:prstGeom prst="rect">
              <a:avLst/>
            </a:prstGeom>
            <a:solidFill>
              <a:srgbClr val="FFFF80"/>
            </a:solidFill>
            <a:ln w="11113">
              <a:solidFill>
                <a:srgbClr val="FF0080"/>
              </a:solidFill>
              <a:miter lim="800000"/>
              <a:headEnd/>
              <a:tailEnd/>
            </a:ln>
          </p:spPr>
          <p:txBody>
            <a:bodyPr/>
            <a:lstStyle/>
            <a:p>
              <a:endParaRPr lang="pl-PL"/>
            </a:p>
          </p:txBody>
        </p:sp>
        <p:sp>
          <p:nvSpPr>
            <p:cNvPr id="25641" name="Rectangle 41"/>
            <p:cNvSpPr>
              <a:spLocks noChangeArrowheads="1"/>
            </p:cNvSpPr>
            <p:nvPr/>
          </p:nvSpPr>
          <p:spPr bwMode="auto">
            <a:xfrm>
              <a:off x="2682" y="2404"/>
              <a:ext cx="842" cy="337"/>
            </a:xfrm>
            <a:prstGeom prst="rect">
              <a:avLst/>
            </a:prstGeom>
            <a:solidFill>
              <a:srgbClr val="FFFF80"/>
            </a:solidFill>
            <a:ln w="11113">
              <a:solidFill>
                <a:srgbClr val="FF0080"/>
              </a:solidFill>
              <a:miter lim="800000"/>
              <a:headEnd/>
              <a:tailEnd/>
            </a:ln>
          </p:spPr>
          <p:txBody>
            <a:bodyPr/>
            <a:lstStyle/>
            <a:p>
              <a:endParaRPr lang="pl-PL"/>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ymbol zastępczy stopki 4"/>
          <p:cNvSpPr>
            <a:spLocks noGrp="1"/>
          </p:cNvSpPr>
          <p:nvPr>
            <p:ph type="ftr" sz="quarter" idx="11"/>
          </p:nvPr>
        </p:nvSpPr>
        <p:spPr/>
        <p:txBody>
          <a:bodyPr/>
          <a:lstStyle/>
          <a:p>
            <a:pPr>
              <a:defRPr/>
            </a:pPr>
            <a:r>
              <a:rPr lang="pl-PL" altLang="en-US"/>
              <a:t>PJAIT</a:t>
            </a:r>
          </a:p>
        </p:txBody>
      </p:sp>
      <p:sp>
        <p:nvSpPr>
          <p:cNvPr id="26627" name="Rectangle 2"/>
          <p:cNvSpPr>
            <a:spLocks noGrp="1" noChangeArrowheads="1"/>
          </p:cNvSpPr>
          <p:nvPr>
            <p:ph type="title"/>
          </p:nvPr>
        </p:nvSpPr>
        <p:spPr/>
        <p:txBody>
          <a:bodyPr/>
          <a:lstStyle/>
          <a:p>
            <a:pPr eaLnBrk="1" hangingPunct="1"/>
            <a:r>
              <a:rPr lang="pl-PL" sz="4000" b="1" dirty="0" err="1"/>
              <a:t>Decision</a:t>
            </a:r>
            <a:r>
              <a:rPr lang="pl-PL" sz="4000" b="1" dirty="0"/>
              <a:t> </a:t>
            </a:r>
            <a:r>
              <a:rPr lang="pl-PL" sz="4000" b="1" dirty="0" err="1"/>
              <a:t>support</a:t>
            </a:r>
            <a:r>
              <a:rPr lang="pl-PL" sz="4000" b="1" dirty="0"/>
              <a:t> </a:t>
            </a:r>
            <a:r>
              <a:rPr lang="pl-PL" sz="4000" b="1" dirty="0" err="1"/>
              <a:t>tools</a:t>
            </a:r>
            <a:endParaRPr lang="pl-PL" sz="4000" b="1" dirty="0"/>
          </a:p>
        </p:txBody>
      </p:sp>
      <p:sp>
        <p:nvSpPr>
          <p:cNvPr id="26628" name="Rectangle 3"/>
          <p:cNvSpPr>
            <a:spLocks noGrp="1" noChangeArrowheads="1"/>
          </p:cNvSpPr>
          <p:nvPr>
            <p:ph type="body" idx="1"/>
          </p:nvPr>
        </p:nvSpPr>
        <p:spPr/>
        <p:txBody>
          <a:bodyPr/>
          <a:lstStyle/>
          <a:p>
            <a:pPr eaLnBrk="1" hangingPunct="1">
              <a:buNone/>
            </a:pPr>
            <a:r>
              <a:rPr lang="pl-PL" sz="3200" dirty="0">
                <a:solidFill>
                  <a:srgbClr val="003399"/>
                </a:solidFill>
              </a:rPr>
              <a:t>Network </a:t>
            </a:r>
            <a:r>
              <a:rPr lang="pl-PL" sz="3200" dirty="0" err="1">
                <a:solidFill>
                  <a:srgbClr val="003399"/>
                </a:solidFill>
              </a:rPr>
              <a:t>planning</a:t>
            </a:r>
            <a:r>
              <a:rPr lang="pl-PL" sz="3200" dirty="0">
                <a:solidFill>
                  <a:srgbClr val="003399"/>
                </a:solidFill>
              </a:rPr>
              <a:t> </a:t>
            </a:r>
            <a:r>
              <a:rPr lang="pl-PL" sz="3200" dirty="0" err="1">
                <a:solidFill>
                  <a:srgbClr val="003399"/>
                </a:solidFill>
              </a:rPr>
              <a:t>techniques</a:t>
            </a:r>
            <a:r>
              <a:rPr lang="pl-PL" sz="3200" dirty="0">
                <a:solidFill>
                  <a:srgbClr val="003399"/>
                </a:solidFill>
              </a:rPr>
              <a:t>:</a:t>
            </a:r>
          </a:p>
          <a:p>
            <a:pPr eaLnBrk="1" hangingPunct="1"/>
            <a:r>
              <a:rPr lang="pl-PL" sz="3200" dirty="0">
                <a:solidFill>
                  <a:srgbClr val="003399"/>
                </a:solidFill>
              </a:rPr>
              <a:t>PERT (</a:t>
            </a:r>
            <a:r>
              <a:rPr lang="pl-PL" sz="3200" i="1" dirty="0">
                <a:solidFill>
                  <a:srgbClr val="003399"/>
                </a:solidFill>
              </a:rPr>
              <a:t>program </a:t>
            </a:r>
            <a:r>
              <a:rPr lang="pl-PL" sz="3200" i="1" dirty="0" err="1">
                <a:solidFill>
                  <a:srgbClr val="003399"/>
                </a:solidFill>
              </a:rPr>
              <a:t>evaluation</a:t>
            </a:r>
            <a:r>
              <a:rPr lang="pl-PL" sz="3200" i="1" dirty="0">
                <a:solidFill>
                  <a:srgbClr val="003399"/>
                </a:solidFill>
              </a:rPr>
              <a:t> and </a:t>
            </a:r>
            <a:r>
              <a:rPr lang="pl-PL" sz="3200" i="1" dirty="0" err="1">
                <a:solidFill>
                  <a:srgbClr val="003399"/>
                </a:solidFill>
              </a:rPr>
              <a:t>review</a:t>
            </a:r>
            <a:r>
              <a:rPr lang="pl-PL" sz="3200" i="1" dirty="0">
                <a:solidFill>
                  <a:srgbClr val="003399"/>
                </a:solidFill>
              </a:rPr>
              <a:t> </a:t>
            </a:r>
            <a:r>
              <a:rPr lang="pl-PL" sz="3200" i="1" dirty="0" err="1">
                <a:solidFill>
                  <a:srgbClr val="003399"/>
                </a:solidFill>
              </a:rPr>
              <a:t>technique</a:t>
            </a:r>
            <a:r>
              <a:rPr lang="pl-PL" sz="3200" dirty="0">
                <a:solidFill>
                  <a:srgbClr val="003399"/>
                </a:solidFill>
              </a:rPr>
              <a:t>)</a:t>
            </a:r>
          </a:p>
          <a:p>
            <a:pPr eaLnBrk="1" hangingPunct="1"/>
            <a:endParaRPr lang="pl-PL" sz="3200" dirty="0">
              <a:solidFill>
                <a:srgbClr val="003399"/>
              </a:solidFill>
            </a:endParaRPr>
          </a:p>
          <a:p>
            <a:pPr eaLnBrk="1" hangingPunct="1"/>
            <a:endParaRPr lang="pl-PL" sz="3200" dirty="0">
              <a:solidFill>
                <a:srgbClr val="003399"/>
              </a:solidFill>
            </a:endParaRPr>
          </a:p>
          <a:p>
            <a:pPr eaLnBrk="1" hangingPunct="1"/>
            <a:endParaRPr lang="pl-PL" sz="3200" dirty="0">
              <a:solidFill>
                <a:srgbClr val="003399"/>
              </a:solidFill>
            </a:endParaRPr>
          </a:p>
          <a:p>
            <a:pPr eaLnBrk="1" hangingPunct="1"/>
            <a:r>
              <a:rPr lang="pl-PL" sz="3200" dirty="0">
                <a:solidFill>
                  <a:srgbClr val="003399"/>
                </a:solidFill>
              </a:rPr>
              <a:t>CPM (</a:t>
            </a:r>
            <a:r>
              <a:rPr lang="pl-PL" sz="3200" i="1" dirty="0" err="1">
                <a:solidFill>
                  <a:srgbClr val="003399"/>
                </a:solidFill>
              </a:rPr>
              <a:t>critical</a:t>
            </a:r>
            <a:r>
              <a:rPr lang="pl-PL" sz="3200" i="1" dirty="0">
                <a:solidFill>
                  <a:srgbClr val="003399"/>
                </a:solidFill>
              </a:rPr>
              <a:t> </a:t>
            </a:r>
            <a:r>
              <a:rPr lang="pl-PL" sz="3200" i="1" dirty="0" err="1">
                <a:solidFill>
                  <a:srgbClr val="003399"/>
                </a:solidFill>
              </a:rPr>
              <a:t>path</a:t>
            </a:r>
            <a:r>
              <a:rPr lang="pl-PL" sz="3200" i="1" dirty="0">
                <a:solidFill>
                  <a:srgbClr val="003399"/>
                </a:solidFill>
              </a:rPr>
              <a:t> </a:t>
            </a:r>
            <a:r>
              <a:rPr lang="pl-PL" sz="3200" i="1" dirty="0" err="1">
                <a:solidFill>
                  <a:srgbClr val="003399"/>
                </a:solidFill>
              </a:rPr>
              <a:t>method</a:t>
            </a:r>
            <a:r>
              <a:rPr lang="pl-PL" sz="3200" dirty="0">
                <a:solidFill>
                  <a:srgbClr val="003399"/>
                </a:solidFill>
              </a:rPr>
              <a:t>)</a:t>
            </a:r>
          </a:p>
        </p:txBody>
      </p:sp>
      <p:pic>
        <p:nvPicPr>
          <p:cNvPr id="26629" name="Picture 4"/>
          <p:cNvPicPr>
            <a:picLocks noChangeAspect="1" noChangeArrowheads="1"/>
          </p:cNvPicPr>
          <p:nvPr/>
        </p:nvPicPr>
        <p:blipFill>
          <a:blip r:embed="rId3" cstate="print"/>
          <a:srcRect/>
          <a:stretch>
            <a:fillRect/>
          </a:stretch>
        </p:blipFill>
        <p:spPr bwMode="auto">
          <a:xfrm>
            <a:off x="3276600" y="2781300"/>
            <a:ext cx="1714500" cy="2143125"/>
          </a:xfrm>
          <a:prstGeom prst="rect">
            <a:avLst/>
          </a:prstGeom>
          <a:noFill/>
          <a:ln w="9525">
            <a:noFill/>
            <a:miter lim="800000"/>
            <a:headEnd/>
            <a:tailEnd/>
          </a:ln>
        </p:spPr>
      </p:pic>
      <p:sp>
        <p:nvSpPr>
          <p:cNvPr id="26630" name="Text Box 5"/>
          <p:cNvSpPr txBox="1">
            <a:spLocks noChangeArrowheads="1"/>
          </p:cNvSpPr>
          <p:nvPr/>
        </p:nvSpPr>
        <p:spPr bwMode="auto">
          <a:xfrm>
            <a:off x="323850" y="6092825"/>
            <a:ext cx="4752975" cy="457200"/>
          </a:xfrm>
          <a:prstGeom prst="rect">
            <a:avLst/>
          </a:prstGeom>
          <a:noFill/>
          <a:ln w="9525">
            <a:noFill/>
            <a:miter lim="800000"/>
            <a:headEnd/>
            <a:tailEnd/>
          </a:ln>
        </p:spPr>
        <p:txBody>
          <a:bodyPr>
            <a:spAutoFit/>
          </a:bodyPr>
          <a:lstStyle/>
          <a:p>
            <a:pPr>
              <a:spcBef>
                <a:spcPct val="50000"/>
              </a:spcBef>
            </a:pPr>
            <a:r>
              <a:rPr lang="pl-PL" sz="1200" dirty="0" err="1"/>
              <a:t>Sources</a:t>
            </a:r>
            <a:r>
              <a:rPr lang="pl-PL" sz="1200" dirty="0"/>
              <a:t>: pl.wikipedia.org/</a:t>
            </a:r>
            <a:r>
              <a:rPr lang="pl-PL" sz="1200" dirty="0" err="1"/>
              <a:t>wiki</a:t>
            </a:r>
            <a:r>
              <a:rPr lang="pl-PL" sz="1200" dirty="0"/>
              <a:t>/Okr%C4%99ty_podwodne_ty..., mbacasestudysolutions.com </a:t>
            </a:r>
          </a:p>
        </p:txBody>
      </p:sp>
      <p:pic>
        <p:nvPicPr>
          <p:cNvPr id="26631" name="Picture 6"/>
          <p:cNvPicPr>
            <a:picLocks noChangeAspect="1" noChangeArrowheads="1"/>
          </p:cNvPicPr>
          <p:nvPr/>
        </p:nvPicPr>
        <p:blipFill>
          <a:blip r:embed="rId4" cstate="print"/>
          <a:srcRect/>
          <a:stretch>
            <a:fillRect/>
          </a:stretch>
        </p:blipFill>
        <p:spPr bwMode="auto">
          <a:xfrm>
            <a:off x="6227763" y="4868863"/>
            <a:ext cx="2014537" cy="785812"/>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z="4000" b="1" dirty="0"/>
              <a:t>Critical </a:t>
            </a:r>
            <a:r>
              <a:rPr lang="pl-PL" sz="4000" b="1" dirty="0" err="1"/>
              <a:t>path</a:t>
            </a:r>
            <a:endParaRPr lang="pl-PL" sz="4000" b="1" dirty="0"/>
          </a:p>
        </p:txBody>
      </p:sp>
      <p:sp>
        <p:nvSpPr>
          <p:cNvPr id="3" name="Symbol zastępczy zawartości 2"/>
          <p:cNvSpPr>
            <a:spLocks noGrp="1"/>
          </p:cNvSpPr>
          <p:nvPr>
            <p:ph idx="1"/>
          </p:nvPr>
        </p:nvSpPr>
        <p:spPr/>
        <p:txBody>
          <a:bodyPr/>
          <a:lstStyle/>
          <a:p>
            <a:pPr marL="0" indent="0" algn="just">
              <a:buNone/>
            </a:pPr>
            <a:r>
              <a:rPr lang="en-US" dirty="0">
                <a:solidFill>
                  <a:srgbClr val="003399"/>
                </a:solidFill>
              </a:rPr>
              <a:t>A critical path is a sequence of interdependent activities or tasks that must be finished before the project can be finished. It is the longest path (i.e. path with the longest duration) from project start to finish. At the same time, the longest path is the path that shows the minimal time in which a project can be completed. If there is a delay in one activity of the path, the whole project will be delayed accordingly.</a:t>
            </a:r>
          </a:p>
          <a:p>
            <a:pPr marL="0" indent="0">
              <a:buNone/>
            </a:pPr>
            <a:endParaRPr lang="pl-PL" dirty="0"/>
          </a:p>
        </p:txBody>
      </p:sp>
      <p:sp>
        <p:nvSpPr>
          <p:cNvPr id="4" name="Symbol zastępczy stopki 3"/>
          <p:cNvSpPr>
            <a:spLocks noGrp="1"/>
          </p:cNvSpPr>
          <p:nvPr>
            <p:ph type="ftr" sz="quarter" idx="11"/>
          </p:nvPr>
        </p:nvSpPr>
        <p:spPr/>
        <p:txBody>
          <a:bodyPr/>
          <a:lstStyle/>
          <a:p>
            <a:pPr>
              <a:defRPr/>
            </a:pPr>
            <a:r>
              <a:rPr lang="pl-PL" altLang="en-US"/>
              <a:t>PJAIT</a:t>
            </a:r>
          </a:p>
        </p:txBody>
      </p:sp>
    </p:spTree>
    <p:extLst>
      <p:ext uri="{BB962C8B-B14F-4D97-AF65-F5344CB8AC3E}">
        <p14:creationId xmlns:p14="http://schemas.microsoft.com/office/powerpoint/2010/main" val="25948569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z="4000" b="1" dirty="0" err="1"/>
              <a:t>Breakfast</a:t>
            </a:r>
            <a:r>
              <a:rPr lang="pl-PL" sz="4000" b="1" dirty="0"/>
              <a:t> </a:t>
            </a:r>
            <a:r>
              <a:rPr lang="pl-PL" sz="4000" b="1" dirty="0">
                <a:sym typeface="Wingdings" panose="05000000000000000000" pitchFamily="2" charset="2"/>
              </a:rPr>
              <a:t></a:t>
            </a:r>
            <a:endParaRPr lang="pl-PL" sz="4000" b="1" dirty="0"/>
          </a:p>
        </p:txBody>
      </p:sp>
      <p:sp>
        <p:nvSpPr>
          <p:cNvPr id="4" name="Symbol zastępczy stopki 3"/>
          <p:cNvSpPr>
            <a:spLocks noGrp="1"/>
          </p:cNvSpPr>
          <p:nvPr>
            <p:ph type="ftr" sz="quarter" idx="11"/>
          </p:nvPr>
        </p:nvSpPr>
        <p:spPr/>
        <p:txBody>
          <a:bodyPr/>
          <a:lstStyle/>
          <a:p>
            <a:pPr>
              <a:defRPr/>
            </a:pPr>
            <a:r>
              <a:rPr lang="pl-PL" altLang="en-US"/>
              <a:t>PJAIT</a:t>
            </a:r>
          </a:p>
        </p:txBody>
      </p:sp>
      <p:pic>
        <p:nvPicPr>
          <p:cNvPr id="4098" name="Picture 2" descr="How to deliver projects on time: Critical Path definition"/>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13369" y="2348880"/>
            <a:ext cx="7117262" cy="1944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62094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ymbol zastępczy stopki 4"/>
          <p:cNvSpPr>
            <a:spLocks noGrp="1"/>
          </p:cNvSpPr>
          <p:nvPr>
            <p:ph type="ftr" sz="quarter" idx="11"/>
          </p:nvPr>
        </p:nvSpPr>
        <p:spPr/>
        <p:txBody>
          <a:bodyPr/>
          <a:lstStyle/>
          <a:p>
            <a:pPr>
              <a:defRPr/>
            </a:pPr>
            <a:r>
              <a:rPr lang="pl-PL" altLang="en-US"/>
              <a:t>PJAIT</a:t>
            </a:r>
          </a:p>
        </p:txBody>
      </p:sp>
      <p:sp>
        <p:nvSpPr>
          <p:cNvPr id="29699" name="Rectangle 2"/>
          <p:cNvSpPr>
            <a:spLocks noGrp="1" noChangeArrowheads="1"/>
          </p:cNvSpPr>
          <p:nvPr>
            <p:ph type="title"/>
          </p:nvPr>
        </p:nvSpPr>
        <p:spPr/>
        <p:txBody>
          <a:bodyPr/>
          <a:lstStyle/>
          <a:p>
            <a:pPr eaLnBrk="1" hangingPunct="1"/>
            <a:r>
              <a:rPr lang="pl-PL" sz="3800" b="1" dirty="0" err="1"/>
              <a:t>Limitations</a:t>
            </a:r>
            <a:r>
              <a:rPr lang="pl-PL" sz="3800" b="1" dirty="0"/>
              <a:t> of the </a:t>
            </a:r>
            <a:r>
              <a:rPr lang="pl-PL" sz="3800" b="1" dirty="0" err="1"/>
              <a:t>use</a:t>
            </a:r>
            <a:r>
              <a:rPr lang="pl-PL" sz="3800" b="1" dirty="0"/>
              <a:t> of </a:t>
            </a:r>
            <a:r>
              <a:rPr lang="pl-PL" sz="3800" b="1" dirty="0" err="1"/>
              <a:t>decision</a:t>
            </a:r>
            <a:r>
              <a:rPr lang="pl-PL" sz="3800" b="1" dirty="0"/>
              <a:t> </a:t>
            </a:r>
            <a:r>
              <a:rPr lang="pl-PL" sz="3800" b="1" dirty="0" err="1"/>
              <a:t>support</a:t>
            </a:r>
            <a:r>
              <a:rPr lang="pl-PL" sz="3800" b="1" dirty="0"/>
              <a:t> </a:t>
            </a:r>
            <a:r>
              <a:rPr lang="pl-PL" sz="3800" b="1" dirty="0" err="1"/>
              <a:t>tools</a:t>
            </a:r>
            <a:r>
              <a:rPr lang="pl-PL" sz="3800" b="1" dirty="0"/>
              <a:t> </a:t>
            </a:r>
            <a:r>
              <a:rPr lang="pl-PL" sz="3800" b="1" dirty="0">
                <a:sym typeface="Wingdings" pitchFamily="2" charset="2"/>
              </a:rPr>
              <a:t></a:t>
            </a:r>
            <a:endParaRPr lang="pl-PL" sz="3800" b="1" dirty="0"/>
          </a:p>
        </p:txBody>
      </p:sp>
      <p:sp>
        <p:nvSpPr>
          <p:cNvPr id="29700" name="Rectangle 3"/>
          <p:cNvSpPr>
            <a:spLocks noGrp="1" noChangeArrowheads="1"/>
          </p:cNvSpPr>
          <p:nvPr>
            <p:ph type="body" idx="1"/>
          </p:nvPr>
        </p:nvSpPr>
        <p:spPr/>
        <p:txBody>
          <a:bodyPr/>
          <a:lstStyle/>
          <a:p>
            <a:pPr eaLnBrk="1" hangingPunct="1"/>
            <a:r>
              <a:rPr lang="en-US" dirty="0">
                <a:solidFill>
                  <a:srgbClr val="003399"/>
                </a:solidFill>
              </a:rPr>
              <a:t>Human factor</a:t>
            </a:r>
          </a:p>
          <a:p>
            <a:pPr eaLnBrk="1" hangingPunct="1"/>
            <a:r>
              <a:rPr lang="en-US" dirty="0">
                <a:solidFill>
                  <a:srgbClr val="003399"/>
                </a:solidFill>
              </a:rPr>
              <a:t>Information factor</a:t>
            </a:r>
          </a:p>
          <a:p>
            <a:pPr eaLnBrk="1" hangingPunct="1"/>
            <a:endParaRPr lang="en-US" dirty="0">
              <a:solidFill>
                <a:srgbClr val="003399"/>
              </a:solidFill>
            </a:endParaRPr>
          </a:p>
          <a:p>
            <a:pPr eaLnBrk="1" hangingPunct="1"/>
            <a:r>
              <a:rPr lang="en-US" dirty="0">
                <a:solidFill>
                  <a:srgbClr val="003399"/>
                </a:solidFill>
              </a:rPr>
              <a:t>Economic barriers</a:t>
            </a:r>
          </a:p>
          <a:p>
            <a:pPr eaLnBrk="1" hangingPunct="1"/>
            <a:r>
              <a:rPr lang="en-US" dirty="0">
                <a:solidFill>
                  <a:srgbClr val="003399"/>
                </a:solidFill>
              </a:rPr>
              <a:t>Technical barriers</a:t>
            </a:r>
          </a:p>
          <a:p>
            <a:pPr eaLnBrk="1" hangingPunct="1"/>
            <a:r>
              <a:rPr lang="en-US" dirty="0">
                <a:solidFill>
                  <a:srgbClr val="003399"/>
                </a:solidFill>
              </a:rPr>
              <a:t>Organizational barriers</a:t>
            </a:r>
          </a:p>
          <a:p>
            <a:pPr eaLnBrk="1" hangingPunct="1"/>
            <a:r>
              <a:rPr lang="en-US" dirty="0">
                <a:solidFill>
                  <a:srgbClr val="003399"/>
                </a:solidFill>
              </a:rPr>
              <a:t>Socio</a:t>
            </a:r>
            <a:r>
              <a:rPr lang="pl-PL">
                <a:solidFill>
                  <a:srgbClr val="003399"/>
                </a:solidFill>
              </a:rPr>
              <a:t>-</a:t>
            </a:r>
            <a:r>
              <a:rPr lang="en-US">
                <a:solidFill>
                  <a:srgbClr val="003399"/>
                </a:solidFill>
              </a:rPr>
              <a:t>psychological </a:t>
            </a:r>
            <a:r>
              <a:rPr lang="en-US" dirty="0">
                <a:solidFill>
                  <a:srgbClr val="003399"/>
                </a:solidFill>
              </a:rPr>
              <a:t>barriers</a:t>
            </a:r>
            <a:endParaRPr lang="pl-PL" dirty="0">
              <a:solidFill>
                <a:srgbClr val="003399"/>
              </a:solidFill>
            </a:endParaRPr>
          </a:p>
        </p:txBody>
      </p:sp>
      <p:pic>
        <p:nvPicPr>
          <p:cNvPr id="29701" name="Picture 4"/>
          <p:cNvPicPr>
            <a:picLocks noChangeAspect="1" noChangeArrowheads="1"/>
          </p:cNvPicPr>
          <p:nvPr/>
        </p:nvPicPr>
        <p:blipFill>
          <a:blip r:embed="rId3" cstate="print"/>
          <a:srcRect/>
          <a:stretch>
            <a:fillRect/>
          </a:stretch>
        </p:blipFill>
        <p:spPr bwMode="auto">
          <a:xfrm>
            <a:off x="5795963" y="1700213"/>
            <a:ext cx="1743075" cy="1928812"/>
          </a:xfrm>
          <a:prstGeom prst="rect">
            <a:avLst/>
          </a:prstGeom>
          <a:noFill/>
          <a:ln w="9525">
            <a:noFill/>
            <a:miter lim="800000"/>
            <a:headEnd/>
            <a:tailEnd/>
          </a:ln>
        </p:spPr>
      </p:pic>
      <p:sp>
        <p:nvSpPr>
          <p:cNvPr id="29702" name="Text Box 5"/>
          <p:cNvSpPr txBox="1">
            <a:spLocks noChangeArrowheads="1"/>
          </p:cNvSpPr>
          <p:nvPr/>
        </p:nvSpPr>
        <p:spPr bwMode="auto">
          <a:xfrm>
            <a:off x="395288" y="6237288"/>
            <a:ext cx="3168650" cy="274637"/>
          </a:xfrm>
          <a:prstGeom prst="rect">
            <a:avLst/>
          </a:prstGeom>
          <a:noFill/>
          <a:ln w="9525">
            <a:noFill/>
            <a:miter lim="800000"/>
            <a:headEnd/>
            <a:tailEnd/>
          </a:ln>
        </p:spPr>
        <p:txBody>
          <a:bodyPr>
            <a:spAutoFit/>
          </a:bodyPr>
          <a:lstStyle/>
          <a:p>
            <a:pPr>
              <a:spcBef>
                <a:spcPct val="50000"/>
              </a:spcBef>
            </a:pPr>
            <a:r>
              <a:rPr lang="pl-PL" sz="1200" dirty="0"/>
              <a:t>Source: www.lfosn.org.pl</a:t>
            </a:r>
          </a:p>
        </p:txBody>
      </p:sp>
    </p:spTree>
  </p:cSld>
  <p:clrMapOvr>
    <a:masterClrMapping/>
  </p:clrMapOvr>
</p:sld>
</file>

<file path=ppt/theme/theme1.xml><?xml version="1.0" encoding="utf-8"?>
<a:theme xmlns:a="http://schemas.openxmlformats.org/drawingml/2006/main" name="Krawędź">
  <a:themeElements>
    <a:clrScheme name="Krawędź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Krawędź">
      <a:majorFont>
        <a:latin typeface="Garamond"/>
        <a:ea typeface=""/>
        <a:cs typeface=""/>
      </a:majorFont>
      <a:minorFont>
        <a:latin typeface="Arial"/>
        <a:ea typeface=""/>
        <a:cs typeface=""/>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pl-PL" sz="3200" b="0" i="0" u="none" strike="noStrike" cap="none" normalizeH="0" baseline="0" smtClean="0">
            <a:ln>
              <a:noFill/>
            </a:ln>
            <a:solidFill>
              <a:srgbClr val="003399"/>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pl-PL" sz="3200" b="0" i="0" u="none" strike="noStrike" cap="none" normalizeH="0" baseline="0" smtClean="0">
            <a:ln>
              <a:noFill/>
            </a:ln>
            <a:solidFill>
              <a:srgbClr val="003399"/>
            </a:solidFill>
            <a:effectLst/>
            <a:latin typeface="Arial" charset="0"/>
          </a:defRPr>
        </a:defPPr>
      </a:lstStyle>
    </a:lnDef>
  </a:objectDefaults>
  <a:extraClrSchemeLst>
    <a:extraClrScheme>
      <a:clrScheme name="Krawędź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Krawędź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Krawędź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Krawędź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Krawędź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Krawędź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Krawędź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Krawędź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Krawędź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Motyw pakietu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otyw pakietu Office">
  <a:themeElements>
    <a:clrScheme name="Pakiet 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F85CA91CBE5A04A98B3EABED47C01F4" ma:contentTypeVersion="7" ma:contentTypeDescription="Create a new document." ma:contentTypeScope="" ma:versionID="4de8e485d0e01a5d73b7bf25d608b66e">
  <xsd:schema xmlns:xsd="http://www.w3.org/2001/XMLSchema" xmlns:xs="http://www.w3.org/2001/XMLSchema" xmlns:p="http://schemas.microsoft.com/office/2006/metadata/properties" xmlns:ns2="c9d74a0b-2f55-4a58-80ca-27c2af706ce1" targetNamespace="http://schemas.microsoft.com/office/2006/metadata/properties" ma:root="true" ma:fieldsID="aa6e2ea959c5d5de60fa8c82867e7251" ns2:_="">
    <xsd:import namespace="c9d74a0b-2f55-4a58-80ca-27c2af706ce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9d74a0b-2f55-4a58-80ca-27c2af706c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E94454B-FE9C-4173-A7EE-79AE468ED5D5}">
  <ds:schemaRefs>
    <ds:schemaRef ds:uri="http://schemas.microsoft.com/sharepoint/v3/contenttype/forms"/>
  </ds:schemaRefs>
</ds:datastoreItem>
</file>

<file path=customXml/itemProps2.xml><?xml version="1.0" encoding="utf-8"?>
<ds:datastoreItem xmlns:ds="http://schemas.openxmlformats.org/officeDocument/2006/customXml" ds:itemID="{55B8B96C-0A25-40F4-A838-0940C71728DE}">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226B0C6B-60AD-48A2-9E76-8AE7C742C6F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9d74a0b-2f55-4a58-80ca-27c2af706ce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2744</TotalTime>
  <Words>3801</Words>
  <Application>Microsoft Office PowerPoint</Application>
  <PresentationFormat>On-screen Show (4:3)</PresentationFormat>
  <Paragraphs>303</Paragraphs>
  <Slides>32</Slides>
  <Notes>29</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Krawędź</vt:lpstr>
      <vt:lpstr>Decision-making process in the organization</vt:lpstr>
      <vt:lpstr>Decision-making process in the organization</vt:lpstr>
      <vt:lpstr>The nature of decision making    </vt:lpstr>
      <vt:lpstr>Types of decisions</vt:lpstr>
      <vt:lpstr>Decision-making process</vt:lpstr>
      <vt:lpstr>State of certainty</vt:lpstr>
      <vt:lpstr>State of risk</vt:lpstr>
      <vt:lpstr>State of uncertainty</vt:lpstr>
      <vt:lpstr>Decision-making process</vt:lpstr>
      <vt:lpstr>The Classical (Normative) Model of Decision Making</vt:lpstr>
      <vt:lpstr>Steps in the Rational Decision-Making Process</vt:lpstr>
      <vt:lpstr>Behavioral aspects of decision- making</vt:lpstr>
      <vt:lpstr>Behavioral aspects of decision- making</vt:lpstr>
      <vt:lpstr>Group and team decision-making </vt:lpstr>
      <vt:lpstr>Group and team decision-making</vt:lpstr>
      <vt:lpstr>Group and team decision-making</vt:lpstr>
      <vt:lpstr>Groupthink  </vt:lpstr>
      <vt:lpstr>Groupthink  </vt:lpstr>
      <vt:lpstr>Group and team decision making</vt:lpstr>
      <vt:lpstr>Group and team decision-making</vt:lpstr>
      <vt:lpstr>Group and team decision-making</vt:lpstr>
      <vt:lpstr>Heuristic approach</vt:lpstr>
      <vt:lpstr>Decision support tools</vt:lpstr>
      <vt:lpstr>Decision support tools</vt:lpstr>
      <vt:lpstr>Non-cooperative game – an example</vt:lpstr>
      <vt:lpstr>Cooperative game – an example </vt:lpstr>
      <vt:lpstr>Decision support tools</vt:lpstr>
      <vt:lpstr>Gantt chart – an example </vt:lpstr>
      <vt:lpstr>Decision support tools</vt:lpstr>
      <vt:lpstr>Critical path</vt:lpstr>
      <vt:lpstr>Breakfast </vt:lpstr>
      <vt:lpstr>Limitations of the use of decision support tools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economics SWPS 2004/05</dc:title>
  <dc:creator>abc</dc:creator>
  <cp:lastModifiedBy>Mateusz Kowalik</cp:lastModifiedBy>
  <cp:revision>188</cp:revision>
  <dcterms:created xsi:type="dcterms:W3CDTF">2005-02-05T11:21:33Z</dcterms:created>
  <dcterms:modified xsi:type="dcterms:W3CDTF">2026-01-13T13:33:36Z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0x0101008F85CA91CBE5A04A98B3EABED47C01F4</vt:lpwstr>
  </property>
</Properties>
</file>