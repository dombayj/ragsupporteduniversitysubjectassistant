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4"/>
  </p:sldMasterIdLst>
  <p:notesMasterIdLst>
    <p:notesMasterId r:id="rId38"/>
  </p:notesMasterIdLst>
  <p:sldIdLst>
    <p:sldId id="256" r:id="rId5"/>
    <p:sldId id="257" r:id="rId6"/>
    <p:sldId id="337" r:id="rId7"/>
    <p:sldId id="298" r:id="rId8"/>
    <p:sldId id="351" r:id="rId9"/>
    <p:sldId id="353" r:id="rId10"/>
    <p:sldId id="288" r:id="rId11"/>
    <p:sldId id="289" r:id="rId12"/>
    <p:sldId id="290" r:id="rId13"/>
    <p:sldId id="355" r:id="rId14"/>
    <p:sldId id="357" r:id="rId15"/>
    <p:sldId id="291" r:id="rId16"/>
    <p:sldId id="300" r:id="rId17"/>
    <p:sldId id="354" r:id="rId18"/>
    <p:sldId id="301" r:id="rId19"/>
    <p:sldId id="270" r:id="rId20"/>
    <p:sldId id="281" r:id="rId21"/>
    <p:sldId id="358" r:id="rId22"/>
    <p:sldId id="283" r:id="rId23"/>
    <p:sldId id="360" r:id="rId24"/>
    <p:sldId id="359" r:id="rId25"/>
    <p:sldId id="361" r:id="rId26"/>
    <p:sldId id="284" r:id="rId27"/>
    <p:sldId id="362" r:id="rId28"/>
    <p:sldId id="271" r:id="rId29"/>
    <p:sldId id="266" r:id="rId30"/>
    <p:sldId id="275" r:id="rId31"/>
    <p:sldId id="276" r:id="rId32"/>
    <p:sldId id="277" r:id="rId33"/>
    <p:sldId id="286" r:id="rId34"/>
    <p:sldId id="279" r:id="rId35"/>
    <p:sldId id="345" r:id="rId36"/>
    <p:sldId id="346" r:id="rId37"/>
  </p:sldIdLst>
  <p:sldSz cx="9144000" cy="6858000" type="screen4x3"/>
  <p:notesSz cx="6858000" cy="914400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sz="3200" kern="1200">
        <a:solidFill>
          <a:srgbClr val="003399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rgbClr val="003399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rgbClr val="003399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rgbClr val="003399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rgbClr val="003399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rgbClr val="003399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rgbClr val="003399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rgbClr val="003399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rgbClr val="003399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3333FF"/>
    <a:srgbClr val="0066CC"/>
    <a:srgbClr val="339933"/>
    <a:srgbClr val="3333CC"/>
    <a:srgbClr val="0000FF"/>
    <a:srgbClr val="FFFF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1CFB4-018B-155E-4955-31576A38E474}" v="2" dt="2026-01-05T14:51:56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3" autoAdjust="0"/>
    <p:restoredTop sz="39415" autoAdjust="0"/>
  </p:normalViewPr>
  <p:slideViewPr>
    <p:cSldViewPr>
      <p:cViewPr varScale="1">
        <p:scale>
          <a:sx n="123" d="100"/>
          <a:sy n="123" d="100"/>
        </p:scale>
        <p:origin x="26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notesViewPr>
    <p:cSldViewPr>
      <p:cViewPr>
        <p:scale>
          <a:sx n="100" d="100"/>
          <a:sy n="100" d="100"/>
        </p:scale>
        <p:origin x="1628" y="-138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ima Temirova" userId="S::s35941@pjwstk.edu.pl::2928fe4f-96aa-43ba-8e9f-f39f0114fe78" providerId="AD" clId="Web-{31E1CFB4-018B-155E-4955-31576A38E474}"/>
    <pc:docChg chg="sldOrd">
      <pc:chgData name="Azima Temirova" userId="S::s35941@pjwstk.edu.pl::2928fe4f-96aa-43ba-8e9f-f39f0114fe78" providerId="AD" clId="Web-{31E1CFB4-018B-155E-4955-31576A38E474}" dt="2026-01-05T14:51:56.385" v="1"/>
      <pc:docMkLst>
        <pc:docMk/>
      </pc:docMkLst>
      <pc:sldChg chg="ord">
        <pc:chgData name="Azima Temirova" userId="S::s35941@pjwstk.edu.pl::2928fe4f-96aa-43ba-8e9f-f39f0114fe78" providerId="AD" clId="Web-{31E1CFB4-018B-155E-4955-31576A38E474}" dt="2026-01-05T14:51:49.932" v="0"/>
        <pc:sldMkLst>
          <pc:docMk/>
          <pc:sldMk cId="0" sldId="279"/>
        </pc:sldMkLst>
      </pc:sldChg>
      <pc:sldChg chg="ord">
        <pc:chgData name="Azima Temirova" userId="S::s35941@pjwstk.edu.pl::2928fe4f-96aa-43ba-8e9f-f39f0114fe78" providerId="AD" clId="Web-{31E1CFB4-018B-155E-4955-31576A38E474}" dt="2026-01-05T14:51:56.385" v="1"/>
        <pc:sldMkLst>
          <pc:docMk/>
          <pc:sldMk cId="0" sldId="3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901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901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0CB6DB3-8D2A-4487-87CE-E61C22CB85B5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8444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103F73-0557-4E75-A573-15F68903AD49}" type="slidenum">
              <a:rPr lang="pl-PL" smtClean="0"/>
              <a:pPr/>
              <a:t>1</a:t>
            </a:fld>
            <a:endParaRPr lang="pl-PL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73025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A5D436-0EDE-4111-99E3-40602BC984FD}" type="slidenum">
              <a:rPr lang="pl-PL" smtClean="0"/>
              <a:pPr/>
              <a:t>2</a:t>
            </a:fld>
            <a:endParaRPr lang="pl-PL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74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1E6623-5999-4982-91D9-5D2E18EA54C0}" type="slidenum">
              <a:rPr lang="pl-PL" smtClean="0"/>
              <a:pPr/>
              <a:t>3</a:t>
            </a:fld>
            <a:endParaRPr lang="pl-PL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60982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E04807-DE7F-457E-9C2B-FA24B842441D}" type="slidenum">
              <a:rPr lang="pl-PL" smtClean="0"/>
              <a:pPr/>
              <a:t>4</a:t>
            </a:fld>
            <a:endParaRPr lang="pl-PL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71690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CB6DB3-8D2A-4487-87CE-E61C22CB85B5}" type="slidenum">
              <a:rPr lang="pl-PL" smtClean="0"/>
              <a:pPr>
                <a:defRPr/>
              </a:pPr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6374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CB6DB3-8D2A-4487-87CE-E61C22CB85B5}" type="slidenum">
              <a:rPr lang="pl-PL" smtClean="0"/>
              <a:pPr>
                <a:defRPr/>
              </a:pPr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030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7F0097-F9E4-4E64-90BB-3F11456CF9C3}" type="slidenum">
              <a:rPr lang="pl-PL" smtClean="0"/>
              <a:pPr/>
              <a:t>7</a:t>
            </a:fld>
            <a:endParaRPr lang="pl-PL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71621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CF2947-8034-4450-AE78-601EDD82E174}" type="slidenum">
              <a:rPr lang="pl-PL" smtClean="0"/>
              <a:pPr/>
              <a:t>8</a:t>
            </a:fld>
            <a:endParaRPr lang="pl-PL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5434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609820-6507-4076-A636-6B3850B24449}" type="slidenum">
              <a:rPr lang="pl-PL" smtClean="0"/>
              <a:pPr/>
              <a:t>9</a:t>
            </a:fld>
            <a:endParaRPr lang="pl-PL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98766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9B1D87-5A9E-4D06-888E-8DB768859E33}" type="slidenum">
              <a:rPr lang="pl-PL" smtClean="0"/>
              <a:pPr/>
              <a:t>10</a:t>
            </a:fld>
            <a:endParaRPr lang="pl-PL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 algn="just" eaLnBrk="1" hangingPunct="1"/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1590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9B1D87-5A9E-4D06-888E-8DB768859E33}" type="slidenum">
              <a:rPr lang="pl-PL" smtClean="0"/>
              <a:pPr/>
              <a:t>11</a:t>
            </a:fld>
            <a:endParaRPr lang="pl-PL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 algn="just"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76022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9B1D87-5A9E-4D06-888E-8DB768859E33}" type="slidenum">
              <a:rPr lang="pl-PL" smtClean="0"/>
              <a:pPr/>
              <a:t>12</a:t>
            </a:fld>
            <a:endParaRPr lang="pl-PL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 algn="just"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17728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1E61E2-44E4-445B-8C04-611C7EDC8896}" type="slidenum">
              <a:rPr lang="pl-PL" smtClean="0"/>
              <a:pPr/>
              <a:t>13</a:t>
            </a:fld>
            <a:endParaRPr lang="pl-PL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84962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ymbol zastępczy obrazu slajd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0463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Symbol zastępczy notatek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l-PL" dirty="0"/>
          </a:p>
        </p:txBody>
      </p:sp>
      <p:sp>
        <p:nvSpPr>
          <p:cNvPr id="34820" name="Symbol zastępczy numeru slajd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CC7C7D7-2482-4AB2-B343-FE9F87675B2F}" type="slidenum">
              <a:rPr lang="pl-PL" smtClean="0"/>
              <a:pPr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1836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DA0D4C-5036-4050-8D92-8280C40826D3}" type="slidenum">
              <a:rPr lang="pl-PL" smtClean="0"/>
              <a:pPr/>
              <a:t>15</a:t>
            </a:fld>
            <a:endParaRPr lang="pl-PL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69007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6C3C67-A554-4CBF-A920-99D8F8A5D585}" type="slidenum">
              <a:rPr lang="pl-PL" smtClean="0"/>
              <a:pPr/>
              <a:t>16</a:t>
            </a:fld>
            <a:endParaRPr lang="pl-PL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560291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609948-D24E-4656-AE85-5E67D2D2B3CC}" type="slidenum">
              <a:rPr lang="pl-PL" smtClean="0"/>
              <a:pPr/>
              <a:t>17</a:t>
            </a:fld>
            <a:endParaRPr lang="pl-PL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41513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609948-D24E-4656-AE85-5E67D2D2B3CC}" type="slidenum">
              <a:rPr lang="pl-PL" smtClean="0"/>
              <a:pPr/>
              <a:t>18</a:t>
            </a:fld>
            <a:endParaRPr lang="pl-PL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6408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FF67AD-01A9-4DC9-AC3A-7E0123D2BE84}" type="slidenum">
              <a:rPr lang="pl-PL" smtClean="0"/>
              <a:pPr/>
              <a:t>19</a:t>
            </a:fld>
            <a:endParaRPr lang="pl-PL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0773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FF67AD-01A9-4DC9-AC3A-7E0123D2BE84}" type="slidenum">
              <a:rPr lang="pl-PL" smtClean="0"/>
              <a:pPr/>
              <a:t>20</a:t>
            </a:fld>
            <a:endParaRPr lang="pl-PL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4902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0B4AB4-4C43-4C31-9608-CE3243615A1D}" type="slidenum">
              <a:rPr lang="pl-PL" smtClean="0"/>
              <a:pPr/>
              <a:t>21</a:t>
            </a:fld>
            <a:endParaRPr lang="pl-PL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45270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0B4AB4-4C43-4C31-9608-CE3243615A1D}" type="slidenum">
              <a:rPr lang="pl-PL" smtClean="0"/>
              <a:pPr/>
              <a:t>22</a:t>
            </a:fld>
            <a:endParaRPr lang="pl-PL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79367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6D4355-216A-4535-84EA-ED4960DB5B27}" type="slidenum">
              <a:rPr lang="pl-PL" smtClean="0"/>
              <a:pPr/>
              <a:t>23</a:t>
            </a:fld>
            <a:endParaRPr lang="pl-PL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539924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6D4355-216A-4535-84EA-ED4960DB5B27}" type="slidenum">
              <a:rPr lang="pl-PL" smtClean="0"/>
              <a:pPr/>
              <a:t>24</a:t>
            </a:fld>
            <a:endParaRPr lang="pl-PL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59348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4161B1-BD43-4598-AFB3-B49A3A3A906F}" type="slidenum">
              <a:rPr lang="pl-PL" smtClean="0"/>
              <a:pPr/>
              <a:t>25</a:t>
            </a:fld>
            <a:endParaRPr lang="pl-PL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475358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6930C3-568F-49EA-9F2E-E3D56569F1B8}" type="slidenum">
              <a:rPr lang="pl-PL" smtClean="0"/>
              <a:pPr/>
              <a:t>26</a:t>
            </a:fld>
            <a:endParaRPr lang="pl-PL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 eaLnBrk="1" hangingPunct="1"/>
            <a:r>
              <a:rPr lang="pl-PL" sz="13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0945805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F6DE41-BC95-42C2-AABC-CFE1B67E8824}" type="slidenum">
              <a:rPr lang="pl-PL" smtClean="0"/>
              <a:pPr/>
              <a:t>27</a:t>
            </a:fld>
            <a:endParaRPr lang="pl-PL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521446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7C44D0-3937-4D3C-96E1-6BDDF6F5EE69}" type="slidenum">
              <a:rPr lang="pl-PL" smtClean="0"/>
              <a:pPr/>
              <a:t>28</a:t>
            </a:fld>
            <a:endParaRPr lang="pl-PL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731510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32734A-4D4F-4734-8E75-2E0F38A7A8E9}" type="slidenum">
              <a:rPr lang="pl-PL" smtClean="0"/>
              <a:pPr/>
              <a:t>29</a:t>
            </a:fld>
            <a:endParaRPr lang="pl-PL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001260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DAD209-7673-4257-9685-C62B7E8F454B}" type="slidenum">
              <a:rPr lang="pl-PL" smtClean="0"/>
              <a:pPr/>
              <a:t>30</a:t>
            </a:fld>
            <a:endParaRPr lang="pl-PL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480334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6ACEDC-D4F7-48B7-AC6C-90BB0C132707}" type="slidenum">
              <a:rPr lang="pl-PL" smtClean="0"/>
              <a:pPr/>
              <a:t>31</a:t>
            </a:fld>
            <a:endParaRPr lang="pl-PL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 eaLnBrk="1" hangingPunct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29570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l-PL"/>
          </a:p>
        </p:txBody>
      </p:sp>
      <p:sp>
        <p:nvSpPr>
          <p:cNvPr id="69636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B53EEE-EC6E-4B9C-A76F-4BD926D810FA}" type="slidenum">
              <a:rPr lang="pl-PL" smtClean="0"/>
              <a:pPr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35896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ymbol zastępczy obrazu slajd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Symbol zastępczy notatek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l-PL" dirty="0"/>
          </a:p>
        </p:txBody>
      </p:sp>
      <p:sp>
        <p:nvSpPr>
          <p:cNvPr id="70660" name="Symbol zastępczy numeru slajd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4DC501-7BAD-45DE-85FE-3F9113A60B4C}" type="slidenum">
              <a:rPr lang="pl-PL" smtClean="0"/>
              <a:pPr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0135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l-PL" altLang="en-US"/>
              <a:t>Kliknij, aby edytować styl wzorca tytułu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l-PL" altLang="en-US"/>
              <a:t>Kliknij, aby edytować styl wzorca podtytułu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C264A-50FB-4C2C-91D4-D9B5E02DB4B3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3FB388-C8BE-4A1F-A114-6A859C54475F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94BFCF-94CC-4B73-99B0-FC429F3BF48F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61D91-F201-4B2B-B26B-8CDBEE9B57F6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FA6DF-A662-46E4-A97E-CCBE50D4F127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42F0A-0D2D-4DF0-BC30-6BB374FDAE7C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210188-CAD0-46BF-9516-E1F46BBC20EF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4CDD8C-C1E4-4DE8-BED6-5EB664FD26D7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l-PL" noProof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97EFD-CB76-4CA1-A782-EEDF926B84C0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5F783-F266-48EB-BB36-721323246C20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FE20D1-386C-45AE-B7C5-7AC4E099CF21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en-US"/>
              <a:t>Kliknij, aby edytować styl wzorca tytułu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en-US"/>
              <a:t>Kliknij, aby edytować style wzorca tekstu</a:t>
            </a:r>
          </a:p>
          <a:p>
            <a:pPr lvl="1"/>
            <a:r>
              <a:rPr lang="pl-PL" altLang="en-US"/>
              <a:t>Drugi poziom</a:t>
            </a:r>
          </a:p>
          <a:p>
            <a:pPr lvl="2"/>
            <a:r>
              <a:rPr lang="pl-PL" altLang="en-US"/>
              <a:t>Trzeci poziom</a:t>
            </a:r>
          </a:p>
          <a:p>
            <a:pPr lvl="3"/>
            <a:r>
              <a:rPr lang="pl-PL" altLang="en-US"/>
              <a:t>Czwarty poziom</a:t>
            </a:r>
          </a:p>
          <a:p>
            <a:pPr lvl="4"/>
            <a:r>
              <a:rPr lang="pl-PL" altLang="en-US"/>
              <a:t>Piąty poziom</a:t>
            </a:r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endParaRPr lang="pl-PL" alt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727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2BB3F484-8C61-4416-968F-CFA8E3D6000B}" type="slidenum">
              <a:rPr lang="pl-PL" altLang="en-US"/>
              <a:pPr>
                <a:defRPr/>
              </a:pPr>
              <a:t>‹#›</a:t>
            </a:fld>
            <a:endParaRPr lang="pl-PL" altLang="en-US"/>
          </a:p>
        </p:txBody>
      </p:sp>
      <p:sp>
        <p:nvSpPr>
          <p:cNvPr id="7271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pl-PL"/>
          </a:p>
        </p:txBody>
      </p:sp>
      <p:sp>
        <p:nvSpPr>
          <p:cNvPr id="7271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://www.adent.com.pl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mastej.pl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hyperlink" Target="http://www.iswinoujscie.pl/" TargetMode="External"/><Relationship Id="rId4" Type="http://schemas.openxmlformats.org/officeDocument/2006/relationships/hyperlink" Target="http://www.grupahrplus.pl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hyperlink" Target="https://www.ski-raft.pl/przystan-ski-raft/szkolenia/49-oferta/lato/dodatkowe-podstrony-kajaki-rafting.html" TargetMode="External"/><Relationship Id="rId4" Type="http://schemas.openxmlformats.org/officeDocument/2006/relationships/hyperlink" Target="http://www.ops.mil.pl/op/czytelnia/?aid=99&amp;nd=2008&amp;nid=401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800" b="1" noProof="0" dirty="0">
                <a:solidFill>
                  <a:srgbClr val="3333CC"/>
                </a:solidFill>
              </a:rPr>
              <a:t>Managing change in organizations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051050" y="4005263"/>
            <a:ext cx="6400800" cy="1752600"/>
          </a:xfrm>
        </p:spPr>
        <p:txBody>
          <a:bodyPr/>
          <a:lstStyle/>
          <a:p>
            <a:pPr eaLnBrk="1" hangingPunct="1"/>
            <a:endParaRPr lang="en-US" b="1" noProof="0" dirty="0">
              <a:solidFill>
                <a:srgbClr val="0066CC"/>
              </a:solidFill>
            </a:endParaRPr>
          </a:p>
          <a:p>
            <a:pPr eaLnBrk="1" hangingPunct="1"/>
            <a:endParaRPr lang="en-US" b="1" noProof="0" dirty="0">
              <a:solidFill>
                <a:srgbClr val="0066CC"/>
              </a:solidFill>
            </a:endParaRPr>
          </a:p>
          <a:p>
            <a:pPr eaLnBrk="1" hangingPunct="1"/>
            <a:endParaRPr lang="en-US" b="1" noProof="0" dirty="0">
              <a:solidFill>
                <a:srgbClr val="0066CC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noProof="0" dirty="0"/>
              <a:t>Change management - introduction</a:t>
            </a:r>
          </a:p>
        </p:txBody>
      </p:sp>
      <p:sp>
        <p:nvSpPr>
          <p:cNvPr id="4101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/>
            </a:pPr>
            <a:endParaRPr lang="en-US" noProof="0" dirty="0"/>
          </a:p>
          <a:p>
            <a:pPr marL="571500" indent="-571500" eaLnBrk="1" hangingPunct="1">
              <a:buFont typeface="Wingdings" pitchFamily="2" charset="2"/>
              <a:buAutoNum type="arabicPeriod"/>
            </a:pPr>
            <a:endParaRPr lang="en-US" noProof="0" dirty="0"/>
          </a:p>
          <a:p>
            <a:pPr marL="571500" indent="-571500" eaLnBrk="1" hangingPunct="1">
              <a:buFont typeface="Wingdings" pitchFamily="2" charset="2"/>
              <a:buAutoNum type="arabicPeriod"/>
            </a:pPr>
            <a:endParaRPr lang="en-US" noProof="0" dirty="0"/>
          </a:p>
          <a:p>
            <a:pPr marL="571500" indent="-571500" eaLnBrk="1" hangingPunct="1">
              <a:buFont typeface="Wingdings" pitchFamily="2" charset="2"/>
              <a:buAutoNum type="arabicPeriod"/>
            </a:pPr>
            <a:endParaRPr lang="en-US" noProof="0" dirty="0"/>
          </a:p>
          <a:p>
            <a:pPr marL="571500" indent="-571500" eaLnBrk="1" hangingPunct="1">
              <a:buFont typeface="Wingdings" pitchFamily="2" charset="2"/>
              <a:buAutoNum type="arabicPeriod"/>
            </a:pPr>
            <a:r>
              <a:rPr lang="en-US" noProof="0" dirty="0">
                <a:solidFill>
                  <a:srgbClr val="003399"/>
                </a:solidFill>
              </a:rPr>
              <a:t>What changes?</a:t>
            </a:r>
          </a:p>
          <a:p>
            <a:pPr marL="571500" indent="-571500" eaLnBrk="1" hangingPunct="1">
              <a:buFont typeface="Wingdings" pitchFamily="2" charset="2"/>
              <a:buAutoNum type="arabicPeriod"/>
            </a:pPr>
            <a:r>
              <a:rPr lang="en-US" noProof="0" dirty="0">
                <a:solidFill>
                  <a:srgbClr val="003399"/>
                </a:solidFill>
              </a:rPr>
              <a:t>What is the reason for this change?</a:t>
            </a:r>
          </a:p>
          <a:p>
            <a:pPr marL="571500" indent="-571500" eaLnBrk="1" hangingPunct="1">
              <a:buFont typeface="Wingdings" pitchFamily="2" charset="2"/>
              <a:buAutoNum type="arabicPeriod"/>
            </a:pPr>
            <a:r>
              <a:rPr lang="en-US" noProof="0" dirty="0">
                <a:solidFill>
                  <a:srgbClr val="003399"/>
                </a:solidFill>
              </a:rPr>
              <a:t>How does it change?</a:t>
            </a:r>
          </a:p>
        </p:txBody>
      </p:sp>
      <p:pic>
        <p:nvPicPr>
          <p:cNvPr id="4102" name="Picture 5" descr="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1700808"/>
            <a:ext cx="1843087" cy="13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Text Box 6"/>
          <p:cNvSpPr txBox="1">
            <a:spLocks noChangeArrowheads="1"/>
          </p:cNvSpPr>
          <p:nvPr/>
        </p:nvSpPr>
        <p:spPr bwMode="auto">
          <a:xfrm>
            <a:off x="539750" y="6237288"/>
            <a:ext cx="29527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l-PL" sz="1200" dirty="0" err="1"/>
              <a:t>Sources</a:t>
            </a:r>
            <a:r>
              <a:rPr lang="pl-PL" sz="1200" dirty="0"/>
              <a:t>: www.anikaa13.blog.interia.pl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PJATK </a:t>
            </a: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748712" cy="1139825"/>
          </a:xfrm>
        </p:spPr>
        <p:txBody>
          <a:bodyPr/>
          <a:lstStyle/>
          <a:p>
            <a:pPr eaLnBrk="1" hangingPunct="1"/>
            <a:r>
              <a:rPr lang="pl-PL" sz="4000" b="1" dirty="0"/>
              <a:t>Life </a:t>
            </a:r>
            <a:r>
              <a:rPr lang="pl-PL" sz="4000" b="1" dirty="0" err="1"/>
              <a:t>Cycle</a:t>
            </a:r>
            <a:r>
              <a:rPr lang="pl-PL" sz="4000" b="1" dirty="0"/>
              <a:t> Model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l-PL" sz="3200">
              <a:solidFill>
                <a:srgbClr val="003399"/>
              </a:solidFill>
            </a:endParaRPr>
          </a:p>
        </p:txBody>
      </p:sp>
      <p:sp>
        <p:nvSpPr>
          <p:cNvPr id="5126" name="Rectangle 4"/>
          <p:cNvSpPr>
            <a:spLocks noChangeArrowheads="1"/>
          </p:cNvSpPr>
          <p:nvPr/>
        </p:nvSpPr>
        <p:spPr bwMode="auto">
          <a:xfrm>
            <a:off x="611188" y="3573463"/>
            <a:ext cx="2303462" cy="504825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l-PL" sz="2800" dirty="0" err="1">
                <a:solidFill>
                  <a:schemeClr val="bg1"/>
                </a:solidFill>
              </a:rPr>
              <a:t>Ageing</a:t>
            </a:r>
            <a:endParaRPr lang="pl-PL" sz="2800" dirty="0">
              <a:solidFill>
                <a:schemeClr val="bg1"/>
              </a:solidFill>
            </a:endParaRPr>
          </a:p>
        </p:txBody>
      </p:sp>
      <p:sp>
        <p:nvSpPr>
          <p:cNvPr id="5127" name="Rectangle 5"/>
          <p:cNvSpPr>
            <a:spLocks noChangeArrowheads="1"/>
          </p:cNvSpPr>
          <p:nvPr/>
        </p:nvSpPr>
        <p:spPr bwMode="auto">
          <a:xfrm>
            <a:off x="3419475" y="2060575"/>
            <a:ext cx="2303463" cy="504825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l-PL" sz="2800" dirty="0" err="1">
                <a:solidFill>
                  <a:schemeClr val="bg1"/>
                </a:solidFill>
              </a:rPr>
              <a:t>Birth</a:t>
            </a:r>
            <a:endParaRPr lang="pl-PL" sz="2800" dirty="0">
              <a:solidFill>
                <a:schemeClr val="bg1"/>
              </a:solidFill>
            </a:endParaRPr>
          </a:p>
        </p:txBody>
      </p:sp>
      <p:sp>
        <p:nvSpPr>
          <p:cNvPr id="5128" name="Rectangle 6"/>
          <p:cNvSpPr>
            <a:spLocks noChangeArrowheads="1"/>
          </p:cNvSpPr>
          <p:nvPr/>
        </p:nvSpPr>
        <p:spPr bwMode="auto">
          <a:xfrm>
            <a:off x="3276600" y="5084763"/>
            <a:ext cx="2303463" cy="504825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l-PL" sz="2800" dirty="0" err="1">
                <a:solidFill>
                  <a:schemeClr val="bg1"/>
                </a:solidFill>
              </a:rPr>
              <a:t>Maturity</a:t>
            </a:r>
            <a:endParaRPr lang="pl-PL" sz="2800" dirty="0">
              <a:solidFill>
                <a:schemeClr val="bg1"/>
              </a:solidFill>
            </a:endParaRPr>
          </a:p>
        </p:txBody>
      </p:sp>
      <p:sp>
        <p:nvSpPr>
          <p:cNvPr id="5129" name="Rectangle 7"/>
          <p:cNvSpPr>
            <a:spLocks noChangeArrowheads="1"/>
          </p:cNvSpPr>
          <p:nvPr/>
        </p:nvSpPr>
        <p:spPr bwMode="auto">
          <a:xfrm>
            <a:off x="6227763" y="3500438"/>
            <a:ext cx="2303462" cy="504825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l-PL" sz="2800" dirty="0">
                <a:solidFill>
                  <a:schemeClr val="bg1"/>
                </a:solidFill>
              </a:rPr>
              <a:t>Development</a:t>
            </a:r>
          </a:p>
        </p:txBody>
      </p:sp>
      <p:sp>
        <p:nvSpPr>
          <p:cNvPr id="5130" name="Line 8"/>
          <p:cNvSpPr>
            <a:spLocks noChangeShapeType="1"/>
          </p:cNvSpPr>
          <p:nvPr/>
        </p:nvSpPr>
        <p:spPr bwMode="auto">
          <a:xfrm flipV="1">
            <a:off x="1763713" y="2349500"/>
            <a:ext cx="1584325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l-PL"/>
          </a:p>
        </p:txBody>
      </p:sp>
      <p:sp>
        <p:nvSpPr>
          <p:cNvPr id="5131" name="Line 9"/>
          <p:cNvSpPr>
            <a:spLocks noChangeShapeType="1"/>
          </p:cNvSpPr>
          <p:nvPr/>
        </p:nvSpPr>
        <p:spPr bwMode="auto">
          <a:xfrm>
            <a:off x="5724525" y="2349500"/>
            <a:ext cx="1439863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l-PL"/>
          </a:p>
        </p:txBody>
      </p:sp>
      <p:sp>
        <p:nvSpPr>
          <p:cNvPr id="5132" name="Line 10"/>
          <p:cNvSpPr>
            <a:spLocks noChangeShapeType="1"/>
          </p:cNvSpPr>
          <p:nvPr/>
        </p:nvSpPr>
        <p:spPr bwMode="auto">
          <a:xfrm flipH="1">
            <a:off x="5580063" y="4076700"/>
            <a:ext cx="1584325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l-PL"/>
          </a:p>
        </p:txBody>
      </p:sp>
      <p:sp>
        <p:nvSpPr>
          <p:cNvPr id="5133" name="Line 11"/>
          <p:cNvSpPr>
            <a:spLocks noChangeShapeType="1"/>
          </p:cNvSpPr>
          <p:nvPr/>
        </p:nvSpPr>
        <p:spPr bwMode="auto">
          <a:xfrm flipH="1" flipV="1">
            <a:off x="1763713" y="4149725"/>
            <a:ext cx="1439862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External and internal forces for change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None/>
            </a:pPr>
            <a:r>
              <a:rPr lang="en-US" noProof="0" dirty="0">
                <a:solidFill>
                  <a:srgbClr val="003399"/>
                </a:solidFill>
              </a:rPr>
              <a:t>Changes in the general and task environments (examples):</a:t>
            </a:r>
          </a:p>
          <a:p>
            <a:pPr marL="571500" indent="-571500" eaLnBrk="1" hangingPunct="1"/>
            <a:r>
              <a:rPr lang="en-US" noProof="0" dirty="0">
                <a:solidFill>
                  <a:srgbClr val="003399"/>
                </a:solidFill>
              </a:rPr>
              <a:t>energy crises</a:t>
            </a:r>
          </a:p>
          <a:p>
            <a:pPr marL="571500" indent="-571500" eaLnBrk="1" hangingPunct="1"/>
            <a:r>
              <a:rPr lang="en-US" noProof="0" dirty="0">
                <a:solidFill>
                  <a:srgbClr val="003399"/>
                </a:solidFill>
              </a:rPr>
              <a:t>floating currency exchange rates</a:t>
            </a:r>
          </a:p>
          <a:p>
            <a:pPr marL="571500" indent="-571500" eaLnBrk="1" hangingPunct="1"/>
            <a:r>
              <a:rPr lang="en-US" noProof="0" dirty="0">
                <a:solidFill>
                  <a:srgbClr val="003399"/>
                </a:solidFill>
              </a:rPr>
              <a:t>aggressive policy of other organizations</a:t>
            </a:r>
          </a:p>
          <a:p>
            <a:pPr marL="571500" indent="-571500" eaLnBrk="1" hangingPunct="1"/>
            <a:r>
              <a:rPr lang="en-US" noProof="0" dirty="0">
                <a:solidFill>
                  <a:srgbClr val="003399"/>
                </a:solidFill>
              </a:rPr>
              <a:t>inflation</a:t>
            </a:r>
          </a:p>
          <a:p>
            <a:pPr marL="571500" indent="-571500" eaLnBrk="1" hangingPunct="1"/>
            <a:r>
              <a:rPr lang="en-US" noProof="0" dirty="0">
                <a:solidFill>
                  <a:srgbClr val="003399"/>
                </a:solidFill>
              </a:rPr>
              <a:t>new legal acts</a:t>
            </a:r>
          </a:p>
          <a:p>
            <a:pPr marL="571500" indent="-571500" eaLnBrk="1" hangingPunct="1">
              <a:buFont typeface="Wingdings" pitchFamily="2" charset="2"/>
              <a:buNone/>
            </a:pPr>
            <a:endParaRPr lang="en-US" noProof="0" dirty="0"/>
          </a:p>
        </p:txBody>
      </p:sp>
      <p:pic>
        <p:nvPicPr>
          <p:cNvPr id="615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48264" y="4336015"/>
            <a:ext cx="1657350" cy="175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1" name="Text Box 5"/>
          <p:cNvSpPr txBox="1">
            <a:spLocks noChangeArrowheads="1"/>
          </p:cNvSpPr>
          <p:nvPr/>
        </p:nvSpPr>
        <p:spPr bwMode="auto">
          <a:xfrm>
            <a:off x="468313" y="6237288"/>
            <a:ext cx="2951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l-PL" sz="1200" dirty="0" err="1"/>
              <a:t>Sources</a:t>
            </a:r>
            <a:r>
              <a:rPr lang="pl-PL" sz="1200" dirty="0"/>
              <a:t>: holylandhipster.blogspot.com, www.dz.com.pl</a:t>
            </a:r>
          </a:p>
        </p:txBody>
      </p:sp>
      <p:pic>
        <p:nvPicPr>
          <p:cNvPr id="615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96869" y="2289451"/>
            <a:ext cx="1771650" cy="135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Forces for change</a:t>
            </a:r>
          </a:p>
        </p:txBody>
      </p:sp>
      <p:graphicFrame>
        <p:nvGraphicFramePr>
          <p:cNvPr id="8229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664048"/>
              </p:ext>
            </p:extLst>
          </p:nvPr>
        </p:nvGraphicFramePr>
        <p:xfrm>
          <a:off x="899592" y="1268759"/>
          <a:ext cx="7543800" cy="453650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Force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itchFamily="18" charset="0"/>
                        </a:rPr>
                        <a:t>Examples</a:t>
                      </a:r>
                      <a:endParaRPr kumimoji="0" lang="pl-PL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34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Human </a:t>
                      </a:r>
                      <a:r>
                        <a:rPr kumimoji="0" lang="pl-P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resources</a:t>
                      </a: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en-US" sz="2400" dirty="0">
                          <a:solidFill>
                            <a:srgbClr val="003399"/>
                          </a:solidFill>
                        </a:rPr>
                        <a:t>Greater cultural diversity </a:t>
                      </a:r>
                      <a:endParaRPr lang="pl-PL" sz="2400" dirty="0">
                        <a:solidFill>
                          <a:srgbClr val="003399"/>
                        </a:solidFill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en-US" sz="2400" dirty="0">
                          <a:solidFill>
                            <a:srgbClr val="003399"/>
                          </a:solidFill>
                        </a:rPr>
                        <a:t>Increase in the number of specialists</a:t>
                      </a:r>
                      <a:endParaRPr kumimoji="0" lang="pl-PL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34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echnology</a:t>
                      </a: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pl-PL" sz="2400" dirty="0" err="1">
                          <a:solidFill>
                            <a:srgbClr val="003399"/>
                          </a:solidFill>
                        </a:rPr>
                        <a:t>Greater</a:t>
                      </a:r>
                      <a:r>
                        <a:rPr lang="pl-PL" sz="2400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pl-PL" sz="2400" dirty="0" err="1">
                          <a:solidFill>
                            <a:srgbClr val="003399"/>
                          </a:solidFill>
                        </a:rPr>
                        <a:t>computerization</a:t>
                      </a:r>
                      <a:r>
                        <a:rPr lang="pl-PL" sz="2400" dirty="0">
                          <a:solidFill>
                            <a:srgbClr val="003399"/>
                          </a:solidFill>
                        </a:rPr>
                        <a:t> and automation</a:t>
                      </a:r>
                      <a:r>
                        <a:rPr kumimoji="0" lang="pl-P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pl-PL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17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Economic</a:t>
                      </a: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pl-P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crises</a:t>
                      </a: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en-US" sz="2400" b="0" i="0" kern="1200" dirty="0">
                          <a:solidFill>
                            <a:srgbClr val="00339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Stock market crashes </a:t>
                      </a:r>
                      <a:endParaRPr lang="pl-PL" sz="2400" b="0" i="0" kern="1200" dirty="0">
                        <a:solidFill>
                          <a:srgbClr val="00339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en-US" sz="2400" b="0" i="0" kern="1200" dirty="0">
                          <a:solidFill>
                            <a:srgbClr val="00339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Interest rate fluctuations </a:t>
                      </a:r>
                      <a:endParaRPr lang="pl-PL" sz="2400" b="0" i="0" kern="1200" dirty="0">
                        <a:solidFill>
                          <a:srgbClr val="00339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en-US" sz="2400" b="0" i="0" kern="1200" dirty="0">
                          <a:solidFill>
                            <a:srgbClr val="00339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Exchange rate fluctuations</a:t>
                      </a:r>
                      <a:endParaRPr kumimoji="0" lang="pl-PL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ymbol zastępczy stopki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Forces for change</a:t>
            </a:r>
          </a:p>
        </p:txBody>
      </p:sp>
      <p:graphicFrame>
        <p:nvGraphicFramePr>
          <p:cNvPr id="9242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886846"/>
              </p:ext>
            </p:extLst>
          </p:nvPr>
        </p:nvGraphicFramePr>
        <p:xfrm>
          <a:off x="899592" y="1340769"/>
          <a:ext cx="7939608" cy="4392488"/>
        </p:xfrm>
        <a:graphic>
          <a:graphicData uri="http://schemas.openxmlformats.org/drawingml/2006/table">
            <a:tbl>
              <a:tblPr/>
              <a:tblGrid>
                <a:gridCol w="2967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9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Force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itchFamily="18" charset="0"/>
                        </a:rPr>
                        <a:t>Examples</a:t>
                      </a:r>
                      <a:endParaRPr kumimoji="0" lang="pl-PL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43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Competitors</a:t>
                      </a: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en-US" sz="2400" dirty="0">
                          <a:solidFill>
                            <a:srgbClr val="003399"/>
                          </a:solidFill>
                        </a:rPr>
                        <a:t>Competitors from </a:t>
                      </a:r>
                      <a:r>
                        <a:rPr lang="pl-PL" sz="2400" dirty="0" err="1">
                          <a:solidFill>
                            <a:srgbClr val="003399"/>
                          </a:solidFill>
                        </a:rPr>
                        <a:t>all</a:t>
                      </a:r>
                      <a:r>
                        <a:rPr lang="pl-PL" sz="2400" baseline="0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sz="2400" dirty="0">
                          <a:solidFill>
                            <a:srgbClr val="003399"/>
                          </a:solidFill>
                        </a:rPr>
                        <a:t>around the world Mergers and concentration of capital</a:t>
                      </a:r>
                      <a:endParaRPr kumimoji="0" lang="pl-PL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15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Social</a:t>
                      </a: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pl-P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trends</a:t>
                      </a:r>
                      <a:endParaRPr kumimoji="0" lang="pl-P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en-US" sz="2400" dirty="0">
                          <a:solidFill>
                            <a:srgbClr val="003399"/>
                          </a:solidFill>
                        </a:rPr>
                        <a:t>Later marriages </a:t>
                      </a:r>
                      <a:endParaRPr lang="pl-PL" sz="2400" dirty="0">
                        <a:solidFill>
                          <a:srgbClr val="003399"/>
                        </a:solidFill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en-US" sz="2400" dirty="0">
                          <a:solidFill>
                            <a:srgbClr val="003399"/>
                          </a:solidFill>
                        </a:rPr>
                        <a:t>Increase in the number of divorces</a:t>
                      </a:r>
                      <a:r>
                        <a:rPr kumimoji="0" lang="pl-P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4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Political</a:t>
                      </a: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environment</a:t>
                      </a:r>
                      <a:endParaRPr kumimoji="0" lang="pl-P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Times New Roman" pitchFamily="18" charset="0"/>
                        </a:rPr>
                        <a:t>War in 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ymbol zastępczy stopki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Force field analysis  (Kurt Lewin)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/>
            </a:pPr>
            <a:r>
              <a:rPr lang="en-US" b="1" noProof="0" dirty="0">
                <a:solidFill>
                  <a:srgbClr val="003399"/>
                </a:solidFill>
              </a:rPr>
              <a:t>Driving forces:</a:t>
            </a:r>
          </a:p>
          <a:p>
            <a:pPr marL="571500" indent="-571500" eaLnBrk="1" hangingPunct="1"/>
            <a:r>
              <a:rPr lang="en-US" noProof="0" dirty="0">
                <a:solidFill>
                  <a:srgbClr val="003399"/>
                </a:solidFill>
              </a:rPr>
              <a:t>new technology</a:t>
            </a:r>
          </a:p>
          <a:p>
            <a:pPr marL="571500" indent="-571500" eaLnBrk="1" hangingPunct="1"/>
            <a:r>
              <a:rPr lang="en-US" noProof="0" dirty="0">
                <a:solidFill>
                  <a:srgbClr val="003399"/>
                </a:solidFill>
              </a:rPr>
              <a:t>better materials</a:t>
            </a:r>
          </a:p>
          <a:p>
            <a:pPr marL="571500" indent="-571500" eaLnBrk="1" hangingPunct="1"/>
            <a:r>
              <a:rPr lang="en-US" noProof="0" dirty="0">
                <a:solidFill>
                  <a:srgbClr val="003399"/>
                </a:solidFill>
              </a:rPr>
              <a:t>competitors</a:t>
            </a:r>
          </a:p>
          <a:p>
            <a:pPr marL="571500" indent="-571500" eaLnBrk="1" hangingPunct="1"/>
            <a:r>
              <a:rPr lang="en-US" noProof="0" dirty="0">
                <a:solidFill>
                  <a:srgbClr val="003399"/>
                </a:solidFill>
              </a:rPr>
              <a:t>pressure from superiors</a:t>
            </a:r>
          </a:p>
        </p:txBody>
      </p:sp>
      <p:pic>
        <p:nvPicPr>
          <p:cNvPr id="922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1988840"/>
            <a:ext cx="154305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3" name="Text Box 5"/>
          <p:cNvSpPr txBox="1">
            <a:spLocks noChangeArrowheads="1"/>
          </p:cNvSpPr>
          <p:nvPr/>
        </p:nvSpPr>
        <p:spPr bwMode="auto">
          <a:xfrm>
            <a:off x="395288" y="6237288"/>
            <a:ext cx="29527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l-PL" sz="1200" dirty="0"/>
              <a:t>Source: kener.elektr.polsl.pl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Force field analysis  (Kurt Lewin)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noProof="0" dirty="0">
                <a:solidFill>
                  <a:srgbClr val="003399"/>
                </a:solidFill>
              </a:rPr>
              <a:t>2. Restraining forces: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group performance standards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fear, sense of insecurity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skills/proficiency</a:t>
            </a:r>
          </a:p>
        </p:txBody>
      </p:sp>
      <p:pic>
        <p:nvPicPr>
          <p:cNvPr id="1024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4208" y="2204864"/>
            <a:ext cx="1443038" cy="184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Text Box 5"/>
          <p:cNvSpPr txBox="1">
            <a:spLocks noChangeArrowheads="1"/>
          </p:cNvSpPr>
          <p:nvPr/>
        </p:nvSpPr>
        <p:spPr bwMode="auto">
          <a:xfrm>
            <a:off x="250825" y="6308725"/>
            <a:ext cx="30257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l-PL" sz="1200" dirty="0"/>
              <a:t>Source: www.raeanticapitalista.com</a:t>
            </a:r>
            <a:r>
              <a:rPr lang="pl-PL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Understanding resistance to change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29600" cy="47513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noProof="0" dirty="0">
                <a:solidFill>
                  <a:srgbClr val="003399"/>
                </a:solidFill>
              </a:rPr>
              <a:t>Sources of restraining forces: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organizational culture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uncertainty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threatened self-interests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different perceptions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feelings of loss</a:t>
            </a:r>
          </a:p>
          <a:p>
            <a:pPr eaLnBrk="1" hangingPunct="1"/>
            <a:endParaRPr lang="en-US" noProof="0" dirty="0">
              <a:solidFill>
                <a:srgbClr val="003399"/>
              </a:solidFill>
            </a:endParaRPr>
          </a:p>
          <a:p>
            <a:pPr eaLnBrk="1" hangingPunct="1">
              <a:buNone/>
            </a:pPr>
            <a:r>
              <a:rPr lang="en-US" noProof="0" dirty="0">
                <a:solidFill>
                  <a:srgbClr val="003399"/>
                </a:solidFill>
              </a:rPr>
              <a:t>Attention! People tend to RETURN to old attitudes and behaviors. </a:t>
            </a:r>
          </a:p>
          <a:p>
            <a:pPr eaLnBrk="1" hangingPunct="1">
              <a:buFont typeface="Wingdings" pitchFamily="2" charset="2"/>
              <a:buNone/>
            </a:pPr>
            <a:endParaRPr lang="en-US" noProof="0" dirty="0">
              <a:solidFill>
                <a:srgbClr val="003399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noProof="0" dirty="0">
              <a:solidFill>
                <a:srgbClr val="003399"/>
              </a:solidFill>
            </a:endParaRPr>
          </a:p>
        </p:txBody>
      </p:sp>
      <p:pic>
        <p:nvPicPr>
          <p:cNvPr id="1127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88162" y="2851542"/>
            <a:ext cx="1514475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1" name="Text Box 5"/>
          <p:cNvSpPr txBox="1">
            <a:spLocks noChangeArrowheads="1"/>
          </p:cNvSpPr>
          <p:nvPr/>
        </p:nvSpPr>
        <p:spPr bwMode="auto">
          <a:xfrm>
            <a:off x="323850" y="6237288"/>
            <a:ext cx="403212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l-PL" sz="1200" dirty="0"/>
              <a:t>Source: </a:t>
            </a:r>
            <a:r>
              <a:rPr lang="pl-PL" sz="1200" dirty="0">
                <a:hlinkClick r:id="rId4"/>
              </a:rPr>
              <a:t>www.adent.com.pl</a:t>
            </a:r>
            <a:r>
              <a:rPr lang="pl-PL" sz="1200" dirty="0"/>
              <a:t>, www.ortodonta.com.pl</a:t>
            </a:r>
          </a:p>
        </p:txBody>
      </p:sp>
      <p:pic>
        <p:nvPicPr>
          <p:cNvPr id="1127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79806" y="4141189"/>
            <a:ext cx="96202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The Lewin model (Lewin </a:t>
            </a:r>
            <a:r>
              <a:rPr lang="pl-PL" sz="4000" b="1" dirty="0"/>
              <a:t>and</a:t>
            </a:r>
            <a:r>
              <a:rPr lang="en-US" sz="4000" b="1" noProof="0" dirty="0"/>
              <a:t> Schein)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None/>
            </a:pPr>
            <a:r>
              <a:rPr lang="en-US" b="1" noProof="0" dirty="0">
                <a:solidFill>
                  <a:srgbClr val="003399"/>
                </a:solidFill>
              </a:rPr>
              <a:t>Three steps:</a:t>
            </a:r>
          </a:p>
          <a:p>
            <a:pPr marL="0" indent="0" eaLnBrk="1" hangingPunct="1">
              <a:buNone/>
            </a:pPr>
            <a:r>
              <a:rPr lang="en-US" b="1" noProof="0" dirty="0">
                <a:solidFill>
                  <a:srgbClr val="003399"/>
                </a:solidFill>
              </a:rPr>
              <a:t>1. Unfreezing</a:t>
            </a:r>
          </a:p>
          <a:p>
            <a:pPr marL="0" indent="0">
              <a:buNone/>
            </a:pPr>
            <a:r>
              <a:rPr lang="en-US" i="1" noProof="0" dirty="0">
                <a:solidFill>
                  <a:srgbClr val="003399"/>
                </a:solidFill>
              </a:rPr>
              <a:t>Individuals who will be affected by the impending change must be led to recognize why the change is necessary.</a:t>
            </a:r>
          </a:p>
        </p:txBody>
      </p:sp>
    </p:spTree>
    <p:extLst>
      <p:ext uri="{BB962C8B-B14F-4D97-AF65-F5344CB8AC3E}">
        <p14:creationId xmlns:p14="http://schemas.microsoft.com/office/powerpoint/2010/main" val="2227078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The Lewin model (Lewin and Schein)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None/>
            </a:pPr>
            <a:r>
              <a:rPr lang="en-US" b="1" noProof="0" dirty="0">
                <a:solidFill>
                  <a:srgbClr val="003399"/>
                </a:solidFill>
              </a:rPr>
              <a:t>Three steps:</a:t>
            </a:r>
          </a:p>
          <a:p>
            <a:pPr marL="0" indent="0" eaLnBrk="1" hangingPunct="1">
              <a:buNone/>
            </a:pPr>
            <a:r>
              <a:rPr lang="en-US" b="1" noProof="0" dirty="0">
                <a:solidFill>
                  <a:srgbClr val="003399"/>
                </a:solidFill>
              </a:rPr>
              <a:t>2. Implementation of the change itself (transition)</a:t>
            </a:r>
            <a:r>
              <a:rPr lang="pl-PL" b="1" noProof="0" dirty="0">
                <a:solidFill>
                  <a:srgbClr val="003399"/>
                </a:solidFill>
              </a:rPr>
              <a:t> (agent of </a:t>
            </a:r>
            <a:r>
              <a:rPr lang="pl-PL" b="1" noProof="0" dirty="0" err="1">
                <a:solidFill>
                  <a:srgbClr val="003399"/>
                </a:solidFill>
              </a:rPr>
              <a:t>change</a:t>
            </a:r>
            <a:r>
              <a:rPr lang="pl-PL" b="1" noProof="0" dirty="0">
                <a:solidFill>
                  <a:srgbClr val="003399"/>
                </a:solidFill>
              </a:rPr>
              <a:t>)</a:t>
            </a:r>
            <a:endParaRPr lang="en-US" b="1" noProof="0" dirty="0">
              <a:solidFill>
                <a:srgbClr val="003399"/>
              </a:solidFill>
            </a:endParaRPr>
          </a:p>
          <a:p>
            <a:pPr marL="0" indent="0" eaLnBrk="1" hangingPunct="1">
              <a:buNone/>
            </a:pPr>
            <a:endParaRPr lang="en-US" b="1" noProof="0" dirty="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538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The Lewin model (Lewin </a:t>
            </a:r>
            <a:r>
              <a:rPr lang="pl-PL" sz="4000" b="1" dirty="0"/>
              <a:t>and</a:t>
            </a:r>
            <a:r>
              <a:rPr lang="en-US" sz="4000" b="1" noProof="0" dirty="0"/>
              <a:t> Schein)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buFont typeface="Wingdings" pitchFamily="2" charset="2"/>
              <a:buNone/>
            </a:pPr>
            <a:r>
              <a:rPr lang="en-US" b="1" noProof="0" dirty="0">
                <a:solidFill>
                  <a:srgbClr val="003399"/>
                </a:solidFill>
              </a:rPr>
              <a:t>Three steps:</a:t>
            </a:r>
          </a:p>
          <a:p>
            <a:pPr marL="571500" indent="-571500" eaLnBrk="1" hangingPunct="1">
              <a:buFont typeface="Wingdings" pitchFamily="2" charset="2"/>
              <a:buNone/>
            </a:pPr>
            <a:r>
              <a:rPr lang="en-US" b="1" noProof="0" dirty="0">
                <a:solidFill>
                  <a:srgbClr val="003399"/>
                </a:solidFill>
              </a:rPr>
              <a:t>3. (Re)freezing</a:t>
            </a:r>
          </a:p>
          <a:p>
            <a:pPr marL="0" indent="0">
              <a:buNone/>
            </a:pPr>
            <a:r>
              <a:rPr lang="en-US" i="1" noProof="0" dirty="0">
                <a:solidFill>
                  <a:srgbClr val="003399"/>
                </a:solidFill>
              </a:rPr>
              <a:t>reinforcing and supporting the change so that it becomes a part of the system</a:t>
            </a:r>
          </a:p>
          <a:p>
            <a:pPr marL="571500" indent="-571500" eaLnBrk="1" hangingPunct="1"/>
            <a:endParaRPr lang="en-US" i="1" noProof="0" dirty="0">
              <a:solidFill>
                <a:srgbClr val="00339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Overcoming Resistance to Change – level I </a:t>
            </a:r>
            <a:r>
              <a:rPr lang="en-US" sz="4000" b="1" noProof="0" dirty="0">
                <a:sym typeface="Wingdings" pitchFamily="2" charset="2"/>
              </a:rPr>
              <a:t></a:t>
            </a:r>
            <a:endParaRPr lang="en-US" sz="4000" b="1" noProof="0" dirty="0"/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participation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education and communication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facilitation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force field analysis</a:t>
            </a:r>
          </a:p>
          <a:p>
            <a:pPr eaLnBrk="1" hangingPunct="1">
              <a:buFont typeface="Wingdings" pitchFamily="2" charset="2"/>
              <a:buNone/>
            </a:pPr>
            <a:endParaRPr lang="en-US" noProof="0" dirty="0">
              <a:solidFill>
                <a:srgbClr val="003399"/>
              </a:solidFill>
            </a:endParaRPr>
          </a:p>
        </p:txBody>
      </p:sp>
      <p:pic>
        <p:nvPicPr>
          <p:cNvPr id="13318" name="Obraz 5" descr="Rejtan_Rejtan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150" y="4149725"/>
            <a:ext cx="2438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pole tekstowe 4"/>
          <p:cNvSpPr txBox="1">
            <a:spLocks noChangeArrowheads="1"/>
          </p:cNvSpPr>
          <p:nvPr/>
        </p:nvSpPr>
        <p:spPr bwMode="auto">
          <a:xfrm>
            <a:off x="971550" y="6308725"/>
            <a:ext cx="5256213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l-PL" sz="1200" dirty="0" err="1"/>
              <a:t>Sources</a:t>
            </a:r>
            <a:r>
              <a:rPr lang="pl-PL" sz="1200" dirty="0"/>
              <a:t>: pinakoteka.zascianek.pl, mediaelites.com</a:t>
            </a:r>
          </a:p>
        </p:txBody>
      </p:sp>
      <p:pic>
        <p:nvPicPr>
          <p:cNvPr id="13320" name="Obraz 5" descr="angry-mob2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24525" y="3500438"/>
            <a:ext cx="2562225" cy="217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Overcoming Resistance to Change – level II …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200" noProof="0" dirty="0">
                <a:solidFill>
                  <a:srgbClr val="003399"/>
                </a:solidFill>
                <a:effectLst/>
              </a:rPr>
              <a:t>negotiations </a:t>
            </a:r>
          </a:p>
          <a:p>
            <a:pPr eaLnBrk="1" hangingPunct="1">
              <a:lnSpc>
                <a:spcPct val="90000"/>
              </a:lnSpc>
            </a:pPr>
            <a:r>
              <a:rPr lang="en-US" sz="3200" noProof="0" dirty="0">
                <a:solidFill>
                  <a:srgbClr val="003399"/>
                </a:solidFill>
                <a:effectLst/>
              </a:rPr>
              <a:t>manipulation </a:t>
            </a:r>
          </a:p>
          <a:p>
            <a:pPr eaLnBrk="1" hangingPunct="1">
              <a:lnSpc>
                <a:spcPct val="90000"/>
              </a:lnSpc>
            </a:pPr>
            <a:r>
              <a:rPr lang="en-US" sz="3200" noProof="0" dirty="0">
                <a:solidFill>
                  <a:srgbClr val="003399"/>
                </a:solidFill>
              </a:rPr>
              <a:t>extortion</a:t>
            </a:r>
            <a:endParaRPr lang="en-US" sz="3200" noProof="0" dirty="0">
              <a:solidFill>
                <a:srgbClr val="003399"/>
              </a:solidFill>
              <a:effectLst/>
            </a:endParaRPr>
          </a:p>
        </p:txBody>
      </p:sp>
      <p:sp>
        <p:nvSpPr>
          <p:cNvPr id="19461" name="pole tekstowe 4"/>
          <p:cNvSpPr txBox="1">
            <a:spLocks noChangeArrowheads="1"/>
          </p:cNvSpPr>
          <p:nvPr/>
        </p:nvSpPr>
        <p:spPr bwMode="auto">
          <a:xfrm>
            <a:off x="1547813" y="5949950"/>
            <a:ext cx="554513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l-PL" sz="1200" dirty="0" err="1"/>
              <a:t>Sources</a:t>
            </a:r>
            <a:r>
              <a:rPr lang="pl-PL" sz="1200" dirty="0"/>
              <a:t>: manipulacja.org.pl</a:t>
            </a:r>
            <a:r>
              <a:rPr lang="pl-PL" dirty="0"/>
              <a:t>, </a:t>
            </a:r>
            <a:r>
              <a:rPr lang="pl-PL" sz="1200" dirty="0"/>
              <a:t>prolog.media.pl</a:t>
            </a:r>
          </a:p>
        </p:txBody>
      </p:sp>
      <p:pic>
        <p:nvPicPr>
          <p:cNvPr id="19462" name="Obraz 5" descr="imagesCAY6LJQU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513" y="3573463"/>
            <a:ext cx="220027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Obraz 6" descr="imagesCAGIVXT7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1916113"/>
            <a:ext cx="236220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ymbol zastępczy stopki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179388" y="6237288"/>
            <a:ext cx="8353052" cy="468312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pl-PL" dirty="0"/>
              <a:t>PJAIT</a:t>
            </a: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Areas of organization change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organization structure and design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technology and operations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people</a:t>
            </a:r>
          </a:p>
        </p:txBody>
      </p:sp>
      <p:pic>
        <p:nvPicPr>
          <p:cNvPr id="14342" name="Obraz 3" descr="imagesCAO2QST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80063" y="3789363"/>
            <a:ext cx="24384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and kaizen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b="1" noProof="0" dirty="0">
                <a:solidFill>
                  <a:srgbClr val="003399"/>
                </a:solidFill>
              </a:rPr>
              <a:t>Reengineering</a:t>
            </a:r>
            <a:r>
              <a:rPr lang="en-US" noProof="0" dirty="0">
                <a:solidFill>
                  <a:srgbClr val="003399"/>
                </a:solidFill>
              </a:rPr>
              <a:t> = a major redesign of all areas of an organization</a:t>
            </a:r>
          </a:p>
        </p:txBody>
      </p:sp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65168" y="3717032"/>
            <a:ext cx="2014537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323850" y="6165850"/>
            <a:ext cx="309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l-PL" sz="1200" dirty="0" err="1"/>
              <a:t>Sources</a:t>
            </a:r>
            <a:r>
              <a:rPr lang="pl-PL" sz="1200" dirty="0"/>
              <a:t>: allgoodphotos.blogspot.com, www.mtgfoundation.com</a:t>
            </a:r>
          </a:p>
        </p:txBody>
      </p:sp>
      <p:pic>
        <p:nvPicPr>
          <p:cNvPr id="15368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18469" y="3717032"/>
            <a:ext cx="2043112" cy="141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and kaizen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l-PL"/>
          </a:p>
        </p:txBody>
      </p:sp>
      <p:graphicFrame>
        <p:nvGraphicFramePr>
          <p:cNvPr id="13112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170794"/>
              </p:ext>
            </p:extLst>
          </p:nvPr>
        </p:nvGraphicFramePr>
        <p:xfrm>
          <a:off x="250825" y="1196975"/>
          <a:ext cx="8497888" cy="4093083"/>
        </p:xfrm>
        <a:graphic>
          <a:graphicData uri="http://schemas.openxmlformats.org/drawingml/2006/table">
            <a:tbl>
              <a:tblPr/>
              <a:tblGrid>
                <a:gridCol w="288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Feature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Kaizen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Reengineering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Effects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Continuous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but small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……………….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Time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framework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………………….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Periodical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Type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of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changes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Gradual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Dramatic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often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revolutionary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Involvement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of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people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………………….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………………..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and kaizen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l-PL"/>
          </a:p>
        </p:txBody>
      </p:sp>
      <p:graphicFrame>
        <p:nvGraphicFramePr>
          <p:cNvPr id="13112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796886"/>
              </p:ext>
            </p:extLst>
          </p:nvPr>
        </p:nvGraphicFramePr>
        <p:xfrm>
          <a:off x="250825" y="1196975"/>
          <a:ext cx="8497888" cy="4093083"/>
        </p:xfrm>
        <a:graphic>
          <a:graphicData uri="http://schemas.openxmlformats.org/drawingml/2006/table">
            <a:tbl>
              <a:tblPr/>
              <a:tblGrid>
                <a:gridCol w="288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Feature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Kaizen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Reengineering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Effects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Continuous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but small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Big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Time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framework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Continuous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Periodical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Type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of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changes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Gradual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Dramatic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often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revolutionary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Involvement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of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people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All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employees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Chosen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groups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47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and kaizen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l-PL"/>
          </a:p>
        </p:txBody>
      </p:sp>
      <p:graphicFrame>
        <p:nvGraphicFramePr>
          <p:cNvPr id="133182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476662"/>
              </p:ext>
            </p:extLst>
          </p:nvPr>
        </p:nvGraphicFramePr>
        <p:xfrm>
          <a:off x="457200" y="1407160"/>
          <a:ext cx="8208963" cy="5352640"/>
        </p:xfrm>
        <a:graphic>
          <a:graphicData uri="http://schemas.openxmlformats.org/drawingml/2006/table">
            <a:tbl>
              <a:tblPr/>
              <a:tblGrid>
                <a:gridCol w="2170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Attitude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Group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effort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systems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approach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Individual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effort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ideas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Method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Improving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maintaining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achieved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results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Replacing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the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old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system with a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better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one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Main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concept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Standard know-how and modern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technology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…………………..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……………………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and kaizen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l-PL"/>
          </a:p>
        </p:txBody>
      </p:sp>
      <p:graphicFrame>
        <p:nvGraphicFramePr>
          <p:cNvPr id="133182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937548"/>
              </p:ext>
            </p:extLst>
          </p:nvPr>
        </p:nvGraphicFramePr>
        <p:xfrm>
          <a:off x="457200" y="1407160"/>
          <a:ext cx="8208963" cy="5352640"/>
        </p:xfrm>
        <a:graphic>
          <a:graphicData uri="http://schemas.openxmlformats.org/drawingml/2006/table">
            <a:tbl>
              <a:tblPr/>
              <a:tblGrid>
                <a:gridCol w="2170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Attitude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Group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effort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systems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approach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Individual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effort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ideas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Method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Improving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maintaining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achieved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results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Replacing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the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old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system with a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better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one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Main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concept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Standard know-how and modern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technology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New </a:t>
                      </a:r>
                      <a:r>
                        <a:rPr kumimoji="0" lang="pl-P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technologies</a:t>
                      </a:r>
                      <a:r>
                        <a:rPr kumimoji="0" lang="pl-P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theories</a:t>
                      </a:r>
                      <a:endParaRPr kumimoji="0" lang="pl-PL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710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and kaizen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l-PL"/>
          </a:p>
        </p:txBody>
      </p:sp>
      <p:graphicFrame>
        <p:nvGraphicFramePr>
          <p:cNvPr id="132145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195219"/>
              </p:ext>
            </p:extLst>
          </p:nvPr>
        </p:nvGraphicFramePr>
        <p:xfrm>
          <a:off x="539750" y="1797050"/>
          <a:ext cx="8208963" cy="2639568"/>
        </p:xfrm>
        <a:graphic>
          <a:graphicData uri="http://schemas.openxmlformats.org/drawingml/2006/table">
            <a:tbl>
              <a:tblPr/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Practical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requirements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Small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investments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and big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effort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maintain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results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Large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investments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(IT),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easy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maintain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results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Focus of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efforts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Focused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………………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Focused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………………….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58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and kaizen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l-PL"/>
          </a:p>
        </p:txBody>
      </p:sp>
      <p:graphicFrame>
        <p:nvGraphicFramePr>
          <p:cNvPr id="132145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662914"/>
              </p:ext>
            </p:extLst>
          </p:nvPr>
        </p:nvGraphicFramePr>
        <p:xfrm>
          <a:off x="539750" y="1797050"/>
          <a:ext cx="8208963" cy="3352800"/>
        </p:xfrm>
        <a:graphic>
          <a:graphicData uri="http://schemas.openxmlformats.org/drawingml/2006/table">
            <a:tbl>
              <a:tblPr/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Practical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requirements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Small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investments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and big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effort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maintain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results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Large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investments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(IT),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easy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to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maintain</a:t>
                      </a:r>
                      <a:r>
                        <a:rPr kumimoji="0" lang="pl-PL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results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Focus of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efforts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Focused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on 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People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Focused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on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Processes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project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management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675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and kaizen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l-PL"/>
          </a:p>
        </p:txBody>
      </p:sp>
      <p:graphicFrame>
        <p:nvGraphicFramePr>
          <p:cNvPr id="134181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42644"/>
              </p:ext>
            </p:extLst>
          </p:nvPr>
        </p:nvGraphicFramePr>
        <p:xfrm>
          <a:off x="539750" y="1797050"/>
          <a:ext cx="8208963" cy="3108960"/>
        </p:xfrm>
        <a:graphic>
          <a:graphicData uri="http://schemas.openxmlformats.org/drawingml/2006/table">
            <a:tbl>
              <a:tblPr/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Criteria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of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evaluation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………………….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………………….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Advantages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</a:rPr>
                        <a:t>Works well in an evolutionarily developing organization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</a:rPr>
                        <a:t>Works well in a dynamically developing organization or sectors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and kaizen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l-PL"/>
          </a:p>
        </p:txBody>
      </p:sp>
      <p:graphicFrame>
        <p:nvGraphicFramePr>
          <p:cNvPr id="134181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213974"/>
              </p:ext>
            </p:extLst>
          </p:nvPr>
        </p:nvGraphicFramePr>
        <p:xfrm>
          <a:off x="539750" y="1797050"/>
          <a:ext cx="8208963" cy="4450080"/>
        </p:xfrm>
        <a:graphic>
          <a:graphicData uri="http://schemas.openxmlformats.org/drawingml/2006/table">
            <a:tbl>
              <a:tblPr/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Criteria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 of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evaluation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Process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efforts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in order to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achieve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better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results</a:t>
                      </a:r>
                      <a:r>
                        <a:rPr kumimoji="0" lang="pl-PL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Results and profits; widespread use of benchmarking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l-PL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Advantages</a:t>
                      </a:r>
                      <a:endParaRPr kumimoji="0" lang="pl-PL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</a:rPr>
                        <a:t>Works well in an evolutionarily developing organization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lang="en-US" sz="2800" dirty="0">
                          <a:solidFill>
                            <a:srgbClr val="003399"/>
                          </a:solidFill>
                        </a:rPr>
                        <a:t>Works well in a dynamically developing organization or sectors</a:t>
                      </a:r>
                      <a:endParaRPr kumimoji="0" lang="pl-PL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767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- principles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3200" noProof="0" dirty="0">
                <a:solidFill>
                  <a:srgbClr val="003399"/>
                </a:solidFill>
              </a:rPr>
              <a:t>Creating a perfectly cooperating, loyal and partnership (multidisciplinary) based team</a:t>
            </a:r>
          </a:p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3200" noProof="0" dirty="0">
                <a:solidFill>
                  <a:srgbClr val="003399"/>
                </a:solidFill>
              </a:rPr>
              <a:t>A priori assumption that the existing organization is faulty/bad</a:t>
            </a:r>
          </a:p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3200" noProof="0" dirty="0">
                <a:solidFill>
                  <a:srgbClr val="003399"/>
                </a:solidFill>
              </a:rPr>
              <a:t>Problem definition – analysis based on 2 criteria: </a:t>
            </a:r>
          </a:p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3200" noProof="0" dirty="0">
                <a:solidFill>
                  <a:srgbClr val="003399"/>
                </a:solidFill>
              </a:rPr>
              <a:t>     </a:t>
            </a:r>
            <a:r>
              <a:rPr lang="en-US" dirty="0">
                <a:solidFill>
                  <a:srgbClr val="003399"/>
                </a:solidFill>
              </a:rPr>
              <a:t>- </a:t>
            </a:r>
            <a:r>
              <a:rPr lang="pl-PL" dirty="0">
                <a:solidFill>
                  <a:srgbClr val="003399"/>
                </a:solidFill>
              </a:rPr>
              <a:t>number of intermediaries</a:t>
            </a:r>
            <a:r>
              <a:rPr lang="en-US" dirty="0">
                <a:solidFill>
                  <a:srgbClr val="003399"/>
                </a:solidFill>
              </a:rPr>
              <a:t> </a:t>
            </a:r>
          </a:p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3200" noProof="0" dirty="0">
                <a:solidFill>
                  <a:srgbClr val="003399"/>
                </a:solidFill>
              </a:rPr>
              <a:t>     - level of cooperation </a:t>
            </a:r>
          </a:p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endParaRPr lang="en-US" sz="3200" noProof="0" dirty="0">
              <a:solidFill>
                <a:srgbClr val="00339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– activities 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/>
            <a:r>
              <a:rPr lang="en-US" sz="3200" noProof="0" dirty="0">
                <a:solidFill>
                  <a:srgbClr val="003399"/>
                </a:solidFill>
              </a:rPr>
              <a:t>Elimination of processes that </a:t>
            </a:r>
          </a:p>
          <a:p>
            <a:pPr marL="0" indent="0" eaLnBrk="1" hangingPunct="1">
              <a:buNone/>
            </a:pPr>
            <a:r>
              <a:rPr lang="en-US" sz="3200" noProof="0" dirty="0">
                <a:solidFill>
                  <a:srgbClr val="003399"/>
                </a:solidFill>
              </a:rPr>
              <a:t>repetitive</a:t>
            </a:r>
          </a:p>
          <a:p>
            <a:pPr marL="571500" indent="-571500" eaLnBrk="1" hangingPunct="1"/>
            <a:r>
              <a:rPr lang="en-US" sz="3200" noProof="0" dirty="0">
                <a:solidFill>
                  <a:srgbClr val="003399"/>
                </a:solidFill>
              </a:rPr>
              <a:t>Elimination of activities that do not ad</a:t>
            </a:r>
            <a:r>
              <a:rPr lang="pl-PL" sz="3200" noProof="0" dirty="0">
                <a:solidFill>
                  <a:srgbClr val="003399"/>
                </a:solidFill>
              </a:rPr>
              <a:t>d</a:t>
            </a:r>
            <a:r>
              <a:rPr lang="en-US" sz="3200" noProof="0" dirty="0">
                <a:solidFill>
                  <a:srgbClr val="003399"/>
                </a:solidFill>
              </a:rPr>
              <a:t> new values to the </a:t>
            </a:r>
            <a:r>
              <a:rPr lang="en-US" sz="3200" noProof="0" dirty="0" err="1">
                <a:solidFill>
                  <a:srgbClr val="003399"/>
                </a:solidFill>
              </a:rPr>
              <a:t>procedur</a:t>
            </a:r>
            <a:r>
              <a:rPr lang="pl-PL" sz="3200" noProof="0" dirty="0">
                <a:solidFill>
                  <a:srgbClr val="003399"/>
                </a:solidFill>
              </a:rPr>
              <a:t>e</a:t>
            </a:r>
            <a:endParaRPr lang="en-US" sz="3200" noProof="0" dirty="0">
              <a:solidFill>
                <a:srgbClr val="003399"/>
              </a:solidFill>
            </a:endParaRPr>
          </a:p>
          <a:p>
            <a:pPr marL="571500" indent="-571500" eaLnBrk="1" hangingPunct="1"/>
            <a:r>
              <a:rPr lang="en-US" sz="3200" noProof="0" dirty="0">
                <a:solidFill>
                  <a:srgbClr val="003399"/>
                </a:solidFill>
              </a:rPr>
              <a:t>Acting in accordance with the 20/80 rule</a:t>
            </a:r>
          </a:p>
          <a:p>
            <a:pPr marL="571500" indent="-571500" eaLnBrk="1" hangingPunct="1"/>
            <a:r>
              <a:rPr lang="en-US" sz="3200" noProof="0" dirty="0">
                <a:solidFill>
                  <a:srgbClr val="003399"/>
                </a:solidFill>
                <a:latin typeface="+mn-lt"/>
                <a:ea typeface="+mn-ea"/>
                <a:cs typeface="+mn-cs"/>
              </a:rPr>
              <a:t>Standardization</a:t>
            </a:r>
            <a:r>
              <a:rPr lang="en-US" sz="3200" noProof="0" dirty="0">
                <a:solidFill>
                  <a:srgbClr val="003399"/>
                </a:solidFill>
              </a:rPr>
              <a:t> of processes </a:t>
            </a:r>
          </a:p>
          <a:p>
            <a:pPr marL="571500" indent="-571500" eaLnBrk="1" hangingPunct="1">
              <a:buFont typeface="Wingdings" pitchFamily="2" charset="2"/>
              <a:buNone/>
            </a:pPr>
            <a:endParaRPr lang="en-US" sz="3200" noProof="0" dirty="0">
              <a:solidFill>
                <a:srgbClr val="003399"/>
              </a:solidFill>
            </a:endParaRPr>
          </a:p>
        </p:txBody>
      </p:sp>
      <p:pic>
        <p:nvPicPr>
          <p:cNvPr id="2663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7050" y="1052513"/>
            <a:ext cx="1728788" cy="130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1" name="Text Box 5"/>
          <p:cNvSpPr txBox="1">
            <a:spLocks noChangeArrowheads="1"/>
          </p:cNvSpPr>
          <p:nvPr/>
        </p:nvSpPr>
        <p:spPr bwMode="auto">
          <a:xfrm>
            <a:off x="323850" y="6308725"/>
            <a:ext cx="28797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l-PL" sz="1200" dirty="0" err="1"/>
              <a:t>Sources</a:t>
            </a:r>
            <a:r>
              <a:rPr lang="pl-PL" sz="1200" dirty="0"/>
              <a:t>: </a:t>
            </a:r>
            <a:r>
              <a:rPr lang="pl-PL" sz="1200" dirty="0">
                <a:hlinkClick r:id="rId4"/>
              </a:rPr>
              <a:t>www.mastej.pl</a:t>
            </a:r>
            <a:r>
              <a:rPr lang="pl-PL" sz="1200" dirty="0"/>
              <a:t>,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– effects </a:t>
            </a:r>
            <a:r>
              <a:rPr lang="en-US" sz="4000" b="1" noProof="0" dirty="0">
                <a:sym typeface="Wingdings" pitchFamily="2" charset="2"/>
              </a:rPr>
              <a:t></a:t>
            </a:r>
            <a:endParaRPr lang="en-US" sz="4000" b="1" noProof="0" dirty="0"/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Significant decrease in employment</a:t>
            </a:r>
          </a:p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Additional profits</a:t>
            </a:r>
          </a:p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Shorter time needed to provide information (both for decision makers and clients)</a:t>
            </a:r>
          </a:p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Improving the level of customer service</a:t>
            </a:r>
          </a:p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Elimination of unnecessary activities and reduction of delays </a:t>
            </a:r>
          </a:p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Increased flexibility and effectiveness of the organization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– algorithm </a:t>
            </a:r>
            <a:r>
              <a:rPr lang="en-US" sz="4000" b="1" noProof="0" dirty="0">
                <a:sym typeface="Wingdings" pitchFamily="2" charset="2"/>
              </a:rPr>
              <a:t></a:t>
            </a:r>
            <a:endParaRPr lang="en-US" sz="4000" b="1" noProof="0" dirty="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noProof="0" dirty="0">
                <a:solidFill>
                  <a:srgbClr val="003399"/>
                </a:solidFill>
              </a:rPr>
              <a:t>Algorithm:</a:t>
            </a:r>
          </a:p>
          <a:p>
            <a:pPr eaLnBrk="1" hangingPunct="1">
              <a:buFont typeface="Wingdings" pitchFamily="2" charset="2"/>
              <a:buNone/>
            </a:pPr>
            <a:endParaRPr lang="en-US" b="1" noProof="0" dirty="0">
              <a:solidFill>
                <a:srgbClr val="003399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3600" b="1" noProof="0" dirty="0">
                <a:solidFill>
                  <a:srgbClr val="003399"/>
                </a:solidFill>
              </a:rPr>
              <a:t>„½ * 2 * 3”</a:t>
            </a:r>
          </a:p>
          <a:p>
            <a:pPr eaLnBrk="1" hangingPunct="1">
              <a:buFont typeface="Wingdings" pitchFamily="2" charset="2"/>
              <a:buNone/>
            </a:pPr>
            <a:endParaRPr lang="en-US" sz="3600" b="1" noProof="0" dirty="0">
              <a:solidFill>
                <a:srgbClr val="003399"/>
              </a:solidFill>
            </a:endParaRPr>
          </a:p>
        </p:txBody>
      </p:sp>
      <p:pic>
        <p:nvPicPr>
          <p:cNvPr id="2867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700213"/>
            <a:ext cx="128587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9" name="Text Box 5"/>
          <p:cNvSpPr txBox="1">
            <a:spLocks noChangeArrowheads="1"/>
          </p:cNvSpPr>
          <p:nvPr/>
        </p:nvSpPr>
        <p:spPr bwMode="auto">
          <a:xfrm>
            <a:off x="250825" y="6237288"/>
            <a:ext cx="3457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l-PL" sz="1200" dirty="0" err="1"/>
              <a:t>Sources</a:t>
            </a:r>
            <a:r>
              <a:rPr lang="pl-PL" sz="1200" dirty="0"/>
              <a:t>: </a:t>
            </a:r>
            <a:r>
              <a:rPr lang="pl-PL" sz="1200" dirty="0">
                <a:hlinkClick r:id="rId4"/>
              </a:rPr>
              <a:t>www.grupahrplus.pl</a:t>
            </a:r>
            <a:r>
              <a:rPr lang="pl-PL" sz="1200" dirty="0"/>
              <a:t>, </a:t>
            </a:r>
            <a:r>
              <a:rPr lang="pl-PL" sz="1200" dirty="0">
                <a:hlinkClick r:id="rId5"/>
              </a:rPr>
              <a:t>www.iswinoujscie.pl</a:t>
            </a:r>
            <a:r>
              <a:rPr lang="pl-PL" sz="1200" dirty="0"/>
              <a:t>, www.ssqq.com</a:t>
            </a:r>
          </a:p>
        </p:txBody>
      </p:sp>
      <p:pic>
        <p:nvPicPr>
          <p:cNvPr id="2868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88125" y="2276475"/>
            <a:ext cx="17430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43438" y="4292600"/>
            <a:ext cx="122237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Reengineering – barriers</a:t>
            </a:r>
            <a:endParaRPr lang="en-US" sz="4000" b="1" noProof="0" dirty="0">
              <a:sym typeface="Wingdings" pitchFamily="2" charset="2"/>
            </a:endParaRP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Psychological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Technological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Economic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Legal</a:t>
            </a:r>
          </a:p>
          <a:p>
            <a:pPr eaLnBrk="1" hangingPunct="1">
              <a:buFont typeface="Wingdings" pitchFamily="2" charset="2"/>
              <a:buNone/>
            </a:pPr>
            <a:endParaRPr lang="en-US" noProof="0" dirty="0">
              <a:solidFill>
                <a:srgbClr val="003399"/>
              </a:solidFill>
            </a:endParaRPr>
          </a:p>
        </p:txBody>
      </p:sp>
      <p:pic>
        <p:nvPicPr>
          <p:cNvPr id="2970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9700" y="2420938"/>
            <a:ext cx="1857375" cy="13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3" name="Text Box 5"/>
          <p:cNvSpPr txBox="1">
            <a:spLocks noChangeArrowheads="1"/>
          </p:cNvSpPr>
          <p:nvPr/>
        </p:nvSpPr>
        <p:spPr bwMode="auto">
          <a:xfrm>
            <a:off x="395288" y="6237288"/>
            <a:ext cx="36004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l-PL" sz="1200" dirty="0"/>
              <a:t>Source: majusek.fm.interia.pl,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 noProof="0" dirty="0"/>
              <a:t>Reengineering support methods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Lean management</a:t>
            </a:r>
          </a:p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Outsourcing</a:t>
            </a:r>
          </a:p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Total Quality Management (TQM)</a:t>
            </a:r>
          </a:p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Benchmarking </a:t>
            </a:r>
          </a:p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Just-In-Time (</a:t>
            </a:r>
            <a:r>
              <a:rPr lang="en-US" noProof="0" dirty="0" err="1">
                <a:solidFill>
                  <a:srgbClr val="003399"/>
                </a:solidFill>
              </a:rPr>
              <a:t>JiT</a:t>
            </a:r>
            <a:r>
              <a:rPr lang="en-US" noProof="0" dirty="0">
                <a:solidFill>
                  <a:srgbClr val="003399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noProof="0" dirty="0">
                <a:solidFill>
                  <a:srgbClr val="003399"/>
                </a:solidFill>
              </a:rPr>
              <a:t>Computer decision support systems (CDSS)</a:t>
            </a:r>
            <a:r>
              <a:rPr lang="pl-PL" noProof="0" dirty="0">
                <a:solidFill>
                  <a:srgbClr val="003399"/>
                </a:solidFill>
              </a:rPr>
              <a:t> </a:t>
            </a:r>
            <a:r>
              <a:rPr lang="en-US" noProof="0" dirty="0">
                <a:solidFill>
                  <a:srgbClr val="003399"/>
                </a:solidFill>
                <a:sym typeface="Wingdings" pitchFamily="2" charset="2"/>
              </a:rPr>
              <a:t>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noProof="0" dirty="0"/>
              <a:t>Reengineering – causes of failure </a:t>
            </a:r>
            <a:r>
              <a:rPr lang="en-US" sz="3600" b="1" noProof="0" dirty="0">
                <a:sym typeface="Wingdings" pitchFamily="2" charset="2"/>
              </a:rPr>
              <a:t>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People generally are afraid and resist change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Errors in the process of building the reengineering team</a:t>
            </a:r>
          </a:p>
          <a:p>
            <a:pPr eaLnBrk="1" hangingPunct="1"/>
            <a:r>
              <a:rPr lang="en-US" noProof="0" dirty="0">
                <a:solidFill>
                  <a:srgbClr val="003399"/>
                </a:solidFill>
              </a:rPr>
              <a:t>Tradition and habits</a:t>
            </a:r>
          </a:p>
        </p:txBody>
      </p:sp>
      <p:sp>
        <p:nvSpPr>
          <p:cNvPr id="33798" name="Text Box 5"/>
          <p:cNvSpPr txBox="1">
            <a:spLocks noChangeArrowheads="1"/>
          </p:cNvSpPr>
          <p:nvPr/>
        </p:nvSpPr>
        <p:spPr bwMode="auto">
          <a:xfrm>
            <a:off x="395288" y="6237288"/>
            <a:ext cx="38163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l-PL" sz="1200" dirty="0" err="1"/>
              <a:t>Sources:www.takepart.com</a:t>
            </a:r>
            <a:r>
              <a:rPr lang="pl-PL" sz="1200" dirty="0"/>
              <a:t>, www.centrumxp.pl</a:t>
            </a:r>
          </a:p>
        </p:txBody>
      </p:sp>
      <p:pic>
        <p:nvPicPr>
          <p:cNvPr id="3379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263" y="4005263"/>
            <a:ext cx="141922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1050" y="4149725"/>
            <a:ext cx="142875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noProof="0" dirty="0"/>
              <a:t>Changes</a:t>
            </a:r>
          </a:p>
        </p:txBody>
      </p:sp>
      <p:pic>
        <p:nvPicPr>
          <p:cNvPr id="34819" name="Symbol zastępczy zawartości 6" descr="images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182776" y="1417638"/>
            <a:ext cx="2466975" cy="1847850"/>
          </a:xfrm>
        </p:spPr>
      </p:pic>
      <p:sp>
        <p:nvSpPr>
          <p:cNvPr id="34820" name="pole tekstowe 3"/>
          <p:cNvSpPr txBox="1">
            <a:spLocks noChangeArrowheads="1"/>
          </p:cNvSpPr>
          <p:nvPr/>
        </p:nvSpPr>
        <p:spPr bwMode="auto">
          <a:xfrm>
            <a:off x="1182776" y="6200775"/>
            <a:ext cx="76376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l-PL" sz="1200" dirty="0" err="1"/>
              <a:t>Sources</a:t>
            </a:r>
            <a:r>
              <a:rPr lang="pl-PL" sz="1200" dirty="0"/>
              <a:t>: </a:t>
            </a:r>
            <a:r>
              <a:rPr lang="pl-PL" sz="1200" dirty="0">
                <a:hlinkClick r:id="rId4"/>
              </a:rPr>
              <a:t>http://www.ops.mil.pl/</a:t>
            </a:r>
            <a:r>
              <a:rPr lang="pl-PL" sz="1200" dirty="0" err="1">
                <a:hlinkClick r:id="rId4"/>
              </a:rPr>
              <a:t>op</a:t>
            </a:r>
            <a:r>
              <a:rPr lang="pl-PL" sz="1200" dirty="0">
                <a:hlinkClick r:id="rId4"/>
              </a:rPr>
              <a:t>/czytelnia/?</a:t>
            </a:r>
            <a:r>
              <a:rPr lang="pl-PL" sz="1200" dirty="0" err="1">
                <a:hlinkClick r:id="rId4"/>
              </a:rPr>
              <a:t>aid</a:t>
            </a:r>
            <a:r>
              <a:rPr lang="pl-PL" sz="1200" dirty="0">
                <a:hlinkClick r:id="rId4"/>
              </a:rPr>
              <a:t>=99&amp;nd=2008&amp;nid=401</a:t>
            </a:r>
            <a:r>
              <a:rPr lang="pl-PL" sz="1200" dirty="0"/>
              <a:t>, student.ccbcmd.edu, </a:t>
            </a:r>
            <a:r>
              <a:rPr lang="pl-PL" sz="1200" dirty="0">
                <a:hlinkClick r:id="rId5"/>
              </a:rPr>
              <a:t>https://www.ski-raft.pl/przystan-ski-raft/szkolenia/49-oferta/lato/dodatkowe-podstrony-kajaki-rafting.html</a:t>
            </a:r>
            <a:endParaRPr lang="pl-PL" sz="1200" dirty="0"/>
          </a:p>
        </p:txBody>
      </p:sp>
      <p:pic>
        <p:nvPicPr>
          <p:cNvPr id="34821" name="Obraz 7" descr="lecture2.gif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24128" y="1914094"/>
            <a:ext cx="213677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2" name="pole tekstowe 8"/>
          <p:cNvSpPr txBox="1">
            <a:spLocks noChangeArrowheads="1"/>
          </p:cNvSpPr>
          <p:nvPr/>
        </p:nvSpPr>
        <p:spPr bwMode="auto">
          <a:xfrm>
            <a:off x="6156325" y="2276475"/>
            <a:ext cx="11525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l-PL" b="1">
                <a:solidFill>
                  <a:srgbClr val="FF0000"/>
                </a:solidFill>
              </a:rPr>
              <a:t>???</a:t>
            </a:r>
          </a:p>
        </p:txBody>
      </p:sp>
      <p:sp>
        <p:nvSpPr>
          <p:cNvPr id="7" name="Symbol zastępczy stopki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  <p:pic>
        <p:nvPicPr>
          <p:cNvPr id="3" name="Obraz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2972" y="3820480"/>
            <a:ext cx="2538983" cy="18253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noProof="0" dirty="0"/>
              <a:t>Changes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sz="2800" b="1" noProof="0" dirty="0">
                <a:solidFill>
                  <a:srgbClr val="003399"/>
                </a:solidFill>
              </a:rPr>
              <a:t>Long time ago: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800" noProof="0" dirty="0">
                <a:solidFill>
                  <a:srgbClr val="003399"/>
                </a:solidFill>
              </a:rPr>
              <a:t>Change =  accidental (random) disruption of a predictable world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800" b="1" noProof="0" dirty="0">
                <a:solidFill>
                  <a:srgbClr val="003399"/>
                </a:solidFill>
              </a:rPr>
              <a:t>Now: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800" noProof="0" dirty="0">
                <a:solidFill>
                  <a:srgbClr val="003399"/>
                </a:solidFill>
              </a:rPr>
              <a:t>Manager</a:t>
            </a:r>
            <a:r>
              <a:rPr lang="pl-PL" sz="2800" noProof="0" dirty="0">
                <a:solidFill>
                  <a:srgbClr val="003399"/>
                </a:solidFill>
              </a:rPr>
              <a:t>’</a:t>
            </a:r>
            <a:r>
              <a:rPr lang="en-US" sz="2800" noProof="0" dirty="0">
                <a:solidFill>
                  <a:srgbClr val="003399"/>
                </a:solidFill>
              </a:rPr>
              <a:t>s world = constant and chaotic changes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800" noProof="0" dirty="0">
                <a:solidFill>
                  <a:srgbClr val="003399"/>
                </a:solidFill>
              </a:rPr>
              <a:t>Managers = eternal agents of change</a:t>
            </a:r>
          </a:p>
        </p:txBody>
      </p:sp>
      <p:sp>
        <p:nvSpPr>
          <p:cNvPr id="35844" name="pole tekstowe 4"/>
          <p:cNvSpPr txBox="1">
            <a:spLocks noChangeArrowheads="1"/>
          </p:cNvSpPr>
          <p:nvPr/>
        </p:nvSpPr>
        <p:spPr bwMode="auto">
          <a:xfrm>
            <a:off x="827584" y="6309426"/>
            <a:ext cx="324167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l-PL" sz="1200" dirty="0"/>
              <a:t>Source: ektor.nf.pl</a:t>
            </a:r>
          </a:p>
        </p:txBody>
      </p:sp>
      <p:pic>
        <p:nvPicPr>
          <p:cNvPr id="35845" name="Obraz 5" descr="116300d_wdraanie-zmian-w-firmie-narzdzia-skutecznego-menedera-meneder-rozwj-firmy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04025" y="260350"/>
            <a:ext cx="190500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l-PL" altLang="en-US"/>
              <a:t>PJAIT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rawędź">
  <a:themeElements>
    <a:clrScheme name="Krawędź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Krawędź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l-PL" sz="3200" b="0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l-PL" sz="3200" b="0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Krawędź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rawędź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rawędź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rawędź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rawędź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rawędź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rawędź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rawędź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rawędź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85CA91CBE5A04A98B3EABED47C01F4" ma:contentTypeVersion="7" ma:contentTypeDescription="Create a new document." ma:contentTypeScope="" ma:versionID="1a500b36e3c5a031908d85cdbfba4092">
  <xsd:schema xmlns:xsd="http://www.w3.org/2001/XMLSchema" xmlns:xs="http://www.w3.org/2001/XMLSchema" xmlns:p="http://schemas.microsoft.com/office/2006/metadata/properties" xmlns:ns2="c9d74a0b-2f55-4a58-80ca-27c2af706ce1" targetNamespace="http://schemas.microsoft.com/office/2006/metadata/properties" ma:root="true" ma:fieldsID="d33aca9c645b69b7b7f63b596899d56a" ns2:_="">
    <xsd:import namespace="c9d74a0b-2f55-4a58-80ca-27c2af706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74a0b-2f55-4a58-80ca-27c2af706c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07B90-1F72-49A0-BB5E-31B9E5C8D22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845BF16-32D9-4E2F-9C1C-C5D776F057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94A49F-8D24-46C7-AEF6-822E2E06264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2247</TotalTime>
  <Words>1106</Words>
  <Application>Microsoft Office PowerPoint</Application>
  <PresentationFormat>Экран (4:3)</PresentationFormat>
  <Paragraphs>302</Paragraphs>
  <Slides>33</Slides>
  <Notes>33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4" baseType="lpstr">
      <vt:lpstr>Krawędź</vt:lpstr>
      <vt:lpstr>Managing change in organizations</vt:lpstr>
      <vt:lpstr>Change management - introduction</vt:lpstr>
      <vt:lpstr>Life Cycle Model</vt:lpstr>
      <vt:lpstr>External and internal forces for change</vt:lpstr>
      <vt:lpstr>Forces for change</vt:lpstr>
      <vt:lpstr>Forces for change</vt:lpstr>
      <vt:lpstr>Force field analysis  (Kurt Lewin)</vt:lpstr>
      <vt:lpstr>Force field analysis  (Kurt Lewin)</vt:lpstr>
      <vt:lpstr>Understanding resistance to change</vt:lpstr>
      <vt:lpstr>The Lewin model (Lewin and Schein)</vt:lpstr>
      <vt:lpstr>The Lewin model (Lewin and Schein)</vt:lpstr>
      <vt:lpstr>The Lewin model (Lewin and Schein)</vt:lpstr>
      <vt:lpstr>Overcoming Resistance to Change – level I </vt:lpstr>
      <vt:lpstr>Overcoming Resistance to Change – level II …</vt:lpstr>
      <vt:lpstr>Areas of organization change</vt:lpstr>
      <vt:lpstr>Reengineering and kaizen</vt:lpstr>
      <vt:lpstr>Reengineering and kaizen</vt:lpstr>
      <vt:lpstr>Reengineering and kaizen</vt:lpstr>
      <vt:lpstr>Reengineering and kaizen</vt:lpstr>
      <vt:lpstr>Reengineering and kaizen</vt:lpstr>
      <vt:lpstr>Reengineering and kaizen</vt:lpstr>
      <vt:lpstr>Reengineering and kaizen</vt:lpstr>
      <vt:lpstr>Reengineering and kaizen</vt:lpstr>
      <vt:lpstr>Reengineering and kaizen</vt:lpstr>
      <vt:lpstr>Reengineering - principles</vt:lpstr>
      <vt:lpstr>Reengineering – activities </vt:lpstr>
      <vt:lpstr>Reengineering – effects </vt:lpstr>
      <vt:lpstr>Reengineering – algorithm </vt:lpstr>
      <vt:lpstr>Reengineering – barriers</vt:lpstr>
      <vt:lpstr>Reengineering support methods</vt:lpstr>
      <vt:lpstr>Reengineering – causes of failure </vt:lpstr>
      <vt:lpstr>Changes</vt:lpstr>
      <vt:lpstr>Changes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 SWPS 2004/05</dc:title>
  <dc:creator>abc</dc:creator>
  <cp:lastModifiedBy>Mateusz Kowalik</cp:lastModifiedBy>
  <cp:revision>173</cp:revision>
  <dcterms:created xsi:type="dcterms:W3CDTF">2005-02-05T11:21:33Z</dcterms:created>
  <dcterms:modified xsi:type="dcterms:W3CDTF">2026-01-05T14:52:00Z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0x0101008F85CA91CBE5A04A98B3EABED47C01F4</vt:lpwstr>
  </property>
</Properties>
</file>